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2"/>
  </p:notesMasterIdLst>
  <p:handoutMasterIdLst>
    <p:handoutMasterId r:id="rId43"/>
  </p:handoutMasterIdLst>
  <p:sldIdLst>
    <p:sldId id="417" r:id="rId3"/>
    <p:sldId id="665" r:id="rId4"/>
    <p:sldId id="666" r:id="rId5"/>
    <p:sldId id="667" r:id="rId6"/>
    <p:sldId id="669" r:id="rId7"/>
    <p:sldId id="713" r:id="rId8"/>
    <p:sldId id="676" r:id="rId9"/>
    <p:sldId id="714" r:id="rId10"/>
    <p:sldId id="688" r:id="rId11"/>
    <p:sldId id="679" r:id="rId12"/>
    <p:sldId id="689" r:id="rId13"/>
    <p:sldId id="678" r:id="rId14"/>
    <p:sldId id="681" r:id="rId15"/>
    <p:sldId id="682" r:id="rId16"/>
    <p:sldId id="683" r:id="rId17"/>
    <p:sldId id="691" r:id="rId18"/>
    <p:sldId id="685" r:id="rId19"/>
    <p:sldId id="686" r:id="rId20"/>
    <p:sldId id="716" r:id="rId21"/>
    <p:sldId id="692" r:id="rId22"/>
    <p:sldId id="693" r:id="rId23"/>
    <p:sldId id="712" r:id="rId24"/>
    <p:sldId id="637" r:id="rId25"/>
    <p:sldId id="638" r:id="rId26"/>
    <p:sldId id="715" r:id="rId27"/>
    <p:sldId id="700" r:id="rId28"/>
    <p:sldId id="652" r:id="rId29"/>
    <p:sldId id="632" r:id="rId30"/>
    <p:sldId id="633" r:id="rId31"/>
    <p:sldId id="634" r:id="rId32"/>
    <p:sldId id="635" r:id="rId33"/>
    <p:sldId id="636" r:id="rId34"/>
    <p:sldId id="639" r:id="rId35"/>
    <p:sldId id="641" r:id="rId36"/>
    <p:sldId id="642" r:id="rId37"/>
    <p:sldId id="645" r:id="rId38"/>
    <p:sldId id="646" r:id="rId39"/>
    <p:sldId id="647" r:id="rId40"/>
    <p:sldId id="719" r:id="rId41"/>
  </p:sldIdLst>
  <p:sldSz cx="12188825" cy="6858000"/>
  <p:notesSz cx="6858000" cy="9144000"/>
  <p:custDataLst>
    <p:tags r:id="rId4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4030">
          <p15:clr>
            <a:srgbClr val="A4A3A4"/>
          </p15:clr>
        </p15:guide>
        <p15:guide id="3" orient="horz" pos="1152">
          <p15:clr>
            <a:srgbClr val="A4A3A4"/>
          </p15:clr>
        </p15:guide>
        <p15:guide id="4" orient="horz" pos="1018">
          <p15:clr>
            <a:srgbClr val="A4A3A4"/>
          </p15:clr>
        </p15:guide>
        <p15:guide id="5" orient="horz" pos="3886">
          <p15:clr>
            <a:srgbClr val="A4A3A4"/>
          </p15:clr>
        </p15:guide>
        <p15:guide id="6" orient="horz" pos="2928">
          <p15:clr>
            <a:srgbClr val="A4A3A4"/>
          </p15:clr>
        </p15:guide>
        <p15:guide id="7" orient="horz" pos="3072">
          <p15:clr>
            <a:srgbClr val="A4A3A4"/>
          </p15:clr>
        </p15:guide>
        <p15:guide id="8" orient="horz" pos="407">
          <p15:clr>
            <a:srgbClr val="A4A3A4"/>
          </p15:clr>
        </p15:guide>
        <p15:guide id="9" pos="3839">
          <p15:clr>
            <a:srgbClr val="A4A3A4"/>
          </p15:clr>
        </p15:guide>
        <p15:guide id="10" pos="959">
          <p15:clr>
            <a:srgbClr val="A4A3A4"/>
          </p15:clr>
        </p15:guide>
        <p15:guide id="11" pos="7151">
          <p15:clr>
            <a:srgbClr val="A4A3A4"/>
          </p15:clr>
        </p15:guide>
        <p15:guide id="12" pos="671">
          <p15:clr>
            <a:srgbClr val="A4A3A4"/>
          </p15:clr>
        </p15:guide>
        <p15:guide id="13" pos="4991">
          <p15:clr>
            <a:srgbClr val="A4A3A4"/>
          </p15:clr>
        </p15:guide>
        <p15:guide id="14" pos="700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8282"/>
    <a:srgbClr val="6E90FE"/>
    <a:srgbClr val="8086FC"/>
    <a:srgbClr val="6D6DFB"/>
    <a:srgbClr val="4E78F0"/>
    <a:srgbClr val="F0932C"/>
    <a:srgbClr val="92C610"/>
    <a:srgbClr val="9FD812"/>
    <a:srgbClr val="E05F2C"/>
    <a:srgbClr val="0ABE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DB0DE8-B9A1-4B9B-94E5-A91E682AD948}" v="298" dt="2026-05-10T04:50:54.811"/>
  </p1510:revLst>
</p1510:revInfo>
</file>

<file path=ppt/tableStyles.xml><?xml version="1.0" encoding="utf-8"?>
<a:tblStyleLst xmlns:a="http://schemas.openxmlformats.org/drawingml/2006/main" def="{69CF1AB2-1976-4502-BF36-3FF5EA218861}">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guide orient="horz" pos="2160"/>
        <p:guide orient="horz" pos="4030"/>
        <p:guide orient="horz" pos="1152"/>
        <p:guide orient="horz" pos="1018"/>
        <p:guide orient="horz" pos="3886"/>
        <p:guide orient="horz" pos="2928"/>
        <p:guide orient="horz" pos="3072"/>
        <p:guide orient="horz" pos="407"/>
        <p:guide pos="3839"/>
        <p:guide pos="959"/>
        <p:guide pos="7151"/>
        <p:guide pos="671"/>
        <p:guide pos="4991"/>
        <p:guide pos="7007"/>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uadrini, Vincenzo" userId="f61352d9-9198-4695-abd8-70fd6e64330a" providerId="ADAL" clId="{888D66D8-61BD-4B74-94E0-0078727E2FCE}"/>
    <pc:docChg chg="undo custSel addSld delSld modSld">
      <pc:chgData name="Quadrini, Vincenzo" userId="f61352d9-9198-4695-abd8-70fd6e64330a" providerId="ADAL" clId="{888D66D8-61BD-4B74-94E0-0078727E2FCE}" dt="2026-05-10T04:55:45.130" v="376" actId="403"/>
      <pc:docMkLst>
        <pc:docMk/>
      </pc:docMkLst>
      <pc:sldChg chg="delSp modSp mod">
        <pc:chgData name="Quadrini, Vincenzo" userId="f61352d9-9198-4695-abd8-70fd6e64330a" providerId="ADAL" clId="{888D66D8-61BD-4B74-94E0-0078727E2FCE}" dt="2026-05-10T04:55:45.130" v="376" actId="403"/>
        <pc:sldMkLst>
          <pc:docMk/>
          <pc:sldMk cId="935251751" sldId="417"/>
        </pc:sldMkLst>
        <pc:spChg chg="mod">
          <ac:chgData name="Quadrini, Vincenzo" userId="f61352d9-9198-4695-abd8-70fd6e64330a" providerId="ADAL" clId="{888D66D8-61BD-4B74-94E0-0078727E2FCE}" dt="2026-05-10T04:55:45.130" v="376" actId="403"/>
          <ac:spMkLst>
            <pc:docMk/>
            <pc:sldMk cId="935251751" sldId="417"/>
            <ac:spMk id="2" creationId="{00000000-0000-0000-0000-000000000000}"/>
          </ac:spMkLst>
        </pc:spChg>
        <pc:spChg chg="del">
          <ac:chgData name="Quadrini, Vincenzo" userId="f61352d9-9198-4695-abd8-70fd6e64330a" providerId="ADAL" clId="{888D66D8-61BD-4B74-94E0-0078727E2FCE}" dt="2026-05-10T04:53:46.224" v="358" actId="478"/>
          <ac:spMkLst>
            <pc:docMk/>
            <pc:sldMk cId="935251751" sldId="417"/>
            <ac:spMk id="3" creationId="{00000000-0000-0000-0000-000000000000}"/>
          </ac:spMkLst>
        </pc:spChg>
      </pc:sldChg>
      <pc:sldChg chg="addSp modSp mod modAnim">
        <pc:chgData name="Quadrini, Vincenzo" userId="f61352d9-9198-4695-abd8-70fd6e64330a" providerId="ADAL" clId="{888D66D8-61BD-4B74-94E0-0078727E2FCE}" dt="2026-05-10T04:39:27.967" v="125" actId="6549"/>
        <pc:sldMkLst>
          <pc:docMk/>
          <pc:sldMk cId="2343919412" sldId="641"/>
        </pc:sldMkLst>
        <pc:spChg chg="mod">
          <ac:chgData name="Quadrini, Vincenzo" userId="f61352d9-9198-4695-abd8-70fd6e64330a" providerId="ADAL" clId="{888D66D8-61BD-4B74-94E0-0078727E2FCE}" dt="2026-05-10T04:39:27.967" v="125" actId="6549"/>
          <ac:spMkLst>
            <pc:docMk/>
            <pc:sldMk cId="2343919412" sldId="641"/>
            <ac:spMk id="3" creationId="{09A2F897-2643-4490-93FF-4FF458F15722}"/>
          </ac:spMkLst>
        </pc:spChg>
        <pc:graphicFrameChg chg="add mod">
          <ac:chgData name="Quadrini, Vincenzo" userId="f61352d9-9198-4695-abd8-70fd6e64330a" providerId="ADAL" clId="{888D66D8-61BD-4B74-94E0-0078727E2FCE}" dt="2026-05-10T04:28:08.128" v="14"/>
          <ac:graphicFrameMkLst>
            <pc:docMk/>
            <pc:sldMk cId="2343919412" sldId="641"/>
            <ac:graphicFrameMk id="2" creationId="{07AC9496-4812-493F-3D03-C3E9161DD6D8}"/>
          </ac:graphicFrameMkLst>
        </pc:graphicFrameChg>
      </pc:sldChg>
      <pc:sldChg chg="modSp modAnim">
        <pc:chgData name="Quadrini, Vincenzo" userId="f61352d9-9198-4695-abd8-70fd6e64330a" providerId="ADAL" clId="{888D66D8-61BD-4B74-94E0-0078727E2FCE}" dt="2026-05-10T04:45:14.136" v="209"/>
        <pc:sldMkLst>
          <pc:docMk/>
          <pc:sldMk cId="1672066220" sldId="642"/>
        </pc:sldMkLst>
        <pc:spChg chg="mod">
          <ac:chgData name="Quadrini, Vincenzo" userId="f61352d9-9198-4695-abd8-70fd6e64330a" providerId="ADAL" clId="{888D66D8-61BD-4B74-94E0-0078727E2FCE}" dt="2026-05-10T04:45:00.723" v="208" actId="20577"/>
          <ac:spMkLst>
            <pc:docMk/>
            <pc:sldMk cId="1672066220" sldId="642"/>
            <ac:spMk id="3" creationId="{09A2F897-2643-4490-93FF-4FF458F15722}"/>
          </ac:spMkLst>
        </pc:spChg>
      </pc:sldChg>
      <pc:sldChg chg="modSp mod modAnim">
        <pc:chgData name="Quadrini, Vincenzo" userId="f61352d9-9198-4695-abd8-70fd6e64330a" providerId="ADAL" clId="{888D66D8-61BD-4B74-94E0-0078727E2FCE}" dt="2026-05-10T04:49:18.679" v="303" actId="20577"/>
        <pc:sldMkLst>
          <pc:docMk/>
          <pc:sldMk cId="4235697131" sldId="645"/>
        </pc:sldMkLst>
        <pc:spChg chg="mod">
          <ac:chgData name="Quadrini, Vincenzo" userId="f61352d9-9198-4695-abd8-70fd6e64330a" providerId="ADAL" clId="{888D66D8-61BD-4B74-94E0-0078727E2FCE}" dt="2026-05-10T04:49:18.679" v="303" actId="20577"/>
          <ac:spMkLst>
            <pc:docMk/>
            <pc:sldMk cId="4235697131" sldId="645"/>
            <ac:spMk id="3" creationId="{09A2F897-2643-4490-93FF-4FF458F15722}"/>
          </ac:spMkLst>
        </pc:spChg>
      </pc:sldChg>
      <pc:sldChg chg="add del">
        <pc:chgData name="Quadrini, Vincenzo" userId="f61352d9-9198-4695-abd8-70fd6e64330a" providerId="ADAL" clId="{888D66D8-61BD-4B74-94E0-0078727E2FCE}" dt="2026-05-10T04:20:38.597" v="2" actId="47"/>
        <pc:sldMkLst>
          <pc:docMk/>
          <pc:sldMk cId="1475311980" sldId="703"/>
        </pc:sldMkLst>
      </pc:sldChg>
      <pc:sldChg chg="del">
        <pc:chgData name="Quadrini, Vincenzo" userId="f61352d9-9198-4695-abd8-70fd6e64330a" providerId="ADAL" clId="{888D66D8-61BD-4B74-94E0-0078727E2FCE}" dt="2026-05-10T04:20:43.714" v="3" actId="47"/>
        <pc:sldMkLst>
          <pc:docMk/>
          <pc:sldMk cId="1505766540" sldId="717"/>
        </pc:sldMkLst>
      </pc:sldChg>
      <pc:sldChg chg="modSp">
        <pc:chgData name="Quadrini, Vincenzo" userId="f61352d9-9198-4695-abd8-70fd6e64330a" providerId="ADAL" clId="{888D66D8-61BD-4B74-94E0-0078727E2FCE}" dt="2026-05-10T04:50:54.811" v="304" actId="6549"/>
        <pc:sldMkLst>
          <pc:docMk/>
          <pc:sldMk cId="3966224539" sldId="719"/>
        </pc:sldMkLst>
        <pc:spChg chg="mod">
          <ac:chgData name="Quadrini, Vincenzo" userId="f61352d9-9198-4695-abd8-70fd6e64330a" providerId="ADAL" clId="{888D66D8-61BD-4B74-94E0-0078727E2FCE}" dt="2026-05-10T04:50:54.811" v="304" actId="6549"/>
          <ac:spMkLst>
            <pc:docMk/>
            <pc:sldMk cId="3966224539" sldId="719"/>
            <ac:spMk id="4" creationId="{8334DB76-8587-2CCD-7C7D-6E1BA9149542}"/>
          </ac:spMkLst>
        </pc:spChg>
      </pc:sldChg>
      <pc:sldChg chg="addSp delSp modSp new del">
        <pc:chgData name="Quadrini, Vincenzo" userId="f61352d9-9198-4695-abd8-70fd6e64330a" providerId="ADAL" clId="{888D66D8-61BD-4B74-94E0-0078727E2FCE}" dt="2026-05-10T04:27:29.265" v="7" actId="47"/>
        <pc:sldMkLst>
          <pc:docMk/>
          <pc:sldMk cId="2599930383" sldId="720"/>
        </pc:sldMkLst>
        <pc:spChg chg="add del">
          <ac:chgData name="Quadrini, Vincenzo" userId="f61352d9-9198-4695-abd8-70fd6e64330a" providerId="ADAL" clId="{888D66D8-61BD-4B74-94E0-0078727E2FCE}" dt="2026-05-10T04:27:24.521" v="6"/>
          <ac:spMkLst>
            <pc:docMk/>
            <pc:sldMk cId="2599930383" sldId="720"/>
            <ac:spMk id="3" creationId="{84EF4328-BF5F-C90C-B7F4-0B2FBEDE1BC5}"/>
          </ac:spMkLst>
        </pc:spChg>
        <pc:spChg chg="add mod">
          <ac:chgData name="Quadrini, Vincenzo" userId="f61352d9-9198-4695-abd8-70fd6e64330a" providerId="ADAL" clId="{888D66D8-61BD-4B74-94E0-0078727E2FCE}" dt="2026-05-10T04:27:24.521" v="6"/>
          <ac:spMkLst>
            <pc:docMk/>
            <pc:sldMk cId="2599930383" sldId="720"/>
            <ac:spMk id="5" creationId="{7D8BD268-206E-9299-B930-298BF844D42C}"/>
          </ac:spMkLst>
        </pc:spChg>
        <pc:graphicFrameChg chg="add mod">
          <ac:chgData name="Quadrini, Vincenzo" userId="f61352d9-9198-4695-abd8-70fd6e64330a" providerId="ADAL" clId="{888D66D8-61BD-4B74-94E0-0078727E2FCE}" dt="2026-05-10T04:27:24.521" v="6"/>
          <ac:graphicFrameMkLst>
            <pc:docMk/>
            <pc:sldMk cId="2599930383" sldId="720"/>
            <ac:graphicFrameMk id="4" creationId="{B947EF09-245B-47F2-8C96-7E7313278029}"/>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69AFDC-7658-4951-B0FF-52DFF2A93C0A}" type="datetimeFigureOut">
              <a:rPr lang="en-US" smtClean="0"/>
              <a:t>5/9/2026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8ED99B-9732-49FC-9C16-B56FEB1B1092}" type="slidenum">
              <a:rPr lang="en-US" smtClean="0"/>
              <a:t>‹#›</a:t>
            </a:fld>
            <a:endParaRPr lang="en-US"/>
          </a:p>
        </p:txBody>
      </p:sp>
    </p:spTree>
    <p:extLst>
      <p:ext uri="{BB962C8B-B14F-4D97-AF65-F5344CB8AC3E}">
        <p14:creationId xmlns:p14="http://schemas.microsoft.com/office/powerpoint/2010/main" val="1314662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BD2D7A-D230-4F91-BD59-0A39C2703BA8}" type="datetimeFigureOut">
              <a:rPr lang="en-US" smtClean="0"/>
              <a:t>5/9/2026</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3199CD-3E1B-4AE6-990F-76F925F5EA9F}" type="slidenum">
              <a:rPr lang="en-US" smtClean="0"/>
              <a:t>‹#›</a:t>
            </a:fld>
            <a:endParaRPr lang="en-US"/>
          </a:p>
        </p:txBody>
      </p:sp>
    </p:spTree>
    <p:extLst>
      <p:ext uri="{BB962C8B-B14F-4D97-AF65-F5344CB8AC3E}">
        <p14:creationId xmlns:p14="http://schemas.microsoft.com/office/powerpoint/2010/main" val="427657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3199CD-3E1B-4AE6-990F-76F925F5EA9F}" type="slidenum">
              <a:rPr lang="en-US" smtClean="0"/>
              <a:t>1</a:t>
            </a:fld>
            <a:endParaRPr lang="en-US"/>
          </a:p>
        </p:txBody>
      </p:sp>
    </p:spTree>
    <p:extLst>
      <p:ext uri="{BB962C8B-B14F-4D97-AF65-F5344CB8AC3E}">
        <p14:creationId xmlns:p14="http://schemas.microsoft.com/office/powerpoint/2010/main" val="37727688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D5E45C-6D14-4A4B-AE72-8B5EAA25A88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9478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D5E45C-6D14-4A4B-AE72-8B5EAA25A88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3539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D5E45C-6D14-4A4B-AE72-8B5EAA25A88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40979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D5E45C-6D14-4A4B-AE72-8B5EAA25A88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31657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0824" y="1600200"/>
            <a:ext cx="5945188" cy="3048000"/>
          </a:xfrm>
        </p:spPr>
        <p:txBody>
          <a:bodyPr anchor="b">
            <a:normAutofit/>
          </a:bodyPr>
          <a:lstStyle>
            <a:lvl1pPr>
              <a:lnSpc>
                <a:spcPct val="80000"/>
              </a:lnSpc>
              <a:defRPr sz="6600">
                <a:solidFill>
                  <a:schemeClr val="tx1"/>
                </a:solidFill>
              </a:defRPr>
            </a:lvl1pPr>
          </a:lstStyle>
          <a:p>
            <a:r>
              <a:rPr lang="en-US"/>
              <a:t>Click to edit Master title style</a:t>
            </a:r>
            <a:endParaRPr/>
          </a:p>
        </p:txBody>
      </p:sp>
      <p:sp>
        <p:nvSpPr>
          <p:cNvPr id="3" name="Subtitle 2"/>
          <p:cNvSpPr>
            <a:spLocks noGrp="1"/>
          </p:cNvSpPr>
          <p:nvPr>
            <p:ph type="subTitle" idx="1" hasCustomPrompt="1"/>
          </p:nvPr>
        </p:nvSpPr>
        <p:spPr>
          <a:xfrm>
            <a:off x="1520825" y="4898572"/>
            <a:ext cx="5945187" cy="1270453"/>
          </a:xfrm>
        </p:spPr>
        <p:txBody>
          <a:bodyPr>
            <a:noAutofit/>
          </a:bodyPr>
          <a:lstStyle>
            <a:lvl1pPr marL="0" indent="0" algn="l">
              <a:spcBef>
                <a:spcPts val="0"/>
              </a:spcBef>
              <a:buNone/>
              <a:defRPr sz="2800" cap="none" baseline="0">
                <a:solidFill>
                  <a:schemeClr val="accent1">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E</a:t>
            </a:r>
            <a:r>
              <a:t>dit Master subtitle style</a:t>
            </a:r>
          </a:p>
        </p:txBody>
      </p:sp>
      <p:cxnSp>
        <p:nvCxnSpPr>
          <p:cNvPr id="6" name="Straight Connector 5"/>
          <p:cNvCxnSpPr/>
          <p:nvPr/>
        </p:nvCxnSpPr>
        <p:spPr>
          <a:xfrm>
            <a:off x="1658936" y="4782971"/>
            <a:ext cx="56546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grpSp>
        <p:nvGrpSpPr>
          <p:cNvPr id="5" name="Group 4"/>
          <p:cNvGrpSpPr/>
          <p:nvPr userDrawn="1"/>
        </p:nvGrpSpPr>
        <p:grpSpPr>
          <a:xfrm>
            <a:off x="7923213" y="0"/>
            <a:ext cx="4265612" cy="6858000"/>
            <a:chOff x="7923213" y="0"/>
            <a:chExt cx="4265612" cy="6858000"/>
          </a:xfrm>
        </p:grpSpPr>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7923213" y="0"/>
              <a:ext cx="4265612" cy="6858000"/>
            </a:xfrm>
            <a:prstGeom prst="rect">
              <a:avLst/>
            </a:prstGeom>
          </p:spPr>
        </p:pic>
        <p:sp>
          <p:nvSpPr>
            <p:cNvPr id="13" name="Rectangle 12"/>
            <p:cNvSpPr/>
            <p:nvPr/>
          </p:nvSpPr>
          <p:spPr>
            <a:xfrm>
              <a:off x="7923213" y="0"/>
              <a:ext cx="1065213" cy="6858000"/>
            </a:xfrm>
            <a:prstGeom prst="rect">
              <a:avLst/>
            </a:prstGeom>
            <a:gradFill flip="none" rotWithShape="1">
              <a:gsLst>
                <a:gs pos="75000">
                  <a:schemeClr val="tx2">
                    <a:alpha val="0"/>
                  </a:schemeClr>
                </a:gs>
                <a:gs pos="100000">
                  <a:schemeClr val="tx2">
                    <a:alpha val="2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9499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03F41C87-7AD9-4845-A077-840E4A0F3F06}" type="datetimeFigureOut">
              <a:rPr lang="en-US"/>
              <a:t>5/9/2026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7" name="Straight Connector 6"/>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8254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0" y="2237096"/>
            <a:ext cx="8229601" cy="2411103"/>
          </a:xfrm>
        </p:spPr>
        <p:txBody>
          <a:bodyPr anchor="b">
            <a:normAutofit/>
          </a:bodyPr>
          <a:lstStyle>
            <a:lvl1pPr algn="l">
              <a:lnSpc>
                <a:spcPct val="80000"/>
              </a:lnSpc>
              <a:defRPr sz="4800" b="0" cap="none" baseline="0">
                <a:solidFill>
                  <a:schemeClr val="tx1"/>
                </a:solidFill>
              </a:defRPr>
            </a:lvl1pPr>
          </a:lstStyle>
          <a:p>
            <a:r>
              <a:rPr lang="en-US"/>
              <a:t>Click to edit Master title style</a:t>
            </a:r>
            <a:endParaRPr/>
          </a:p>
        </p:txBody>
      </p:sp>
      <p:sp>
        <p:nvSpPr>
          <p:cNvPr id="3" name="Text Placeholder 2"/>
          <p:cNvSpPr>
            <a:spLocks noGrp="1"/>
          </p:cNvSpPr>
          <p:nvPr>
            <p:ph type="body" idx="1"/>
          </p:nvPr>
        </p:nvSpPr>
        <p:spPr>
          <a:xfrm>
            <a:off x="1522412" y="4876800"/>
            <a:ext cx="8229601" cy="1292225"/>
          </a:xfrm>
        </p:spPr>
        <p:txBody>
          <a:bodyPr anchor="t">
            <a:normAutofit/>
          </a:bodyPr>
          <a:lstStyle>
            <a:lvl1pPr marL="0" indent="0">
              <a:spcBef>
                <a:spcPts val="0"/>
              </a:spcBef>
              <a:buNone/>
              <a:defRPr sz="2800" cap="none" baseline="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grpSp>
        <p:nvGrpSpPr>
          <p:cNvPr id="7" name="Group 6"/>
          <p:cNvGrpSpPr/>
          <p:nvPr userDrawn="1"/>
        </p:nvGrpSpPr>
        <p:grpSpPr>
          <a:xfrm>
            <a:off x="11123611" y="0"/>
            <a:ext cx="1065214" cy="6868886"/>
            <a:chOff x="11123611" y="0"/>
            <a:chExt cx="1065214" cy="6868886"/>
          </a:xfrm>
        </p:grpSpPr>
        <p:pic>
          <p:nvPicPr>
            <p:cNvPr id="10" name="Picture 9"/>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11123611" y="0"/>
              <a:ext cx="1065213" cy="6858000"/>
            </a:xfrm>
            <a:prstGeom prst="rect">
              <a:avLst/>
            </a:prstGeom>
          </p:spPr>
        </p:pic>
        <p:sp>
          <p:nvSpPr>
            <p:cNvPr id="12" name="Rectangle 11"/>
            <p:cNvSpPr/>
            <p:nvPr/>
          </p:nvSpPr>
          <p:spPr>
            <a:xfrm>
              <a:off x="11123612" y="10886"/>
              <a:ext cx="1065213" cy="6858000"/>
            </a:xfrm>
            <a:prstGeom prst="rect">
              <a:avLst/>
            </a:prstGeom>
            <a:gradFill flip="none" rotWithShape="1">
              <a:gsLst>
                <a:gs pos="75000">
                  <a:schemeClr val="tx2">
                    <a:alpha val="0"/>
                  </a:schemeClr>
                </a:gs>
                <a:gs pos="100000">
                  <a:schemeClr val="tx2">
                    <a:alpha val="2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03F41C87-7AD9-4845-A077-840E4A0F3F06}" type="datetimeFigureOut">
              <a:rPr lang="en-US"/>
              <a:t>5/9/2026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9" name="Straight Connector 8"/>
          <p:cNvCxnSpPr/>
          <p:nvPr/>
        </p:nvCxnSpPr>
        <p:spPr>
          <a:xfrm>
            <a:off x="1658936" y="4782971"/>
            <a:ext cx="80168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813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3" y="381000"/>
            <a:ext cx="9829798" cy="1219200"/>
          </a:xfrm>
        </p:spPr>
        <p:txBody>
          <a:bodyPr/>
          <a:lstStyle>
            <a:lvl1pPr>
              <a:defRPr>
                <a:solidFill>
                  <a:schemeClr val="accent1">
                    <a:lumMod val="50000"/>
                  </a:schemeClr>
                </a:solidFill>
              </a:defRPr>
            </a:lvl1pPr>
          </a:lstStyle>
          <a:p>
            <a:r>
              <a:rPr lang="en-US"/>
              <a:t>Click to edit Master title style</a:t>
            </a:r>
            <a:endParaRPr/>
          </a:p>
        </p:txBody>
      </p:sp>
      <p:sp>
        <p:nvSpPr>
          <p:cNvPr id="3" name="Content Placeholder 2"/>
          <p:cNvSpPr>
            <a:spLocks noGrp="1"/>
          </p:cNvSpPr>
          <p:nvPr>
            <p:ph sz="half" idx="1"/>
          </p:nvPr>
        </p:nvSpPr>
        <p:spPr>
          <a:xfrm>
            <a:off x="1488168" y="1984248"/>
            <a:ext cx="4800600" cy="4187952"/>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51612" y="1984248"/>
            <a:ext cx="4800601" cy="4187952"/>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a:t>Add a footer</a:t>
            </a:r>
          </a:p>
        </p:txBody>
      </p:sp>
      <p:sp>
        <p:nvSpPr>
          <p:cNvPr id="5" name="Date Placeholder 4"/>
          <p:cNvSpPr>
            <a:spLocks noGrp="1"/>
          </p:cNvSpPr>
          <p:nvPr>
            <p:ph type="dt" sz="half" idx="10"/>
          </p:nvPr>
        </p:nvSpPr>
        <p:spPr/>
        <p:txBody>
          <a:bodyPr/>
          <a:lstStyle/>
          <a:p>
            <a:fld id="{03F41C87-7AD9-4845-A077-840E4A0F3F06}" type="datetimeFigureOut">
              <a:rPr lang="en-US"/>
              <a:t>5/9/2026</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cxnSp>
        <p:nvCxnSpPr>
          <p:cNvPr id="8" name="Straight Connector 7"/>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5340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3" y="381000"/>
            <a:ext cx="9829798" cy="1219200"/>
          </a:xfrm>
        </p:spPr>
        <p:txBody>
          <a:bodyPr/>
          <a:lstStyle>
            <a:lvl1pPr>
              <a:defRPr>
                <a:solidFill>
                  <a:schemeClr val="accent1">
                    <a:lumMod val="50000"/>
                  </a:schemeClr>
                </a:solidFill>
              </a:defRPr>
            </a:lvl1pPr>
          </a:lstStyle>
          <a:p>
            <a:r>
              <a:rPr lang="en-US"/>
              <a:t>Click to edit Master title style</a:t>
            </a:r>
            <a:endParaRPr/>
          </a:p>
        </p:txBody>
      </p:sp>
      <p:sp>
        <p:nvSpPr>
          <p:cNvPr id="3" name="Text Placeholder 2"/>
          <p:cNvSpPr>
            <a:spLocks noGrp="1"/>
          </p:cNvSpPr>
          <p:nvPr>
            <p:ph type="body" idx="1"/>
          </p:nvPr>
        </p:nvSpPr>
        <p:spPr>
          <a:xfrm>
            <a:off x="1522413" y="1828800"/>
            <a:ext cx="4800600" cy="838200"/>
          </a:xfrm>
        </p:spPr>
        <p:txBody>
          <a:bodyPr anchor="ctr">
            <a:noAutofit/>
          </a:bodyPr>
          <a:lstStyle>
            <a:lvl1pPr marL="0" indent="0">
              <a:spcBef>
                <a:spcPts val="0"/>
              </a:spcBef>
              <a:buNone/>
              <a:defRPr sz="2400" b="0" cap="none"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743200"/>
            <a:ext cx="4800600" cy="342582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551613" y="1828800"/>
            <a:ext cx="4800600" cy="838200"/>
          </a:xfrm>
        </p:spPr>
        <p:txBody>
          <a:bodyPr anchor="ctr">
            <a:noAutofit/>
          </a:bodyPr>
          <a:lstStyle>
            <a:lvl1pPr marL="0" indent="0">
              <a:spcBef>
                <a:spcPts val="0"/>
              </a:spcBef>
              <a:buNone/>
              <a:defRPr sz="2400" b="0" cap="none"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51613" y="2743200"/>
            <a:ext cx="4800600" cy="342582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a:t>Add a footer</a:t>
            </a:r>
          </a:p>
        </p:txBody>
      </p:sp>
      <p:sp>
        <p:nvSpPr>
          <p:cNvPr id="7" name="Date Placeholder 6"/>
          <p:cNvSpPr>
            <a:spLocks noGrp="1"/>
          </p:cNvSpPr>
          <p:nvPr>
            <p:ph type="dt" sz="half" idx="10"/>
          </p:nvPr>
        </p:nvSpPr>
        <p:spPr/>
        <p:txBody>
          <a:bodyPr/>
          <a:lstStyle/>
          <a:p>
            <a:fld id="{03F41C87-7AD9-4845-A077-840E4A0F3F06}" type="datetimeFigureOut">
              <a:rPr lang="en-US"/>
              <a:t>5/9/2026</a:t>
            </a:fld>
            <a:endParaRPr/>
          </a:p>
        </p:txBody>
      </p:sp>
      <p:sp>
        <p:nvSpPr>
          <p:cNvPr id="9" name="Slide Number Placeholder 8"/>
          <p:cNvSpPr>
            <a:spLocks noGrp="1"/>
          </p:cNvSpPr>
          <p:nvPr>
            <p:ph type="sldNum" sz="quarter" idx="12"/>
          </p:nvPr>
        </p:nvSpPr>
        <p:spPr/>
        <p:txBody>
          <a:bodyPr/>
          <a:lstStyle/>
          <a:p>
            <a:fld id="{2A013F82-EE5E-44EE-A61D-E31C6657F26F}" type="slidenum">
              <a:rPr/>
              <a:t>‹#›</a:t>
            </a:fld>
            <a:endParaRPr/>
          </a:p>
        </p:txBody>
      </p:sp>
      <p:cxnSp>
        <p:nvCxnSpPr>
          <p:cNvPr id="10" name="Straight Connector 9"/>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841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a:t>Add a footer</a:t>
            </a:r>
          </a:p>
        </p:txBody>
      </p:sp>
      <p:sp>
        <p:nvSpPr>
          <p:cNvPr id="3" name="Date Placeholder 2"/>
          <p:cNvSpPr>
            <a:spLocks noGrp="1"/>
          </p:cNvSpPr>
          <p:nvPr>
            <p:ph type="dt" sz="half" idx="10"/>
          </p:nvPr>
        </p:nvSpPr>
        <p:spPr/>
        <p:txBody>
          <a:bodyPr/>
          <a:lstStyle/>
          <a:p>
            <a:fld id="{03F41C87-7AD9-4845-A077-840E4A0F3F06}" type="datetimeFigureOut">
              <a:rPr lang="en-US"/>
              <a:t>5/9/2026</a:t>
            </a:fld>
            <a:endParaRPr/>
          </a:p>
        </p:txBody>
      </p:sp>
      <p:sp>
        <p:nvSpPr>
          <p:cNvPr id="5" name="Slide Number Placeholder 4"/>
          <p:cNvSpPr>
            <a:spLocks noGrp="1"/>
          </p:cNvSpPr>
          <p:nvPr>
            <p:ph type="sldNum" sz="quarter" idx="12"/>
          </p:nvPr>
        </p:nvSpPr>
        <p:spPr/>
        <p:txBody>
          <a:bodyPr/>
          <a:lstStyle/>
          <a:p>
            <a:fld id="{2A013F82-EE5E-44EE-A61D-E31C6657F26F}" type="slidenum">
              <a:rPr/>
              <a:t>‹#›</a:t>
            </a:fld>
            <a:endParaRPr/>
          </a:p>
        </p:txBody>
      </p:sp>
      <p:cxnSp>
        <p:nvCxnSpPr>
          <p:cNvPr id="6" name="Straight Connector 5"/>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663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Add a footer</a:t>
            </a:r>
          </a:p>
        </p:txBody>
      </p:sp>
      <p:sp>
        <p:nvSpPr>
          <p:cNvPr id="2" name="Date Placeholder 1"/>
          <p:cNvSpPr>
            <a:spLocks noGrp="1"/>
          </p:cNvSpPr>
          <p:nvPr>
            <p:ph type="dt" sz="half" idx="10"/>
          </p:nvPr>
        </p:nvSpPr>
        <p:spPr/>
        <p:txBody>
          <a:bodyPr/>
          <a:lstStyle/>
          <a:p>
            <a:fld id="{03F41C87-7AD9-4845-A077-840E4A0F3F06}" type="datetimeFigureOut">
              <a:rPr lang="en-US"/>
              <a:t>5/9/2026</a:t>
            </a:fld>
            <a:endParaRPr/>
          </a:p>
        </p:txBody>
      </p:sp>
      <p:sp>
        <p:nvSpPr>
          <p:cNvPr id="4" name="Slide Number Placeholder 3"/>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3607540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3" y="685800"/>
            <a:ext cx="4114800" cy="1925637"/>
          </a:xfrm>
        </p:spPr>
        <p:txBody>
          <a:bodyPr anchor="b">
            <a:noAutofit/>
          </a:bodyPr>
          <a:lstStyle>
            <a:lvl1pPr algn="l">
              <a:lnSpc>
                <a:spcPct val="80000"/>
              </a:lnSpc>
              <a:defRPr sz="4000" b="0">
                <a:solidFill>
                  <a:schemeClr val="accent1">
                    <a:lumMod val="50000"/>
                  </a:schemeClr>
                </a:solidFill>
              </a:defRPr>
            </a:lvl1pPr>
          </a:lstStyle>
          <a:p>
            <a:r>
              <a:rPr lang="en-US"/>
              <a:t>Click to edit Master title style</a:t>
            </a:r>
            <a:endParaRPr/>
          </a:p>
        </p:txBody>
      </p:sp>
      <p:sp>
        <p:nvSpPr>
          <p:cNvPr id="3" name="Content Placeholder 2"/>
          <p:cNvSpPr>
            <a:spLocks noGrp="1"/>
          </p:cNvSpPr>
          <p:nvPr>
            <p:ph idx="1"/>
          </p:nvPr>
        </p:nvSpPr>
        <p:spPr>
          <a:xfrm>
            <a:off x="6094414" y="685800"/>
            <a:ext cx="5257799"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1522413" y="2895599"/>
            <a:ext cx="4114800" cy="1752601"/>
          </a:xfrm>
        </p:spPr>
        <p:txBody>
          <a:bodyPr>
            <a:normAutofit/>
          </a:bodyPr>
          <a:lstStyle>
            <a:lvl1pPr marL="0" indent="0">
              <a:lnSpc>
                <a:spcPct val="90000"/>
              </a:lnSpc>
              <a:spcBef>
                <a:spcPts val="18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Add a footer</a:t>
            </a:r>
          </a:p>
        </p:txBody>
      </p:sp>
      <p:sp>
        <p:nvSpPr>
          <p:cNvPr id="5" name="Date Placeholder 4"/>
          <p:cNvSpPr>
            <a:spLocks noGrp="1"/>
          </p:cNvSpPr>
          <p:nvPr>
            <p:ph type="dt" sz="half" idx="10"/>
          </p:nvPr>
        </p:nvSpPr>
        <p:spPr/>
        <p:txBody>
          <a:bodyPr/>
          <a:lstStyle/>
          <a:p>
            <a:fld id="{03F41C87-7AD9-4845-A077-840E4A0F3F06}" type="datetimeFigureOut">
              <a:rPr lang="en-US"/>
              <a:t>5/9/2026</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cxnSp>
        <p:nvCxnSpPr>
          <p:cNvPr id="8" name="Straight Connector 7"/>
          <p:cNvCxnSpPr/>
          <p:nvPr/>
        </p:nvCxnSpPr>
        <p:spPr>
          <a:xfrm>
            <a:off x="1658936" y="2743200"/>
            <a:ext cx="3902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498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3" y="685800"/>
            <a:ext cx="4114800" cy="1925638"/>
          </a:xfrm>
        </p:spPr>
        <p:txBody>
          <a:bodyPr anchor="b">
            <a:normAutofit/>
          </a:bodyPr>
          <a:lstStyle>
            <a:lvl1pPr algn="l">
              <a:lnSpc>
                <a:spcPct val="80000"/>
              </a:lnSpc>
              <a:defRPr sz="4000" b="0" i="0" baseline="0">
                <a:solidFill>
                  <a:schemeClr val="accent1">
                    <a:lumMod val="50000"/>
                  </a:schemeClr>
                </a:solidFill>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6025925" y="-50118"/>
            <a:ext cx="6172198" cy="6857999"/>
          </a:xfrm>
          <a:solidFill>
            <a:schemeClr val="bg2"/>
          </a:solidFill>
          <a:effectLst>
            <a:outerShdw blurRad="152400" dist="50800" dir="10800000" algn="r" rotWithShape="0">
              <a:prstClr val="black">
                <a:alpha val="25000"/>
              </a:prstClr>
            </a:outerShdw>
          </a:effectLst>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1522413" y="2895599"/>
            <a:ext cx="4114800" cy="1752601"/>
          </a:xfrm>
        </p:spPr>
        <p:txBody>
          <a:bodyPr>
            <a:normAutofit/>
          </a:bodyPr>
          <a:lstStyle>
            <a:lvl1pPr marL="0" indent="0">
              <a:lnSpc>
                <a:spcPct val="90000"/>
              </a:lnSpc>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0" name="Straight Connector 9"/>
          <p:cNvCxnSpPr/>
          <p:nvPr/>
        </p:nvCxnSpPr>
        <p:spPr>
          <a:xfrm>
            <a:off x="1658936" y="2743200"/>
            <a:ext cx="3902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9172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03F41C87-7AD9-4845-A077-840E4A0F3F06}" type="datetimeFigureOut">
              <a:rPr lang="en-US"/>
              <a:t>5/9/2026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60095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23412" y="646112"/>
            <a:ext cx="1828801" cy="5522913"/>
          </a:xfrm>
        </p:spPr>
        <p:txBody>
          <a:bodyPr vert="eaVert"/>
          <a:lstStyle>
            <a:lvl1pPr>
              <a:defRPr>
                <a:solidFill>
                  <a:schemeClr val="accent1">
                    <a:lumMod val="50000"/>
                  </a:schemeClr>
                </a:solidFill>
              </a:defRPr>
            </a:lvl1pPr>
          </a:lstStyle>
          <a:p>
            <a:r>
              <a:rPr lang="en-US"/>
              <a:t>Click to edit Master title style</a:t>
            </a:r>
            <a:endParaRPr/>
          </a:p>
        </p:txBody>
      </p:sp>
      <p:sp>
        <p:nvSpPr>
          <p:cNvPr id="3" name="Vertical Text Placeholder 2"/>
          <p:cNvSpPr>
            <a:spLocks noGrp="1"/>
          </p:cNvSpPr>
          <p:nvPr>
            <p:ph type="body" orient="vert" idx="1"/>
          </p:nvPr>
        </p:nvSpPr>
        <p:spPr>
          <a:xfrm>
            <a:off x="1522412" y="646112"/>
            <a:ext cx="7620000" cy="55229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03F41C87-7AD9-4845-A077-840E4A0F3F06}" type="datetimeFigureOut">
              <a:rPr lang="en-US"/>
              <a:t>5/9/2026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7" name="Straight Connector 6"/>
          <p:cNvCxnSpPr/>
          <p:nvPr/>
        </p:nvCxnSpPr>
        <p:spPr>
          <a:xfrm>
            <a:off x="9371012" y="762000"/>
            <a:ext cx="0" cy="533400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903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30426"/>
            <a:ext cx="10360501" cy="1470025"/>
          </a:xfrm>
        </p:spPr>
        <p:txBody>
          <a:bodyPr/>
          <a:lstStyle/>
          <a:p>
            <a:r>
              <a:rPr lang="en-US"/>
              <a:t>Click to edit Master title style</a:t>
            </a:r>
          </a:p>
        </p:txBody>
      </p:sp>
      <p:sp>
        <p:nvSpPr>
          <p:cNvPr id="3" name="Subtitle 2"/>
          <p:cNvSpPr>
            <a:spLocks noGrp="1"/>
          </p:cNvSpPr>
          <p:nvPr>
            <p:ph type="subTitle" idx="1"/>
          </p:nvPr>
        </p:nvSpPr>
        <p:spPr>
          <a:xfrm>
            <a:off x="1828324" y="3886200"/>
            <a:ext cx="8532178"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B11F9E0-AC9B-43B4-B933-9639AB2C0C64}"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6C0235-B9B2-4978-8193-05470EB4767D}" type="slidenum">
              <a:rPr lang="en-US" smtClean="0"/>
              <a:t>‹#›</a:t>
            </a:fld>
            <a:endParaRPr lang="en-US"/>
          </a:p>
        </p:txBody>
      </p:sp>
    </p:spTree>
    <p:extLst>
      <p:ext uri="{BB962C8B-B14F-4D97-AF65-F5344CB8AC3E}">
        <p14:creationId xmlns:p14="http://schemas.microsoft.com/office/powerpoint/2010/main" val="28897703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B11F9E0-AC9B-43B4-B933-9639AB2C0C64}"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6C0235-B9B2-4978-8193-05470EB4767D}" type="slidenum">
              <a:rPr lang="en-US" smtClean="0"/>
              <a:t>‹#›</a:t>
            </a:fld>
            <a:endParaRPr lang="en-US"/>
          </a:p>
        </p:txBody>
      </p:sp>
    </p:spTree>
    <p:extLst>
      <p:ext uri="{BB962C8B-B14F-4D97-AF65-F5344CB8AC3E}">
        <p14:creationId xmlns:p14="http://schemas.microsoft.com/office/powerpoint/2010/main" val="22085811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833" y="4406901"/>
            <a:ext cx="10360501"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2833" y="2906713"/>
            <a:ext cx="10360501"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11F9E0-AC9B-43B4-B933-9639AB2C0C64}"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6C0235-B9B2-4978-8193-05470EB4767D}" type="slidenum">
              <a:rPr lang="en-US" smtClean="0"/>
              <a:t>‹#›</a:t>
            </a:fld>
            <a:endParaRPr lang="en-US"/>
          </a:p>
        </p:txBody>
      </p:sp>
    </p:spTree>
    <p:extLst>
      <p:ext uri="{BB962C8B-B14F-4D97-AF65-F5344CB8AC3E}">
        <p14:creationId xmlns:p14="http://schemas.microsoft.com/office/powerpoint/2010/main" val="4989286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441" y="1600201"/>
            <a:ext cx="538339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5986" y="1600201"/>
            <a:ext cx="538339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B11F9E0-AC9B-43B4-B933-9639AB2C0C64}"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6C0235-B9B2-4978-8193-05470EB4767D}" type="slidenum">
              <a:rPr lang="en-US" smtClean="0"/>
              <a:t>‹#›</a:t>
            </a:fld>
            <a:endParaRPr lang="en-US"/>
          </a:p>
        </p:txBody>
      </p:sp>
    </p:spTree>
    <p:extLst>
      <p:ext uri="{BB962C8B-B14F-4D97-AF65-F5344CB8AC3E}">
        <p14:creationId xmlns:p14="http://schemas.microsoft.com/office/powerpoint/2010/main" val="4595071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441" y="1535113"/>
            <a:ext cx="538551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441" y="2174875"/>
            <a:ext cx="538551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1754" y="1535113"/>
            <a:ext cx="538763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1754" y="2174875"/>
            <a:ext cx="538763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B11F9E0-AC9B-43B4-B933-9639AB2C0C64}" type="datetimeFigureOut">
              <a:rPr lang="en-US" smtClean="0"/>
              <a:t>5/9/2026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6C0235-B9B2-4978-8193-05470EB4767D}" type="slidenum">
              <a:rPr lang="en-US" smtClean="0"/>
              <a:t>‹#›</a:t>
            </a:fld>
            <a:endParaRPr lang="en-US"/>
          </a:p>
        </p:txBody>
      </p:sp>
    </p:spTree>
    <p:extLst>
      <p:ext uri="{BB962C8B-B14F-4D97-AF65-F5344CB8AC3E}">
        <p14:creationId xmlns:p14="http://schemas.microsoft.com/office/powerpoint/2010/main" val="18420713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B11F9E0-AC9B-43B4-B933-9639AB2C0C64}" type="datetimeFigureOut">
              <a:rPr lang="en-US" smtClean="0"/>
              <a:t>5/9/2026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6C0235-B9B2-4978-8193-05470EB4767D}" type="slidenum">
              <a:rPr lang="en-US" smtClean="0"/>
              <a:t>‹#›</a:t>
            </a:fld>
            <a:endParaRPr lang="en-US"/>
          </a:p>
        </p:txBody>
      </p:sp>
    </p:spTree>
    <p:extLst>
      <p:ext uri="{BB962C8B-B14F-4D97-AF65-F5344CB8AC3E}">
        <p14:creationId xmlns:p14="http://schemas.microsoft.com/office/powerpoint/2010/main" val="328252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11F9E0-AC9B-43B4-B933-9639AB2C0C64}" type="datetimeFigureOut">
              <a:rPr lang="en-US" smtClean="0"/>
              <a:t>5/9/2026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6C0235-B9B2-4978-8193-05470EB4767D}" type="slidenum">
              <a:rPr lang="en-US" smtClean="0"/>
              <a:t>‹#›</a:t>
            </a:fld>
            <a:endParaRPr lang="en-US"/>
          </a:p>
        </p:txBody>
      </p:sp>
    </p:spTree>
    <p:extLst>
      <p:ext uri="{BB962C8B-B14F-4D97-AF65-F5344CB8AC3E}">
        <p14:creationId xmlns:p14="http://schemas.microsoft.com/office/powerpoint/2010/main" val="16423958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2" y="273050"/>
            <a:ext cx="4010039"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5492" y="273051"/>
            <a:ext cx="681389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442" y="1435101"/>
            <a:ext cx="401003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11F9E0-AC9B-43B4-B933-9639AB2C0C64}"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6C0235-B9B2-4978-8193-05470EB4767D}" type="slidenum">
              <a:rPr lang="en-US" smtClean="0"/>
              <a:t>‹#›</a:t>
            </a:fld>
            <a:endParaRPr lang="en-US"/>
          </a:p>
        </p:txBody>
      </p:sp>
    </p:spTree>
    <p:extLst>
      <p:ext uri="{BB962C8B-B14F-4D97-AF65-F5344CB8AC3E}">
        <p14:creationId xmlns:p14="http://schemas.microsoft.com/office/powerpoint/2010/main" val="6734399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095" y="612775"/>
            <a:ext cx="731329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095" y="5367338"/>
            <a:ext cx="731329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11F9E0-AC9B-43B4-B933-9639AB2C0C64}"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6C0235-B9B2-4978-8193-05470EB4767D}" type="slidenum">
              <a:rPr lang="en-US" smtClean="0"/>
              <a:t>‹#›</a:t>
            </a:fld>
            <a:endParaRPr lang="en-US"/>
          </a:p>
        </p:txBody>
      </p:sp>
    </p:spTree>
    <p:extLst>
      <p:ext uri="{BB962C8B-B14F-4D97-AF65-F5344CB8AC3E}">
        <p14:creationId xmlns:p14="http://schemas.microsoft.com/office/powerpoint/2010/main" val="32850530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B11F9E0-AC9B-43B4-B933-9639AB2C0C64}"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6C0235-B9B2-4978-8193-05470EB4767D}" type="slidenum">
              <a:rPr lang="en-US" smtClean="0"/>
              <a:t>‹#›</a:t>
            </a:fld>
            <a:endParaRPr lang="en-US"/>
          </a:p>
        </p:txBody>
      </p:sp>
    </p:spTree>
    <p:extLst>
      <p:ext uri="{BB962C8B-B14F-4D97-AF65-F5344CB8AC3E}">
        <p14:creationId xmlns:p14="http://schemas.microsoft.com/office/powerpoint/2010/main" val="29034599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274639"/>
            <a:ext cx="2742486"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441" y="274639"/>
            <a:ext cx="802431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B11F9E0-AC9B-43B4-B933-9639AB2C0C64}"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6C0235-B9B2-4978-8193-05470EB4767D}" type="slidenum">
              <a:rPr lang="en-US" smtClean="0"/>
              <a:t>‹#›</a:t>
            </a:fld>
            <a:endParaRPr lang="en-US"/>
          </a:p>
        </p:txBody>
      </p:sp>
    </p:spTree>
    <p:extLst>
      <p:ext uri="{BB962C8B-B14F-4D97-AF65-F5344CB8AC3E}">
        <p14:creationId xmlns:p14="http://schemas.microsoft.com/office/powerpoint/2010/main" val="2370267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3" y="381000"/>
            <a:ext cx="9829799" cy="12192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3" y="1981200"/>
            <a:ext cx="9829799" cy="41878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3"/>
          </p:nvPr>
        </p:nvSpPr>
        <p:spPr>
          <a:xfrm>
            <a:off x="1522413" y="6400800"/>
            <a:ext cx="5954834" cy="276228"/>
          </a:xfrm>
          <a:prstGeom prst="rect">
            <a:avLst/>
          </a:prstGeom>
        </p:spPr>
        <p:txBody>
          <a:bodyPr vert="horz" lIns="91440" tIns="45720" rIns="91440" bIns="45720" rtlCol="0" anchor="ctr"/>
          <a:lstStyle>
            <a:lvl1pPr algn="l">
              <a:defRPr sz="1100">
                <a:solidFill>
                  <a:schemeClr val="tx1"/>
                </a:solidFill>
              </a:defRPr>
            </a:lvl1pPr>
          </a:lstStyle>
          <a:p>
            <a:r>
              <a:rPr lang="en-US"/>
              <a:t>Add a footer</a:t>
            </a:r>
          </a:p>
        </p:txBody>
      </p:sp>
      <p:sp>
        <p:nvSpPr>
          <p:cNvPr id="4" name="Date Placeholder 3"/>
          <p:cNvSpPr>
            <a:spLocks noGrp="1"/>
          </p:cNvSpPr>
          <p:nvPr>
            <p:ph type="dt" sz="half" idx="2"/>
          </p:nvPr>
        </p:nvSpPr>
        <p:spPr>
          <a:xfrm>
            <a:off x="8228011" y="6400800"/>
            <a:ext cx="1548659" cy="276228"/>
          </a:xfrm>
          <a:prstGeom prst="rect">
            <a:avLst/>
          </a:prstGeom>
        </p:spPr>
        <p:txBody>
          <a:bodyPr vert="horz" lIns="91440" tIns="45720" rIns="91440" bIns="45720" rtlCol="0" anchor="ctr"/>
          <a:lstStyle>
            <a:lvl1pPr algn="r">
              <a:defRPr sz="1100">
                <a:solidFill>
                  <a:schemeClr val="tx1"/>
                </a:solidFill>
              </a:defRPr>
            </a:lvl1pPr>
          </a:lstStyle>
          <a:p>
            <a:fld id="{03F41C87-7AD9-4845-A077-840E4A0F3F06}" type="datetimeFigureOut">
              <a:rPr lang="en-US" smtClean="0"/>
              <a:pPr/>
              <a:t>5/9/2026</a:t>
            </a:fld>
            <a:endParaRPr lang="en-US"/>
          </a:p>
        </p:txBody>
      </p:sp>
      <p:sp>
        <p:nvSpPr>
          <p:cNvPr id="6" name="Slide Number Placeholder 5"/>
          <p:cNvSpPr>
            <a:spLocks noGrp="1"/>
          </p:cNvSpPr>
          <p:nvPr>
            <p:ph type="sldNum" sz="quarter" idx="4"/>
          </p:nvPr>
        </p:nvSpPr>
        <p:spPr>
          <a:xfrm>
            <a:off x="10285411" y="6400800"/>
            <a:ext cx="1066802" cy="276228"/>
          </a:xfrm>
          <a:prstGeom prst="rect">
            <a:avLst/>
          </a:prstGeom>
        </p:spPr>
        <p:txBody>
          <a:bodyPr vert="horz" lIns="91440" tIns="45720" rIns="91440" bIns="45720" rtlCol="0" anchor="ctr"/>
          <a:lstStyle>
            <a:lvl1pPr algn="r">
              <a:defRPr sz="1100">
                <a:solidFill>
                  <a:schemeClr val="tx1"/>
                </a:solidFill>
              </a:defRPr>
            </a:lvl1pPr>
          </a:lstStyle>
          <a:p>
            <a:fld id="{2A013F82-EE5E-44EE-A61D-E31C6657F26F}" type="slidenum">
              <a:rPr lang="en-US" smtClean="0"/>
              <a:pPr/>
              <a:t>‹#›</a:t>
            </a:fld>
            <a:endParaRPr lang="en-US"/>
          </a:p>
        </p:txBody>
      </p:sp>
      <p:pic>
        <p:nvPicPr>
          <p:cNvPr id="9" name="Picture 8"/>
          <p:cNvPicPr>
            <a:picLocks noChangeAspect="1"/>
          </p:cNvPicPr>
          <p:nvPr/>
        </p:nvPicPr>
        <p:blipFill rotWithShape="1">
          <a:blip r:embed="rId13" cstate="print">
            <a:extLst>
              <a:ext uri="{28A0092B-C50C-407E-A947-70E740481C1C}">
                <a14:useLocalDpi xmlns:a14="http://schemas.microsoft.com/office/drawing/2010/main" val="0"/>
              </a:ext>
            </a:extLst>
          </a:blip>
          <a:srcRect/>
          <a:stretch/>
        </p:blipFill>
        <p:spPr>
          <a:xfrm>
            <a:off x="1" y="0"/>
            <a:ext cx="1065213" cy="6858000"/>
          </a:xfrm>
          <a:prstGeom prst="rect">
            <a:avLst/>
          </a:prstGeom>
        </p:spPr>
      </p:pic>
      <p:sp>
        <p:nvSpPr>
          <p:cNvPr id="10" name="Rectangle 9"/>
          <p:cNvSpPr/>
          <p:nvPr/>
        </p:nvSpPr>
        <p:spPr>
          <a:xfrm>
            <a:off x="1" y="0"/>
            <a:ext cx="1065213" cy="6858000"/>
          </a:xfrm>
          <a:prstGeom prst="rect">
            <a:avLst/>
          </a:prstGeom>
          <a:gradFill flip="none" rotWithShape="1">
            <a:gsLst>
              <a:gs pos="75000">
                <a:schemeClr val="tx2">
                  <a:alpha val="0"/>
                </a:schemeClr>
              </a:gs>
              <a:gs pos="100000">
                <a:schemeClr val="tx2">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403059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p:titleStyle>
    <p:bodyStyle>
      <a:lvl1pPr marL="223838" indent="-223838" algn="l" defTabSz="914400" rtl="0" eaLnBrk="1" latinLnBrk="0" hangingPunct="1">
        <a:lnSpc>
          <a:spcPct val="90000"/>
        </a:lnSpc>
        <a:spcBef>
          <a:spcPts val="1800"/>
        </a:spcBef>
        <a:buClr>
          <a:schemeClr val="tx1">
            <a:lumMod val="90000"/>
            <a:lumOff val="10000"/>
          </a:schemeClr>
        </a:buClr>
        <a:buSzPct val="80000"/>
        <a:buFont typeface="Arial" pitchFamily="34" charset="0"/>
        <a:buChar char="•"/>
        <a:defRPr sz="2400" kern="1200">
          <a:solidFill>
            <a:schemeClr val="tx1"/>
          </a:solidFill>
          <a:latin typeface="+mn-lt"/>
          <a:ea typeface="+mn-ea"/>
          <a:cs typeface="+mn-cs"/>
        </a:defRPr>
      </a:lvl1pPr>
      <a:lvl2pPr marL="511175" indent="-228600" algn="l" defTabSz="914400" rtl="0" eaLnBrk="1" latinLnBrk="0" hangingPunct="1">
        <a:lnSpc>
          <a:spcPct val="90000"/>
        </a:lnSpc>
        <a:spcBef>
          <a:spcPts val="1000"/>
        </a:spcBef>
        <a:buClr>
          <a:schemeClr val="tx1">
            <a:lumMod val="90000"/>
            <a:lumOff val="10000"/>
          </a:schemeClr>
        </a:buClr>
        <a:buSzPct val="80000"/>
        <a:buFont typeface="Arial" pitchFamily="34" charset="0"/>
        <a:buChar char="•"/>
        <a:defRPr sz="2000" kern="1200">
          <a:solidFill>
            <a:schemeClr val="tx1"/>
          </a:solidFill>
          <a:latin typeface="+mn-lt"/>
          <a:ea typeface="+mn-ea"/>
          <a:cs typeface="+mn-cs"/>
        </a:defRPr>
      </a:lvl2pPr>
      <a:lvl3pPr marL="685800"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800" kern="1200">
          <a:solidFill>
            <a:schemeClr val="tx1"/>
          </a:solidFill>
          <a:latin typeface="+mn-lt"/>
          <a:ea typeface="+mn-ea"/>
          <a:cs typeface="+mn-cs"/>
        </a:defRPr>
      </a:lvl3pPr>
      <a:lvl4pPr marL="860425"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4pPr>
      <a:lvl5pPr marL="1033463" indent="-173038"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8"/>
            <a:ext cx="10969943"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441" y="1600201"/>
            <a:ext cx="10969943"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11F9E0-AC9B-43B4-B933-9639AB2C0C64}" type="datetimeFigureOut">
              <a:rPr lang="en-US" smtClean="0"/>
              <a:t>5/9/2026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6C0235-B9B2-4978-8193-05470EB4767D}" type="slidenum">
              <a:rPr lang="en-US" smtClean="0"/>
              <a:t>‹#›</a:t>
            </a:fld>
            <a:endParaRPr lang="en-US"/>
          </a:p>
        </p:txBody>
      </p:sp>
    </p:spTree>
    <p:extLst>
      <p:ext uri="{BB962C8B-B14F-4D97-AF65-F5344CB8AC3E}">
        <p14:creationId xmlns:p14="http://schemas.microsoft.com/office/powerpoint/2010/main" val="10361084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0823" y="1600200"/>
            <a:ext cx="6290765" cy="3048000"/>
          </a:xfrm>
        </p:spPr>
        <p:txBody>
          <a:bodyPr>
            <a:normAutofit/>
          </a:bodyPr>
          <a:lstStyle/>
          <a:p>
            <a:r>
              <a:rPr lang="en-US" sz="4800" b="1" dirty="0">
                <a:latin typeface="National semibold" panose="02000503000000020004"/>
              </a:rPr>
              <a:t>Introduction to </a:t>
            </a:r>
            <a:br>
              <a:rPr lang="en-US" sz="4800" b="1" dirty="0">
                <a:latin typeface="National semibold" panose="02000503000000020004"/>
              </a:rPr>
            </a:br>
            <a:r>
              <a:rPr lang="en-US" sz="4800" b="1" dirty="0">
                <a:latin typeface="National semibold" panose="02000503000000020004"/>
              </a:rPr>
              <a:t>Decentralized Finance </a:t>
            </a:r>
            <a:br>
              <a:rPr lang="en-US" sz="4800" b="1" dirty="0">
                <a:latin typeface="National semibold" panose="02000503000000020004"/>
              </a:rPr>
            </a:br>
            <a:endParaRPr lang="en-US" sz="5400" dirty="0">
              <a:latin typeface="National semibold" panose="02000503000000020004"/>
            </a:endParaRPr>
          </a:p>
        </p:txBody>
      </p:sp>
    </p:spTree>
    <p:extLst>
      <p:ext uri="{BB962C8B-B14F-4D97-AF65-F5344CB8AC3E}">
        <p14:creationId xmlns:p14="http://schemas.microsoft.com/office/powerpoint/2010/main" val="935251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dirty="0">
                <a:latin typeface="National semibold" panose="02000503000000020004"/>
              </a:rPr>
              <a:t>What is Decentralized Finance?</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240500" cy="4648200"/>
          </a:xfrm>
        </p:spPr>
        <p:txBody>
          <a:bodyPr>
            <a:normAutofit fontScale="92500" lnSpcReduction="20000"/>
          </a:bodyPr>
          <a:lstStyle/>
          <a:p>
            <a:r>
              <a:rPr lang="en-US" dirty="0">
                <a:latin typeface="National semibold" panose="02000503000000020004"/>
              </a:rPr>
              <a:t>A new financial system built from the ground up that creates a competitive marketplace of decentralized financial applications.  </a:t>
            </a:r>
          </a:p>
          <a:p>
            <a:r>
              <a:rPr lang="en-US" dirty="0">
                <a:solidFill>
                  <a:srgbClr val="202122"/>
                </a:solidFill>
                <a:latin typeface="National semibold" panose="02000503000000020004"/>
              </a:rPr>
              <a:t>DeFi uses </a:t>
            </a:r>
            <a:r>
              <a:rPr lang="en-US" b="1" u="sng" dirty="0">
                <a:solidFill>
                  <a:srgbClr val="202122"/>
                </a:solidFill>
                <a:latin typeface="National semibold" panose="02000503000000020004"/>
              </a:rPr>
              <a:t>smart contracts</a:t>
            </a:r>
            <a:r>
              <a:rPr lang="en-US" dirty="0">
                <a:solidFill>
                  <a:srgbClr val="202122"/>
                </a:solidFill>
                <a:latin typeface="National semibold" panose="02000503000000020004"/>
              </a:rPr>
              <a:t> that are recorded and executed on a </a:t>
            </a:r>
            <a:r>
              <a:rPr lang="en-US" b="1" u="sng" dirty="0">
                <a:solidFill>
                  <a:srgbClr val="202122"/>
                </a:solidFill>
                <a:latin typeface="National semibold" panose="02000503000000020004"/>
              </a:rPr>
              <a:t>blockchain</a:t>
            </a:r>
            <a:r>
              <a:rPr lang="en-US" dirty="0">
                <a:solidFill>
                  <a:srgbClr val="202122"/>
                </a:solidFill>
                <a:latin typeface="National semibold" panose="02000503000000020004"/>
              </a:rPr>
              <a:t> to offer financial instruments and services without relying on traditional intermediaries such as brokerages, exchanges, and banks. </a:t>
            </a:r>
          </a:p>
          <a:p>
            <a:r>
              <a:rPr lang="en-US" dirty="0">
                <a:solidFill>
                  <a:srgbClr val="202122"/>
                </a:solidFill>
                <a:latin typeface="National semibold" panose="02000503000000020004"/>
              </a:rPr>
              <a:t>It allows participants to lend and borrow funds from others, speculate on price movements on assets using derivatives, trade cryptocurrencies, insure against risks, and earn interests on savings-like accounts.</a:t>
            </a:r>
            <a:endParaRPr lang="en-US" baseline="30000" dirty="0">
              <a:solidFill>
                <a:srgbClr val="0645AD"/>
              </a:solidFill>
              <a:latin typeface="National semibold" panose="02000503000000020004"/>
            </a:endParaRPr>
          </a:p>
          <a:p>
            <a:r>
              <a:rPr lang="en-US" dirty="0">
                <a:latin typeface="National semibold" panose="02000503000000020004"/>
              </a:rPr>
              <a:t>Five major areas of operation:</a:t>
            </a:r>
          </a:p>
          <a:p>
            <a:pPr marL="744537" lvl="1" indent="-457200">
              <a:buFont typeface="+mj-lt"/>
              <a:buAutoNum type="arabicPeriod"/>
            </a:pPr>
            <a:r>
              <a:rPr lang="en-US" dirty="0">
                <a:latin typeface="National semibold" panose="02000503000000020004"/>
              </a:rPr>
              <a:t>Lending</a:t>
            </a:r>
          </a:p>
          <a:p>
            <a:pPr marL="744537" lvl="1" indent="-457200">
              <a:buFont typeface="+mj-lt"/>
              <a:buAutoNum type="arabicPeriod"/>
            </a:pPr>
            <a:r>
              <a:rPr lang="en-US" dirty="0">
                <a:latin typeface="National semibold" panose="02000503000000020004"/>
              </a:rPr>
              <a:t>Exchanges</a:t>
            </a:r>
          </a:p>
          <a:p>
            <a:pPr marL="744537" lvl="1" indent="-457200">
              <a:buFont typeface="+mj-lt"/>
              <a:buAutoNum type="arabicPeriod"/>
            </a:pPr>
            <a:r>
              <a:rPr lang="en-US" dirty="0">
                <a:latin typeface="National semibold" panose="02000503000000020004"/>
              </a:rPr>
              <a:t>Derivatives</a:t>
            </a:r>
          </a:p>
          <a:p>
            <a:pPr marL="744537" lvl="1" indent="-457200">
              <a:buFont typeface="+mj-lt"/>
              <a:buAutoNum type="arabicPeriod"/>
            </a:pPr>
            <a:r>
              <a:rPr lang="en-US" dirty="0">
                <a:latin typeface="National semibold" panose="02000503000000020004"/>
              </a:rPr>
              <a:t>Payments</a:t>
            </a:r>
          </a:p>
          <a:p>
            <a:pPr marL="744537" lvl="1" indent="-457200">
              <a:buFont typeface="+mj-lt"/>
              <a:buAutoNum type="arabicPeriod"/>
            </a:pPr>
            <a:r>
              <a:rPr lang="en-US" dirty="0">
                <a:latin typeface="National semibold" panose="02000503000000020004"/>
              </a:rPr>
              <a:t>Asset managements</a:t>
            </a:r>
          </a:p>
        </p:txBody>
      </p:sp>
    </p:spTree>
    <p:extLst>
      <p:ext uri="{BB962C8B-B14F-4D97-AF65-F5344CB8AC3E}">
        <p14:creationId xmlns:p14="http://schemas.microsoft.com/office/powerpoint/2010/main" val="1533528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dirty="0">
                <a:latin typeface="National semibold" panose="02000503000000020004"/>
              </a:rPr>
              <a:t>Differences with traditional finance</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689296" y="1828800"/>
            <a:ext cx="9762898" cy="4648200"/>
          </a:xfrm>
        </p:spPr>
        <p:txBody>
          <a:bodyPr>
            <a:normAutofit/>
          </a:bodyPr>
          <a:lstStyle/>
          <a:p>
            <a:pPr lvl="1"/>
            <a:r>
              <a:rPr lang="en-US" sz="2400" dirty="0" err="1">
                <a:latin typeface="National semibold" panose="02000503000000020004"/>
              </a:rPr>
              <a:t>DeFi</a:t>
            </a:r>
            <a:r>
              <a:rPr lang="en-US" sz="2400" dirty="0">
                <a:latin typeface="National semibold" panose="02000503000000020004"/>
              </a:rPr>
              <a:t> is open access.</a:t>
            </a:r>
          </a:p>
          <a:p>
            <a:pPr marL="282575" lvl="1" indent="0">
              <a:buNone/>
            </a:pPr>
            <a:endParaRPr lang="en-US" sz="2400" dirty="0">
              <a:latin typeface="National semibold" panose="02000503000000020004"/>
            </a:endParaRPr>
          </a:p>
          <a:p>
            <a:pPr lvl="1"/>
            <a:r>
              <a:rPr lang="en-US" sz="2400" dirty="0">
                <a:latin typeface="National semibold" panose="02000503000000020004"/>
              </a:rPr>
              <a:t>It does not need centralized institutions for basic financial actions.</a:t>
            </a:r>
          </a:p>
          <a:p>
            <a:pPr marL="282575" lvl="1" indent="0">
              <a:buNone/>
            </a:pPr>
            <a:endParaRPr lang="en-US" sz="2400" dirty="0">
              <a:latin typeface="National semibold" panose="02000503000000020004"/>
            </a:endParaRPr>
          </a:p>
        </p:txBody>
      </p:sp>
    </p:spTree>
    <p:extLst>
      <p:ext uri="{BB962C8B-B14F-4D97-AF65-F5344CB8AC3E}">
        <p14:creationId xmlns:p14="http://schemas.microsoft.com/office/powerpoint/2010/main" val="4030112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dirty="0">
                <a:latin typeface="National semibold" panose="02000503000000020004"/>
              </a:rPr>
              <a:t>More on the differences</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fontScale="92500"/>
          </a:bodyPr>
          <a:lstStyle/>
          <a:p>
            <a:r>
              <a:rPr lang="en-US" dirty="0">
                <a:latin typeface="National semibold" panose="02000503000000020004"/>
              </a:rPr>
              <a:t>“Trust” is essential for financial markets. </a:t>
            </a:r>
          </a:p>
          <a:p>
            <a:endParaRPr lang="en-US" dirty="0">
              <a:latin typeface="National semibold" panose="02000503000000020004"/>
            </a:endParaRPr>
          </a:p>
          <a:p>
            <a:r>
              <a:rPr lang="en-US" dirty="0">
                <a:latin typeface="National semibold" panose="02000503000000020004"/>
              </a:rPr>
              <a:t>In traditional finance, centralization has been the most effective way to create trust.</a:t>
            </a:r>
          </a:p>
          <a:p>
            <a:pPr marL="0" indent="0">
              <a:buNone/>
            </a:pPr>
            <a:r>
              <a:rPr lang="en-US" dirty="0">
                <a:latin typeface="National semibold" panose="02000503000000020004"/>
              </a:rPr>
              <a:t> </a:t>
            </a:r>
          </a:p>
          <a:p>
            <a:r>
              <a:rPr lang="en-US" dirty="0">
                <a:latin typeface="National semibold" panose="02000503000000020004"/>
              </a:rPr>
              <a:t>Large organizations (central banks, multinational brokerage houses, other financial intermediaries) have the size, brands, products and personnel we consider trustworthy.  </a:t>
            </a:r>
          </a:p>
          <a:p>
            <a:endParaRPr lang="en-US" dirty="0">
              <a:latin typeface="National semibold" panose="02000503000000020004"/>
            </a:endParaRPr>
          </a:p>
          <a:p>
            <a:r>
              <a:rPr lang="en-US" dirty="0">
                <a:latin typeface="National semibold" panose="02000503000000020004"/>
              </a:rPr>
              <a:t>DeFi is based on the opposite concept: </a:t>
            </a:r>
            <a:r>
              <a:rPr lang="en-US" b="1" dirty="0">
                <a:latin typeface="National semibold" panose="02000503000000020004"/>
              </a:rPr>
              <a:t>absence of large organizations like banks that control the operation of the system</a:t>
            </a:r>
            <a:r>
              <a:rPr lang="en-US" dirty="0">
                <a:latin typeface="National semibold" panose="02000503000000020004"/>
              </a:rPr>
              <a:t>. </a:t>
            </a:r>
          </a:p>
          <a:p>
            <a:endParaRPr lang="en-US" dirty="0">
              <a:latin typeface="National semibold" panose="02000503000000020004"/>
            </a:endParaRPr>
          </a:p>
        </p:txBody>
      </p:sp>
    </p:spTree>
    <p:extLst>
      <p:ext uri="{BB962C8B-B14F-4D97-AF65-F5344CB8AC3E}">
        <p14:creationId xmlns:p14="http://schemas.microsoft.com/office/powerpoint/2010/main" val="4139421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Title 12"/>
          <p:cNvSpPr>
            <a:spLocks noGrp="1"/>
          </p:cNvSpPr>
          <p:nvPr>
            <p:ph type="title"/>
          </p:nvPr>
        </p:nvSpPr>
        <p:spPr>
          <a:xfrm>
            <a:off x="1232023" y="886120"/>
            <a:ext cx="9762898" cy="2124832"/>
          </a:xfrm>
        </p:spPr>
        <p:txBody>
          <a:bodyPr anchor="ctr">
            <a:normAutofit fontScale="90000"/>
          </a:bodyPr>
          <a:lstStyle/>
          <a:p>
            <a:pPr algn="ctr"/>
            <a:br>
              <a:rPr lang="en-US" sz="4000" b="1" dirty="0">
                <a:latin typeface="National semibold" panose="02000503000000020004"/>
              </a:rPr>
            </a:br>
            <a:br>
              <a:rPr lang="en-US" sz="4000" b="1" dirty="0">
                <a:latin typeface="National semibold" panose="02000503000000020004"/>
              </a:rPr>
            </a:br>
            <a:r>
              <a:rPr lang="en-US" sz="4000" b="1" dirty="0">
                <a:latin typeface="National semibold" panose="02000503000000020004"/>
              </a:rPr>
              <a:t>Why do we want to get rid of banks?</a:t>
            </a:r>
            <a:br>
              <a:rPr lang="en-US" sz="4000" b="1" dirty="0">
                <a:latin typeface="National semibold" panose="02000503000000020004"/>
              </a:rPr>
            </a:br>
            <a:br>
              <a:rPr lang="en-US" sz="4000" b="1" dirty="0">
                <a:latin typeface="National semibold" panose="02000503000000020004"/>
              </a:rPr>
            </a:br>
            <a:endParaRPr lang="en-US" sz="4000" b="1" dirty="0">
              <a:latin typeface="National semibold" panose="02000503000000020004"/>
            </a:endParaRPr>
          </a:p>
        </p:txBody>
      </p:sp>
      <p:sp>
        <p:nvSpPr>
          <p:cNvPr id="6" name="Title 12">
            <a:extLst>
              <a:ext uri="{FF2B5EF4-FFF2-40B4-BE49-F238E27FC236}">
                <a16:creationId xmlns:a16="http://schemas.microsoft.com/office/drawing/2014/main" id="{D48CDA49-9E34-41C0-AF7C-A39AA649C550}"/>
              </a:ext>
            </a:extLst>
          </p:cNvPr>
          <p:cNvSpPr txBox="1">
            <a:spLocks/>
          </p:cNvSpPr>
          <p:nvPr/>
        </p:nvSpPr>
        <p:spPr>
          <a:xfrm>
            <a:off x="1228012" y="3271101"/>
            <a:ext cx="9762898" cy="2452316"/>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pPr algn="ctr"/>
            <a:br>
              <a:rPr lang="en-US" sz="4000" b="1" dirty="0">
                <a:latin typeface="National semibold" panose="02000503000000020004"/>
              </a:rPr>
            </a:br>
            <a:br>
              <a:rPr lang="en-US" sz="4000" b="1" dirty="0">
                <a:latin typeface="National semibold" panose="02000503000000020004"/>
              </a:rPr>
            </a:br>
            <a:r>
              <a:rPr lang="en-US" sz="4000" b="1" dirty="0">
                <a:latin typeface="National semibold" panose="02000503000000020004"/>
              </a:rPr>
              <a:t>Why are some people enthusiastic about getting rid of banks?</a:t>
            </a:r>
            <a:br>
              <a:rPr lang="en-US" sz="4000" b="1" dirty="0">
                <a:latin typeface="National semibold" panose="02000503000000020004"/>
              </a:rPr>
            </a:br>
            <a:br>
              <a:rPr lang="en-US" sz="4000" b="1" dirty="0">
                <a:latin typeface="National semibold" panose="02000503000000020004"/>
              </a:rPr>
            </a:br>
            <a:endParaRPr lang="en-US" sz="4000" b="1" dirty="0">
              <a:latin typeface="National semibold" panose="02000503000000020004"/>
            </a:endParaRPr>
          </a:p>
        </p:txBody>
      </p:sp>
    </p:spTree>
    <p:extLst>
      <p:ext uri="{BB962C8B-B14F-4D97-AF65-F5344CB8AC3E}">
        <p14:creationId xmlns:p14="http://schemas.microsoft.com/office/powerpoint/2010/main" val="3289682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2">
            <a:extLst>
              <a:ext uri="{FF2B5EF4-FFF2-40B4-BE49-F238E27FC236}">
                <a16:creationId xmlns:a16="http://schemas.microsoft.com/office/drawing/2014/main" id="{272392DA-58E8-00B6-0B2C-8C6B4EB7912C}"/>
              </a:ext>
            </a:extLst>
          </p:cNvPr>
          <p:cNvSpPr txBox="1">
            <a:spLocks/>
          </p:cNvSpPr>
          <p:nvPr/>
        </p:nvSpPr>
        <p:spPr>
          <a:xfrm>
            <a:off x="936703" y="1914236"/>
            <a:ext cx="10560747" cy="2722418"/>
          </a:xfrm>
          <a:prstGeom prst="rect">
            <a:avLst/>
          </a:prstGeom>
          <a:ln w="38100">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7200" b="1" i="0" u="none" strike="noStrike" kern="1200" cap="none" spc="0" normalizeH="0" baseline="0" noProof="0" dirty="0">
                <a:ln>
                  <a:noFill/>
                </a:ln>
                <a:solidFill>
                  <a:srgbClr val="002060"/>
                </a:solidFill>
                <a:effectLst/>
                <a:uLnTx/>
                <a:uFillTx/>
                <a:latin typeface="National semibold" panose="02000503000000020004"/>
                <a:ea typeface="+mj-ea"/>
                <a:cs typeface="+mj-cs"/>
              </a:rPr>
              <a:t>I.  Trends in financial industry</a:t>
            </a:r>
          </a:p>
        </p:txBody>
      </p:sp>
    </p:spTree>
    <p:extLst>
      <p:ext uri="{BB962C8B-B14F-4D97-AF65-F5344CB8AC3E}">
        <p14:creationId xmlns:p14="http://schemas.microsoft.com/office/powerpoint/2010/main" val="3249287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Title 12"/>
          <p:cNvSpPr>
            <a:spLocks noGrp="1"/>
          </p:cNvSpPr>
          <p:nvPr>
            <p:ph type="title"/>
          </p:nvPr>
        </p:nvSpPr>
        <p:spPr>
          <a:xfrm>
            <a:off x="875506" y="170880"/>
            <a:ext cx="10437812" cy="1219200"/>
          </a:xfrm>
        </p:spPr>
        <p:txBody>
          <a:bodyPr anchor="ctr">
            <a:normAutofit/>
          </a:bodyPr>
          <a:lstStyle/>
          <a:p>
            <a:pPr algn="ctr"/>
            <a:r>
              <a:rPr lang="en-US" sz="4000" b="1" dirty="0">
                <a:solidFill>
                  <a:schemeClr val="tx1"/>
                </a:solidFill>
                <a:latin typeface="National semibold" panose="02000503000000020004"/>
              </a:rPr>
              <a:t>The size of finance</a:t>
            </a:r>
          </a:p>
        </p:txBody>
      </p:sp>
      <p:pic>
        <p:nvPicPr>
          <p:cNvPr id="4" name="Picture 3" descr="Chart, line chart&#10;&#10;Description automatically generated">
            <a:extLst>
              <a:ext uri="{FF2B5EF4-FFF2-40B4-BE49-F238E27FC236}">
                <a16:creationId xmlns:a16="http://schemas.microsoft.com/office/drawing/2014/main" id="{F8AFF611-949B-2C4E-3BDF-61413FE99A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9010" y="1201635"/>
            <a:ext cx="10437812" cy="5430893"/>
          </a:xfrm>
          <a:prstGeom prst="rect">
            <a:avLst/>
          </a:prstGeom>
        </p:spPr>
      </p:pic>
      <p:sp>
        <p:nvSpPr>
          <p:cNvPr id="5" name="Rectangle 4">
            <a:extLst>
              <a:ext uri="{FF2B5EF4-FFF2-40B4-BE49-F238E27FC236}">
                <a16:creationId xmlns:a16="http://schemas.microsoft.com/office/drawing/2014/main" id="{14C53676-10E2-F40F-BD9B-9E1266F27E38}"/>
              </a:ext>
            </a:extLst>
          </p:cNvPr>
          <p:cNvSpPr/>
          <p:nvPr/>
        </p:nvSpPr>
        <p:spPr>
          <a:xfrm>
            <a:off x="1847850" y="1866900"/>
            <a:ext cx="8772525" cy="20940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mbria"/>
              <a:ea typeface="+mn-ea"/>
              <a:cs typeface="+mn-cs"/>
            </a:endParaRPr>
          </a:p>
        </p:txBody>
      </p:sp>
    </p:spTree>
    <p:extLst>
      <p:ext uri="{BB962C8B-B14F-4D97-AF65-F5344CB8AC3E}">
        <p14:creationId xmlns:p14="http://schemas.microsoft.com/office/powerpoint/2010/main" val="2546035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Title 12"/>
          <p:cNvSpPr>
            <a:spLocks noGrp="1"/>
          </p:cNvSpPr>
          <p:nvPr>
            <p:ph type="title"/>
          </p:nvPr>
        </p:nvSpPr>
        <p:spPr>
          <a:xfrm>
            <a:off x="875506" y="170880"/>
            <a:ext cx="10437812" cy="1219200"/>
          </a:xfrm>
        </p:spPr>
        <p:txBody>
          <a:bodyPr anchor="ctr">
            <a:normAutofit/>
          </a:bodyPr>
          <a:lstStyle/>
          <a:p>
            <a:pPr algn="ctr"/>
            <a:r>
              <a:rPr lang="en-US" sz="4000" b="1" dirty="0">
                <a:solidFill>
                  <a:schemeClr val="tx1"/>
                </a:solidFill>
                <a:latin typeface="National semibold" panose="02000503000000020004"/>
              </a:rPr>
              <a:t>The size finance</a:t>
            </a:r>
          </a:p>
        </p:txBody>
      </p:sp>
      <p:pic>
        <p:nvPicPr>
          <p:cNvPr id="4" name="Picture 3" descr="Chart, line chart&#10;&#10;Description automatically generated">
            <a:extLst>
              <a:ext uri="{FF2B5EF4-FFF2-40B4-BE49-F238E27FC236}">
                <a16:creationId xmlns:a16="http://schemas.microsoft.com/office/drawing/2014/main" id="{F8AFF611-949B-2C4E-3BDF-61413FE99A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9010" y="1201635"/>
            <a:ext cx="10437812" cy="5430893"/>
          </a:xfrm>
          <a:prstGeom prst="rect">
            <a:avLst/>
          </a:prstGeom>
        </p:spPr>
      </p:pic>
    </p:spTree>
    <p:extLst>
      <p:ext uri="{BB962C8B-B14F-4D97-AF65-F5344CB8AC3E}">
        <p14:creationId xmlns:p14="http://schemas.microsoft.com/office/powerpoint/2010/main" val="3502732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2">
            <a:extLst>
              <a:ext uri="{FF2B5EF4-FFF2-40B4-BE49-F238E27FC236}">
                <a16:creationId xmlns:a16="http://schemas.microsoft.com/office/drawing/2014/main" id="{272392DA-58E8-00B6-0B2C-8C6B4EB7912C}"/>
              </a:ext>
            </a:extLst>
          </p:cNvPr>
          <p:cNvSpPr txBox="1">
            <a:spLocks/>
          </p:cNvSpPr>
          <p:nvPr/>
        </p:nvSpPr>
        <p:spPr>
          <a:xfrm>
            <a:off x="1118889" y="3417567"/>
            <a:ext cx="9762898" cy="27224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F7C547">
                    <a:lumMod val="50000"/>
                  </a:srgbClr>
                </a:solidFill>
                <a:effectLst/>
                <a:uLnTx/>
                <a:uFillTx/>
                <a:latin typeface="National semibold" panose="02000503000000020004"/>
                <a:ea typeface="+mj-ea"/>
                <a:cs typeface="+mj-cs"/>
              </a:rPr>
              <a:t>Why do we need finance?</a:t>
            </a:r>
          </a:p>
        </p:txBody>
      </p:sp>
      <p:sp>
        <p:nvSpPr>
          <p:cNvPr id="2" name="Title 12">
            <a:extLst>
              <a:ext uri="{FF2B5EF4-FFF2-40B4-BE49-F238E27FC236}">
                <a16:creationId xmlns:a16="http://schemas.microsoft.com/office/drawing/2014/main" id="{C9D8EFD3-4885-C578-D742-DB35B97EA01A}"/>
              </a:ext>
            </a:extLst>
          </p:cNvPr>
          <p:cNvSpPr txBox="1">
            <a:spLocks/>
          </p:cNvSpPr>
          <p:nvPr/>
        </p:nvSpPr>
        <p:spPr>
          <a:xfrm>
            <a:off x="652545" y="880712"/>
            <a:ext cx="11144249" cy="223444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rgbClr val="F7C547">
                    <a:lumMod val="50000"/>
                  </a:srgbClr>
                </a:solidFill>
                <a:effectLst/>
                <a:uLnTx/>
                <a:uFillTx/>
                <a:latin typeface="National semibold" panose="02000503000000020004"/>
                <a:ea typeface="+mj-ea"/>
                <a:cs typeface="+mj-cs"/>
              </a:rPr>
              <a:t>Why does finance get a larger </a:t>
            </a: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rgbClr val="F7C547">
                    <a:lumMod val="50000"/>
                  </a:srgbClr>
                </a:solidFill>
                <a:effectLst/>
                <a:uLnTx/>
                <a:uFillTx/>
                <a:latin typeface="National semibold" panose="02000503000000020004"/>
                <a:ea typeface="+mj-ea"/>
                <a:cs typeface="+mj-cs"/>
              </a:rPr>
              <a:t>share of income?</a:t>
            </a:r>
          </a:p>
        </p:txBody>
      </p:sp>
    </p:spTree>
    <p:extLst>
      <p:ext uri="{BB962C8B-B14F-4D97-AF65-F5344CB8AC3E}">
        <p14:creationId xmlns:p14="http://schemas.microsoft.com/office/powerpoint/2010/main" val="26112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4951412" y="1752600"/>
            <a:ext cx="2286000" cy="21336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a:ea typeface="+mn-ea"/>
                <a:cs typeface="+mn-cs"/>
              </a:rPr>
              <a:t>Banks</a:t>
            </a:r>
          </a:p>
        </p:txBody>
      </p:sp>
      <p:sp>
        <p:nvSpPr>
          <p:cNvPr id="6" name="Rectangle 5"/>
          <p:cNvSpPr/>
          <p:nvPr/>
        </p:nvSpPr>
        <p:spPr>
          <a:xfrm>
            <a:off x="8456612" y="1752600"/>
            <a:ext cx="1828800" cy="20574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a:ea typeface="+mn-ea"/>
                <a:cs typeface="+mn-cs"/>
              </a:rPr>
              <a:t>Net borrowers</a:t>
            </a:r>
          </a:p>
        </p:txBody>
      </p:sp>
      <p:sp>
        <p:nvSpPr>
          <p:cNvPr id="7" name="Rectangle 6"/>
          <p:cNvSpPr/>
          <p:nvPr/>
        </p:nvSpPr>
        <p:spPr>
          <a:xfrm>
            <a:off x="1903412" y="1828800"/>
            <a:ext cx="1752600" cy="20574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a:ea typeface="+mn-ea"/>
                <a:cs typeface="+mn-cs"/>
              </a:rPr>
              <a:t>Net savers</a:t>
            </a:r>
          </a:p>
        </p:txBody>
      </p:sp>
      <p:cxnSp>
        <p:nvCxnSpPr>
          <p:cNvPr id="9" name="Straight Arrow Connector 8"/>
          <p:cNvCxnSpPr/>
          <p:nvPr/>
        </p:nvCxnSpPr>
        <p:spPr>
          <a:xfrm>
            <a:off x="3884612" y="2819400"/>
            <a:ext cx="762000"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0" name="Straight Arrow Connector 9"/>
          <p:cNvCxnSpPr/>
          <p:nvPr/>
        </p:nvCxnSpPr>
        <p:spPr>
          <a:xfrm>
            <a:off x="7466012" y="2819400"/>
            <a:ext cx="762000"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1" name="Straight Arrow Connector 10"/>
          <p:cNvCxnSpPr/>
          <p:nvPr/>
        </p:nvCxnSpPr>
        <p:spPr>
          <a:xfrm>
            <a:off x="9371012" y="4114800"/>
            <a:ext cx="0" cy="838200"/>
          </a:xfrm>
          <a:prstGeom prst="straightConnector1">
            <a:avLst/>
          </a:prstGeom>
          <a:ln>
            <a:tailEnd type="none"/>
          </a:ln>
        </p:spPr>
        <p:style>
          <a:lnRef idx="3">
            <a:schemeClr val="dk1"/>
          </a:lnRef>
          <a:fillRef idx="0">
            <a:schemeClr val="dk1"/>
          </a:fillRef>
          <a:effectRef idx="2">
            <a:schemeClr val="dk1"/>
          </a:effectRef>
          <a:fontRef idx="minor">
            <a:schemeClr val="tx1"/>
          </a:fontRef>
        </p:style>
      </p:cxnSp>
      <p:sp>
        <p:nvSpPr>
          <p:cNvPr id="13" name="Rectangle 12"/>
          <p:cNvSpPr/>
          <p:nvPr/>
        </p:nvSpPr>
        <p:spPr>
          <a:xfrm>
            <a:off x="8380412" y="5257800"/>
            <a:ext cx="2057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Consumers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Investors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Employers</a:t>
            </a:r>
          </a:p>
        </p:txBody>
      </p:sp>
      <p:sp>
        <p:nvSpPr>
          <p:cNvPr id="14" name="Rectangle 13"/>
          <p:cNvSpPr/>
          <p:nvPr/>
        </p:nvSpPr>
        <p:spPr>
          <a:xfrm>
            <a:off x="1827212" y="5105400"/>
            <a:ext cx="2057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Consumers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Investors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Employers</a:t>
            </a:r>
          </a:p>
        </p:txBody>
      </p:sp>
      <p:cxnSp>
        <p:nvCxnSpPr>
          <p:cNvPr id="15" name="Straight Arrow Connector 14"/>
          <p:cNvCxnSpPr/>
          <p:nvPr/>
        </p:nvCxnSpPr>
        <p:spPr>
          <a:xfrm>
            <a:off x="2817812" y="4114800"/>
            <a:ext cx="0" cy="838200"/>
          </a:xfrm>
          <a:prstGeom prst="straightConnector1">
            <a:avLst/>
          </a:prstGeom>
          <a:ln>
            <a:tailEnd type="none"/>
          </a:ln>
        </p:spPr>
        <p:style>
          <a:lnRef idx="3">
            <a:schemeClr val="dk1"/>
          </a:lnRef>
          <a:fillRef idx="0">
            <a:schemeClr val="dk1"/>
          </a:fillRef>
          <a:effectRef idx="2">
            <a:schemeClr val="dk1"/>
          </a:effectRef>
          <a:fontRef idx="minor">
            <a:schemeClr val="tx1"/>
          </a:fontRef>
        </p:style>
      </p:cxnSp>
      <p:sp>
        <p:nvSpPr>
          <p:cNvPr id="2" name="Title 12">
            <a:extLst>
              <a:ext uri="{FF2B5EF4-FFF2-40B4-BE49-F238E27FC236}">
                <a16:creationId xmlns:a16="http://schemas.microsoft.com/office/drawing/2014/main" id="{953F42DC-CBCD-F4D0-6328-13C094F5CB83}"/>
              </a:ext>
            </a:extLst>
          </p:cNvPr>
          <p:cNvSpPr txBox="1">
            <a:spLocks/>
          </p:cNvSpPr>
          <p:nvPr/>
        </p:nvSpPr>
        <p:spPr>
          <a:xfrm>
            <a:off x="875506" y="170880"/>
            <a:ext cx="10437812" cy="12192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National semibold" panose="02000503000000020004"/>
                <a:ea typeface="+mj-ea"/>
                <a:cs typeface="+mj-cs"/>
              </a:rPr>
              <a:t>The role of banks</a:t>
            </a:r>
          </a:p>
        </p:txBody>
      </p:sp>
    </p:spTree>
    <p:extLst>
      <p:ext uri="{BB962C8B-B14F-4D97-AF65-F5344CB8AC3E}">
        <p14:creationId xmlns:p14="http://schemas.microsoft.com/office/powerpoint/2010/main" val="622084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3"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12">
            <a:extLst>
              <a:ext uri="{FF2B5EF4-FFF2-40B4-BE49-F238E27FC236}">
                <a16:creationId xmlns:a16="http://schemas.microsoft.com/office/drawing/2014/main" id="{28C9B9E4-9991-6760-7286-D9D09EE9E806}"/>
              </a:ext>
            </a:extLst>
          </p:cNvPr>
          <p:cNvSpPr txBox="1">
            <a:spLocks/>
          </p:cNvSpPr>
          <p:nvPr/>
        </p:nvSpPr>
        <p:spPr>
          <a:xfrm>
            <a:off x="525006" y="2028825"/>
            <a:ext cx="11144249" cy="253348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rgbClr val="F7C547">
                    <a:lumMod val="50000"/>
                  </a:srgbClr>
                </a:solidFill>
                <a:effectLst/>
                <a:uLnTx/>
                <a:uFillTx/>
                <a:latin typeface="National semibold" panose="02000503000000020004"/>
                <a:ea typeface="+mj-ea"/>
                <a:cs typeface="+mj-cs"/>
              </a:rPr>
              <a:t>Banks are useful.</a:t>
            </a: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rgbClr val="F7C547">
                    <a:lumMod val="50000"/>
                  </a:srgbClr>
                </a:solidFill>
                <a:effectLst/>
                <a:uLnTx/>
                <a:uFillTx/>
                <a:latin typeface="National semibold" panose="02000503000000020004"/>
                <a:ea typeface="+mj-ea"/>
                <a:cs typeface="+mj-cs"/>
              </a:rPr>
              <a:t>But why are they getting a larger </a:t>
            </a: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rgbClr val="F7C547">
                    <a:lumMod val="50000"/>
                  </a:srgbClr>
                </a:solidFill>
                <a:effectLst/>
                <a:uLnTx/>
                <a:uFillTx/>
                <a:latin typeface="National semibold" panose="02000503000000020004"/>
                <a:ea typeface="+mj-ea"/>
                <a:cs typeface="+mj-cs"/>
              </a:rPr>
              <a:t>share of income?</a:t>
            </a:r>
          </a:p>
        </p:txBody>
      </p:sp>
    </p:spTree>
    <p:extLst>
      <p:ext uri="{BB962C8B-B14F-4D97-AF65-F5344CB8AC3E}">
        <p14:creationId xmlns:p14="http://schemas.microsoft.com/office/powerpoint/2010/main" val="418408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2">
            <a:extLst>
              <a:ext uri="{FF2B5EF4-FFF2-40B4-BE49-F238E27FC236}">
                <a16:creationId xmlns:a16="http://schemas.microsoft.com/office/drawing/2014/main" id="{7F7FC1D5-3B45-9706-750B-5B66237BBE91}"/>
              </a:ext>
            </a:extLst>
          </p:cNvPr>
          <p:cNvSpPr txBox="1">
            <a:spLocks/>
          </p:cNvSpPr>
          <p:nvPr/>
        </p:nvSpPr>
        <p:spPr>
          <a:xfrm>
            <a:off x="875506" y="157956"/>
            <a:ext cx="10437812" cy="1219200"/>
          </a:xfrm>
          <a:prstGeom prst="rect">
            <a:avLst/>
          </a:prstGeom>
        </p:spPr>
        <p:txBody>
          <a:bodyPr vert="horz" lIns="91440" tIns="45720" rIns="91440" bIns="45720" rtlCol="0" anchor="ctr">
            <a:normAutofit fontScale="7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5400" b="1" i="0" u="none" strike="noStrike" kern="1200" cap="none" spc="0" normalizeH="0" baseline="0" noProof="0" dirty="0">
                <a:ln>
                  <a:noFill/>
                </a:ln>
                <a:solidFill>
                  <a:prstClr val="black"/>
                </a:solidFill>
                <a:effectLst/>
                <a:uLnTx/>
                <a:uFillTx/>
                <a:latin typeface="National semibold" panose="02000503000000020004"/>
                <a:ea typeface="+mj-ea"/>
                <a:cs typeface="+mj-cs"/>
              </a:rPr>
              <a:t>First (benevolent) view:</a:t>
            </a:r>
            <a:r>
              <a:rPr kumimoji="0" lang="en-US" sz="5400" b="1" i="0" u="none" strike="noStrike" kern="1200" cap="none" spc="0" normalizeH="0" baseline="0" noProof="0" dirty="0">
                <a:ln>
                  <a:noFill/>
                </a:ln>
                <a:solidFill>
                  <a:srgbClr val="0070C0"/>
                </a:solidFill>
                <a:effectLst/>
                <a:uLnTx/>
                <a:uFillTx/>
                <a:latin typeface="National semibold" panose="02000503000000020004"/>
                <a:ea typeface="+mj-ea"/>
                <a:cs typeface="+mj-cs"/>
              </a:rPr>
              <a:t> </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5400" b="1" i="0" u="none" strike="noStrike" kern="1200" cap="none" spc="0" normalizeH="0" baseline="0" noProof="0" dirty="0">
                <a:ln>
                  <a:noFill/>
                </a:ln>
                <a:solidFill>
                  <a:srgbClr val="FF0000"/>
                </a:solidFill>
                <a:effectLst/>
                <a:uLnTx/>
                <a:uFillTx/>
                <a:latin typeface="National semibold" panose="02000503000000020004"/>
                <a:ea typeface="+mj-ea"/>
                <a:cs typeface="+mj-cs"/>
              </a:rPr>
              <a:t>Banks contributed to increasing the pie</a:t>
            </a:r>
          </a:p>
        </p:txBody>
      </p:sp>
      <p:sp>
        <p:nvSpPr>
          <p:cNvPr id="5" name="Partial Circle 4">
            <a:extLst>
              <a:ext uri="{FF2B5EF4-FFF2-40B4-BE49-F238E27FC236}">
                <a16:creationId xmlns:a16="http://schemas.microsoft.com/office/drawing/2014/main" id="{56381690-B73F-BB89-7EC9-88A2792954F9}"/>
              </a:ext>
            </a:extLst>
          </p:cNvPr>
          <p:cNvSpPr/>
          <p:nvPr/>
        </p:nvSpPr>
        <p:spPr>
          <a:xfrm rot="5400000">
            <a:off x="1942306" y="2847975"/>
            <a:ext cx="2684462" cy="2581275"/>
          </a:xfrm>
          <a:prstGeom prst="pie">
            <a:avLst>
              <a:gd name="adj1" fmla="val 0"/>
              <a:gd name="adj2" fmla="val 8888041"/>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8" name="Partial Circle 7">
            <a:extLst>
              <a:ext uri="{FF2B5EF4-FFF2-40B4-BE49-F238E27FC236}">
                <a16:creationId xmlns:a16="http://schemas.microsoft.com/office/drawing/2014/main" id="{69DF5C76-6326-5AC5-2F16-A3BEBE77BA3D}"/>
              </a:ext>
            </a:extLst>
          </p:cNvPr>
          <p:cNvSpPr/>
          <p:nvPr/>
        </p:nvSpPr>
        <p:spPr>
          <a:xfrm rot="18100771">
            <a:off x="1980013" y="2826328"/>
            <a:ext cx="2641820" cy="2667359"/>
          </a:xfrm>
          <a:prstGeom prst="pie">
            <a:avLst>
              <a:gd name="adj1" fmla="val 0"/>
              <a:gd name="adj2" fmla="val 88880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Partial Circle 11">
            <a:extLst>
              <a:ext uri="{FF2B5EF4-FFF2-40B4-BE49-F238E27FC236}">
                <a16:creationId xmlns:a16="http://schemas.microsoft.com/office/drawing/2014/main" id="{A7244B0F-F381-06F9-2BA6-E5D5F6BCECC5}"/>
              </a:ext>
            </a:extLst>
          </p:cNvPr>
          <p:cNvSpPr/>
          <p:nvPr/>
        </p:nvSpPr>
        <p:spPr>
          <a:xfrm rot="13948634">
            <a:off x="1961958" y="2843004"/>
            <a:ext cx="2684462" cy="2581275"/>
          </a:xfrm>
          <a:prstGeom prst="pie">
            <a:avLst>
              <a:gd name="adj1" fmla="val 328700"/>
              <a:gd name="adj2" fmla="val 4201031"/>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8" name="TextBox 17">
            <a:extLst>
              <a:ext uri="{FF2B5EF4-FFF2-40B4-BE49-F238E27FC236}">
                <a16:creationId xmlns:a16="http://schemas.microsoft.com/office/drawing/2014/main" id="{677334CD-D6D6-70BC-CF4A-9F5801775137}"/>
              </a:ext>
            </a:extLst>
          </p:cNvPr>
          <p:cNvSpPr txBox="1"/>
          <p:nvPr/>
        </p:nvSpPr>
        <p:spPr>
          <a:xfrm>
            <a:off x="2917545" y="3148495"/>
            <a:ext cx="73398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Banks</a:t>
            </a:r>
          </a:p>
        </p:txBody>
      </p:sp>
      <p:sp>
        <p:nvSpPr>
          <p:cNvPr id="19" name="TextBox 18">
            <a:extLst>
              <a:ext uri="{FF2B5EF4-FFF2-40B4-BE49-F238E27FC236}">
                <a16:creationId xmlns:a16="http://schemas.microsoft.com/office/drawing/2014/main" id="{76E80BA2-FC2D-042F-2C8C-F3E81C38B831}"/>
              </a:ext>
            </a:extLst>
          </p:cNvPr>
          <p:cNvSpPr txBox="1"/>
          <p:nvPr/>
        </p:nvSpPr>
        <p:spPr>
          <a:xfrm>
            <a:off x="2231861" y="4163370"/>
            <a:ext cx="78053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Savers</a:t>
            </a:r>
          </a:p>
        </p:txBody>
      </p:sp>
      <p:sp>
        <p:nvSpPr>
          <p:cNvPr id="20" name="TextBox 19">
            <a:extLst>
              <a:ext uri="{FF2B5EF4-FFF2-40B4-BE49-F238E27FC236}">
                <a16:creationId xmlns:a16="http://schemas.microsoft.com/office/drawing/2014/main" id="{7CD879E5-B958-694E-9B64-A2034208F972}"/>
              </a:ext>
            </a:extLst>
          </p:cNvPr>
          <p:cNvSpPr txBox="1"/>
          <p:nvPr/>
        </p:nvSpPr>
        <p:spPr>
          <a:xfrm>
            <a:off x="3407271" y="4138612"/>
            <a:ext cx="115345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Borrowers</a:t>
            </a:r>
          </a:p>
        </p:txBody>
      </p:sp>
      <p:sp>
        <p:nvSpPr>
          <p:cNvPr id="27" name="Partial Circle 26">
            <a:extLst>
              <a:ext uri="{FF2B5EF4-FFF2-40B4-BE49-F238E27FC236}">
                <a16:creationId xmlns:a16="http://schemas.microsoft.com/office/drawing/2014/main" id="{39480F45-476D-A145-66AB-EB453E0ED3BA}"/>
              </a:ext>
            </a:extLst>
          </p:cNvPr>
          <p:cNvSpPr>
            <a:spLocks noChangeAspect="1"/>
          </p:cNvSpPr>
          <p:nvPr/>
        </p:nvSpPr>
        <p:spPr>
          <a:xfrm rot="5400000">
            <a:off x="6470385" y="2620033"/>
            <a:ext cx="3214841" cy="3091261"/>
          </a:xfrm>
          <a:prstGeom prst="pie">
            <a:avLst>
              <a:gd name="adj1" fmla="val 0"/>
              <a:gd name="adj2" fmla="val 8888041"/>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28" name="Partial Circle 27">
            <a:extLst>
              <a:ext uri="{FF2B5EF4-FFF2-40B4-BE49-F238E27FC236}">
                <a16:creationId xmlns:a16="http://schemas.microsoft.com/office/drawing/2014/main" id="{643FD228-64C3-884B-30B6-0ABEC36E6894}"/>
              </a:ext>
            </a:extLst>
          </p:cNvPr>
          <p:cNvSpPr>
            <a:spLocks noChangeAspect="1"/>
          </p:cNvSpPr>
          <p:nvPr/>
        </p:nvSpPr>
        <p:spPr>
          <a:xfrm rot="18100771">
            <a:off x="6518960" y="2593424"/>
            <a:ext cx="3163766" cy="3194358"/>
          </a:xfrm>
          <a:prstGeom prst="pie">
            <a:avLst>
              <a:gd name="adj1" fmla="val 0"/>
              <a:gd name="adj2" fmla="val 88880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Partial Circle 28">
            <a:extLst>
              <a:ext uri="{FF2B5EF4-FFF2-40B4-BE49-F238E27FC236}">
                <a16:creationId xmlns:a16="http://schemas.microsoft.com/office/drawing/2014/main" id="{47F47129-3834-37A6-196B-98686D9FB8B1}"/>
              </a:ext>
            </a:extLst>
          </p:cNvPr>
          <p:cNvSpPr>
            <a:spLocks noChangeAspect="1"/>
          </p:cNvSpPr>
          <p:nvPr/>
        </p:nvSpPr>
        <p:spPr>
          <a:xfrm rot="13948634">
            <a:off x="6498845" y="2616587"/>
            <a:ext cx="3214841" cy="3091261"/>
          </a:xfrm>
          <a:prstGeom prst="pie">
            <a:avLst>
              <a:gd name="adj1" fmla="val 349416"/>
              <a:gd name="adj2" fmla="val 4131692"/>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0" name="TextBox 29">
            <a:extLst>
              <a:ext uri="{FF2B5EF4-FFF2-40B4-BE49-F238E27FC236}">
                <a16:creationId xmlns:a16="http://schemas.microsoft.com/office/drawing/2014/main" id="{F8236778-0A21-B314-5203-B985FFA702DC}"/>
              </a:ext>
            </a:extLst>
          </p:cNvPr>
          <p:cNvSpPr txBox="1">
            <a:spLocks noChangeAspect="1"/>
          </p:cNvSpPr>
          <p:nvPr/>
        </p:nvSpPr>
        <p:spPr>
          <a:xfrm>
            <a:off x="7670507" y="3119906"/>
            <a:ext cx="878993" cy="44230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Banks</a:t>
            </a:r>
          </a:p>
        </p:txBody>
      </p:sp>
      <p:sp>
        <p:nvSpPr>
          <p:cNvPr id="31" name="TextBox 30">
            <a:extLst>
              <a:ext uri="{FF2B5EF4-FFF2-40B4-BE49-F238E27FC236}">
                <a16:creationId xmlns:a16="http://schemas.microsoft.com/office/drawing/2014/main" id="{1AE80527-B83C-2D4A-001C-7DF469A535B6}"/>
              </a:ext>
            </a:extLst>
          </p:cNvPr>
          <p:cNvSpPr txBox="1">
            <a:spLocks noChangeAspect="1"/>
          </p:cNvSpPr>
          <p:nvPr/>
        </p:nvSpPr>
        <p:spPr>
          <a:xfrm>
            <a:off x="6984825" y="4134781"/>
            <a:ext cx="934750" cy="44230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Savers</a:t>
            </a:r>
          </a:p>
        </p:txBody>
      </p:sp>
      <p:sp>
        <p:nvSpPr>
          <p:cNvPr id="32" name="TextBox 31">
            <a:extLst>
              <a:ext uri="{FF2B5EF4-FFF2-40B4-BE49-F238E27FC236}">
                <a16:creationId xmlns:a16="http://schemas.microsoft.com/office/drawing/2014/main" id="{58B127A4-0D14-C74C-1948-6DCB6CD83716}"/>
              </a:ext>
            </a:extLst>
          </p:cNvPr>
          <p:cNvSpPr txBox="1">
            <a:spLocks noChangeAspect="1"/>
          </p:cNvSpPr>
          <p:nvPr/>
        </p:nvSpPr>
        <p:spPr>
          <a:xfrm>
            <a:off x="8274534" y="4100498"/>
            <a:ext cx="1381348" cy="44230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Borrowers</a:t>
            </a:r>
          </a:p>
        </p:txBody>
      </p:sp>
      <p:sp>
        <p:nvSpPr>
          <p:cNvPr id="33" name="TextBox 32">
            <a:extLst>
              <a:ext uri="{FF2B5EF4-FFF2-40B4-BE49-F238E27FC236}">
                <a16:creationId xmlns:a16="http://schemas.microsoft.com/office/drawing/2014/main" id="{F41558F6-45D8-7BBB-295A-1AE5643F4C61}"/>
              </a:ext>
            </a:extLst>
          </p:cNvPr>
          <p:cNvSpPr txBox="1"/>
          <p:nvPr/>
        </p:nvSpPr>
        <p:spPr>
          <a:xfrm>
            <a:off x="2763564" y="1736828"/>
            <a:ext cx="1120820"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Calibri"/>
                <a:ea typeface="+mn-ea"/>
                <a:cs typeface="+mn-cs"/>
              </a:rPr>
              <a:t>1990</a:t>
            </a:r>
            <a:endParaRPr kumimoji="0" lang="en-US" sz="2400" b="1" i="0" u="none" strike="noStrike" kern="1200" cap="none" spc="0" normalizeH="0" baseline="0" noProof="0" dirty="0">
              <a:ln>
                <a:noFill/>
              </a:ln>
              <a:solidFill>
                <a:prstClr val="black"/>
              </a:solidFill>
              <a:effectLst/>
              <a:uLnTx/>
              <a:uFillTx/>
              <a:latin typeface="Calibri"/>
              <a:ea typeface="+mn-ea"/>
              <a:cs typeface="+mn-cs"/>
            </a:endParaRPr>
          </a:p>
        </p:txBody>
      </p:sp>
      <p:sp>
        <p:nvSpPr>
          <p:cNvPr id="34" name="TextBox 33">
            <a:extLst>
              <a:ext uri="{FF2B5EF4-FFF2-40B4-BE49-F238E27FC236}">
                <a16:creationId xmlns:a16="http://schemas.microsoft.com/office/drawing/2014/main" id="{ADE92F7E-D834-B95D-54AD-3F6394C582FB}"/>
              </a:ext>
            </a:extLst>
          </p:cNvPr>
          <p:cNvSpPr txBox="1"/>
          <p:nvPr/>
        </p:nvSpPr>
        <p:spPr>
          <a:xfrm>
            <a:off x="7545114" y="1698728"/>
            <a:ext cx="1120820"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Calibri"/>
                <a:ea typeface="+mn-ea"/>
                <a:cs typeface="+mn-cs"/>
              </a:rPr>
              <a:t>2021</a:t>
            </a:r>
            <a:endParaRPr kumimoji="0" lang="en-US" sz="2400" b="1"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7742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2" grpId="0" animBg="1"/>
      <p:bldP spid="18" grpId="0"/>
      <p:bldP spid="19" grpId="0"/>
      <p:bldP spid="20" grpId="0"/>
      <p:bldP spid="27" grpId="0" animBg="1"/>
      <p:bldP spid="28" grpId="0" animBg="1"/>
      <p:bldP spid="29" grpId="0" animBg="1"/>
      <p:bldP spid="30" grpId="0"/>
      <p:bldP spid="31" grpId="0"/>
      <p:bldP spid="32" grpId="0"/>
      <p:bldP spid="33" grpId="0"/>
      <p:bldP spid="3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artial Circle 4">
            <a:extLst>
              <a:ext uri="{FF2B5EF4-FFF2-40B4-BE49-F238E27FC236}">
                <a16:creationId xmlns:a16="http://schemas.microsoft.com/office/drawing/2014/main" id="{56381690-B73F-BB89-7EC9-88A2792954F9}"/>
              </a:ext>
            </a:extLst>
          </p:cNvPr>
          <p:cNvSpPr/>
          <p:nvPr/>
        </p:nvSpPr>
        <p:spPr>
          <a:xfrm rot="5400000">
            <a:off x="1942306" y="2847975"/>
            <a:ext cx="2684462" cy="2581275"/>
          </a:xfrm>
          <a:prstGeom prst="pie">
            <a:avLst>
              <a:gd name="adj1" fmla="val 0"/>
              <a:gd name="adj2" fmla="val 8888041"/>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8" name="Partial Circle 7">
            <a:extLst>
              <a:ext uri="{FF2B5EF4-FFF2-40B4-BE49-F238E27FC236}">
                <a16:creationId xmlns:a16="http://schemas.microsoft.com/office/drawing/2014/main" id="{69DF5C76-6326-5AC5-2F16-A3BEBE77BA3D}"/>
              </a:ext>
            </a:extLst>
          </p:cNvPr>
          <p:cNvSpPr/>
          <p:nvPr/>
        </p:nvSpPr>
        <p:spPr>
          <a:xfrm rot="18100771">
            <a:off x="1980013" y="2826328"/>
            <a:ext cx="2641820" cy="2667359"/>
          </a:xfrm>
          <a:prstGeom prst="pie">
            <a:avLst>
              <a:gd name="adj1" fmla="val 0"/>
              <a:gd name="adj2" fmla="val 88880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Partial Circle 11">
            <a:extLst>
              <a:ext uri="{FF2B5EF4-FFF2-40B4-BE49-F238E27FC236}">
                <a16:creationId xmlns:a16="http://schemas.microsoft.com/office/drawing/2014/main" id="{A7244B0F-F381-06F9-2BA6-E5D5F6BCECC5}"/>
              </a:ext>
            </a:extLst>
          </p:cNvPr>
          <p:cNvSpPr/>
          <p:nvPr/>
        </p:nvSpPr>
        <p:spPr>
          <a:xfrm rot="13948634">
            <a:off x="1961958" y="2843004"/>
            <a:ext cx="2684462" cy="2581275"/>
          </a:xfrm>
          <a:prstGeom prst="pie">
            <a:avLst>
              <a:gd name="adj1" fmla="val 328700"/>
              <a:gd name="adj2" fmla="val 4201031"/>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8" name="TextBox 17">
            <a:extLst>
              <a:ext uri="{FF2B5EF4-FFF2-40B4-BE49-F238E27FC236}">
                <a16:creationId xmlns:a16="http://schemas.microsoft.com/office/drawing/2014/main" id="{677334CD-D6D6-70BC-CF4A-9F5801775137}"/>
              </a:ext>
            </a:extLst>
          </p:cNvPr>
          <p:cNvSpPr txBox="1"/>
          <p:nvPr/>
        </p:nvSpPr>
        <p:spPr>
          <a:xfrm>
            <a:off x="2917545" y="3148495"/>
            <a:ext cx="73398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Banks</a:t>
            </a:r>
          </a:p>
        </p:txBody>
      </p:sp>
      <p:sp>
        <p:nvSpPr>
          <p:cNvPr id="19" name="TextBox 18">
            <a:extLst>
              <a:ext uri="{FF2B5EF4-FFF2-40B4-BE49-F238E27FC236}">
                <a16:creationId xmlns:a16="http://schemas.microsoft.com/office/drawing/2014/main" id="{76E80BA2-FC2D-042F-2C8C-F3E81C38B831}"/>
              </a:ext>
            </a:extLst>
          </p:cNvPr>
          <p:cNvSpPr txBox="1"/>
          <p:nvPr/>
        </p:nvSpPr>
        <p:spPr>
          <a:xfrm>
            <a:off x="2231861" y="4163370"/>
            <a:ext cx="78053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Savers</a:t>
            </a:r>
          </a:p>
        </p:txBody>
      </p:sp>
      <p:sp>
        <p:nvSpPr>
          <p:cNvPr id="20" name="TextBox 19">
            <a:extLst>
              <a:ext uri="{FF2B5EF4-FFF2-40B4-BE49-F238E27FC236}">
                <a16:creationId xmlns:a16="http://schemas.microsoft.com/office/drawing/2014/main" id="{7CD879E5-B958-694E-9B64-A2034208F972}"/>
              </a:ext>
            </a:extLst>
          </p:cNvPr>
          <p:cNvSpPr txBox="1"/>
          <p:nvPr/>
        </p:nvSpPr>
        <p:spPr>
          <a:xfrm>
            <a:off x="3407271" y="4138612"/>
            <a:ext cx="115345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Borrowers</a:t>
            </a:r>
          </a:p>
        </p:txBody>
      </p:sp>
      <p:sp>
        <p:nvSpPr>
          <p:cNvPr id="27" name="Partial Circle 26">
            <a:extLst>
              <a:ext uri="{FF2B5EF4-FFF2-40B4-BE49-F238E27FC236}">
                <a16:creationId xmlns:a16="http://schemas.microsoft.com/office/drawing/2014/main" id="{39480F45-476D-A145-66AB-EB453E0ED3BA}"/>
              </a:ext>
            </a:extLst>
          </p:cNvPr>
          <p:cNvSpPr>
            <a:spLocks noChangeAspect="1"/>
          </p:cNvSpPr>
          <p:nvPr/>
        </p:nvSpPr>
        <p:spPr>
          <a:xfrm rot="5400000">
            <a:off x="6470385" y="2620033"/>
            <a:ext cx="3214841" cy="3091261"/>
          </a:xfrm>
          <a:prstGeom prst="pie">
            <a:avLst>
              <a:gd name="adj1" fmla="val 0"/>
              <a:gd name="adj2" fmla="val 8888041"/>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28" name="Partial Circle 27">
            <a:extLst>
              <a:ext uri="{FF2B5EF4-FFF2-40B4-BE49-F238E27FC236}">
                <a16:creationId xmlns:a16="http://schemas.microsoft.com/office/drawing/2014/main" id="{643FD228-64C3-884B-30B6-0ABEC36E6894}"/>
              </a:ext>
            </a:extLst>
          </p:cNvPr>
          <p:cNvSpPr>
            <a:spLocks noChangeAspect="1"/>
          </p:cNvSpPr>
          <p:nvPr/>
        </p:nvSpPr>
        <p:spPr>
          <a:xfrm rot="18100771">
            <a:off x="6518960" y="2593424"/>
            <a:ext cx="3163766" cy="3194358"/>
          </a:xfrm>
          <a:prstGeom prst="pie">
            <a:avLst>
              <a:gd name="adj1" fmla="val 0"/>
              <a:gd name="adj2" fmla="val 88880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Partial Circle 28">
            <a:extLst>
              <a:ext uri="{FF2B5EF4-FFF2-40B4-BE49-F238E27FC236}">
                <a16:creationId xmlns:a16="http://schemas.microsoft.com/office/drawing/2014/main" id="{47F47129-3834-37A6-196B-98686D9FB8B1}"/>
              </a:ext>
            </a:extLst>
          </p:cNvPr>
          <p:cNvSpPr>
            <a:spLocks noChangeAspect="1"/>
          </p:cNvSpPr>
          <p:nvPr/>
        </p:nvSpPr>
        <p:spPr>
          <a:xfrm rot="13948634">
            <a:off x="6498845" y="2607062"/>
            <a:ext cx="3214841" cy="3091261"/>
          </a:xfrm>
          <a:prstGeom prst="pie">
            <a:avLst>
              <a:gd name="adj1" fmla="val 20979499"/>
              <a:gd name="adj2" fmla="val 5264075"/>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0" name="TextBox 29">
            <a:extLst>
              <a:ext uri="{FF2B5EF4-FFF2-40B4-BE49-F238E27FC236}">
                <a16:creationId xmlns:a16="http://schemas.microsoft.com/office/drawing/2014/main" id="{F8236778-0A21-B314-5203-B985FFA702DC}"/>
              </a:ext>
            </a:extLst>
          </p:cNvPr>
          <p:cNvSpPr txBox="1">
            <a:spLocks noChangeAspect="1"/>
          </p:cNvSpPr>
          <p:nvPr/>
        </p:nvSpPr>
        <p:spPr>
          <a:xfrm>
            <a:off x="7670507" y="3119906"/>
            <a:ext cx="878993" cy="44230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Banks</a:t>
            </a:r>
          </a:p>
        </p:txBody>
      </p:sp>
      <p:sp>
        <p:nvSpPr>
          <p:cNvPr id="31" name="TextBox 30">
            <a:extLst>
              <a:ext uri="{FF2B5EF4-FFF2-40B4-BE49-F238E27FC236}">
                <a16:creationId xmlns:a16="http://schemas.microsoft.com/office/drawing/2014/main" id="{1AE80527-B83C-2D4A-001C-7DF469A535B6}"/>
              </a:ext>
            </a:extLst>
          </p:cNvPr>
          <p:cNvSpPr txBox="1">
            <a:spLocks noChangeAspect="1"/>
          </p:cNvSpPr>
          <p:nvPr/>
        </p:nvSpPr>
        <p:spPr>
          <a:xfrm>
            <a:off x="6984825" y="4134781"/>
            <a:ext cx="934750" cy="44230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Savers</a:t>
            </a:r>
          </a:p>
        </p:txBody>
      </p:sp>
      <p:sp>
        <p:nvSpPr>
          <p:cNvPr id="32" name="TextBox 31">
            <a:extLst>
              <a:ext uri="{FF2B5EF4-FFF2-40B4-BE49-F238E27FC236}">
                <a16:creationId xmlns:a16="http://schemas.microsoft.com/office/drawing/2014/main" id="{58B127A4-0D14-C74C-1948-6DCB6CD83716}"/>
              </a:ext>
            </a:extLst>
          </p:cNvPr>
          <p:cNvSpPr txBox="1">
            <a:spLocks noChangeAspect="1"/>
          </p:cNvSpPr>
          <p:nvPr/>
        </p:nvSpPr>
        <p:spPr>
          <a:xfrm>
            <a:off x="8274534" y="4100498"/>
            <a:ext cx="1381348" cy="44230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Borrowers</a:t>
            </a:r>
          </a:p>
        </p:txBody>
      </p:sp>
      <p:sp>
        <p:nvSpPr>
          <p:cNvPr id="33" name="TextBox 32">
            <a:extLst>
              <a:ext uri="{FF2B5EF4-FFF2-40B4-BE49-F238E27FC236}">
                <a16:creationId xmlns:a16="http://schemas.microsoft.com/office/drawing/2014/main" id="{F41558F6-45D8-7BBB-295A-1AE5643F4C61}"/>
              </a:ext>
            </a:extLst>
          </p:cNvPr>
          <p:cNvSpPr txBox="1"/>
          <p:nvPr/>
        </p:nvSpPr>
        <p:spPr>
          <a:xfrm>
            <a:off x="2763564" y="1736828"/>
            <a:ext cx="1120820"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Calibri"/>
                <a:ea typeface="+mn-ea"/>
                <a:cs typeface="+mn-cs"/>
              </a:rPr>
              <a:t>1990</a:t>
            </a:r>
            <a:endParaRPr kumimoji="0" lang="en-US" sz="2400" b="1" i="0" u="none" strike="noStrike" kern="1200" cap="none" spc="0" normalizeH="0" baseline="0" noProof="0" dirty="0">
              <a:ln>
                <a:noFill/>
              </a:ln>
              <a:solidFill>
                <a:prstClr val="black"/>
              </a:solidFill>
              <a:effectLst/>
              <a:uLnTx/>
              <a:uFillTx/>
              <a:latin typeface="Calibri"/>
              <a:ea typeface="+mn-ea"/>
              <a:cs typeface="+mn-cs"/>
            </a:endParaRPr>
          </a:p>
        </p:txBody>
      </p:sp>
      <p:sp>
        <p:nvSpPr>
          <p:cNvPr id="34" name="TextBox 33">
            <a:extLst>
              <a:ext uri="{FF2B5EF4-FFF2-40B4-BE49-F238E27FC236}">
                <a16:creationId xmlns:a16="http://schemas.microsoft.com/office/drawing/2014/main" id="{ADE92F7E-D834-B95D-54AD-3F6394C582FB}"/>
              </a:ext>
            </a:extLst>
          </p:cNvPr>
          <p:cNvSpPr txBox="1"/>
          <p:nvPr/>
        </p:nvSpPr>
        <p:spPr>
          <a:xfrm>
            <a:off x="7545114" y="1698728"/>
            <a:ext cx="1120820"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Calibri"/>
                <a:ea typeface="+mn-ea"/>
                <a:cs typeface="+mn-cs"/>
              </a:rPr>
              <a:t>2021</a:t>
            </a:r>
            <a:endParaRPr kumimoji="0" lang="en-US" sz="2400" b="1" i="0" u="none" strike="noStrike" kern="1200" cap="none" spc="0" normalizeH="0" baseline="0" noProof="0" dirty="0">
              <a:ln>
                <a:noFill/>
              </a:ln>
              <a:solidFill>
                <a:prstClr val="black"/>
              </a:solidFill>
              <a:effectLst/>
              <a:uLnTx/>
              <a:uFillTx/>
              <a:latin typeface="Calibri"/>
              <a:ea typeface="+mn-ea"/>
              <a:cs typeface="+mn-cs"/>
            </a:endParaRPr>
          </a:p>
        </p:txBody>
      </p:sp>
      <p:sp>
        <p:nvSpPr>
          <p:cNvPr id="3" name="Title 12">
            <a:extLst>
              <a:ext uri="{FF2B5EF4-FFF2-40B4-BE49-F238E27FC236}">
                <a16:creationId xmlns:a16="http://schemas.microsoft.com/office/drawing/2014/main" id="{7C6456E4-4629-CA4E-0897-37F0BF6B60B0}"/>
              </a:ext>
            </a:extLst>
          </p:cNvPr>
          <p:cNvSpPr txBox="1">
            <a:spLocks/>
          </p:cNvSpPr>
          <p:nvPr/>
        </p:nvSpPr>
        <p:spPr>
          <a:xfrm>
            <a:off x="875506" y="157956"/>
            <a:ext cx="10437812" cy="1219200"/>
          </a:xfrm>
          <a:prstGeom prst="rect">
            <a:avLst/>
          </a:prstGeom>
        </p:spPr>
        <p:txBody>
          <a:bodyPr vert="horz" lIns="91440" tIns="45720" rIns="91440" bIns="45720" rtlCol="0" anchor="ctr">
            <a:normAutofit fontScale="7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5400" b="1" i="0" u="none" strike="noStrike" kern="1200" cap="none" spc="0" normalizeH="0" baseline="0" noProof="0" dirty="0">
                <a:ln>
                  <a:noFill/>
                </a:ln>
                <a:solidFill>
                  <a:prstClr val="black"/>
                </a:solidFill>
                <a:effectLst/>
                <a:uLnTx/>
                <a:uFillTx/>
                <a:latin typeface="National semibold" panose="02000503000000020004"/>
                <a:ea typeface="+mj-ea"/>
                <a:cs typeface="+mj-cs"/>
              </a:rPr>
              <a:t>First (</a:t>
            </a:r>
            <a:r>
              <a:rPr lang="en-US" sz="5400" b="1" dirty="0">
                <a:solidFill>
                  <a:prstClr val="black"/>
                </a:solidFill>
                <a:latin typeface="National semibold" panose="02000503000000020004"/>
              </a:rPr>
              <a:t>benevolent) </a:t>
            </a:r>
            <a:r>
              <a:rPr kumimoji="0" lang="en-US" sz="5400" b="1" i="0" u="none" strike="noStrike" kern="1200" cap="none" spc="0" normalizeH="0" baseline="0" noProof="0" dirty="0">
                <a:ln>
                  <a:noFill/>
                </a:ln>
                <a:solidFill>
                  <a:prstClr val="black"/>
                </a:solidFill>
                <a:effectLst/>
                <a:uLnTx/>
                <a:uFillTx/>
                <a:latin typeface="National semibold" panose="02000503000000020004"/>
                <a:ea typeface="+mj-ea"/>
                <a:cs typeface="+mj-cs"/>
              </a:rPr>
              <a:t>view:</a:t>
            </a:r>
            <a:r>
              <a:rPr kumimoji="0" lang="en-US" sz="5400" b="1" i="0" u="none" strike="noStrike" kern="1200" cap="none" spc="0" normalizeH="0" baseline="0" noProof="0" dirty="0">
                <a:ln>
                  <a:noFill/>
                </a:ln>
                <a:solidFill>
                  <a:srgbClr val="0070C0"/>
                </a:solidFill>
                <a:effectLst/>
                <a:uLnTx/>
                <a:uFillTx/>
                <a:latin typeface="National semibold" panose="02000503000000020004"/>
                <a:ea typeface="+mj-ea"/>
                <a:cs typeface="+mj-cs"/>
              </a:rPr>
              <a:t> </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5400" b="1" i="0" u="none" strike="noStrike" kern="1200" cap="none" spc="0" normalizeH="0" baseline="0" noProof="0" dirty="0">
                <a:ln>
                  <a:noFill/>
                </a:ln>
                <a:solidFill>
                  <a:srgbClr val="FF0000"/>
                </a:solidFill>
                <a:effectLst/>
                <a:uLnTx/>
                <a:uFillTx/>
                <a:latin typeface="National semibold" panose="02000503000000020004"/>
                <a:ea typeface="+mj-ea"/>
                <a:cs typeface="+mj-cs"/>
              </a:rPr>
              <a:t>Banks contributed to increasing the pie</a:t>
            </a:r>
          </a:p>
        </p:txBody>
      </p:sp>
    </p:spTree>
    <p:extLst>
      <p:ext uri="{BB962C8B-B14F-4D97-AF65-F5344CB8AC3E}">
        <p14:creationId xmlns:p14="http://schemas.microsoft.com/office/powerpoint/2010/main" val="32310437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artial Circle 4">
            <a:extLst>
              <a:ext uri="{FF2B5EF4-FFF2-40B4-BE49-F238E27FC236}">
                <a16:creationId xmlns:a16="http://schemas.microsoft.com/office/drawing/2014/main" id="{56381690-B73F-BB89-7EC9-88A2792954F9}"/>
              </a:ext>
            </a:extLst>
          </p:cNvPr>
          <p:cNvSpPr/>
          <p:nvPr/>
        </p:nvSpPr>
        <p:spPr>
          <a:xfrm rot="5400000">
            <a:off x="1942306" y="2847975"/>
            <a:ext cx="2684462" cy="2581275"/>
          </a:xfrm>
          <a:prstGeom prst="pie">
            <a:avLst>
              <a:gd name="adj1" fmla="val 0"/>
              <a:gd name="adj2" fmla="val 8888041"/>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8" name="Partial Circle 7">
            <a:extLst>
              <a:ext uri="{FF2B5EF4-FFF2-40B4-BE49-F238E27FC236}">
                <a16:creationId xmlns:a16="http://schemas.microsoft.com/office/drawing/2014/main" id="{69DF5C76-6326-5AC5-2F16-A3BEBE77BA3D}"/>
              </a:ext>
            </a:extLst>
          </p:cNvPr>
          <p:cNvSpPr/>
          <p:nvPr/>
        </p:nvSpPr>
        <p:spPr>
          <a:xfrm rot="18100771">
            <a:off x="1980013" y="2826328"/>
            <a:ext cx="2641820" cy="2667359"/>
          </a:xfrm>
          <a:prstGeom prst="pie">
            <a:avLst>
              <a:gd name="adj1" fmla="val 0"/>
              <a:gd name="adj2" fmla="val 88880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Partial Circle 11">
            <a:extLst>
              <a:ext uri="{FF2B5EF4-FFF2-40B4-BE49-F238E27FC236}">
                <a16:creationId xmlns:a16="http://schemas.microsoft.com/office/drawing/2014/main" id="{A7244B0F-F381-06F9-2BA6-E5D5F6BCECC5}"/>
              </a:ext>
            </a:extLst>
          </p:cNvPr>
          <p:cNvSpPr/>
          <p:nvPr/>
        </p:nvSpPr>
        <p:spPr>
          <a:xfrm rot="13948634">
            <a:off x="1961958" y="2843004"/>
            <a:ext cx="2684462" cy="2581275"/>
          </a:xfrm>
          <a:prstGeom prst="pie">
            <a:avLst>
              <a:gd name="adj1" fmla="val 328700"/>
              <a:gd name="adj2" fmla="val 4201031"/>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8" name="TextBox 17">
            <a:extLst>
              <a:ext uri="{FF2B5EF4-FFF2-40B4-BE49-F238E27FC236}">
                <a16:creationId xmlns:a16="http://schemas.microsoft.com/office/drawing/2014/main" id="{677334CD-D6D6-70BC-CF4A-9F5801775137}"/>
              </a:ext>
            </a:extLst>
          </p:cNvPr>
          <p:cNvSpPr txBox="1"/>
          <p:nvPr/>
        </p:nvSpPr>
        <p:spPr>
          <a:xfrm>
            <a:off x="2917545" y="3148495"/>
            <a:ext cx="73398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Banks</a:t>
            </a:r>
          </a:p>
        </p:txBody>
      </p:sp>
      <p:sp>
        <p:nvSpPr>
          <p:cNvPr id="19" name="TextBox 18">
            <a:extLst>
              <a:ext uri="{FF2B5EF4-FFF2-40B4-BE49-F238E27FC236}">
                <a16:creationId xmlns:a16="http://schemas.microsoft.com/office/drawing/2014/main" id="{76E80BA2-FC2D-042F-2C8C-F3E81C38B831}"/>
              </a:ext>
            </a:extLst>
          </p:cNvPr>
          <p:cNvSpPr txBox="1"/>
          <p:nvPr/>
        </p:nvSpPr>
        <p:spPr>
          <a:xfrm>
            <a:off x="2231861" y="4163370"/>
            <a:ext cx="78053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Savers</a:t>
            </a:r>
          </a:p>
        </p:txBody>
      </p:sp>
      <p:sp>
        <p:nvSpPr>
          <p:cNvPr id="20" name="TextBox 19">
            <a:extLst>
              <a:ext uri="{FF2B5EF4-FFF2-40B4-BE49-F238E27FC236}">
                <a16:creationId xmlns:a16="http://schemas.microsoft.com/office/drawing/2014/main" id="{7CD879E5-B958-694E-9B64-A2034208F972}"/>
              </a:ext>
            </a:extLst>
          </p:cNvPr>
          <p:cNvSpPr txBox="1"/>
          <p:nvPr/>
        </p:nvSpPr>
        <p:spPr>
          <a:xfrm>
            <a:off x="3407271" y="4138612"/>
            <a:ext cx="115345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Borrowers</a:t>
            </a:r>
          </a:p>
        </p:txBody>
      </p:sp>
      <p:sp>
        <p:nvSpPr>
          <p:cNvPr id="33" name="TextBox 32">
            <a:extLst>
              <a:ext uri="{FF2B5EF4-FFF2-40B4-BE49-F238E27FC236}">
                <a16:creationId xmlns:a16="http://schemas.microsoft.com/office/drawing/2014/main" id="{F41558F6-45D8-7BBB-295A-1AE5643F4C61}"/>
              </a:ext>
            </a:extLst>
          </p:cNvPr>
          <p:cNvSpPr txBox="1"/>
          <p:nvPr/>
        </p:nvSpPr>
        <p:spPr>
          <a:xfrm>
            <a:off x="2744514" y="1736828"/>
            <a:ext cx="1120820"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Calibri"/>
                <a:ea typeface="+mn-ea"/>
                <a:cs typeface="+mn-cs"/>
              </a:rPr>
              <a:t>1990</a:t>
            </a:r>
            <a:endParaRPr kumimoji="0" lang="en-US" sz="2400" b="1" i="0" u="none" strike="noStrike" kern="1200" cap="none" spc="0" normalizeH="0" baseline="0" noProof="0" dirty="0">
              <a:ln>
                <a:noFill/>
              </a:ln>
              <a:solidFill>
                <a:prstClr val="black"/>
              </a:solidFill>
              <a:effectLst/>
              <a:uLnTx/>
              <a:uFillTx/>
              <a:latin typeface="Calibri"/>
              <a:ea typeface="+mn-ea"/>
              <a:cs typeface="+mn-cs"/>
            </a:endParaRPr>
          </a:p>
        </p:txBody>
      </p:sp>
      <p:sp>
        <p:nvSpPr>
          <p:cNvPr id="13" name="Partial Circle 12">
            <a:extLst>
              <a:ext uri="{FF2B5EF4-FFF2-40B4-BE49-F238E27FC236}">
                <a16:creationId xmlns:a16="http://schemas.microsoft.com/office/drawing/2014/main" id="{8C910FF4-53B3-0F65-4913-DCC749FF763E}"/>
              </a:ext>
            </a:extLst>
          </p:cNvPr>
          <p:cNvSpPr/>
          <p:nvPr/>
        </p:nvSpPr>
        <p:spPr>
          <a:xfrm rot="5400000">
            <a:off x="7209631" y="2847975"/>
            <a:ext cx="2684462" cy="2581275"/>
          </a:xfrm>
          <a:prstGeom prst="pie">
            <a:avLst>
              <a:gd name="adj1" fmla="val 0"/>
              <a:gd name="adj2" fmla="val 8888041"/>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14" name="Partial Circle 13">
            <a:extLst>
              <a:ext uri="{FF2B5EF4-FFF2-40B4-BE49-F238E27FC236}">
                <a16:creationId xmlns:a16="http://schemas.microsoft.com/office/drawing/2014/main" id="{D9385226-50E5-EA07-DCFA-A764A801D70C}"/>
              </a:ext>
            </a:extLst>
          </p:cNvPr>
          <p:cNvSpPr/>
          <p:nvPr/>
        </p:nvSpPr>
        <p:spPr>
          <a:xfrm rot="18100771">
            <a:off x="7247338" y="2826328"/>
            <a:ext cx="2641820" cy="2667359"/>
          </a:xfrm>
          <a:prstGeom prst="pie">
            <a:avLst>
              <a:gd name="adj1" fmla="val 0"/>
              <a:gd name="adj2" fmla="val 88880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Partial Circle 14">
            <a:extLst>
              <a:ext uri="{FF2B5EF4-FFF2-40B4-BE49-F238E27FC236}">
                <a16:creationId xmlns:a16="http://schemas.microsoft.com/office/drawing/2014/main" id="{4452C466-87F4-5394-D562-370A22838955}"/>
              </a:ext>
            </a:extLst>
          </p:cNvPr>
          <p:cNvSpPr/>
          <p:nvPr/>
        </p:nvSpPr>
        <p:spPr>
          <a:xfrm rot="13948634">
            <a:off x="7229283" y="2843004"/>
            <a:ext cx="2684462" cy="2581275"/>
          </a:xfrm>
          <a:prstGeom prst="pie">
            <a:avLst>
              <a:gd name="adj1" fmla="val 328700"/>
              <a:gd name="adj2" fmla="val 4201031"/>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6" name="TextBox 15">
            <a:extLst>
              <a:ext uri="{FF2B5EF4-FFF2-40B4-BE49-F238E27FC236}">
                <a16:creationId xmlns:a16="http://schemas.microsoft.com/office/drawing/2014/main" id="{8FC4EE53-B751-A1F2-6679-AE18AC114ECC}"/>
              </a:ext>
            </a:extLst>
          </p:cNvPr>
          <p:cNvSpPr txBox="1"/>
          <p:nvPr/>
        </p:nvSpPr>
        <p:spPr>
          <a:xfrm>
            <a:off x="8184870" y="3148495"/>
            <a:ext cx="73398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Banks</a:t>
            </a:r>
          </a:p>
        </p:txBody>
      </p:sp>
      <p:sp>
        <p:nvSpPr>
          <p:cNvPr id="17" name="TextBox 16">
            <a:extLst>
              <a:ext uri="{FF2B5EF4-FFF2-40B4-BE49-F238E27FC236}">
                <a16:creationId xmlns:a16="http://schemas.microsoft.com/office/drawing/2014/main" id="{EB651879-A215-EF72-2CC3-9C9AA8D5E99F}"/>
              </a:ext>
            </a:extLst>
          </p:cNvPr>
          <p:cNvSpPr txBox="1"/>
          <p:nvPr/>
        </p:nvSpPr>
        <p:spPr>
          <a:xfrm>
            <a:off x="7499186" y="4163370"/>
            <a:ext cx="78053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Savers</a:t>
            </a:r>
          </a:p>
        </p:txBody>
      </p:sp>
      <p:sp>
        <p:nvSpPr>
          <p:cNvPr id="21" name="TextBox 20">
            <a:extLst>
              <a:ext uri="{FF2B5EF4-FFF2-40B4-BE49-F238E27FC236}">
                <a16:creationId xmlns:a16="http://schemas.microsoft.com/office/drawing/2014/main" id="{CB770E25-9730-3235-C471-24B9DD54E634}"/>
              </a:ext>
            </a:extLst>
          </p:cNvPr>
          <p:cNvSpPr txBox="1"/>
          <p:nvPr/>
        </p:nvSpPr>
        <p:spPr>
          <a:xfrm>
            <a:off x="8674596" y="4138612"/>
            <a:ext cx="115345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Borrowers</a:t>
            </a:r>
          </a:p>
        </p:txBody>
      </p:sp>
      <p:sp>
        <p:nvSpPr>
          <p:cNvPr id="22" name="TextBox 21">
            <a:extLst>
              <a:ext uri="{FF2B5EF4-FFF2-40B4-BE49-F238E27FC236}">
                <a16:creationId xmlns:a16="http://schemas.microsoft.com/office/drawing/2014/main" id="{07B7A5FC-70D1-C796-A484-16CF13110A8D}"/>
              </a:ext>
            </a:extLst>
          </p:cNvPr>
          <p:cNvSpPr txBox="1"/>
          <p:nvPr/>
        </p:nvSpPr>
        <p:spPr>
          <a:xfrm>
            <a:off x="8011839" y="1736828"/>
            <a:ext cx="1120820"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Calibri"/>
                <a:ea typeface="+mn-ea"/>
                <a:cs typeface="+mn-cs"/>
              </a:rPr>
              <a:t>2021</a:t>
            </a:r>
            <a:endParaRPr kumimoji="0" lang="en-US" sz="2400" b="1" i="0" u="none" strike="noStrike" kern="1200" cap="none" spc="0" normalizeH="0" baseline="0" noProof="0" dirty="0">
              <a:ln>
                <a:noFill/>
              </a:ln>
              <a:solidFill>
                <a:prstClr val="black"/>
              </a:solidFill>
              <a:effectLst/>
              <a:uLnTx/>
              <a:uFillTx/>
              <a:latin typeface="Calibri"/>
              <a:ea typeface="+mn-ea"/>
              <a:cs typeface="+mn-cs"/>
            </a:endParaRPr>
          </a:p>
        </p:txBody>
      </p:sp>
      <p:sp>
        <p:nvSpPr>
          <p:cNvPr id="2" name="Title 12">
            <a:extLst>
              <a:ext uri="{FF2B5EF4-FFF2-40B4-BE49-F238E27FC236}">
                <a16:creationId xmlns:a16="http://schemas.microsoft.com/office/drawing/2014/main" id="{635A1C8E-4897-692F-AD61-12BF9F0F5056}"/>
              </a:ext>
            </a:extLst>
          </p:cNvPr>
          <p:cNvSpPr txBox="1">
            <a:spLocks/>
          </p:cNvSpPr>
          <p:nvPr/>
        </p:nvSpPr>
        <p:spPr>
          <a:xfrm>
            <a:off x="875506" y="157956"/>
            <a:ext cx="10437812" cy="1556768"/>
          </a:xfrm>
          <a:prstGeom prst="rect">
            <a:avLst/>
          </a:prstGeom>
        </p:spPr>
        <p:txBody>
          <a:bodyPr vert="horz" lIns="91440" tIns="45720" rIns="91440" bIns="45720" rtlCol="0" anchor="ctr">
            <a:normAutofit fontScale="7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5400" b="1" i="0" u="none" strike="noStrike" kern="1200" cap="none" spc="0" normalizeH="0" baseline="0" noProof="0" dirty="0">
                <a:ln>
                  <a:noFill/>
                </a:ln>
                <a:solidFill>
                  <a:prstClr val="black"/>
                </a:solidFill>
                <a:effectLst/>
                <a:uLnTx/>
                <a:uFillTx/>
                <a:latin typeface="National semibold" panose="02000503000000020004"/>
                <a:ea typeface="+mj-ea"/>
                <a:cs typeface="+mj-cs"/>
              </a:rPr>
              <a:t>Second (less benevolent) view:</a:t>
            </a:r>
            <a:r>
              <a:rPr kumimoji="0" lang="en-US" sz="5400" b="1" i="0" u="none" strike="noStrike" kern="1200" cap="none" spc="0" normalizeH="0" baseline="0" noProof="0" dirty="0">
                <a:ln>
                  <a:noFill/>
                </a:ln>
                <a:solidFill>
                  <a:srgbClr val="0070C0"/>
                </a:solidFill>
                <a:effectLst/>
                <a:uLnTx/>
                <a:uFillTx/>
                <a:latin typeface="National semibold" panose="02000503000000020004"/>
                <a:ea typeface="+mj-ea"/>
                <a:cs typeface="+mj-cs"/>
              </a:rPr>
              <a:t> </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5400" b="1" i="0" u="none" strike="noStrike" kern="1200" cap="none" spc="0" normalizeH="0" baseline="0" noProof="0" dirty="0">
                <a:ln>
                  <a:noFill/>
                </a:ln>
                <a:solidFill>
                  <a:srgbClr val="FF0000"/>
                </a:solidFill>
                <a:effectLst/>
                <a:uLnTx/>
                <a:uFillTx/>
                <a:latin typeface="National semibold" panose="02000503000000020004"/>
                <a:ea typeface="+mj-ea"/>
                <a:cs typeface="+mj-cs"/>
              </a:rPr>
              <a:t>Banks get a larger share of the pie because they </a:t>
            </a:r>
            <a:r>
              <a:rPr lang="en-US" sz="5400" b="1" dirty="0">
                <a:solidFill>
                  <a:srgbClr val="FF0000"/>
                </a:solidFill>
                <a:latin typeface="National semibold" panose="02000503000000020004"/>
              </a:rPr>
              <a:t>became more </a:t>
            </a:r>
            <a:r>
              <a:rPr kumimoji="0" lang="en-US" sz="5400" b="1" i="0" u="none" strike="noStrike" kern="1200" cap="none" spc="0" normalizeH="0" baseline="0" noProof="0" dirty="0">
                <a:ln>
                  <a:noFill/>
                </a:ln>
                <a:solidFill>
                  <a:srgbClr val="FF0000"/>
                </a:solidFill>
                <a:effectLst/>
                <a:uLnTx/>
                <a:uFillTx/>
                <a:latin typeface="National semibold" panose="02000503000000020004"/>
                <a:ea typeface="+mj-ea"/>
                <a:cs typeface="+mj-cs"/>
              </a:rPr>
              <a:t>powerful</a:t>
            </a:r>
          </a:p>
        </p:txBody>
      </p:sp>
    </p:spTree>
    <p:extLst>
      <p:ext uri="{BB962C8B-B14F-4D97-AF65-F5344CB8AC3E}">
        <p14:creationId xmlns:p14="http://schemas.microsoft.com/office/powerpoint/2010/main" val="2039875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2" grpId="0" animBg="1"/>
      <p:bldP spid="18" grpId="0"/>
      <p:bldP spid="19" grpId="0"/>
      <p:bldP spid="20" grpId="0"/>
      <p:bldP spid="33" grpId="0"/>
      <p:bldP spid="13" grpId="0" animBg="1"/>
      <p:bldP spid="14" grpId="0" animBg="1"/>
      <p:bldP spid="15" grpId="0" animBg="1"/>
      <p:bldP spid="16" grpId="0"/>
      <p:bldP spid="17" grpId="0"/>
      <p:bldP spid="21" grpId="0"/>
      <p:bldP spid="2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artial Circle 4">
            <a:extLst>
              <a:ext uri="{FF2B5EF4-FFF2-40B4-BE49-F238E27FC236}">
                <a16:creationId xmlns:a16="http://schemas.microsoft.com/office/drawing/2014/main" id="{56381690-B73F-BB89-7EC9-88A2792954F9}"/>
              </a:ext>
            </a:extLst>
          </p:cNvPr>
          <p:cNvSpPr/>
          <p:nvPr/>
        </p:nvSpPr>
        <p:spPr>
          <a:xfrm rot="5400000">
            <a:off x="1942306" y="2847975"/>
            <a:ext cx="2684462" cy="2581275"/>
          </a:xfrm>
          <a:prstGeom prst="pie">
            <a:avLst>
              <a:gd name="adj1" fmla="val 0"/>
              <a:gd name="adj2" fmla="val 8888041"/>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8" name="Partial Circle 7">
            <a:extLst>
              <a:ext uri="{FF2B5EF4-FFF2-40B4-BE49-F238E27FC236}">
                <a16:creationId xmlns:a16="http://schemas.microsoft.com/office/drawing/2014/main" id="{69DF5C76-6326-5AC5-2F16-A3BEBE77BA3D}"/>
              </a:ext>
            </a:extLst>
          </p:cNvPr>
          <p:cNvSpPr/>
          <p:nvPr/>
        </p:nvSpPr>
        <p:spPr>
          <a:xfrm rot="18100771">
            <a:off x="1980013" y="2826328"/>
            <a:ext cx="2641820" cy="2667359"/>
          </a:xfrm>
          <a:prstGeom prst="pie">
            <a:avLst>
              <a:gd name="adj1" fmla="val 0"/>
              <a:gd name="adj2" fmla="val 88880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Partial Circle 11">
            <a:extLst>
              <a:ext uri="{FF2B5EF4-FFF2-40B4-BE49-F238E27FC236}">
                <a16:creationId xmlns:a16="http://schemas.microsoft.com/office/drawing/2014/main" id="{A7244B0F-F381-06F9-2BA6-E5D5F6BCECC5}"/>
              </a:ext>
            </a:extLst>
          </p:cNvPr>
          <p:cNvSpPr/>
          <p:nvPr/>
        </p:nvSpPr>
        <p:spPr>
          <a:xfrm rot="13948634">
            <a:off x="1961958" y="2843004"/>
            <a:ext cx="2684462" cy="2581275"/>
          </a:xfrm>
          <a:prstGeom prst="pie">
            <a:avLst>
              <a:gd name="adj1" fmla="val 328700"/>
              <a:gd name="adj2" fmla="val 4201031"/>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8" name="TextBox 17">
            <a:extLst>
              <a:ext uri="{FF2B5EF4-FFF2-40B4-BE49-F238E27FC236}">
                <a16:creationId xmlns:a16="http://schemas.microsoft.com/office/drawing/2014/main" id="{677334CD-D6D6-70BC-CF4A-9F5801775137}"/>
              </a:ext>
            </a:extLst>
          </p:cNvPr>
          <p:cNvSpPr txBox="1"/>
          <p:nvPr/>
        </p:nvSpPr>
        <p:spPr>
          <a:xfrm>
            <a:off x="2917545" y="3148495"/>
            <a:ext cx="73398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Banks</a:t>
            </a:r>
          </a:p>
        </p:txBody>
      </p:sp>
      <p:sp>
        <p:nvSpPr>
          <p:cNvPr id="19" name="TextBox 18">
            <a:extLst>
              <a:ext uri="{FF2B5EF4-FFF2-40B4-BE49-F238E27FC236}">
                <a16:creationId xmlns:a16="http://schemas.microsoft.com/office/drawing/2014/main" id="{76E80BA2-FC2D-042F-2C8C-F3E81C38B831}"/>
              </a:ext>
            </a:extLst>
          </p:cNvPr>
          <p:cNvSpPr txBox="1"/>
          <p:nvPr/>
        </p:nvSpPr>
        <p:spPr>
          <a:xfrm>
            <a:off x="2231861" y="4163370"/>
            <a:ext cx="78053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Savers</a:t>
            </a:r>
          </a:p>
        </p:txBody>
      </p:sp>
      <p:sp>
        <p:nvSpPr>
          <p:cNvPr id="20" name="TextBox 19">
            <a:extLst>
              <a:ext uri="{FF2B5EF4-FFF2-40B4-BE49-F238E27FC236}">
                <a16:creationId xmlns:a16="http://schemas.microsoft.com/office/drawing/2014/main" id="{7CD879E5-B958-694E-9B64-A2034208F972}"/>
              </a:ext>
            </a:extLst>
          </p:cNvPr>
          <p:cNvSpPr txBox="1"/>
          <p:nvPr/>
        </p:nvSpPr>
        <p:spPr>
          <a:xfrm>
            <a:off x="3407271" y="4138612"/>
            <a:ext cx="115345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Borrowers</a:t>
            </a:r>
          </a:p>
        </p:txBody>
      </p:sp>
      <p:sp>
        <p:nvSpPr>
          <p:cNvPr id="33" name="TextBox 32">
            <a:extLst>
              <a:ext uri="{FF2B5EF4-FFF2-40B4-BE49-F238E27FC236}">
                <a16:creationId xmlns:a16="http://schemas.microsoft.com/office/drawing/2014/main" id="{F41558F6-45D8-7BBB-295A-1AE5643F4C61}"/>
              </a:ext>
            </a:extLst>
          </p:cNvPr>
          <p:cNvSpPr txBox="1"/>
          <p:nvPr/>
        </p:nvSpPr>
        <p:spPr>
          <a:xfrm>
            <a:off x="2744514" y="1736828"/>
            <a:ext cx="1120820"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Calibri"/>
                <a:ea typeface="+mn-ea"/>
                <a:cs typeface="+mn-cs"/>
              </a:rPr>
              <a:t>1990</a:t>
            </a:r>
            <a:endParaRPr kumimoji="0" lang="en-US" sz="2400" b="1" i="0" u="none" strike="noStrike" kern="1200" cap="none" spc="0" normalizeH="0" baseline="0" noProof="0" dirty="0">
              <a:ln>
                <a:noFill/>
              </a:ln>
              <a:solidFill>
                <a:prstClr val="black"/>
              </a:solidFill>
              <a:effectLst/>
              <a:uLnTx/>
              <a:uFillTx/>
              <a:latin typeface="Calibri"/>
              <a:ea typeface="+mn-ea"/>
              <a:cs typeface="+mn-cs"/>
            </a:endParaRPr>
          </a:p>
        </p:txBody>
      </p:sp>
      <p:sp>
        <p:nvSpPr>
          <p:cNvPr id="13" name="Partial Circle 12">
            <a:extLst>
              <a:ext uri="{FF2B5EF4-FFF2-40B4-BE49-F238E27FC236}">
                <a16:creationId xmlns:a16="http://schemas.microsoft.com/office/drawing/2014/main" id="{8C910FF4-53B3-0F65-4913-DCC749FF763E}"/>
              </a:ext>
            </a:extLst>
          </p:cNvPr>
          <p:cNvSpPr/>
          <p:nvPr/>
        </p:nvSpPr>
        <p:spPr>
          <a:xfrm rot="5400000">
            <a:off x="7209631" y="2847975"/>
            <a:ext cx="2684462" cy="2581275"/>
          </a:xfrm>
          <a:prstGeom prst="pie">
            <a:avLst>
              <a:gd name="adj1" fmla="val 0"/>
              <a:gd name="adj2" fmla="val 8888041"/>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B050"/>
              </a:solidFill>
              <a:effectLst/>
              <a:uLnTx/>
              <a:uFillTx/>
              <a:latin typeface="Calibri"/>
              <a:ea typeface="+mn-ea"/>
              <a:cs typeface="+mn-cs"/>
            </a:endParaRPr>
          </a:p>
        </p:txBody>
      </p:sp>
      <p:sp>
        <p:nvSpPr>
          <p:cNvPr id="14" name="Partial Circle 13">
            <a:extLst>
              <a:ext uri="{FF2B5EF4-FFF2-40B4-BE49-F238E27FC236}">
                <a16:creationId xmlns:a16="http://schemas.microsoft.com/office/drawing/2014/main" id="{D9385226-50E5-EA07-DCFA-A764A801D70C}"/>
              </a:ext>
            </a:extLst>
          </p:cNvPr>
          <p:cNvSpPr/>
          <p:nvPr/>
        </p:nvSpPr>
        <p:spPr>
          <a:xfrm rot="18100771">
            <a:off x="7247338" y="2826328"/>
            <a:ext cx="2641820" cy="2667359"/>
          </a:xfrm>
          <a:prstGeom prst="pie">
            <a:avLst>
              <a:gd name="adj1" fmla="val 0"/>
              <a:gd name="adj2" fmla="val 888804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Partial Circle 14">
            <a:extLst>
              <a:ext uri="{FF2B5EF4-FFF2-40B4-BE49-F238E27FC236}">
                <a16:creationId xmlns:a16="http://schemas.microsoft.com/office/drawing/2014/main" id="{4452C466-87F4-5394-D562-370A22838955}"/>
              </a:ext>
            </a:extLst>
          </p:cNvPr>
          <p:cNvSpPr/>
          <p:nvPr/>
        </p:nvSpPr>
        <p:spPr>
          <a:xfrm rot="13948634">
            <a:off x="7229283" y="2843004"/>
            <a:ext cx="2684462" cy="2581275"/>
          </a:xfrm>
          <a:prstGeom prst="pie">
            <a:avLst>
              <a:gd name="adj1" fmla="val 20670448"/>
              <a:gd name="adj2" fmla="val 5357845"/>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6" name="TextBox 15">
            <a:extLst>
              <a:ext uri="{FF2B5EF4-FFF2-40B4-BE49-F238E27FC236}">
                <a16:creationId xmlns:a16="http://schemas.microsoft.com/office/drawing/2014/main" id="{8FC4EE53-B751-A1F2-6679-AE18AC114ECC}"/>
              </a:ext>
            </a:extLst>
          </p:cNvPr>
          <p:cNvSpPr txBox="1"/>
          <p:nvPr/>
        </p:nvSpPr>
        <p:spPr>
          <a:xfrm>
            <a:off x="8184870" y="3148495"/>
            <a:ext cx="73398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Banks</a:t>
            </a:r>
          </a:p>
        </p:txBody>
      </p:sp>
      <p:sp>
        <p:nvSpPr>
          <p:cNvPr id="17" name="TextBox 16">
            <a:extLst>
              <a:ext uri="{FF2B5EF4-FFF2-40B4-BE49-F238E27FC236}">
                <a16:creationId xmlns:a16="http://schemas.microsoft.com/office/drawing/2014/main" id="{EB651879-A215-EF72-2CC3-9C9AA8D5E99F}"/>
              </a:ext>
            </a:extLst>
          </p:cNvPr>
          <p:cNvSpPr txBox="1"/>
          <p:nvPr/>
        </p:nvSpPr>
        <p:spPr>
          <a:xfrm>
            <a:off x="7499186" y="4163370"/>
            <a:ext cx="78053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Savers</a:t>
            </a:r>
          </a:p>
        </p:txBody>
      </p:sp>
      <p:sp>
        <p:nvSpPr>
          <p:cNvPr id="21" name="TextBox 20">
            <a:extLst>
              <a:ext uri="{FF2B5EF4-FFF2-40B4-BE49-F238E27FC236}">
                <a16:creationId xmlns:a16="http://schemas.microsoft.com/office/drawing/2014/main" id="{CB770E25-9730-3235-C471-24B9DD54E634}"/>
              </a:ext>
            </a:extLst>
          </p:cNvPr>
          <p:cNvSpPr txBox="1"/>
          <p:nvPr/>
        </p:nvSpPr>
        <p:spPr>
          <a:xfrm>
            <a:off x="8674596" y="4138612"/>
            <a:ext cx="115345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Borrowers</a:t>
            </a:r>
          </a:p>
        </p:txBody>
      </p:sp>
      <p:sp>
        <p:nvSpPr>
          <p:cNvPr id="22" name="TextBox 21">
            <a:extLst>
              <a:ext uri="{FF2B5EF4-FFF2-40B4-BE49-F238E27FC236}">
                <a16:creationId xmlns:a16="http://schemas.microsoft.com/office/drawing/2014/main" id="{07B7A5FC-70D1-C796-A484-16CF13110A8D}"/>
              </a:ext>
            </a:extLst>
          </p:cNvPr>
          <p:cNvSpPr txBox="1"/>
          <p:nvPr/>
        </p:nvSpPr>
        <p:spPr>
          <a:xfrm>
            <a:off x="8011839" y="1736828"/>
            <a:ext cx="1120820"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Calibri"/>
                <a:ea typeface="+mn-ea"/>
                <a:cs typeface="+mn-cs"/>
              </a:rPr>
              <a:t>2021</a:t>
            </a:r>
            <a:endParaRPr kumimoji="0" lang="en-US" sz="2400" b="1" i="0" u="none" strike="noStrike" kern="1200" cap="none" spc="0" normalizeH="0" baseline="0" noProof="0" dirty="0">
              <a:ln>
                <a:noFill/>
              </a:ln>
              <a:solidFill>
                <a:prstClr val="black"/>
              </a:solidFill>
              <a:effectLst/>
              <a:uLnTx/>
              <a:uFillTx/>
              <a:latin typeface="Calibri"/>
              <a:ea typeface="+mn-ea"/>
              <a:cs typeface="+mn-cs"/>
            </a:endParaRPr>
          </a:p>
        </p:txBody>
      </p:sp>
      <p:sp>
        <p:nvSpPr>
          <p:cNvPr id="23" name="Title 12">
            <a:extLst>
              <a:ext uri="{FF2B5EF4-FFF2-40B4-BE49-F238E27FC236}">
                <a16:creationId xmlns:a16="http://schemas.microsoft.com/office/drawing/2014/main" id="{EF9B1E2D-406D-4ACD-AD8C-A84F7371E835}"/>
              </a:ext>
            </a:extLst>
          </p:cNvPr>
          <p:cNvSpPr txBox="1">
            <a:spLocks/>
          </p:cNvSpPr>
          <p:nvPr/>
        </p:nvSpPr>
        <p:spPr>
          <a:xfrm>
            <a:off x="875506" y="157956"/>
            <a:ext cx="10437812" cy="1556768"/>
          </a:xfrm>
          <a:prstGeom prst="rect">
            <a:avLst/>
          </a:prstGeom>
        </p:spPr>
        <p:txBody>
          <a:bodyPr vert="horz" lIns="91440" tIns="45720" rIns="91440" bIns="45720" rtlCol="0" anchor="ctr">
            <a:normAutofit fontScale="7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5400" b="1" i="0" u="none" strike="noStrike" kern="1200" cap="none" spc="0" normalizeH="0" baseline="0" noProof="0" dirty="0">
                <a:ln>
                  <a:noFill/>
                </a:ln>
                <a:solidFill>
                  <a:prstClr val="black"/>
                </a:solidFill>
                <a:effectLst/>
                <a:uLnTx/>
                <a:uFillTx/>
                <a:latin typeface="National semibold" panose="02000503000000020004"/>
                <a:ea typeface="+mj-ea"/>
                <a:cs typeface="+mj-cs"/>
              </a:rPr>
              <a:t>Second (less benevolent) view:</a:t>
            </a:r>
            <a:r>
              <a:rPr kumimoji="0" lang="en-US" sz="5400" b="1" i="0" u="none" strike="noStrike" kern="1200" cap="none" spc="0" normalizeH="0" baseline="0" noProof="0" dirty="0">
                <a:ln>
                  <a:noFill/>
                </a:ln>
                <a:solidFill>
                  <a:srgbClr val="0070C0"/>
                </a:solidFill>
                <a:effectLst/>
                <a:uLnTx/>
                <a:uFillTx/>
                <a:latin typeface="National semibold" panose="02000503000000020004"/>
                <a:ea typeface="+mj-ea"/>
                <a:cs typeface="+mj-cs"/>
              </a:rPr>
              <a:t> </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5400" b="1" i="0" u="none" strike="noStrike" kern="1200" cap="none" spc="0" normalizeH="0" baseline="0" noProof="0" dirty="0">
                <a:ln>
                  <a:noFill/>
                </a:ln>
                <a:solidFill>
                  <a:srgbClr val="FF0000"/>
                </a:solidFill>
                <a:effectLst/>
                <a:uLnTx/>
                <a:uFillTx/>
                <a:latin typeface="National semibold" panose="02000503000000020004"/>
                <a:ea typeface="+mj-ea"/>
                <a:cs typeface="+mj-cs"/>
              </a:rPr>
              <a:t>Banks get a larger share of the pie because they </a:t>
            </a:r>
            <a:r>
              <a:rPr lang="en-US" sz="5400" b="1" dirty="0">
                <a:solidFill>
                  <a:srgbClr val="FF0000"/>
                </a:solidFill>
                <a:latin typeface="National semibold" panose="02000503000000020004"/>
              </a:rPr>
              <a:t>became more </a:t>
            </a:r>
            <a:r>
              <a:rPr kumimoji="0" lang="en-US" sz="5400" b="1" i="0" u="none" strike="noStrike" kern="1200" cap="none" spc="0" normalizeH="0" baseline="0" noProof="0" dirty="0">
                <a:ln>
                  <a:noFill/>
                </a:ln>
                <a:solidFill>
                  <a:srgbClr val="FF0000"/>
                </a:solidFill>
                <a:effectLst/>
                <a:uLnTx/>
                <a:uFillTx/>
                <a:latin typeface="National semibold" panose="02000503000000020004"/>
                <a:ea typeface="+mj-ea"/>
                <a:cs typeface="+mj-cs"/>
              </a:rPr>
              <a:t>powerful</a:t>
            </a:r>
          </a:p>
        </p:txBody>
      </p:sp>
    </p:spTree>
    <p:extLst>
      <p:ext uri="{BB962C8B-B14F-4D97-AF65-F5344CB8AC3E}">
        <p14:creationId xmlns:p14="http://schemas.microsoft.com/office/powerpoint/2010/main" val="2480083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2">
            <a:extLst>
              <a:ext uri="{FF2B5EF4-FFF2-40B4-BE49-F238E27FC236}">
                <a16:creationId xmlns:a16="http://schemas.microsoft.com/office/drawing/2014/main" id="{272392DA-58E8-00B6-0B2C-8C6B4EB7912C}"/>
              </a:ext>
            </a:extLst>
          </p:cNvPr>
          <p:cNvSpPr txBox="1">
            <a:spLocks/>
          </p:cNvSpPr>
          <p:nvPr/>
        </p:nvSpPr>
        <p:spPr>
          <a:xfrm>
            <a:off x="1025901" y="1495136"/>
            <a:ext cx="9762898" cy="370551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F7C547">
                    <a:lumMod val="50000"/>
                  </a:srgbClr>
                </a:solidFill>
                <a:effectLst/>
                <a:uLnTx/>
                <a:uFillTx/>
                <a:latin typeface="National semibold" panose="02000503000000020004"/>
                <a:ea typeface="+mj-ea"/>
                <a:cs typeface="+mj-cs"/>
              </a:rPr>
              <a:t>Is there evidence supporting the second view?</a:t>
            </a:r>
          </a:p>
        </p:txBody>
      </p:sp>
    </p:spTree>
    <p:extLst>
      <p:ext uri="{BB962C8B-B14F-4D97-AF65-F5344CB8AC3E}">
        <p14:creationId xmlns:p14="http://schemas.microsoft.com/office/powerpoint/2010/main" val="3204377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descr="Chart, line chart&#10;&#10;Description automatically generated">
            <a:extLst>
              <a:ext uri="{FF2B5EF4-FFF2-40B4-BE49-F238E27FC236}">
                <a16:creationId xmlns:a16="http://schemas.microsoft.com/office/drawing/2014/main" id="{4FCDCC71-B01A-3862-2598-7F46D1C175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0" y="741936"/>
            <a:ext cx="10599805" cy="5448300"/>
          </a:xfrm>
          <a:prstGeom prst="rect">
            <a:avLst/>
          </a:prstGeom>
        </p:spPr>
      </p:pic>
      <p:pic>
        <p:nvPicPr>
          <p:cNvPr id="1026" name="Picture 2">
            <a:extLst>
              <a:ext uri="{FF2B5EF4-FFF2-40B4-BE49-F238E27FC236}">
                <a16:creationId xmlns:a16="http://schemas.microsoft.com/office/drawing/2014/main" id="{F5C169FA-887C-EA72-E14C-93CE27AABF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7407" y="5656430"/>
            <a:ext cx="1616578" cy="43471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ndroid Apps by Bank of America on Google Play">
            <a:extLst>
              <a:ext uri="{FF2B5EF4-FFF2-40B4-BE49-F238E27FC236}">
                <a16:creationId xmlns:a16="http://schemas.microsoft.com/office/drawing/2014/main" id="{50B029CE-E909-5997-F8E7-D51B6F79EF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06291" y="1874732"/>
            <a:ext cx="1502450" cy="150245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case-logo-jp-morgan-chase-249×140 – Sleep For Success">
            <a:extLst>
              <a:ext uri="{FF2B5EF4-FFF2-40B4-BE49-F238E27FC236}">
                <a16:creationId xmlns:a16="http://schemas.microsoft.com/office/drawing/2014/main" id="{9E05D466-8930-34EF-472F-CCA7EEA03C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01515" y="1023281"/>
            <a:ext cx="1693970" cy="952433"/>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551ABE07-7CB7-20BB-2C47-D5709D0AA46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457207" y="3517156"/>
            <a:ext cx="1551534" cy="415654"/>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Wells Fargo Company Profile: Financings &amp; Team | PitchBook">
            <a:extLst>
              <a:ext uri="{FF2B5EF4-FFF2-40B4-BE49-F238E27FC236}">
                <a16:creationId xmlns:a16="http://schemas.microsoft.com/office/drawing/2014/main" id="{01249F3C-3269-43D0-3860-96D4172527AA}"/>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566" t="30710" r="-3367" b="33288"/>
          <a:stretch/>
        </p:blipFill>
        <p:spPr bwMode="auto">
          <a:xfrm>
            <a:off x="10401515" y="4391483"/>
            <a:ext cx="1746669" cy="7485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9726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E3370DA-1645-AA3A-570A-4DAEC796388A}"/>
              </a:ext>
            </a:extLst>
          </p:cNvPr>
          <p:cNvPicPr>
            <a:picLocks noChangeAspect="1"/>
          </p:cNvPicPr>
          <p:nvPr/>
        </p:nvPicPr>
        <p:blipFill rotWithShape="1">
          <a:blip r:embed="rId2"/>
          <a:srcRect t="3" b="47999"/>
          <a:stretch/>
        </p:blipFill>
        <p:spPr>
          <a:xfrm>
            <a:off x="61317" y="691373"/>
            <a:ext cx="12091829" cy="4995747"/>
          </a:xfrm>
          <a:prstGeom prst="rect">
            <a:avLst/>
          </a:prstGeom>
        </p:spPr>
      </p:pic>
    </p:spTree>
    <p:extLst>
      <p:ext uri="{BB962C8B-B14F-4D97-AF65-F5344CB8AC3E}">
        <p14:creationId xmlns:p14="http://schemas.microsoft.com/office/powerpoint/2010/main" val="687248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2">
            <a:extLst>
              <a:ext uri="{FF2B5EF4-FFF2-40B4-BE49-F238E27FC236}">
                <a16:creationId xmlns:a16="http://schemas.microsoft.com/office/drawing/2014/main" id="{272392DA-58E8-00B6-0B2C-8C6B4EB7912C}"/>
              </a:ext>
            </a:extLst>
          </p:cNvPr>
          <p:cNvSpPr txBox="1">
            <a:spLocks/>
          </p:cNvSpPr>
          <p:nvPr/>
        </p:nvSpPr>
        <p:spPr>
          <a:xfrm>
            <a:off x="793828" y="1445885"/>
            <a:ext cx="10560747" cy="4152027"/>
          </a:xfrm>
          <a:prstGeom prst="rect">
            <a:avLst/>
          </a:prstGeom>
          <a:ln w="38100">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7200" b="1" i="0" u="none" strike="noStrike" kern="1200" cap="none" spc="0" normalizeH="0" baseline="0" noProof="0" dirty="0">
                <a:ln>
                  <a:noFill/>
                </a:ln>
                <a:solidFill>
                  <a:srgbClr val="002060"/>
                </a:solidFill>
                <a:effectLst/>
                <a:uLnTx/>
                <a:uFillTx/>
                <a:latin typeface="National semibold" panose="02000503000000020004"/>
                <a:ea typeface="+mj-ea"/>
                <a:cs typeface="+mj-cs"/>
              </a:rPr>
              <a:t>II. Differences with traditional </a:t>
            </a: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7200" b="1" i="0" u="none" strike="noStrike" kern="1200" cap="none" spc="0" normalizeH="0" baseline="0" noProof="0" dirty="0">
                <a:ln>
                  <a:noFill/>
                </a:ln>
                <a:solidFill>
                  <a:srgbClr val="002060"/>
                </a:solidFill>
                <a:effectLst/>
                <a:uLnTx/>
                <a:uFillTx/>
                <a:latin typeface="National semibold" panose="02000503000000020004"/>
                <a:ea typeface="+mj-ea"/>
                <a:cs typeface="+mj-cs"/>
              </a:rPr>
              <a:t>finance </a:t>
            </a:r>
          </a:p>
        </p:txBody>
      </p:sp>
    </p:spTree>
    <p:extLst>
      <p:ext uri="{BB962C8B-B14F-4D97-AF65-F5344CB8AC3E}">
        <p14:creationId xmlns:p14="http://schemas.microsoft.com/office/powerpoint/2010/main" val="657827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4951412" y="1752600"/>
            <a:ext cx="2286000" cy="21336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a:ea typeface="+mn-ea"/>
                <a:cs typeface="+mn-cs"/>
              </a:rPr>
              <a:t>Banks</a:t>
            </a:r>
          </a:p>
        </p:txBody>
      </p:sp>
      <p:sp>
        <p:nvSpPr>
          <p:cNvPr id="6" name="Rectangle 5"/>
          <p:cNvSpPr/>
          <p:nvPr/>
        </p:nvSpPr>
        <p:spPr>
          <a:xfrm>
            <a:off x="8456612" y="1752600"/>
            <a:ext cx="1828800" cy="20574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a:ea typeface="+mn-ea"/>
                <a:cs typeface="+mn-cs"/>
              </a:rPr>
              <a:t>Net borrowers</a:t>
            </a:r>
          </a:p>
        </p:txBody>
      </p:sp>
      <p:sp>
        <p:nvSpPr>
          <p:cNvPr id="7" name="Rectangle 6"/>
          <p:cNvSpPr/>
          <p:nvPr/>
        </p:nvSpPr>
        <p:spPr>
          <a:xfrm>
            <a:off x="1903412" y="1828800"/>
            <a:ext cx="1752600" cy="20574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a:ea typeface="+mn-ea"/>
                <a:cs typeface="+mn-cs"/>
              </a:rPr>
              <a:t>Net savers</a:t>
            </a:r>
          </a:p>
        </p:txBody>
      </p:sp>
      <p:cxnSp>
        <p:nvCxnSpPr>
          <p:cNvPr id="9" name="Straight Arrow Connector 8"/>
          <p:cNvCxnSpPr/>
          <p:nvPr/>
        </p:nvCxnSpPr>
        <p:spPr>
          <a:xfrm>
            <a:off x="3884612" y="2819400"/>
            <a:ext cx="762000"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0" name="Straight Arrow Connector 9"/>
          <p:cNvCxnSpPr/>
          <p:nvPr/>
        </p:nvCxnSpPr>
        <p:spPr>
          <a:xfrm>
            <a:off x="7466012" y="2819400"/>
            <a:ext cx="762000"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 name="Title 12">
            <a:extLst>
              <a:ext uri="{FF2B5EF4-FFF2-40B4-BE49-F238E27FC236}">
                <a16:creationId xmlns:a16="http://schemas.microsoft.com/office/drawing/2014/main" id="{953F42DC-CBCD-F4D0-6328-13C094F5CB83}"/>
              </a:ext>
            </a:extLst>
          </p:cNvPr>
          <p:cNvSpPr txBox="1">
            <a:spLocks/>
          </p:cNvSpPr>
          <p:nvPr/>
        </p:nvSpPr>
        <p:spPr>
          <a:xfrm>
            <a:off x="875506" y="170880"/>
            <a:ext cx="10437812" cy="12192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National semibold" panose="02000503000000020004"/>
                <a:ea typeface="+mj-ea"/>
                <a:cs typeface="+mj-cs"/>
              </a:rPr>
              <a:t>The role of banks</a:t>
            </a:r>
          </a:p>
        </p:txBody>
      </p:sp>
      <p:cxnSp>
        <p:nvCxnSpPr>
          <p:cNvPr id="12" name="Straight Connector 11">
            <a:extLst>
              <a:ext uri="{FF2B5EF4-FFF2-40B4-BE49-F238E27FC236}">
                <a16:creationId xmlns:a16="http://schemas.microsoft.com/office/drawing/2014/main" id="{6B544B76-5358-9AE7-5394-53015A3E3585}"/>
              </a:ext>
            </a:extLst>
          </p:cNvPr>
          <p:cNvCxnSpPr>
            <a:cxnSpLocks/>
          </p:cNvCxnSpPr>
          <p:nvPr/>
        </p:nvCxnSpPr>
        <p:spPr>
          <a:xfrm>
            <a:off x="4886325" y="1400175"/>
            <a:ext cx="2646364" cy="3019425"/>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94D30A5-423F-BFF4-6E0E-861672D09D18}"/>
              </a:ext>
            </a:extLst>
          </p:cNvPr>
          <p:cNvCxnSpPr>
            <a:cxnSpLocks/>
          </p:cNvCxnSpPr>
          <p:nvPr/>
        </p:nvCxnSpPr>
        <p:spPr>
          <a:xfrm flipH="1">
            <a:off x="4741862" y="1333500"/>
            <a:ext cx="2714627" cy="3076575"/>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2876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8456612" y="1752600"/>
            <a:ext cx="1828800" cy="20574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a:ea typeface="+mn-ea"/>
                <a:cs typeface="+mn-cs"/>
              </a:rPr>
              <a:t>Net borrowers</a:t>
            </a:r>
          </a:p>
        </p:txBody>
      </p:sp>
      <p:sp>
        <p:nvSpPr>
          <p:cNvPr id="7" name="Rectangle 6"/>
          <p:cNvSpPr/>
          <p:nvPr/>
        </p:nvSpPr>
        <p:spPr>
          <a:xfrm>
            <a:off x="1903412" y="1828800"/>
            <a:ext cx="1752600" cy="20574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a:ea typeface="+mn-ea"/>
                <a:cs typeface="+mn-cs"/>
              </a:rPr>
              <a:t>Net savers</a:t>
            </a:r>
          </a:p>
        </p:txBody>
      </p:sp>
      <p:cxnSp>
        <p:nvCxnSpPr>
          <p:cNvPr id="9" name="Straight Arrow Connector 8"/>
          <p:cNvCxnSpPr/>
          <p:nvPr/>
        </p:nvCxnSpPr>
        <p:spPr>
          <a:xfrm>
            <a:off x="3884612" y="2819400"/>
            <a:ext cx="762000"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0" name="Straight Arrow Connector 9"/>
          <p:cNvCxnSpPr/>
          <p:nvPr/>
        </p:nvCxnSpPr>
        <p:spPr>
          <a:xfrm>
            <a:off x="7466012" y="2819400"/>
            <a:ext cx="762000"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 name="Title 12">
            <a:extLst>
              <a:ext uri="{FF2B5EF4-FFF2-40B4-BE49-F238E27FC236}">
                <a16:creationId xmlns:a16="http://schemas.microsoft.com/office/drawing/2014/main" id="{953F42DC-CBCD-F4D0-6328-13C094F5CB83}"/>
              </a:ext>
            </a:extLst>
          </p:cNvPr>
          <p:cNvSpPr txBox="1">
            <a:spLocks/>
          </p:cNvSpPr>
          <p:nvPr/>
        </p:nvSpPr>
        <p:spPr>
          <a:xfrm>
            <a:off x="875506" y="170880"/>
            <a:ext cx="10437812" cy="12192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National semibold" panose="02000503000000020004"/>
                <a:ea typeface="+mj-ea"/>
                <a:cs typeface="+mj-cs"/>
              </a:rPr>
              <a:t>DeFi</a:t>
            </a:r>
          </a:p>
        </p:txBody>
      </p:sp>
      <p:sp>
        <p:nvSpPr>
          <p:cNvPr id="5" name="TextBox 4">
            <a:extLst>
              <a:ext uri="{FF2B5EF4-FFF2-40B4-BE49-F238E27FC236}">
                <a16:creationId xmlns:a16="http://schemas.microsoft.com/office/drawing/2014/main" id="{7D2C3755-5CDD-A7F2-E664-83A2FA56ECDA}"/>
              </a:ext>
            </a:extLst>
          </p:cNvPr>
          <p:cNvSpPr txBox="1"/>
          <p:nvPr/>
        </p:nvSpPr>
        <p:spPr>
          <a:xfrm>
            <a:off x="4838700" y="2095499"/>
            <a:ext cx="2419350" cy="1200329"/>
          </a:xfrm>
          <a:prstGeom prst="rect">
            <a:avLst/>
          </a:prstGeom>
          <a:noFill/>
          <a:ln w="38100">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Computers that execute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pre-programmed codes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designed to do what banks do</a:t>
            </a:r>
          </a:p>
        </p:txBody>
      </p:sp>
      <p:sp>
        <p:nvSpPr>
          <p:cNvPr id="3" name="TextBox 2">
            <a:extLst>
              <a:ext uri="{FF2B5EF4-FFF2-40B4-BE49-F238E27FC236}">
                <a16:creationId xmlns:a16="http://schemas.microsoft.com/office/drawing/2014/main" id="{8D7CD0A0-2B94-2681-CB8B-1D2200599C54}"/>
              </a:ext>
            </a:extLst>
          </p:cNvPr>
          <p:cNvSpPr txBox="1"/>
          <p:nvPr/>
        </p:nvSpPr>
        <p:spPr>
          <a:xfrm>
            <a:off x="4838700" y="3804152"/>
            <a:ext cx="2419350" cy="923330"/>
          </a:xfrm>
          <a:prstGeom prst="rect">
            <a:avLst/>
          </a:prstGeom>
          <a:noFill/>
          <a:ln w="38100">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Pre-programmed codes are called “</a:t>
            </a:r>
            <a:r>
              <a:rPr kumimoji="0" lang="en-US" sz="1800" b="1" i="0" u="none" strike="noStrike" kern="1200" cap="none" spc="0" normalizeH="0" baseline="0" noProof="0" dirty="0">
                <a:ln>
                  <a:noFill/>
                </a:ln>
                <a:solidFill>
                  <a:prstClr val="black"/>
                </a:solidFill>
                <a:effectLst/>
                <a:uLnTx/>
                <a:uFillTx/>
                <a:latin typeface="Calibri"/>
                <a:ea typeface="+mn-ea"/>
                <a:cs typeface="+mn-cs"/>
              </a:rPr>
              <a:t>smart contracts</a:t>
            </a:r>
            <a:r>
              <a:rPr kumimoji="0" lang="en-US" sz="1800" b="0" i="0" u="none" strike="noStrike" kern="1200" cap="none" spc="0" normalizeH="0" baseline="0" noProof="0" dirty="0">
                <a:ln>
                  <a:noFill/>
                </a:ln>
                <a:solidFill>
                  <a:prstClr val="black"/>
                </a:solidFill>
                <a:effectLst/>
                <a:uLnTx/>
                <a:uFillTx/>
                <a:latin typeface="Calibri"/>
                <a:ea typeface="+mn-ea"/>
                <a:cs typeface="+mn-cs"/>
              </a:rPr>
              <a:t>”</a:t>
            </a:r>
          </a:p>
        </p:txBody>
      </p:sp>
      <p:sp>
        <p:nvSpPr>
          <p:cNvPr id="4" name="TextBox 3">
            <a:extLst>
              <a:ext uri="{FF2B5EF4-FFF2-40B4-BE49-F238E27FC236}">
                <a16:creationId xmlns:a16="http://schemas.microsoft.com/office/drawing/2014/main" id="{04364B1E-5DD0-F432-FC44-ADA64D08F136}"/>
              </a:ext>
            </a:extLst>
          </p:cNvPr>
          <p:cNvSpPr txBox="1"/>
          <p:nvPr/>
        </p:nvSpPr>
        <p:spPr>
          <a:xfrm>
            <a:off x="4432079" y="5132112"/>
            <a:ext cx="3176833" cy="1200329"/>
          </a:xfrm>
          <a:prstGeom prst="rect">
            <a:avLst/>
          </a:prstGeom>
          <a:noFill/>
          <a:ln w="38100">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Smart contracts</a:t>
            </a:r>
            <a:r>
              <a:rPr kumimoji="0" lang="en-US" sz="1800" b="0" i="0" u="none" strike="noStrike" kern="1200" cap="none" spc="0" normalizeH="0" noProof="0" dirty="0">
                <a:ln>
                  <a:noFill/>
                </a:ln>
                <a:solidFill>
                  <a:prstClr val="black"/>
                </a:solidFill>
                <a:effectLst/>
                <a:uLnTx/>
                <a:uFillTx/>
                <a:latin typeface="Calibri"/>
                <a:ea typeface="+mn-ea"/>
                <a:cs typeface="+mn-cs"/>
              </a:rPr>
              <a:t> </a:t>
            </a:r>
            <a:r>
              <a:rPr kumimoji="0" lang="en-US" sz="1800" b="0" i="0" u="none" strike="noStrike" kern="1200" cap="none" spc="0" normalizeH="0" baseline="0" noProof="0" dirty="0">
                <a:ln>
                  <a:noFill/>
                </a:ln>
                <a:solidFill>
                  <a:prstClr val="black"/>
                </a:solidFill>
                <a:effectLst/>
                <a:uLnTx/>
                <a:uFillTx/>
                <a:latin typeface="Calibri"/>
                <a:ea typeface="+mn-ea"/>
                <a:cs typeface="+mn-cs"/>
              </a:rPr>
              <a:t>are stored</a:t>
            </a:r>
            <a:r>
              <a:rPr lang="en-US" dirty="0">
                <a:solidFill>
                  <a:prstClr val="black"/>
                </a:solidFill>
                <a:latin typeface="Calibri"/>
              </a:rPr>
              <a:t> and executed in a “</a:t>
            </a:r>
            <a:r>
              <a:rPr lang="en-US" b="1" dirty="0">
                <a:solidFill>
                  <a:prstClr val="black"/>
                </a:solidFill>
                <a:latin typeface="Calibri"/>
              </a:rPr>
              <a:t>blockchain</a:t>
            </a:r>
            <a:r>
              <a:rPr lang="en-US" dirty="0">
                <a:solidFill>
                  <a:prstClr val="black"/>
                </a:solidFill>
                <a:latin typeface="Calibri"/>
              </a:rPr>
              <a:t>” by a network of interconnected computers</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51487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2">
            <a:extLst>
              <a:ext uri="{FF2B5EF4-FFF2-40B4-BE49-F238E27FC236}">
                <a16:creationId xmlns:a16="http://schemas.microsoft.com/office/drawing/2014/main" id="{953F42DC-CBCD-F4D0-6328-13C094F5CB83}"/>
              </a:ext>
            </a:extLst>
          </p:cNvPr>
          <p:cNvSpPr txBox="1">
            <a:spLocks/>
          </p:cNvSpPr>
          <p:nvPr/>
        </p:nvSpPr>
        <p:spPr>
          <a:xfrm>
            <a:off x="885031" y="1666304"/>
            <a:ext cx="10437812" cy="330574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800" b="1" i="0" u="none" strike="noStrike" kern="1200" cap="none" spc="0" normalizeH="0" baseline="0" noProof="0" dirty="0">
                <a:ln>
                  <a:noFill/>
                </a:ln>
                <a:solidFill>
                  <a:srgbClr val="F7C547">
                    <a:lumMod val="50000"/>
                  </a:srgbClr>
                </a:solidFill>
                <a:effectLst/>
                <a:uLnTx/>
                <a:uFillTx/>
                <a:latin typeface="National semibold" panose="02000503000000020004"/>
                <a:ea typeface="+mj-ea"/>
                <a:cs typeface="+mj-cs"/>
              </a:rPr>
              <a:t>How do we trust the new system?</a:t>
            </a:r>
            <a:endParaRPr kumimoji="0" lang="en-US" sz="4000" b="1" i="0" u="none" strike="noStrike" kern="1200" cap="none" spc="0" normalizeH="0" baseline="0" noProof="0" dirty="0">
              <a:ln>
                <a:noFill/>
              </a:ln>
              <a:solidFill>
                <a:srgbClr val="F7C547">
                  <a:lumMod val="50000"/>
                </a:srgbClr>
              </a:solidFill>
              <a:effectLst/>
              <a:uLnTx/>
              <a:uFillTx/>
              <a:latin typeface="National semibold" panose="02000503000000020004"/>
              <a:ea typeface="+mj-ea"/>
              <a:cs typeface="+mj-cs"/>
            </a:endParaRPr>
          </a:p>
        </p:txBody>
      </p:sp>
    </p:spTree>
    <p:extLst>
      <p:ext uri="{BB962C8B-B14F-4D97-AF65-F5344CB8AC3E}">
        <p14:creationId xmlns:p14="http://schemas.microsoft.com/office/powerpoint/2010/main" val="4023327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dirty="0">
                <a:latin typeface="National semibold" panose="02000503000000020004"/>
              </a:rPr>
              <a:t>“Trust” without a central institution</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r>
              <a:rPr lang="en-US" dirty="0">
                <a:latin typeface="National semibold" panose="02000503000000020004"/>
              </a:rPr>
              <a:t>Large organizations (central banks, multinational brokerage houses, other financial intermediaries) have the size, brands, products and personnel we consider trustworthy.  </a:t>
            </a:r>
          </a:p>
          <a:p>
            <a:endParaRPr lang="en-US" dirty="0">
              <a:latin typeface="National semibold" panose="02000503000000020004"/>
            </a:endParaRPr>
          </a:p>
          <a:p>
            <a:r>
              <a:rPr lang="en-US" dirty="0" err="1">
                <a:latin typeface="National semibold" panose="02000503000000020004"/>
              </a:rPr>
              <a:t>DeFi</a:t>
            </a:r>
            <a:r>
              <a:rPr lang="en-US" dirty="0">
                <a:latin typeface="National semibold" panose="02000503000000020004"/>
              </a:rPr>
              <a:t> is based on the opposite concept: absence of large organizations that can control the operation of the system. </a:t>
            </a:r>
          </a:p>
          <a:p>
            <a:endParaRPr lang="en-US" dirty="0">
              <a:latin typeface="National semibold" panose="02000503000000020004"/>
            </a:endParaRPr>
          </a:p>
          <a:p>
            <a:r>
              <a:rPr lang="en-US" dirty="0">
                <a:latin typeface="National semibold" panose="02000503000000020004"/>
              </a:rPr>
              <a:t>Instead, “</a:t>
            </a:r>
            <a:r>
              <a:rPr lang="en-US" b="1" dirty="0">
                <a:latin typeface="National semibold" panose="02000503000000020004"/>
              </a:rPr>
              <a:t>Trust”</a:t>
            </a:r>
            <a:r>
              <a:rPr lang="en-US" dirty="0">
                <a:latin typeface="National semibold" panose="02000503000000020004"/>
              </a:rPr>
              <a:t> is created through a “consensus” mechanism. </a:t>
            </a:r>
          </a:p>
        </p:txBody>
      </p:sp>
    </p:spTree>
    <p:extLst>
      <p:ext uri="{BB962C8B-B14F-4D97-AF65-F5344CB8AC3E}">
        <p14:creationId xmlns:p14="http://schemas.microsoft.com/office/powerpoint/2010/main" val="888458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dirty="0">
                <a:latin typeface="National semibold" panose="02000503000000020004"/>
              </a:rPr>
              <a:t>More on the differences?</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endParaRPr lang="en-US" dirty="0">
              <a:latin typeface="National semibold" panose="02000503000000020004"/>
            </a:endParaRPr>
          </a:p>
          <a:p>
            <a:r>
              <a:rPr lang="en-US" dirty="0">
                <a:latin typeface="National semibold" panose="02000503000000020004"/>
              </a:rPr>
              <a:t>The new instruments in decentralized financial markets are “security tokens”.</a:t>
            </a:r>
          </a:p>
          <a:p>
            <a:pPr lvl="1"/>
            <a:r>
              <a:rPr lang="en-US" dirty="0">
                <a:latin typeface="National semibold" panose="02000503000000020004"/>
              </a:rPr>
              <a:t>A </a:t>
            </a:r>
            <a:r>
              <a:rPr lang="en-US" b="1" u="sng" dirty="0">
                <a:latin typeface="National semibold" panose="02000503000000020004"/>
              </a:rPr>
              <a:t>security token</a:t>
            </a:r>
            <a:r>
              <a:rPr lang="en-US" dirty="0">
                <a:latin typeface="National semibold" panose="02000503000000020004"/>
              </a:rPr>
              <a:t> is a digitized form of traditional ownership certificates, giving title to a regulated financial instrument. </a:t>
            </a:r>
          </a:p>
          <a:p>
            <a:pPr lvl="1"/>
            <a:r>
              <a:rPr lang="en-US" dirty="0">
                <a:latin typeface="National semibold" panose="02000503000000020004"/>
              </a:rPr>
              <a:t>The digital form makes it suitable to be recorded and traded in a </a:t>
            </a:r>
            <a:r>
              <a:rPr lang="en-US" b="1" dirty="0">
                <a:latin typeface="National semibold" panose="02000503000000020004"/>
              </a:rPr>
              <a:t>blockchain</a:t>
            </a:r>
            <a:r>
              <a:rPr lang="en-US" dirty="0">
                <a:latin typeface="National semibold" panose="02000503000000020004"/>
              </a:rPr>
              <a:t> platform with greater agility and speed.         </a:t>
            </a:r>
          </a:p>
          <a:p>
            <a:pPr marL="0" indent="0">
              <a:buNone/>
            </a:pPr>
            <a:endParaRPr lang="en-US" dirty="0">
              <a:latin typeface="National semibold" panose="02000503000000020004"/>
            </a:endParaRPr>
          </a:p>
        </p:txBody>
      </p:sp>
    </p:spTree>
    <p:extLst>
      <p:ext uri="{BB962C8B-B14F-4D97-AF65-F5344CB8AC3E}">
        <p14:creationId xmlns:p14="http://schemas.microsoft.com/office/powerpoint/2010/main" val="4129569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2">
            <a:extLst>
              <a:ext uri="{FF2B5EF4-FFF2-40B4-BE49-F238E27FC236}">
                <a16:creationId xmlns:a16="http://schemas.microsoft.com/office/drawing/2014/main" id="{272392DA-58E8-00B6-0B2C-8C6B4EB7912C}"/>
              </a:ext>
            </a:extLst>
          </p:cNvPr>
          <p:cNvSpPr txBox="1">
            <a:spLocks/>
          </p:cNvSpPr>
          <p:nvPr/>
        </p:nvSpPr>
        <p:spPr>
          <a:xfrm>
            <a:off x="860503" y="1535102"/>
            <a:ext cx="10560747" cy="3795188"/>
          </a:xfrm>
          <a:prstGeom prst="rect">
            <a:avLst/>
          </a:prstGeom>
          <a:ln w="38100">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7200" b="1" i="0" u="none" strike="noStrike" kern="1200" cap="none" spc="0" normalizeH="0" baseline="0" noProof="0" dirty="0">
                <a:ln>
                  <a:noFill/>
                </a:ln>
                <a:solidFill>
                  <a:srgbClr val="002060"/>
                </a:solidFill>
                <a:effectLst/>
                <a:uLnTx/>
                <a:uFillTx/>
                <a:latin typeface="National semibold" panose="02000503000000020004"/>
                <a:ea typeface="+mj-ea"/>
                <a:cs typeface="+mj-cs"/>
              </a:rPr>
              <a:t>III. Benefits of DeFi </a:t>
            </a: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7200" b="1" i="0" u="none" strike="noStrike" kern="1200" cap="none" spc="0" normalizeH="0" baseline="0" noProof="0" dirty="0">
                <a:ln>
                  <a:noFill/>
                </a:ln>
                <a:solidFill>
                  <a:srgbClr val="002060"/>
                </a:solidFill>
                <a:effectLst/>
                <a:uLnTx/>
                <a:uFillTx/>
                <a:latin typeface="National semibold" panose="02000503000000020004"/>
                <a:ea typeface="+mj-ea"/>
                <a:cs typeface="+mj-cs"/>
              </a:rPr>
              <a:t>vis-a-vis </a:t>
            </a: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7200" b="1" i="0" u="none" strike="noStrike" kern="1200" cap="none" spc="0" normalizeH="0" baseline="0" noProof="0" dirty="0">
                <a:ln>
                  <a:noFill/>
                </a:ln>
                <a:solidFill>
                  <a:srgbClr val="002060"/>
                </a:solidFill>
                <a:effectLst/>
                <a:uLnTx/>
                <a:uFillTx/>
                <a:latin typeface="National semibold" panose="02000503000000020004"/>
                <a:ea typeface="+mj-ea"/>
                <a:cs typeface="+mj-cs"/>
              </a:rPr>
              <a:t>traditional finance</a:t>
            </a:r>
          </a:p>
        </p:txBody>
      </p:sp>
    </p:spTree>
    <p:extLst>
      <p:ext uri="{BB962C8B-B14F-4D97-AF65-F5344CB8AC3E}">
        <p14:creationId xmlns:p14="http://schemas.microsoft.com/office/powerpoint/2010/main" val="159756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Title 12"/>
          <p:cNvSpPr>
            <a:spLocks noGrp="1"/>
          </p:cNvSpPr>
          <p:nvPr>
            <p:ph type="title"/>
          </p:nvPr>
        </p:nvSpPr>
        <p:spPr>
          <a:xfrm>
            <a:off x="215943" y="209551"/>
            <a:ext cx="11737248" cy="2333624"/>
          </a:xfrm>
        </p:spPr>
        <p:txBody>
          <a:bodyPr anchor="ctr">
            <a:normAutofit/>
          </a:bodyPr>
          <a:lstStyle/>
          <a:p>
            <a:pPr algn="ctr"/>
            <a:r>
              <a:rPr lang="en-US" sz="4400" b="1" dirty="0">
                <a:latin typeface="National semibold" panose="02000503000000020004"/>
              </a:rPr>
              <a:t>Does DeFi provide financial services that are fundamentally different from traditional finance?</a:t>
            </a:r>
          </a:p>
        </p:txBody>
      </p:sp>
      <p:sp>
        <p:nvSpPr>
          <p:cNvPr id="2" name="Title 12">
            <a:extLst>
              <a:ext uri="{FF2B5EF4-FFF2-40B4-BE49-F238E27FC236}">
                <a16:creationId xmlns:a16="http://schemas.microsoft.com/office/drawing/2014/main" id="{97831A35-CA89-7A09-F706-5A3DAC298D95}"/>
              </a:ext>
            </a:extLst>
          </p:cNvPr>
          <p:cNvSpPr txBox="1">
            <a:spLocks/>
          </p:cNvSpPr>
          <p:nvPr/>
        </p:nvSpPr>
        <p:spPr>
          <a:xfrm>
            <a:off x="1087723" y="2499265"/>
            <a:ext cx="9829799" cy="16383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rgbClr val="F7C547">
                    <a:lumMod val="50000"/>
                  </a:srgbClr>
                </a:solidFill>
                <a:effectLst/>
                <a:uLnTx/>
                <a:uFillTx/>
                <a:latin typeface="National semibold" panose="02000503000000020004"/>
                <a:ea typeface="+mj-ea"/>
                <a:cs typeface="+mj-cs"/>
              </a:rPr>
              <a:t>The answer is NO</a:t>
            </a:r>
          </a:p>
        </p:txBody>
      </p:sp>
      <p:sp>
        <p:nvSpPr>
          <p:cNvPr id="4" name="Title 12">
            <a:extLst>
              <a:ext uri="{FF2B5EF4-FFF2-40B4-BE49-F238E27FC236}">
                <a16:creationId xmlns:a16="http://schemas.microsoft.com/office/drawing/2014/main" id="{8334DB76-8587-2CCD-7C7D-6E1BA9149542}"/>
              </a:ext>
            </a:extLst>
          </p:cNvPr>
          <p:cNvSpPr txBox="1">
            <a:spLocks/>
          </p:cNvSpPr>
          <p:nvPr/>
        </p:nvSpPr>
        <p:spPr>
          <a:xfrm>
            <a:off x="409575" y="4086226"/>
            <a:ext cx="11325225" cy="263842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rgbClr val="F7C547">
                    <a:lumMod val="50000"/>
                  </a:srgbClr>
                </a:solidFill>
                <a:effectLst/>
                <a:uLnTx/>
                <a:uFillTx/>
                <a:latin typeface="National semibold" panose="02000503000000020004"/>
                <a:ea typeface="+mj-ea"/>
                <a:cs typeface="+mj-cs"/>
              </a:rPr>
              <a:t>DeFi uses a different system to provide the “same” services</a:t>
            </a:r>
          </a:p>
        </p:txBody>
      </p:sp>
    </p:spTree>
    <p:extLst>
      <p:ext uri="{BB962C8B-B14F-4D97-AF65-F5344CB8AC3E}">
        <p14:creationId xmlns:p14="http://schemas.microsoft.com/office/powerpoint/2010/main" val="1020014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chor="ctr">
            <a:normAutofit/>
          </a:bodyPr>
          <a:lstStyle/>
          <a:p>
            <a:r>
              <a:rPr lang="en-US" sz="4000" b="1" dirty="0">
                <a:latin typeface="National semibold" panose="02000503000000020004"/>
              </a:rPr>
              <a:t>What are the problems solved by DeFi?</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448799" cy="4648200"/>
          </a:xfrm>
        </p:spPr>
        <p:txBody>
          <a:bodyPr>
            <a:noAutofit/>
          </a:bodyPr>
          <a:lstStyle/>
          <a:p>
            <a:pPr marL="457200" indent="-457200">
              <a:buFont typeface="+mj-lt"/>
              <a:buAutoNum type="arabicPeriod"/>
            </a:pPr>
            <a:endParaRPr lang="en-US" sz="2800" dirty="0">
              <a:latin typeface="National semibold" panose="02000503000000020004"/>
            </a:endParaRPr>
          </a:p>
          <a:p>
            <a:pPr marL="457200" indent="-457200">
              <a:buFont typeface="+mj-lt"/>
              <a:buAutoNum type="arabicPeriod"/>
            </a:pPr>
            <a:r>
              <a:rPr lang="en-US" sz="2800" dirty="0">
                <a:latin typeface="National semibold" panose="02000503000000020004"/>
              </a:rPr>
              <a:t>Centralized control</a:t>
            </a:r>
          </a:p>
          <a:p>
            <a:pPr marL="457200" indent="-457200">
              <a:buFont typeface="+mj-lt"/>
              <a:buAutoNum type="arabicPeriod"/>
            </a:pPr>
            <a:r>
              <a:rPr lang="en-US" sz="2800" dirty="0">
                <a:latin typeface="National semibold" panose="02000503000000020004"/>
              </a:rPr>
              <a:t>Limited access</a:t>
            </a:r>
          </a:p>
          <a:p>
            <a:pPr marL="457200" indent="-457200">
              <a:buFont typeface="+mj-lt"/>
              <a:buAutoNum type="arabicPeriod"/>
            </a:pPr>
            <a:r>
              <a:rPr lang="en-US" sz="2800" dirty="0">
                <a:latin typeface="National semibold" panose="02000503000000020004"/>
              </a:rPr>
              <a:t>Inefficiency</a:t>
            </a:r>
          </a:p>
          <a:p>
            <a:pPr marL="457200" indent="-457200">
              <a:buFont typeface="+mj-lt"/>
              <a:buAutoNum type="arabicPeriod"/>
            </a:pPr>
            <a:r>
              <a:rPr lang="en-US" sz="2800" dirty="0">
                <a:latin typeface="National semibold" panose="02000503000000020004"/>
              </a:rPr>
              <a:t>Lack of interoperability</a:t>
            </a:r>
          </a:p>
          <a:p>
            <a:pPr marL="457200" indent="-457200">
              <a:buFont typeface="+mj-lt"/>
              <a:buAutoNum type="arabicPeriod"/>
            </a:pPr>
            <a:r>
              <a:rPr lang="en-US" sz="2800" dirty="0">
                <a:latin typeface="National semibold" panose="02000503000000020004"/>
              </a:rPr>
              <a:t>Opacity</a:t>
            </a:r>
          </a:p>
        </p:txBody>
      </p:sp>
    </p:spTree>
    <p:extLst>
      <p:ext uri="{BB962C8B-B14F-4D97-AF65-F5344CB8AC3E}">
        <p14:creationId xmlns:p14="http://schemas.microsoft.com/office/powerpoint/2010/main" val="1353553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chor="ctr">
            <a:normAutofit/>
          </a:bodyPr>
          <a:lstStyle/>
          <a:p>
            <a:r>
              <a:rPr lang="en-US" sz="4000" b="1" dirty="0">
                <a:latin typeface="National semibold" panose="02000503000000020004"/>
              </a:rPr>
              <a:t>Problems solved by </a:t>
            </a:r>
            <a:r>
              <a:rPr lang="en-US" sz="4000" b="1" dirty="0" err="1">
                <a:latin typeface="National semibold" panose="02000503000000020004"/>
              </a:rPr>
              <a:t>DeFi</a:t>
            </a:r>
            <a:r>
              <a:rPr lang="en-US" sz="4000" b="1" dirty="0">
                <a:latin typeface="National semibold" panose="02000503000000020004"/>
              </a:rPr>
              <a:t> </a:t>
            </a:r>
            <a:br>
              <a:rPr lang="en-US" sz="4000" b="1" dirty="0">
                <a:latin typeface="National semibold" panose="02000503000000020004"/>
              </a:rPr>
            </a:br>
            <a:r>
              <a:rPr lang="en-US" sz="4000" b="1" i="1" dirty="0">
                <a:latin typeface="National semibold" panose="02000503000000020004"/>
              </a:rPr>
              <a:t>1. Centralized control</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448799" cy="4648200"/>
          </a:xfrm>
        </p:spPr>
        <p:txBody>
          <a:bodyPr>
            <a:normAutofit/>
          </a:bodyPr>
          <a:lstStyle/>
          <a:p>
            <a:r>
              <a:rPr lang="en-US" dirty="0">
                <a:latin typeface="National semibold" panose="02000503000000020004"/>
              </a:rPr>
              <a:t>Many consumers and businesses deal with a single localized bank. Even if it is possible to switch to another bank, it carries direct and indirect costs.</a:t>
            </a:r>
          </a:p>
          <a:p>
            <a:r>
              <a:rPr lang="en-US" dirty="0">
                <a:latin typeface="National semibold" panose="02000503000000020004"/>
              </a:rPr>
              <a:t>This gives significant market power to the bank allowing less favorable terms for costumers: higher fees, lower interests on deposits, higher interests on loans.</a:t>
            </a:r>
          </a:p>
          <a:p>
            <a:r>
              <a:rPr lang="en-US" dirty="0">
                <a:latin typeface="National semibold" panose="02000503000000020004"/>
              </a:rPr>
              <a:t>The high concentration of the banking sector with few banks controlling a very large share of the market makes the problem more severe.  </a:t>
            </a:r>
          </a:p>
          <a:p>
            <a:pPr marL="0" indent="0">
              <a:buNone/>
            </a:pPr>
            <a:endParaRPr lang="en-US" b="1" dirty="0">
              <a:latin typeface="National semibold" panose="02000503000000020004"/>
            </a:endParaRPr>
          </a:p>
          <a:p>
            <a:pPr marL="0" indent="0">
              <a:buNone/>
            </a:pPr>
            <a:r>
              <a:rPr lang="en-US" b="1" dirty="0" err="1">
                <a:latin typeface="National semibold" panose="02000503000000020004"/>
              </a:rPr>
              <a:t>DeFi</a:t>
            </a:r>
            <a:r>
              <a:rPr lang="en-US" b="1" dirty="0">
                <a:latin typeface="National semibold" panose="02000503000000020004"/>
              </a:rPr>
              <a:t> eliminates or at least reduces the centralized control of few players.</a:t>
            </a:r>
            <a:r>
              <a:rPr lang="en-US" dirty="0">
                <a:latin typeface="National semibold" panose="02000503000000020004"/>
              </a:rPr>
              <a:t> </a:t>
            </a:r>
          </a:p>
        </p:txBody>
      </p:sp>
    </p:spTree>
    <p:extLst>
      <p:ext uri="{BB962C8B-B14F-4D97-AF65-F5344CB8AC3E}">
        <p14:creationId xmlns:p14="http://schemas.microsoft.com/office/powerpoint/2010/main" val="1845367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chor="ctr">
            <a:normAutofit/>
          </a:bodyPr>
          <a:lstStyle/>
          <a:p>
            <a:r>
              <a:rPr lang="en-US" sz="4000" b="1" dirty="0">
                <a:latin typeface="National semibold" panose="02000503000000020004"/>
              </a:rPr>
              <a:t>Problems solved by </a:t>
            </a:r>
            <a:r>
              <a:rPr lang="en-US" sz="4000" b="1" dirty="0" err="1">
                <a:latin typeface="National semibold" panose="02000503000000020004"/>
              </a:rPr>
              <a:t>DeFi</a:t>
            </a:r>
            <a:br>
              <a:rPr lang="en-US" sz="4000" b="1" dirty="0">
                <a:latin typeface="National semibold" panose="02000503000000020004"/>
              </a:rPr>
            </a:br>
            <a:r>
              <a:rPr lang="en-US" sz="4000" b="1" i="1" dirty="0">
                <a:latin typeface="National semibold" panose="02000503000000020004"/>
              </a:rPr>
              <a:t>2. Limited access</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448799" cy="4648200"/>
          </a:xfrm>
        </p:spPr>
        <p:txBody>
          <a:bodyPr>
            <a:normAutofit/>
          </a:bodyPr>
          <a:lstStyle/>
          <a:p>
            <a:r>
              <a:rPr lang="en-US" dirty="0">
                <a:latin typeface="National semibold" panose="02000503000000020004"/>
              </a:rPr>
              <a:t>Many people around the world are unbanked (they are not costumers of any bank). </a:t>
            </a:r>
          </a:p>
          <a:p>
            <a:r>
              <a:rPr lang="en-US" dirty="0">
                <a:latin typeface="National semibold" panose="02000503000000020004"/>
              </a:rPr>
              <a:t>Typically, they have modest economic conditions and located in remote areas. </a:t>
            </a:r>
          </a:p>
          <a:p>
            <a:r>
              <a:rPr lang="en-US" dirty="0">
                <a:latin typeface="National semibold" panose="02000503000000020004"/>
              </a:rPr>
              <a:t>Financial institutions do not find these potential costumers profitable. For example, because these costumers cannot take large loans. </a:t>
            </a:r>
          </a:p>
          <a:p>
            <a:pPr marL="0" indent="0">
              <a:buNone/>
            </a:pPr>
            <a:endParaRPr lang="en-US" dirty="0">
              <a:latin typeface="National semibold" panose="02000503000000020004"/>
            </a:endParaRPr>
          </a:p>
          <a:p>
            <a:pPr marL="0" indent="0">
              <a:buNone/>
            </a:pPr>
            <a:r>
              <a:rPr lang="en-US" b="1" dirty="0" err="1">
                <a:latin typeface="National semibold" panose="02000503000000020004"/>
              </a:rPr>
              <a:t>DeFi</a:t>
            </a:r>
            <a:r>
              <a:rPr lang="en-US" b="1" dirty="0">
                <a:latin typeface="National semibold" panose="02000503000000020004"/>
              </a:rPr>
              <a:t> enhances accessibility for these marginal costumers. All is needed is for them to have an internet connection.</a:t>
            </a:r>
          </a:p>
        </p:txBody>
      </p:sp>
    </p:spTree>
    <p:extLst>
      <p:ext uri="{BB962C8B-B14F-4D97-AF65-F5344CB8AC3E}">
        <p14:creationId xmlns:p14="http://schemas.microsoft.com/office/powerpoint/2010/main" val="2296427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3" y="394062"/>
            <a:ext cx="9829799" cy="1219200"/>
          </a:xfrm>
        </p:spPr>
        <p:txBody>
          <a:bodyPr anchor="ctr">
            <a:normAutofit/>
          </a:bodyPr>
          <a:lstStyle/>
          <a:p>
            <a:r>
              <a:rPr lang="en-US" sz="4000" b="1" dirty="0">
                <a:latin typeface="National semibold" panose="02000503000000020004"/>
              </a:rPr>
              <a:t>Problems solved by </a:t>
            </a:r>
            <a:r>
              <a:rPr lang="en-US" sz="4000" b="1" dirty="0" err="1">
                <a:latin typeface="National semibold" panose="02000503000000020004"/>
              </a:rPr>
              <a:t>DeFi</a:t>
            </a:r>
            <a:br>
              <a:rPr lang="en-US" sz="4000" b="1" dirty="0">
                <a:latin typeface="National semibold" panose="02000503000000020004"/>
              </a:rPr>
            </a:br>
            <a:r>
              <a:rPr lang="en-US" sz="4000" b="1" i="1" dirty="0">
                <a:latin typeface="National semibold" panose="02000503000000020004"/>
              </a:rPr>
              <a:t>3. Inefficiency</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872753" cy="4648200"/>
          </a:xfrm>
        </p:spPr>
        <p:txBody>
          <a:bodyPr>
            <a:normAutofit/>
          </a:bodyPr>
          <a:lstStyle/>
          <a:p>
            <a:r>
              <a:rPr lang="en-US" dirty="0">
                <a:latin typeface="National semibold" panose="02000503000000020004"/>
              </a:rPr>
              <a:t>The presence of middlemen implies fees that in principle could be avoided or reduced. The high fees could be implicit in the interest spread between deposits and loans. </a:t>
            </a:r>
          </a:p>
          <a:p>
            <a:endParaRPr lang="en-US" dirty="0">
              <a:latin typeface="National semibold" panose="02000503000000020004"/>
            </a:endParaRPr>
          </a:p>
          <a:p>
            <a:r>
              <a:rPr lang="en-US" dirty="0">
                <a:latin typeface="National semibold" panose="02000503000000020004"/>
              </a:rPr>
              <a:t>Explicit fees and interest spreads are necessary for traditional financial institutions to cover the high operational and administrative costs of their complex organizational structure. </a:t>
            </a:r>
          </a:p>
          <a:p>
            <a:endParaRPr lang="en-US" dirty="0">
              <a:latin typeface="National semibold" panose="02000503000000020004"/>
            </a:endParaRPr>
          </a:p>
          <a:p>
            <a:pPr marL="0" indent="0">
              <a:buNone/>
            </a:pPr>
            <a:r>
              <a:rPr lang="en-US" b="1" dirty="0" err="1">
                <a:latin typeface="National semibold" panose="02000503000000020004"/>
              </a:rPr>
              <a:t>DeFi</a:t>
            </a:r>
            <a:r>
              <a:rPr lang="en-US" b="1" dirty="0">
                <a:latin typeface="National semibold" panose="02000503000000020004"/>
              </a:rPr>
              <a:t> automatizes the functions of the middlemen or intermediary, reducing its cost. </a:t>
            </a:r>
          </a:p>
        </p:txBody>
      </p:sp>
    </p:spTree>
    <p:extLst>
      <p:ext uri="{BB962C8B-B14F-4D97-AF65-F5344CB8AC3E}">
        <p14:creationId xmlns:p14="http://schemas.microsoft.com/office/powerpoint/2010/main" val="2395062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3" y="394062"/>
            <a:ext cx="9829799" cy="1219200"/>
          </a:xfrm>
        </p:spPr>
        <p:txBody>
          <a:bodyPr anchor="ctr">
            <a:normAutofit/>
          </a:bodyPr>
          <a:lstStyle/>
          <a:p>
            <a:r>
              <a:rPr lang="en-US" sz="4000" b="1" dirty="0">
                <a:latin typeface="National semibold" panose="02000503000000020004"/>
              </a:rPr>
              <a:t>Problems solved by </a:t>
            </a:r>
            <a:r>
              <a:rPr lang="en-US" sz="4000" b="1" dirty="0" err="1">
                <a:latin typeface="National semibold" panose="02000503000000020004"/>
              </a:rPr>
              <a:t>DeFi</a:t>
            </a:r>
            <a:br>
              <a:rPr lang="en-US" sz="4000" b="1" dirty="0">
                <a:latin typeface="National semibold" panose="02000503000000020004"/>
              </a:rPr>
            </a:br>
            <a:r>
              <a:rPr lang="en-US" sz="4000" b="1" i="1" dirty="0">
                <a:latin typeface="National semibold" panose="02000503000000020004"/>
              </a:rPr>
              <a:t>4. Lack of Interoperability</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10221096" cy="4648200"/>
          </a:xfrm>
        </p:spPr>
        <p:txBody>
          <a:bodyPr>
            <a:normAutofit lnSpcReduction="10000"/>
          </a:bodyPr>
          <a:lstStyle/>
          <a:p>
            <a:r>
              <a:rPr lang="en-US" dirty="0">
                <a:latin typeface="National semibold" panose="02000503000000020004"/>
              </a:rPr>
              <a:t>Consumers and businesses deal with financial institutions in an environment in which there is very limited sharing of information and operation. </a:t>
            </a:r>
          </a:p>
          <a:p>
            <a:endParaRPr lang="en-US" dirty="0">
              <a:latin typeface="National semibold" panose="02000503000000020004"/>
            </a:endParaRPr>
          </a:p>
          <a:p>
            <a:pPr lvl="1"/>
            <a:r>
              <a:rPr lang="en-US" dirty="0">
                <a:latin typeface="National semibold" panose="02000503000000020004"/>
              </a:rPr>
              <a:t>For example, moving money from one institution to another can be lengthy and complicated: A wire transfer could take a couple of days to complete. </a:t>
            </a:r>
          </a:p>
          <a:p>
            <a:endParaRPr lang="en-US" dirty="0">
              <a:latin typeface="National semibold" panose="02000503000000020004"/>
            </a:endParaRPr>
          </a:p>
          <a:p>
            <a:pPr lvl="1"/>
            <a:r>
              <a:rPr lang="en-US" dirty="0">
                <a:latin typeface="National semibold" panose="02000503000000020004"/>
              </a:rPr>
              <a:t>A bank has a lot of information about the costumer, but the information is not shared with other banks.</a:t>
            </a:r>
          </a:p>
          <a:p>
            <a:endParaRPr lang="en-US" dirty="0">
              <a:latin typeface="National semibold" panose="02000503000000020004"/>
            </a:endParaRPr>
          </a:p>
          <a:p>
            <a:pPr marL="0" indent="0">
              <a:buNone/>
            </a:pPr>
            <a:r>
              <a:rPr lang="en-US" b="1" dirty="0" err="1">
                <a:latin typeface="National semibold" panose="02000503000000020004"/>
              </a:rPr>
              <a:t>DeFi</a:t>
            </a:r>
            <a:r>
              <a:rPr lang="en-US" b="1" dirty="0">
                <a:latin typeface="National semibold" panose="02000503000000020004"/>
              </a:rPr>
              <a:t> is based on a highly interconnected system that makes transfer of values faster and cheaper.</a:t>
            </a:r>
          </a:p>
        </p:txBody>
      </p:sp>
    </p:spTree>
    <p:extLst>
      <p:ext uri="{BB962C8B-B14F-4D97-AF65-F5344CB8AC3E}">
        <p14:creationId xmlns:p14="http://schemas.microsoft.com/office/powerpoint/2010/main" val="473522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3" y="394062"/>
            <a:ext cx="9829799" cy="1219200"/>
          </a:xfrm>
        </p:spPr>
        <p:txBody>
          <a:bodyPr anchor="ctr">
            <a:normAutofit/>
          </a:bodyPr>
          <a:lstStyle/>
          <a:p>
            <a:r>
              <a:rPr lang="en-US" sz="4000" b="1" dirty="0">
                <a:latin typeface="National semibold" panose="02000503000000020004"/>
              </a:rPr>
              <a:t>Problems solved by </a:t>
            </a:r>
            <a:r>
              <a:rPr lang="en-US" sz="4000" b="1" dirty="0" err="1">
                <a:latin typeface="National semibold" panose="02000503000000020004"/>
              </a:rPr>
              <a:t>DeFi</a:t>
            </a:r>
            <a:br>
              <a:rPr lang="en-US" sz="4000" b="1" dirty="0">
                <a:latin typeface="National semibold" panose="02000503000000020004"/>
              </a:rPr>
            </a:br>
            <a:r>
              <a:rPr lang="en-US" sz="4000" b="1" i="1" dirty="0">
                <a:latin typeface="National semibold" panose="02000503000000020004"/>
              </a:rPr>
              <a:t>5. Opacity</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829799" cy="4648200"/>
          </a:xfrm>
        </p:spPr>
        <p:txBody>
          <a:bodyPr>
            <a:normAutofit/>
          </a:bodyPr>
          <a:lstStyle/>
          <a:p>
            <a:r>
              <a:rPr lang="en-US" dirty="0">
                <a:latin typeface="National semibold" panose="02000503000000020004"/>
              </a:rPr>
              <a:t>Bank costumers have little information about the financial health of their bank. It is difficult for them to figure out whether the conditions offered by a bank is competitive and there are better options in the market. </a:t>
            </a:r>
          </a:p>
          <a:p>
            <a:endParaRPr lang="en-US" dirty="0">
              <a:latin typeface="National semibold" panose="02000503000000020004"/>
            </a:endParaRPr>
          </a:p>
          <a:p>
            <a:r>
              <a:rPr lang="en-US" dirty="0">
                <a:latin typeface="National semibold" panose="02000503000000020004"/>
              </a:rPr>
              <a:t>Regulations and government supervisions are designed to alleviate these problems.  </a:t>
            </a:r>
          </a:p>
          <a:p>
            <a:endParaRPr lang="en-US" dirty="0">
              <a:latin typeface="National semibold" panose="02000503000000020004"/>
            </a:endParaRPr>
          </a:p>
          <a:p>
            <a:pPr marL="0" indent="0">
              <a:buNone/>
            </a:pPr>
            <a:r>
              <a:rPr lang="en-US" b="1" dirty="0" err="1">
                <a:latin typeface="National semibold" panose="02000503000000020004"/>
              </a:rPr>
              <a:t>DeFi</a:t>
            </a:r>
            <a:r>
              <a:rPr lang="en-US" b="1" dirty="0">
                <a:latin typeface="National semibold" panose="02000503000000020004"/>
              </a:rPr>
              <a:t> is based on a set of rules that make the financial health of the participants not an issue. The high interconnectivity and information sharing makes the system highly competitive and reduces the need of government supervision.  </a:t>
            </a:r>
          </a:p>
        </p:txBody>
      </p:sp>
    </p:spTree>
    <p:extLst>
      <p:ext uri="{BB962C8B-B14F-4D97-AF65-F5344CB8AC3E}">
        <p14:creationId xmlns:p14="http://schemas.microsoft.com/office/powerpoint/2010/main" val="671985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dirty="0">
                <a:latin typeface="National semibold" panose="02000503000000020004"/>
              </a:rPr>
              <a:t>Course objective</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r>
              <a:rPr lang="en-US" dirty="0">
                <a:latin typeface="National semibold" panose="02000503000000020004"/>
              </a:rPr>
              <a:t>To understand how the technology works (</a:t>
            </a:r>
            <a:r>
              <a:rPr lang="en-US" b="1" dirty="0">
                <a:latin typeface="National semibold" panose="02000503000000020004"/>
              </a:rPr>
              <a:t>blockchain</a:t>
            </a:r>
            <a:r>
              <a:rPr lang="en-US" dirty="0">
                <a:latin typeface="National semibold" panose="02000503000000020004"/>
              </a:rPr>
              <a:t>).</a:t>
            </a:r>
          </a:p>
          <a:p>
            <a:endParaRPr lang="en-US" dirty="0">
              <a:latin typeface="National semibold" panose="02000503000000020004"/>
            </a:endParaRPr>
          </a:p>
          <a:p>
            <a:endParaRPr lang="en-US" dirty="0">
              <a:latin typeface="National semibold" panose="02000503000000020004"/>
            </a:endParaRPr>
          </a:p>
          <a:p>
            <a:r>
              <a:rPr lang="en-US" dirty="0">
                <a:latin typeface="National semibold" panose="02000503000000020004"/>
              </a:rPr>
              <a:t>To understand how the new technological structure affects financial markets.</a:t>
            </a:r>
          </a:p>
          <a:p>
            <a:endParaRPr lang="en-US" dirty="0">
              <a:latin typeface="National semibold" panose="02000503000000020004"/>
            </a:endParaRPr>
          </a:p>
          <a:p>
            <a:endParaRPr lang="en-US" dirty="0">
              <a:latin typeface="National semibold" panose="02000503000000020004"/>
            </a:endParaRPr>
          </a:p>
          <a:p>
            <a:r>
              <a:rPr lang="en-US" dirty="0">
                <a:latin typeface="National semibold" panose="02000503000000020004"/>
              </a:rPr>
              <a:t>To understand the possible consequences for businesses.</a:t>
            </a:r>
          </a:p>
        </p:txBody>
      </p:sp>
    </p:spTree>
    <p:extLst>
      <p:ext uri="{BB962C8B-B14F-4D97-AF65-F5344CB8AC3E}">
        <p14:creationId xmlns:p14="http://schemas.microsoft.com/office/powerpoint/2010/main" val="1403185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3" y="394062"/>
            <a:ext cx="9829799" cy="1219200"/>
          </a:xfrm>
        </p:spPr>
        <p:txBody>
          <a:bodyPr anchor="ctr">
            <a:normAutofit/>
          </a:bodyPr>
          <a:lstStyle/>
          <a:p>
            <a:r>
              <a:rPr lang="en-US" sz="4000" b="1" dirty="0">
                <a:latin typeface="National semibold" panose="02000503000000020004"/>
              </a:rPr>
              <a:t>Course Plan</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2095500"/>
            <a:ext cx="10407120" cy="4076700"/>
          </a:xfrm>
        </p:spPr>
        <p:txBody>
          <a:bodyPr>
            <a:normAutofit lnSpcReduction="10000"/>
          </a:bodyPr>
          <a:lstStyle/>
          <a:p>
            <a:pPr marL="0" indent="0">
              <a:buNone/>
            </a:pPr>
            <a:r>
              <a:rPr lang="en-US" sz="1900" b="1" u="sng" dirty="0">
                <a:latin typeface="National semibold" panose="02000503000000020004"/>
              </a:rPr>
              <a:t>May 11:</a:t>
            </a:r>
            <a:r>
              <a:rPr lang="en-US" sz="1900" b="1" dirty="0">
                <a:latin typeface="National semibold" panose="02000503000000020004"/>
              </a:rPr>
              <a:t>	</a:t>
            </a:r>
            <a:r>
              <a:rPr lang="en-US" sz="1900" dirty="0">
                <a:latin typeface="National semibold" panose="02000503000000020004"/>
              </a:rPr>
              <a:t>Intro to decentralized finance (DeFi).</a:t>
            </a:r>
          </a:p>
          <a:p>
            <a:pPr marL="0" indent="0">
              <a:buNone/>
            </a:pPr>
            <a:r>
              <a:rPr lang="en-US" sz="1900" dirty="0">
                <a:latin typeface="National semibold" panose="02000503000000020004"/>
              </a:rPr>
              <a:t>	The architecture of DeFi: Blockchains as platforms for financial applications.</a:t>
            </a:r>
          </a:p>
          <a:p>
            <a:pPr marL="0" indent="0">
              <a:buNone/>
            </a:pPr>
            <a:endParaRPr lang="en-US" sz="1900" b="1" u="sng" dirty="0">
              <a:latin typeface="National semibold" panose="02000503000000020004"/>
            </a:endParaRPr>
          </a:p>
          <a:p>
            <a:pPr marL="0" indent="0">
              <a:buNone/>
            </a:pPr>
            <a:endParaRPr lang="en-US" sz="1900" b="1" u="sng" dirty="0">
              <a:latin typeface="National semibold" panose="02000503000000020004"/>
            </a:endParaRPr>
          </a:p>
          <a:p>
            <a:pPr marL="0" indent="0">
              <a:buNone/>
            </a:pPr>
            <a:r>
              <a:rPr lang="en-US" sz="1900" b="1" u="sng" dirty="0">
                <a:latin typeface="National semibold" panose="02000503000000020004"/>
              </a:rPr>
              <a:t>May 13:</a:t>
            </a:r>
            <a:r>
              <a:rPr lang="en-US" sz="1900" b="1" dirty="0">
                <a:latin typeface="National semibold" panose="02000503000000020004"/>
              </a:rPr>
              <a:t>	</a:t>
            </a:r>
            <a:r>
              <a:rPr lang="en-US" sz="1900" dirty="0">
                <a:latin typeface="National semibold" panose="02000503000000020004"/>
              </a:rPr>
              <a:t>Continue with the architecture of DeFi.</a:t>
            </a:r>
          </a:p>
          <a:p>
            <a:pPr marL="0" indent="0">
              <a:buNone/>
            </a:pPr>
            <a:endParaRPr lang="en-US" sz="1900" b="1" u="sng" dirty="0">
              <a:latin typeface="National semibold" panose="02000503000000020004"/>
            </a:endParaRPr>
          </a:p>
          <a:p>
            <a:pPr marL="0" indent="0">
              <a:buNone/>
            </a:pPr>
            <a:endParaRPr lang="en-US" sz="1900" b="1" u="sng" dirty="0">
              <a:latin typeface="National semibold" panose="02000503000000020004"/>
            </a:endParaRPr>
          </a:p>
          <a:p>
            <a:pPr marL="0" indent="0">
              <a:buNone/>
            </a:pPr>
            <a:r>
              <a:rPr lang="en-US" sz="1900" b="1" u="sng" dirty="0">
                <a:latin typeface="National semibold" panose="02000503000000020004"/>
              </a:rPr>
              <a:t>May 15:</a:t>
            </a:r>
            <a:r>
              <a:rPr lang="en-US" sz="1900" dirty="0">
                <a:latin typeface="National semibold" panose="02000503000000020004"/>
              </a:rPr>
              <a:t> The functions of money, cryptocurrencies and stablecoins. </a:t>
            </a:r>
          </a:p>
          <a:p>
            <a:pPr marL="0" indent="0">
              <a:buNone/>
            </a:pPr>
            <a:r>
              <a:rPr lang="en-US" sz="1900" dirty="0">
                <a:latin typeface="National semibold" panose="02000503000000020004"/>
              </a:rPr>
              <a:t>	Introduction to Python for finance.</a:t>
            </a:r>
          </a:p>
          <a:p>
            <a:pPr marL="0" indent="0">
              <a:buNone/>
            </a:pPr>
            <a:endParaRPr lang="en-US" dirty="0">
              <a:latin typeface="National semibold" panose="02000503000000020004"/>
            </a:endParaRPr>
          </a:p>
          <a:p>
            <a:pPr marL="0" indent="0">
              <a:buNone/>
            </a:pPr>
            <a:endParaRPr lang="en-US" dirty="0">
              <a:latin typeface="National semibold" panose="02000503000000020004"/>
            </a:endParaRPr>
          </a:p>
          <a:p>
            <a:pPr marL="457200" indent="-457200">
              <a:buFont typeface="+mj-lt"/>
              <a:buAutoNum type="arabicPeriod"/>
            </a:pPr>
            <a:endParaRPr lang="en-US" dirty="0">
              <a:latin typeface="National semibold" panose="02000503000000020004"/>
            </a:endParaRPr>
          </a:p>
        </p:txBody>
      </p:sp>
    </p:spTree>
    <p:extLst>
      <p:ext uri="{BB962C8B-B14F-4D97-AF65-F5344CB8AC3E}">
        <p14:creationId xmlns:p14="http://schemas.microsoft.com/office/powerpoint/2010/main" val="2343919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3" y="394062"/>
            <a:ext cx="9829799" cy="1219200"/>
          </a:xfrm>
        </p:spPr>
        <p:txBody>
          <a:bodyPr anchor="ctr">
            <a:normAutofit/>
          </a:bodyPr>
          <a:lstStyle/>
          <a:p>
            <a:r>
              <a:rPr lang="en-US" sz="4000" b="1" dirty="0">
                <a:latin typeface="National semibold" panose="02000503000000020004"/>
              </a:rPr>
              <a:t>Course Plan (continue)</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605145" y="1735667"/>
            <a:ext cx="9829799" cy="5156200"/>
          </a:xfrm>
        </p:spPr>
        <p:txBody>
          <a:bodyPr>
            <a:noAutofit/>
          </a:bodyPr>
          <a:lstStyle/>
          <a:p>
            <a:pPr marL="0" indent="0">
              <a:buNone/>
            </a:pPr>
            <a:r>
              <a:rPr lang="en-US" sz="1800" b="1" u="sng" dirty="0">
                <a:latin typeface="National semibold" panose="02000503000000020004"/>
              </a:rPr>
              <a:t>May 18</a:t>
            </a:r>
            <a:r>
              <a:rPr lang="en-US" sz="1800" b="1" dirty="0">
                <a:latin typeface="National semibold" panose="02000503000000020004"/>
              </a:rPr>
              <a:t>: </a:t>
            </a:r>
            <a:r>
              <a:rPr lang="en-US" sz="1800" dirty="0">
                <a:latin typeface="National semibold" panose="02000503000000020004"/>
              </a:rPr>
              <a:t>Digital assets as an investment vehicle: analysis of risk-return trade-off. Application using Python for financial analysis.</a:t>
            </a:r>
            <a:endParaRPr lang="en-US" sz="1800" u="sng" dirty="0">
              <a:latin typeface="National semibold" panose="02000503000000020004"/>
            </a:endParaRPr>
          </a:p>
          <a:p>
            <a:pPr marL="0" indent="0">
              <a:buNone/>
            </a:pPr>
            <a:endParaRPr lang="en-US" sz="1800" b="1" u="sng" dirty="0">
              <a:latin typeface="National semibold" panose="02000503000000020004"/>
            </a:endParaRPr>
          </a:p>
          <a:p>
            <a:pPr marL="0" indent="0">
              <a:buNone/>
            </a:pPr>
            <a:r>
              <a:rPr lang="en-US" sz="1800" b="1" u="sng" dirty="0">
                <a:latin typeface="National semibold" panose="02000503000000020004"/>
              </a:rPr>
              <a:t>May 20</a:t>
            </a:r>
            <a:r>
              <a:rPr lang="en-US" sz="1800" dirty="0">
                <a:latin typeface="National semibold" panose="02000503000000020004"/>
              </a:rPr>
              <a:t>: Continuing with applications of risk-return trade-off using Python.</a:t>
            </a:r>
            <a:endParaRPr lang="en-US" sz="1800" b="1" u="sng" dirty="0">
              <a:latin typeface="National semibold" panose="02000503000000020004"/>
            </a:endParaRPr>
          </a:p>
          <a:p>
            <a:pPr marL="0" indent="0">
              <a:buNone/>
            </a:pPr>
            <a:endParaRPr lang="en-US" sz="1800" b="1" u="sng" dirty="0">
              <a:latin typeface="National semibold" panose="02000503000000020004"/>
            </a:endParaRPr>
          </a:p>
          <a:p>
            <a:pPr marL="0" indent="0">
              <a:buNone/>
            </a:pPr>
            <a:r>
              <a:rPr lang="en-US" sz="1800" b="1" u="sng" dirty="0">
                <a:latin typeface="National semibold" panose="02000503000000020004"/>
              </a:rPr>
              <a:t>May 22</a:t>
            </a:r>
            <a:r>
              <a:rPr lang="en-US" sz="1800" dirty="0">
                <a:latin typeface="National semibold" panose="02000503000000020004"/>
              </a:rPr>
              <a:t>: Decentralized borrowing, lending and decentralized exchanges.</a:t>
            </a:r>
          </a:p>
          <a:p>
            <a:pPr marL="0" indent="0">
              <a:buNone/>
            </a:pPr>
            <a:endParaRPr lang="en-US" sz="1800" dirty="0">
              <a:latin typeface="National semibold" panose="02000503000000020004"/>
            </a:endParaRPr>
          </a:p>
          <a:p>
            <a:pPr marL="0" indent="0">
              <a:buNone/>
            </a:pPr>
            <a:r>
              <a:rPr lang="en-US" sz="1800" b="1" u="sng" dirty="0">
                <a:latin typeface="National semibold" panose="02000503000000020004"/>
              </a:rPr>
              <a:t>May 25</a:t>
            </a:r>
            <a:r>
              <a:rPr lang="en-US" sz="1800" dirty="0">
                <a:latin typeface="National semibold" panose="02000503000000020004"/>
              </a:rPr>
              <a:t>: Nonfungible tokens (NFTs) and the anatomy of an asset price bubble. </a:t>
            </a:r>
          </a:p>
          <a:p>
            <a:pPr marL="0" indent="0">
              <a:buNone/>
            </a:pPr>
            <a:endParaRPr lang="en-US" sz="1800" dirty="0">
              <a:latin typeface="National semibold" panose="02000503000000020004"/>
            </a:endParaRPr>
          </a:p>
          <a:p>
            <a:pPr marL="0" indent="0">
              <a:buNone/>
            </a:pPr>
            <a:r>
              <a:rPr lang="en-US" sz="1800" b="1" u="sng" dirty="0">
                <a:latin typeface="National semibold" panose="02000503000000020004"/>
              </a:rPr>
              <a:t>May 27</a:t>
            </a:r>
            <a:r>
              <a:rPr lang="en-US" sz="1800" dirty="0">
                <a:latin typeface="National semibold" panose="02000503000000020004"/>
              </a:rPr>
              <a:t>: Student presentations.</a:t>
            </a:r>
          </a:p>
          <a:p>
            <a:pPr marL="0" indent="0">
              <a:buNone/>
            </a:pPr>
            <a:r>
              <a:rPr lang="en-US" sz="1800" dirty="0">
                <a:latin typeface="National semibold" panose="02000503000000020004"/>
              </a:rPr>
              <a:t> </a:t>
            </a:r>
          </a:p>
          <a:p>
            <a:pPr marL="0" indent="0">
              <a:buNone/>
            </a:pPr>
            <a:endParaRPr lang="en-US" sz="1800" dirty="0">
              <a:latin typeface="National semibold" panose="02000503000000020004"/>
            </a:endParaRPr>
          </a:p>
          <a:p>
            <a:pPr marL="0" indent="0">
              <a:buNone/>
            </a:pPr>
            <a:endParaRPr lang="en-US" sz="1800" dirty="0">
              <a:latin typeface="National semibold" panose="02000503000000020004"/>
            </a:endParaRPr>
          </a:p>
        </p:txBody>
      </p:sp>
    </p:spTree>
    <p:extLst>
      <p:ext uri="{BB962C8B-B14F-4D97-AF65-F5344CB8AC3E}">
        <p14:creationId xmlns:p14="http://schemas.microsoft.com/office/powerpoint/2010/main" val="1672066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3" y="394062"/>
            <a:ext cx="9829799" cy="1219200"/>
          </a:xfrm>
        </p:spPr>
        <p:txBody>
          <a:bodyPr anchor="ctr">
            <a:normAutofit/>
          </a:bodyPr>
          <a:lstStyle/>
          <a:p>
            <a:r>
              <a:rPr lang="en-US" sz="4000" b="1" dirty="0">
                <a:latin typeface="National semibold" panose="02000503000000020004"/>
              </a:rPr>
              <a:t>Course materials</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697504"/>
            <a:ext cx="9448799" cy="5029200"/>
          </a:xfrm>
        </p:spPr>
        <p:txBody>
          <a:bodyPr>
            <a:noAutofit/>
          </a:bodyPr>
          <a:lstStyle/>
          <a:p>
            <a:r>
              <a:rPr lang="en-US" sz="2000" b="1" dirty="0">
                <a:latin typeface="National semibold" panose="02000503000000020004"/>
              </a:rPr>
              <a:t>Published references </a:t>
            </a:r>
            <a:r>
              <a:rPr lang="en-US" sz="2000" dirty="0">
                <a:latin typeface="National semibold" panose="02000503000000020004"/>
              </a:rPr>
              <a:t>(only suggested, not required): </a:t>
            </a:r>
          </a:p>
          <a:p>
            <a:pPr lvl="1"/>
            <a:r>
              <a:rPr lang="it-IT" sz="1400" dirty="0">
                <a:latin typeface="National semibold" panose="02000503000000020004"/>
              </a:rPr>
              <a:t>Marco Di Maggio, Blockchain, Crypto and Defi, 2025, Wiley.</a:t>
            </a:r>
            <a:endParaRPr lang="en-US" sz="1400" dirty="0">
              <a:latin typeface="National semibold" panose="02000503000000020004"/>
            </a:endParaRPr>
          </a:p>
          <a:p>
            <a:pPr lvl="1"/>
            <a:r>
              <a:rPr lang="en-US" sz="1400" dirty="0">
                <a:latin typeface="National semibold" panose="02000503000000020004"/>
              </a:rPr>
              <a:t>Eswar S. Prasad, </a:t>
            </a:r>
            <a:r>
              <a:rPr lang="en-US" sz="1400" i="1" dirty="0">
                <a:latin typeface="National semibold" panose="02000503000000020004"/>
              </a:rPr>
              <a:t>The Future of Money</a:t>
            </a:r>
            <a:r>
              <a:rPr lang="en-US" sz="1400" dirty="0">
                <a:latin typeface="National semibold" panose="02000503000000020004"/>
              </a:rPr>
              <a:t>, 2021, </a:t>
            </a:r>
            <a:r>
              <a:rPr lang="en-US" sz="1400" dirty="0" err="1">
                <a:latin typeface="National semibold" panose="02000503000000020004"/>
              </a:rPr>
              <a:t>Harward</a:t>
            </a:r>
            <a:r>
              <a:rPr lang="en-US" sz="1400" dirty="0">
                <a:latin typeface="National semibold" panose="02000503000000020004"/>
              </a:rPr>
              <a:t> University Press. Campbell R. Harvey, Ashwin Ramachandran and Joey Santoro, </a:t>
            </a:r>
            <a:r>
              <a:rPr lang="en-US" sz="1400" i="1" dirty="0" err="1">
                <a:latin typeface="National semibold" panose="02000503000000020004"/>
              </a:rPr>
              <a:t>DeFi</a:t>
            </a:r>
            <a:r>
              <a:rPr lang="en-US" sz="1400" i="1" dirty="0">
                <a:latin typeface="National semibold" panose="02000503000000020004"/>
              </a:rPr>
              <a:t> and The Future of Finance</a:t>
            </a:r>
            <a:r>
              <a:rPr lang="en-US" sz="1400" dirty="0">
                <a:latin typeface="National semibold" panose="02000503000000020004"/>
              </a:rPr>
              <a:t>, 2021, Wiley.</a:t>
            </a:r>
          </a:p>
          <a:p>
            <a:pPr lvl="1"/>
            <a:r>
              <a:rPr lang="en-US" sz="1400" i="1" dirty="0">
                <a:latin typeface="National semibold" panose="02000503000000020004"/>
              </a:rPr>
              <a:t>Hands-On Python for Finance</a:t>
            </a:r>
            <a:r>
              <a:rPr lang="en-US" sz="1400" dirty="0">
                <a:latin typeface="National semibold" panose="02000503000000020004"/>
              </a:rPr>
              <a:t>, 2019, </a:t>
            </a:r>
            <a:r>
              <a:rPr lang="en-US" sz="1400" dirty="0" err="1">
                <a:latin typeface="National semibold" panose="02000503000000020004"/>
              </a:rPr>
              <a:t>Packt</a:t>
            </a:r>
            <a:r>
              <a:rPr lang="en-US" sz="1400" dirty="0">
                <a:latin typeface="National semibold" panose="02000503000000020004"/>
              </a:rPr>
              <a:t>.</a:t>
            </a:r>
            <a:r>
              <a:rPr lang="en-US" sz="1400" i="1" dirty="0">
                <a:latin typeface="National semibold" panose="02000503000000020004"/>
              </a:rPr>
              <a:t> </a:t>
            </a:r>
            <a:endParaRPr lang="en-US" sz="1400" dirty="0">
              <a:latin typeface="National semibold" panose="02000503000000020004"/>
            </a:endParaRPr>
          </a:p>
          <a:p>
            <a:pPr lvl="1"/>
            <a:r>
              <a:rPr lang="en-US" sz="1400" i="1" dirty="0">
                <a:latin typeface="National semibold" panose="02000503000000020004"/>
              </a:rPr>
              <a:t>Boom and Bust: A Global History of Financial Bubbles, </a:t>
            </a:r>
            <a:r>
              <a:rPr lang="en-US" sz="1400" dirty="0">
                <a:latin typeface="National semibold" panose="02000503000000020004"/>
              </a:rPr>
              <a:t>William Quinn and John D. Turner, 2020, Cambridge University Press.</a:t>
            </a:r>
          </a:p>
          <a:p>
            <a:pPr lvl="1"/>
            <a:r>
              <a:rPr lang="en-US" sz="1400" dirty="0">
                <a:latin typeface="National semibold" panose="02000503000000020004"/>
              </a:rPr>
              <a:t>Makarov, I. and </a:t>
            </a:r>
            <a:r>
              <a:rPr lang="en-US" sz="1400" dirty="0" err="1">
                <a:latin typeface="National semibold" panose="02000503000000020004"/>
              </a:rPr>
              <a:t>Schoar</a:t>
            </a:r>
            <a:r>
              <a:rPr lang="en-US" sz="1400" dirty="0">
                <a:latin typeface="National semibold" panose="02000503000000020004"/>
              </a:rPr>
              <a:t>, A. (2022). Cryptocurrencies and decentralized finance (defi). Technical report, </a:t>
            </a:r>
            <a:r>
              <a:rPr lang="en-US" sz="1400" i="1" dirty="0">
                <a:latin typeface="National semibold" panose="02000503000000020004"/>
              </a:rPr>
              <a:t>Brookings Papers on Economic Activity</a:t>
            </a:r>
            <a:r>
              <a:rPr lang="en-US" sz="1400" dirty="0">
                <a:latin typeface="National semibold" panose="02000503000000020004"/>
              </a:rPr>
              <a:t>.</a:t>
            </a:r>
            <a:endParaRPr lang="en-US" sz="1600" dirty="0">
              <a:latin typeface="National semibold" panose="02000503000000020004"/>
            </a:endParaRPr>
          </a:p>
          <a:p>
            <a:pPr lvl="0"/>
            <a:r>
              <a:rPr lang="en-US" sz="2000" b="1" dirty="0">
                <a:latin typeface="National semibold" panose="02000503000000020004"/>
              </a:rPr>
              <a:t>Slides</a:t>
            </a:r>
            <a:r>
              <a:rPr lang="en-US" sz="2000" dirty="0">
                <a:latin typeface="National semibold" panose="02000503000000020004"/>
              </a:rPr>
              <a:t>: </a:t>
            </a:r>
          </a:p>
          <a:p>
            <a:pPr lvl="1"/>
            <a:r>
              <a:rPr lang="en-US" sz="1400" dirty="0">
                <a:latin typeface="National semibold" panose="02000503000000020004"/>
              </a:rPr>
              <a:t>Will be made available before the class meets.</a:t>
            </a:r>
          </a:p>
          <a:p>
            <a:pPr lvl="0"/>
            <a:r>
              <a:rPr lang="en-US" sz="2000" b="1" dirty="0">
                <a:latin typeface="National semibold" panose="02000503000000020004"/>
              </a:rPr>
              <a:t>Python programs</a:t>
            </a:r>
            <a:r>
              <a:rPr lang="en-US" sz="2000" dirty="0">
                <a:latin typeface="National semibold" panose="02000503000000020004"/>
              </a:rPr>
              <a:t>: </a:t>
            </a:r>
          </a:p>
          <a:p>
            <a:pPr lvl="1"/>
            <a:r>
              <a:rPr lang="en-US" sz="1400" dirty="0">
                <a:latin typeface="National semibold" panose="02000503000000020004"/>
              </a:rPr>
              <a:t>We will use Python for the analysis of financial data. I will provide all info and documentation needed. </a:t>
            </a:r>
            <a:endParaRPr lang="en-US" sz="1600" dirty="0">
              <a:latin typeface="National semibold" panose="02000503000000020004"/>
            </a:endParaRPr>
          </a:p>
        </p:txBody>
      </p:sp>
    </p:spTree>
    <p:extLst>
      <p:ext uri="{BB962C8B-B14F-4D97-AF65-F5344CB8AC3E}">
        <p14:creationId xmlns:p14="http://schemas.microsoft.com/office/powerpoint/2010/main" val="4235697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3" y="394062"/>
            <a:ext cx="9829799" cy="1219200"/>
          </a:xfrm>
        </p:spPr>
        <p:txBody>
          <a:bodyPr anchor="ctr">
            <a:normAutofit/>
          </a:bodyPr>
          <a:lstStyle/>
          <a:p>
            <a:r>
              <a:rPr lang="en-US" sz="4000" b="1" dirty="0">
                <a:latin typeface="National semibold" panose="02000503000000020004"/>
              </a:rPr>
              <a:t>Grading policy</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448799" cy="4648200"/>
          </a:xfrm>
        </p:spPr>
        <p:txBody>
          <a:bodyPr>
            <a:normAutofit/>
          </a:bodyPr>
          <a:lstStyle/>
          <a:p>
            <a:pPr>
              <a:spcBef>
                <a:spcPts val="0"/>
              </a:spcBef>
            </a:pPr>
            <a:r>
              <a:rPr lang="en-US" sz="2400" dirty="0">
                <a:effectLst/>
                <a:latin typeface="National semibold" panose="02000503000000020004"/>
                <a:ea typeface="Times New Roman" panose="02020603050405020304" pitchFamily="18" charset="0"/>
              </a:rPr>
              <a:t>A set of 5 homework assignments (each counting 5%)	</a:t>
            </a:r>
            <a:r>
              <a:rPr lang="en-US" sz="2400" b="1" dirty="0">
                <a:effectLst/>
                <a:latin typeface="National semibold" panose="02000503000000020004"/>
                <a:ea typeface="Times New Roman" panose="02020603050405020304" pitchFamily="18" charset="0"/>
              </a:rPr>
              <a:t>30%</a:t>
            </a:r>
            <a:endParaRPr lang="en-US" b="1" dirty="0">
              <a:latin typeface="National semibold" panose="02000503000000020004"/>
              <a:ea typeface="Times New Roman" panose="02020603050405020304" pitchFamily="18" charset="0"/>
            </a:endParaRPr>
          </a:p>
          <a:p>
            <a:pPr>
              <a:spcBef>
                <a:spcPts val="0"/>
              </a:spcBef>
            </a:pPr>
            <a:endParaRPr lang="en-US" sz="2400" dirty="0">
              <a:effectLst/>
              <a:latin typeface="National semibold" panose="02000503000000020004"/>
              <a:ea typeface="Times New Roman" panose="02020603050405020304" pitchFamily="18" charset="0"/>
            </a:endParaRPr>
          </a:p>
          <a:p>
            <a:pPr>
              <a:spcBef>
                <a:spcPts val="0"/>
              </a:spcBef>
            </a:pPr>
            <a:r>
              <a:rPr lang="en-US" sz="2400" dirty="0">
                <a:effectLst/>
                <a:latin typeface="National semibold" panose="02000503000000020004"/>
                <a:ea typeface="Times New Roman" panose="02020603050405020304" pitchFamily="18" charset="0"/>
              </a:rPr>
              <a:t>Group project						</a:t>
            </a:r>
            <a:r>
              <a:rPr lang="en-US" sz="2400" b="1" dirty="0">
                <a:effectLst/>
                <a:latin typeface="National semibold" panose="02000503000000020004"/>
                <a:ea typeface="Times New Roman" panose="02020603050405020304" pitchFamily="18" charset="0"/>
              </a:rPr>
              <a:t>20%</a:t>
            </a:r>
            <a:endParaRPr lang="en-US" b="1" dirty="0">
              <a:latin typeface="National semibold" panose="02000503000000020004"/>
              <a:ea typeface="Times New Roman" panose="02020603050405020304" pitchFamily="18" charset="0"/>
            </a:endParaRPr>
          </a:p>
          <a:p>
            <a:pPr>
              <a:spcBef>
                <a:spcPts val="0"/>
              </a:spcBef>
            </a:pPr>
            <a:endParaRPr lang="en-US" sz="2400" dirty="0">
              <a:effectLst/>
              <a:latin typeface="National semibold" panose="02000503000000020004"/>
              <a:ea typeface="Times New Roman" panose="02020603050405020304" pitchFamily="18" charset="0"/>
            </a:endParaRPr>
          </a:p>
          <a:p>
            <a:pPr>
              <a:spcBef>
                <a:spcPts val="0"/>
              </a:spcBef>
            </a:pPr>
            <a:r>
              <a:rPr lang="en-US" sz="2400" dirty="0">
                <a:effectLst/>
                <a:latin typeface="National semibold" panose="02000503000000020004"/>
                <a:ea typeface="Times New Roman" panose="02020603050405020304" pitchFamily="18" charset="0"/>
              </a:rPr>
              <a:t>Final Exam							 </a:t>
            </a:r>
            <a:r>
              <a:rPr lang="en-US" sz="2400" b="1" dirty="0">
                <a:effectLst/>
                <a:latin typeface="National semibold" panose="02000503000000020004"/>
                <a:ea typeface="Times New Roman" panose="02020603050405020304" pitchFamily="18" charset="0"/>
              </a:rPr>
              <a:t>40%</a:t>
            </a:r>
            <a:endParaRPr lang="en-US" b="1" dirty="0">
              <a:latin typeface="National semibold" panose="02000503000000020004"/>
              <a:ea typeface="Times New Roman" panose="02020603050405020304" pitchFamily="18" charset="0"/>
            </a:endParaRPr>
          </a:p>
          <a:p>
            <a:pPr>
              <a:spcBef>
                <a:spcPts val="0"/>
              </a:spcBef>
            </a:pPr>
            <a:endParaRPr lang="en-US" sz="2400" dirty="0">
              <a:effectLst/>
              <a:latin typeface="National semibold" panose="02000503000000020004"/>
              <a:ea typeface="Times New Roman" panose="02020603050405020304" pitchFamily="18" charset="0"/>
            </a:endParaRPr>
          </a:p>
          <a:p>
            <a:pPr>
              <a:spcBef>
                <a:spcPts val="0"/>
              </a:spcBef>
            </a:pPr>
            <a:r>
              <a:rPr lang="en-US" sz="2400" dirty="0">
                <a:effectLst/>
                <a:latin typeface="National semibold" panose="02000503000000020004"/>
                <a:ea typeface="Times New Roman" panose="02020603050405020304" pitchFamily="18" charset="0"/>
              </a:rPr>
              <a:t>Class participation						</a:t>
            </a:r>
            <a:r>
              <a:rPr lang="en-US" dirty="0">
                <a:latin typeface="National semibold" panose="02000503000000020004"/>
                <a:ea typeface="Times New Roman" panose="02020603050405020304" pitchFamily="18" charset="0"/>
              </a:rPr>
              <a:t> </a:t>
            </a:r>
            <a:r>
              <a:rPr lang="en-US" b="1" dirty="0">
                <a:latin typeface="National semibold" panose="02000503000000020004"/>
                <a:ea typeface="Times New Roman" panose="02020603050405020304" pitchFamily="18" charset="0"/>
              </a:rPr>
              <a:t>10</a:t>
            </a:r>
            <a:r>
              <a:rPr lang="en-US" sz="2400" b="1" dirty="0">
                <a:effectLst/>
                <a:latin typeface="National semibold" panose="02000503000000020004"/>
                <a:ea typeface="Times New Roman" panose="02020603050405020304" pitchFamily="18" charset="0"/>
              </a:rPr>
              <a:t>%</a:t>
            </a:r>
            <a:r>
              <a:rPr lang="en-US" sz="2400" dirty="0">
                <a:effectLst/>
                <a:latin typeface="National semibold" panose="02000503000000020004"/>
                <a:ea typeface="Times New Roman" panose="02020603050405020304" pitchFamily="18" charset="0"/>
              </a:rPr>
              <a:t>	</a:t>
            </a:r>
          </a:p>
        </p:txBody>
      </p:sp>
    </p:spTree>
    <p:extLst>
      <p:ext uri="{BB962C8B-B14F-4D97-AF65-F5344CB8AC3E}">
        <p14:creationId xmlns:p14="http://schemas.microsoft.com/office/powerpoint/2010/main" val="4174528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3" y="394062"/>
            <a:ext cx="9829799" cy="1219200"/>
          </a:xfrm>
        </p:spPr>
        <p:txBody>
          <a:bodyPr anchor="ctr">
            <a:normAutofit/>
          </a:bodyPr>
          <a:lstStyle/>
          <a:p>
            <a:r>
              <a:rPr lang="en-US" sz="4000" b="1" dirty="0">
                <a:latin typeface="National semibold" panose="02000503000000020004"/>
              </a:rPr>
              <a:t>Technology policy</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448799" cy="4648200"/>
          </a:xfrm>
        </p:spPr>
        <p:txBody>
          <a:bodyPr>
            <a:normAutofit/>
          </a:bodyPr>
          <a:lstStyle/>
          <a:p>
            <a:pPr>
              <a:spcBef>
                <a:spcPts val="0"/>
              </a:spcBef>
            </a:pPr>
            <a:r>
              <a:rPr lang="en-US" sz="2400" dirty="0">
                <a:effectLst/>
                <a:latin typeface="National semibold" panose="02000503000000020004"/>
                <a:ea typeface="Times New Roman" panose="02020603050405020304" pitchFamily="18" charset="0"/>
              </a:rPr>
              <a:t>Laptop are necessary for part of this course. </a:t>
            </a:r>
          </a:p>
          <a:p>
            <a:pPr>
              <a:spcBef>
                <a:spcPts val="0"/>
              </a:spcBef>
            </a:pPr>
            <a:endParaRPr lang="en-US" dirty="0">
              <a:latin typeface="National semibold" panose="02000503000000020004"/>
              <a:ea typeface="Times New Roman" panose="02020603050405020304" pitchFamily="18" charset="0"/>
            </a:endParaRPr>
          </a:p>
          <a:p>
            <a:pPr>
              <a:spcBef>
                <a:spcPts val="0"/>
              </a:spcBef>
            </a:pPr>
            <a:endParaRPr lang="en-US" sz="2400" dirty="0">
              <a:effectLst/>
              <a:latin typeface="National semibold" panose="02000503000000020004"/>
              <a:ea typeface="Times New Roman" panose="02020603050405020304" pitchFamily="18" charset="0"/>
            </a:endParaRPr>
          </a:p>
          <a:p>
            <a:pPr>
              <a:spcBef>
                <a:spcPts val="0"/>
              </a:spcBef>
            </a:pPr>
            <a:r>
              <a:rPr lang="en-US" sz="2400" dirty="0">
                <a:effectLst/>
                <a:latin typeface="National semibold" panose="02000503000000020004"/>
                <a:ea typeface="Times New Roman" panose="02020603050405020304" pitchFamily="18" charset="0"/>
              </a:rPr>
              <a:t>However, </a:t>
            </a:r>
            <a:r>
              <a:rPr lang="en-US" sz="2400">
                <a:effectLst/>
                <a:latin typeface="National semibold" panose="02000503000000020004"/>
                <a:ea typeface="Times New Roman" panose="02020603050405020304" pitchFamily="18" charset="0"/>
              </a:rPr>
              <a:t>laptops should </a:t>
            </a:r>
            <a:r>
              <a:rPr lang="en-US" sz="2400" dirty="0">
                <a:effectLst/>
                <a:latin typeface="National semibold" panose="02000503000000020004"/>
                <a:ea typeface="Times New Roman" panose="02020603050405020304" pitchFamily="18" charset="0"/>
              </a:rPr>
              <a:t>be used only for the purpose of the class.</a:t>
            </a:r>
          </a:p>
        </p:txBody>
      </p:sp>
    </p:spTree>
    <p:extLst>
      <p:ext uri="{BB962C8B-B14F-4D97-AF65-F5344CB8AC3E}">
        <p14:creationId xmlns:p14="http://schemas.microsoft.com/office/powerpoint/2010/main" val="3340077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2">
            <a:extLst>
              <a:ext uri="{FF2B5EF4-FFF2-40B4-BE49-F238E27FC236}">
                <a16:creationId xmlns:a16="http://schemas.microsoft.com/office/drawing/2014/main" id="{8334DB76-8587-2CCD-7C7D-6E1BA9149542}"/>
              </a:ext>
            </a:extLst>
          </p:cNvPr>
          <p:cNvSpPr txBox="1">
            <a:spLocks/>
          </p:cNvSpPr>
          <p:nvPr/>
        </p:nvSpPr>
        <p:spPr>
          <a:xfrm>
            <a:off x="889507" y="1131632"/>
            <a:ext cx="10275262" cy="431488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pPr lvl="0" algn="ctr">
              <a:defRPr/>
            </a:pPr>
            <a:r>
              <a:rPr lang="en-US" sz="4400" b="1" dirty="0">
                <a:latin typeface="National semibold" panose="02000503000000020004"/>
              </a:rPr>
              <a:t>Welcome to the course.</a:t>
            </a:r>
          </a:p>
          <a:p>
            <a:pPr lvl="0" algn="ctr">
              <a:defRPr/>
            </a:pPr>
            <a:endParaRPr kumimoji="0" lang="en-US" sz="4400" b="1" i="0" u="none" strike="noStrike" kern="1200" cap="none" spc="0" normalizeH="0" baseline="0" noProof="0" dirty="0">
              <a:ln>
                <a:noFill/>
              </a:ln>
              <a:solidFill>
                <a:srgbClr val="F7C547">
                  <a:lumMod val="50000"/>
                </a:srgbClr>
              </a:solidFill>
              <a:effectLst/>
              <a:uLnTx/>
              <a:uFillTx/>
              <a:latin typeface="National semibold" panose="02000503000000020004"/>
              <a:ea typeface="+mj-ea"/>
              <a:cs typeface="+mj-cs"/>
            </a:endParaRP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rgbClr val="F7C547">
                    <a:lumMod val="50000"/>
                  </a:srgbClr>
                </a:solidFill>
                <a:effectLst/>
                <a:uLnTx/>
                <a:uFillTx/>
                <a:latin typeface="National semibold" panose="02000503000000020004"/>
                <a:ea typeface="+mj-ea"/>
                <a:cs typeface="+mj-cs"/>
              </a:rPr>
              <a:t>I hope you will find the course an</a:t>
            </a:r>
            <a:r>
              <a:rPr kumimoji="0" lang="en-US" sz="4400" b="1" i="0" u="none" strike="noStrike" kern="1200" cap="none" spc="0" normalizeH="0" noProof="0" dirty="0">
                <a:ln>
                  <a:noFill/>
                </a:ln>
                <a:solidFill>
                  <a:srgbClr val="F7C547">
                    <a:lumMod val="50000"/>
                  </a:srgbClr>
                </a:solidFill>
                <a:effectLst/>
                <a:uLnTx/>
                <a:uFillTx/>
                <a:latin typeface="National semibold" panose="02000503000000020004"/>
                <a:ea typeface="+mj-ea"/>
                <a:cs typeface="+mj-cs"/>
              </a:rPr>
              <a:t> enriching and enjoyable learning experience.</a:t>
            </a:r>
            <a:endParaRPr kumimoji="0" lang="en-US" sz="4400" b="1" i="0" u="none" strike="noStrike" kern="1200" cap="none" spc="0" normalizeH="0" baseline="0" noProof="0" dirty="0">
              <a:ln>
                <a:noFill/>
              </a:ln>
              <a:solidFill>
                <a:srgbClr val="F7C547">
                  <a:lumMod val="50000"/>
                </a:srgbClr>
              </a:solidFill>
              <a:effectLst/>
              <a:uLnTx/>
              <a:uFillTx/>
              <a:latin typeface="National semibold" panose="02000503000000020004"/>
              <a:ea typeface="+mj-ea"/>
              <a:cs typeface="+mj-cs"/>
            </a:endParaRPr>
          </a:p>
        </p:txBody>
      </p:sp>
    </p:spTree>
    <p:extLst>
      <p:ext uri="{BB962C8B-B14F-4D97-AF65-F5344CB8AC3E}">
        <p14:creationId xmlns:p14="http://schemas.microsoft.com/office/powerpoint/2010/main" val="3966224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ags/tag1.xml><?xml version="1.0" encoding="utf-8"?>
<p:tagLst xmlns:a="http://schemas.openxmlformats.org/drawingml/2006/main" xmlns:r="http://schemas.openxmlformats.org/officeDocument/2006/relationships" xmlns:p="http://schemas.openxmlformats.org/presentationml/2006/main">
  <p:tag name="ARTICULATE_PRESENTER_VERSION" val="6"/>
  <p:tag name="ARTICULATE_PROJECT_OPEN" val="0"/>
</p:tagLst>
</file>

<file path=ppt/theme/theme1.xml><?xml version="1.0" encoding="utf-8"?>
<a:theme xmlns:a="http://schemas.openxmlformats.org/drawingml/2006/main" name="Currency Symbols 16x9">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rrency symbols presentation (widescreen).potx" id="{0BEEB329-2C4D-4D02-9858-CA91ACE92AB1}" vid="{944DA297-E844-470D-A85C-00068074ACC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 Theme">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Currency symbols presentation (widescreen)</Template>
  <TotalTime>1599</TotalTime>
  <Words>1515</Words>
  <Application>Microsoft Office PowerPoint</Application>
  <PresentationFormat>Custom</PresentationFormat>
  <Paragraphs>218</Paragraphs>
  <Slides>39</Slides>
  <Notes>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39</vt:i4>
      </vt:variant>
    </vt:vector>
  </HeadingPairs>
  <TitlesOfParts>
    <vt:vector size="45" baseType="lpstr">
      <vt:lpstr>National semibold</vt:lpstr>
      <vt:lpstr>Arial</vt:lpstr>
      <vt:lpstr>Calibri</vt:lpstr>
      <vt:lpstr>Cambria</vt:lpstr>
      <vt:lpstr>Currency Symbols 16x9</vt:lpstr>
      <vt:lpstr>Office Theme</vt:lpstr>
      <vt:lpstr>Introduction to  Decentralized Finance  </vt:lpstr>
      <vt:lpstr>What is Decentralized Finance?</vt:lpstr>
      <vt:lpstr>Differences with traditional finance</vt:lpstr>
      <vt:lpstr>More on the differences</vt:lpstr>
      <vt:lpstr>  Why do we want to get rid of banks?  </vt:lpstr>
      <vt:lpstr>PowerPoint Presentation</vt:lpstr>
      <vt:lpstr>The size of finance</vt:lpstr>
      <vt:lpstr>The size finance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“Trust” without a central institution</vt:lpstr>
      <vt:lpstr>More on the differences?</vt:lpstr>
      <vt:lpstr>PowerPoint Presentation</vt:lpstr>
      <vt:lpstr>Does DeFi provide financial services that are fundamentally different from traditional finance?</vt:lpstr>
      <vt:lpstr>What are the problems solved by DeFi?</vt:lpstr>
      <vt:lpstr>Problems solved by DeFi  1. Centralized control</vt:lpstr>
      <vt:lpstr>Problems solved by DeFi 2. Limited access</vt:lpstr>
      <vt:lpstr>Problems solved by DeFi 3. Inefficiency</vt:lpstr>
      <vt:lpstr>Problems solved by DeFi 4. Lack of Interoperability</vt:lpstr>
      <vt:lpstr>Problems solved by DeFi 5. Opacity</vt:lpstr>
      <vt:lpstr>Course objective</vt:lpstr>
      <vt:lpstr>Course Plan</vt:lpstr>
      <vt:lpstr>Course Plan (continue)</vt:lpstr>
      <vt:lpstr>Course materials</vt:lpstr>
      <vt:lpstr>Grading policy</vt:lpstr>
      <vt:lpstr>Technology policy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Vincenzo Quadrini</dc:creator>
  <cp:lastModifiedBy>Quadrini, Vincenzo</cp:lastModifiedBy>
  <cp:revision>5</cp:revision>
  <dcterms:created xsi:type="dcterms:W3CDTF">2020-10-28T19:26:18Z</dcterms:created>
  <dcterms:modified xsi:type="dcterms:W3CDTF">2026-05-10T04:55:50Z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