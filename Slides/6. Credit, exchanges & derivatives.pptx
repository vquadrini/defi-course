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4"/>
  </p:notesMasterIdLst>
  <p:handoutMasterIdLst>
    <p:handoutMasterId r:id="rId45"/>
  </p:handoutMasterIdLst>
  <p:sldIdLst>
    <p:sldId id="417" r:id="rId2"/>
    <p:sldId id="659" r:id="rId3"/>
    <p:sldId id="660" r:id="rId4"/>
    <p:sldId id="661" r:id="rId5"/>
    <p:sldId id="668" r:id="rId6"/>
    <p:sldId id="671" r:id="rId7"/>
    <p:sldId id="674" r:id="rId8"/>
    <p:sldId id="669" r:id="rId9"/>
    <p:sldId id="670" r:id="rId10"/>
    <p:sldId id="672" r:id="rId11"/>
    <p:sldId id="675" r:id="rId12"/>
    <p:sldId id="676" r:id="rId13"/>
    <p:sldId id="677" r:id="rId14"/>
    <p:sldId id="678" r:id="rId15"/>
    <p:sldId id="679" r:id="rId16"/>
    <p:sldId id="680" r:id="rId17"/>
    <p:sldId id="682" r:id="rId18"/>
    <p:sldId id="700" r:id="rId19"/>
    <p:sldId id="683" r:id="rId20"/>
    <p:sldId id="723" r:id="rId21"/>
    <p:sldId id="681" r:id="rId22"/>
    <p:sldId id="684" r:id="rId23"/>
    <p:sldId id="685" r:id="rId24"/>
    <p:sldId id="686" r:id="rId25"/>
    <p:sldId id="687" r:id="rId26"/>
    <p:sldId id="689" r:id="rId27"/>
    <p:sldId id="690" r:id="rId28"/>
    <p:sldId id="691" r:id="rId29"/>
    <p:sldId id="692" r:id="rId30"/>
    <p:sldId id="662" r:id="rId31"/>
    <p:sldId id="663" r:id="rId32"/>
    <p:sldId id="693" r:id="rId33"/>
    <p:sldId id="694" r:id="rId34"/>
    <p:sldId id="702" r:id="rId35"/>
    <p:sldId id="696" r:id="rId36"/>
    <p:sldId id="697" r:id="rId37"/>
    <p:sldId id="698" r:id="rId38"/>
    <p:sldId id="699" r:id="rId39"/>
    <p:sldId id="664" r:id="rId40"/>
    <p:sldId id="705" r:id="rId41"/>
    <p:sldId id="666" r:id="rId42"/>
    <p:sldId id="718" r:id="rId43"/>
  </p:sldIdLst>
  <p:sldSz cx="12188825" cy="6858000"/>
  <p:notesSz cx="6858000" cy="9144000"/>
  <p:custDataLst>
    <p:tags r:id="rId4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orient="horz" pos="4030">
          <p15:clr>
            <a:srgbClr val="A4A3A4"/>
          </p15:clr>
        </p15:guide>
        <p15:guide id="3" orient="horz" pos="1152">
          <p15:clr>
            <a:srgbClr val="A4A3A4"/>
          </p15:clr>
        </p15:guide>
        <p15:guide id="4" orient="horz" pos="1018">
          <p15:clr>
            <a:srgbClr val="A4A3A4"/>
          </p15:clr>
        </p15:guide>
        <p15:guide id="5" orient="horz" pos="3886">
          <p15:clr>
            <a:srgbClr val="A4A3A4"/>
          </p15:clr>
        </p15:guide>
        <p15:guide id="6" orient="horz" pos="2928">
          <p15:clr>
            <a:srgbClr val="A4A3A4"/>
          </p15:clr>
        </p15:guide>
        <p15:guide id="7" orient="horz" pos="3072">
          <p15:clr>
            <a:srgbClr val="A4A3A4"/>
          </p15:clr>
        </p15:guide>
        <p15:guide id="8" orient="horz" pos="407">
          <p15:clr>
            <a:srgbClr val="A4A3A4"/>
          </p15:clr>
        </p15:guide>
        <p15:guide id="9" pos="3839">
          <p15:clr>
            <a:srgbClr val="A4A3A4"/>
          </p15:clr>
        </p15:guide>
        <p15:guide id="10" pos="959">
          <p15:clr>
            <a:srgbClr val="A4A3A4"/>
          </p15:clr>
        </p15:guide>
        <p15:guide id="11" pos="7151">
          <p15:clr>
            <a:srgbClr val="A4A3A4"/>
          </p15:clr>
        </p15:guide>
        <p15:guide id="12" pos="671">
          <p15:clr>
            <a:srgbClr val="A4A3A4"/>
          </p15:clr>
        </p15:guide>
        <p15:guide id="13" pos="4991">
          <p15:clr>
            <a:srgbClr val="A4A3A4"/>
          </p15:clr>
        </p15:guide>
        <p15:guide id="14" pos="7007">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28282"/>
    <a:srgbClr val="6E90FE"/>
    <a:srgbClr val="8086FC"/>
    <a:srgbClr val="6D6DFB"/>
    <a:srgbClr val="4E78F0"/>
    <a:srgbClr val="F0932C"/>
    <a:srgbClr val="92C610"/>
    <a:srgbClr val="9FD812"/>
    <a:srgbClr val="E05F2C"/>
    <a:srgbClr val="0ABEB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C9E6A38-FC04-4FDD-9B04-80701B6B0F15}" v="2" dt="2026-05-19T13:35:57.460"/>
  </p1510:revLst>
</p1510:revInfo>
</file>

<file path=ppt/tableStyles.xml><?xml version="1.0" encoding="utf-8"?>
<a:tblStyleLst xmlns:a="http://schemas.openxmlformats.org/drawingml/2006/main" def="{69CF1AB2-1976-4502-BF36-3FF5EA218861}">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67"/>
      </p:cViewPr>
      <p:guideLst>
        <p:guide orient="horz" pos="2160"/>
        <p:guide orient="horz" pos="4030"/>
        <p:guide orient="horz" pos="1152"/>
        <p:guide orient="horz" pos="1018"/>
        <p:guide orient="horz" pos="3886"/>
        <p:guide orient="horz" pos="2928"/>
        <p:guide orient="horz" pos="3072"/>
        <p:guide orient="horz" pos="407"/>
        <p:guide pos="3839"/>
        <p:guide pos="959"/>
        <p:guide pos="7151"/>
        <p:guide pos="671"/>
        <p:guide pos="4991"/>
        <p:guide pos="7007"/>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52"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51"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gs" Target="tags/tag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Quadrini, Vincenzo" userId="f61352d9-9198-4695-abd8-70fd6e64330a" providerId="ADAL" clId="{888D66D8-61BD-4B74-94E0-0078727E2FCE}"/>
    <pc:docChg chg="custSel modSld">
      <pc:chgData name="Quadrini, Vincenzo" userId="f61352d9-9198-4695-abd8-70fd6e64330a" providerId="ADAL" clId="{888D66D8-61BD-4B74-94E0-0078727E2FCE}" dt="2026-05-19T13:35:57.539" v="5" actId="27636"/>
      <pc:docMkLst>
        <pc:docMk/>
      </pc:docMkLst>
      <pc:sldChg chg="addSp delSp modSp mod">
        <pc:chgData name="Quadrini, Vincenzo" userId="f61352d9-9198-4695-abd8-70fd6e64330a" providerId="ADAL" clId="{888D66D8-61BD-4B74-94E0-0078727E2FCE}" dt="2026-05-19T13:35:23.837" v="3" actId="2711"/>
        <pc:sldMkLst>
          <pc:docMk/>
          <pc:sldMk cId="935251751" sldId="417"/>
        </pc:sldMkLst>
        <pc:spChg chg="del">
          <ac:chgData name="Quadrini, Vincenzo" userId="f61352d9-9198-4695-abd8-70fd6e64330a" providerId="ADAL" clId="{888D66D8-61BD-4B74-94E0-0078727E2FCE}" dt="2026-05-19T13:35:05.610" v="0" actId="478"/>
          <ac:spMkLst>
            <pc:docMk/>
            <pc:sldMk cId="935251751" sldId="417"/>
            <ac:spMk id="2" creationId="{00000000-0000-0000-0000-000000000000}"/>
          </ac:spMkLst>
        </pc:spChg>
        <pc:spChg chg="mod">
          <ac:chgData name="Quadrini, Vincenzo" userId="f61352d9-9198-4695-abd8-70fd6e64330a" providerId="ADAL" clId="{888D66D8-61BD-4B74-94E0-0078727E2FCE}" dt="2026-05-19T13:35:23.837" v="3" actId="2711"/>
          <ac:spMkLst>
            <pc:docMk/>
            <pc:sldMk cId="935251751" sldId="417"/>
            <ac:spMk id="3" creationId="{00000000-0000-0000-0000-000000000000}"/>
          </ac:spMkLst>
        </pc:spChg>
        <pc:spChg chg="add del mod">
          <ac:chgData name="Quadrini, Vincenzo" userId="f61352d9-9198-4695-abd8-70fd6e64330a" providerId="ADAL" clId="{888D66D8-61BD-4B74-94E0-0078727E2FCE}" dt="2026-05-19T13:35:08.426" v="1" actId="478"/>
          <ac:spMkLst>
            <pc:docMk/>
            <pc:sldMk cId="935251751" sldId="417"/>
            <ac:spMk id="5" creationId="{3BBCF683-B3C2-3494-BDA3-1B6A09E0F6DF}"/>
          </ac:spMkLst>
        </pc:spChg>
        <pc:spChg chg="add mod">
          <ac:chgData name="Quadrini, Vincenzo" userId="f61352d9-9198-4695-abd8-70fd6e64330a" providerId="ADAL" clId="{888D66D8-61BD-4B74-94E0-0078727E2FCE}" dt="2026-05-19T13:35:09.149" v="2"/>
          <ac:spMkLst>
            <pc:docMk/>
            <pc:sldMk cId="935251751" sldId="417"/>
            <ac:spMk id="6" creationId="{0C248AD1-CF7C-BE67-860A-F29149632ABA}"/>
          </ac:spMkLst>
        </pc:spChg>
      </pc:sldChg>
      <pc:sldChg chg="modSp mod">
        <pc:chgData name="Quadrini, Vincenzo" userId="f61352d9-9198-4695-abd8-70fd6e64330a" providerId="ADAL" clId="{888D66D8-61BD-4B74-94E0-0078727E2FCE}" dt="2026-05-19T13:35:57.539" v="5" actId="27636"/>
        <pc:sldMkLst>
          <pc:docMk/>
          <pc:sldMk cId="965359239" sldId="672"/>
        </pc:sldMkLst>
        <pc:spChg chg="mod">
          <ac:chgData name="Quadrini, Vincenzo" userId="f61352d9-9198-4695-abd8-70fd6e64330a" providerId="ADAL" clId="{888D66D8-61BD-4B74-94E0-0078727E2FCE}" dt="2026-05-19T13:35:57.539" v="5" actId="27636"/>
          <ac:spMkLst>
            <pc:docMk/>
            <pc:sldMk cId="965359239" sldId="672"/>
            <ac:spMk id="3" creationId="{D83E6BDF-3157-3AAA-5AF2-77B350FC737A}"/>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669AFDC-7658-4951-B0FF-52DFF2A93C0A}" type="datetimeFigureOut">
              <a:rPr lang="en-US" smtClean="0"/>
              <a:t>5/19/2026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F8ED99B-9732-49FC-9C16-B56FEB1B1092}" type="slidenum">
              <a:rPr lang="en-US" smtClean="0"/>
              <a:t>‹#›</a:t>
            </a:fld>
            <a:endParaRPr lang="en-US"/>
          </a:p>
        </p:txBody>
      </p:sp>
    </p:spTree>
    <p:extLst>
      <p:ext uri="{BB962C8B-B14F-4D97-AF65-F5344CB8AC3E}">
        <p14:creationId xmlns:p14="http://schemas.microsoft.com/office/powerpoint/2010/main" val="13146626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ABD2D7A-D230-4F91-BD59-0A39C2703BA8}" type="datetimeFigureOut">
              <a:rPr lang="en-US" smtClean="0"/>
              <a:t>5/19/2026</a:t>
            </a:fld>
            <a:endParaRPr lang="en-US"/>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93199CD-3E1B-4AE6-990F-76F925F5EA9F}" type="slidenum">
              <a:rPr lang="en-US" smtClean="0"/>
              <a:t>‹#›</a:t>
            </a:fld>
            <a:endParaRPr lang="en-US"/>
          </a:p>
        </p:txBody>
      </p:sp>
    </p:spTree>
    <p:extLst>
      <p:ext uri="{BB962C8B-B14F-4D97-AF65-F5344CB8AC3E}">
        <p14:creationId xmlns:p14="http://schemas.microsoft.com/office/powerpoint/2010/main" val="42765798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93199CD-3E1B-4AE6-990F-76F925F5EA9F}" type="slidenum">
              <a:rPr lang="en-US" smtClean="0"/>
              <a:t>1</a:t>
            </a:fld>
            <a:endParaRPr lang="en-US"/>
          </a:p>
        </p:txBody>
      </p:sp>
    </p:spTree>
    <p:extLst>
      <p:ext uri="{BB962C8B-B14F-4D97-AF65-F5344CB8AC3E}">
        <p14:creationId xmlns:p14="http://schemas.microsoft.com/office/powerpoint/2010/main" val="37727688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0824" y="1600200"/>
            <a:ext cx="5945188" cy="3048000"/>
          </a:xfrm>
        </p:spPr>
        <p:txBody>
          <a:bodyPr anchor="b">
            <a:normAutofit/>
          </a:bodyPr>
          <a:lstStyle>
            <a:lvl1pPr>
              <a:lnSpc>
                <a:spcPct val="80000"/>
              </a:lnSpc>
              <a:defRPr sz="6600">
                <a:solidFill>
                  <a:schemeClr val="tx1"/>
                </a:solidFill>
              </a:defRPr>
            </a:lvl1pPr>
          </a:lstStyle>
          <a:p>
            <a:r>
              <a:rPr lang="en-US"/>
              <a:t>Click to edit Master title style</a:t>
            </a:r>
            <a:endParaRPr/>
          </a:p>
        </p:txBody>
      </p:sp>
      <p:sp>
        <p:nvSpPr>
          <p:cNvPr id="3" name="Subtitle 2"/>
          <p:cNvSpPr>
            <a:spLocks noGrp="1"/>
          </p:cNvSpPr>
          <p:nvPr>
            <p:ph type="subTitle" idx="1" hasCustomPrompt="1"/>
          </p:nvPr>
        </p:nvSpPr>
        <p:spPr>
          <a:xfrm>
            <a:off x="1520825" y="4898572"/>
            <a:ext cx="5945187" cy="1270453"/>
          </a:xfrm>
        </p:spPr>
        <p:txBody>
          <a:bodyPr>
            <a:noAutofit/>
          </a:bodyPr>
          <a:lstStyle>
            <a:lvl1pPr marL="0" indent="0" algn="l">
              <a:spcBef>
                <a:spcPts val="0"/>
              </a:spcBef>
              <a:buNone/>
              <a:defRPr sz="2800" cap="none" baseline="0">
                <a:solidFill>
                  <a:schemeClr val="accent1">
                    <a:lumMod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E</a:t>
            </a:r>
            <a:r>
              <a:t>dit Master subtitle style</a:t>
            </a:r>
          </a:p>
        </p:txBody>
      </p:sp>
      <p:cxnSp>
        <p:nvCxnSpPr>
          <p:cNvPr id="6" name="Straight Connector 5"/>
          <p:cNvCxnSpPr/>
          <p:nvPr/>
        </p:nvCxnSpPr>
        <p:spPr>
          <a:xfrm>
            <a:off x="1658936" y="4782971"/>
            <a:ext cx="5654676" cy="0"/>
          </a:xfrm>
          <a:prstGeom prst="line">
            <a:avLst/>
          </a:prstGeom>
          <a:ln w="12700">
            <a:solidFill>
              <a:schemeClr val="accent1">
                <a:lumMod val="50000"/>
              </a:schemeClr>
            </a:solidFill>
            <a:miter lim="800000"/>
          </a:ln>
        </p:spPr>
        <p:style>
          <a:lnRef idx="1">
            <a:schemeClr val="accent1"/>
          </a:lnRef>
          <a:fillRef idx="0">
            <a:schemeClr val="accent1"/>
          </a:fillRef>
          <a:effectRef idx="0">
            <a:schemeClr val="accent1"/>
          </a:effectRef>
          <a:fontRef idx="minor">
            <a:schemeClr val="tx1"/>
          </a:fontRef>
        </p:style>
      </p:cxnSp>
      <p:grpSp>
        <p:nvGrpSpPr>
          <p:cNvPr id="5" name="Group 4"/>
          <p:cNvGrpSpPr/>
          <p:nvPr userDrawn="1"/>
        </p:nvGrpSpPr>
        <p:grpSpPr>
          <a:xfrm>
            <a:off x="7923213" y="0"/>
            <a:ext cx="4265612" cy="6858000"/>
            <a:chOff x="7923213" y="0"/>
            <a:chExt cx="4265612" cy="6858000"/>
          </a:xfrm>
        </p:grpSpPr>
        <p:pic>
          <p:nvPicPr>
            <p:cNvPr id="4" name="Picture 3"/>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7923213" y="0"/>
              <a:ext cx="4265612" cy="6858000"/>
            </a:xfrm>
            <a:prstGeom prst="rect">
              <a:avLst/>
            </a:prstGeom>
          </p:spPr>
        </p:pic>
        <p:sp>
          <p:nvSpPr>
            <p:cNvPr id="13" name="Rectangle 12"/>
            <p:cNvSpPr/>
            <p:nvPr/>
          </p:nvSpPr>
          <p:spPr>
            <a:xfrm>
              <a:off x="7923213" y="0"/>
              <a:ext cx="1065213" cy="6858000"/>
            </a:xfrm>
            <a:prstGeom prst="rect">
              <a:avLst/>
            </a:prstGeom>
            <a:gradFill flip="none" rotWithShape="1">
              <a:gsLst>
                <a:gs pos="75000">
                  <a:schemeClr val="tx2">
                    <a:alpha val="0"/>
                  </a:schemeClr>
                </a:gs>
                <a:gs pos="100000">
                  <a:schemeClr val="tx2">
                    <a:alpha val="25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extLst>
      <p:ext uri="{BB962C8B-B14F-4D97-AF65-F5344CB8AC3E}">
        <p14:creationId xmlns:p14="http://schemas.microsoft.com/office/powerpoint/2010/main" val="94999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lumMod val="50000"/>
                  </a:schemeClr>
                </a:solidFill>
              </a:defRPr>
            </a:lvl1p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r>
              <a:rPr lang="en-US"/>
              <a:t>Add a footer</a:t>
            </a:r>
          </a:p>
        </p:txBody>
      </p:sp>
      <p:sp>
        <p:nvSpPr>
          <p:cNvPr id="4" name="Date Placeholder 3"/>
          <p:cNvSpPr>
            <a:spLocks noGrp="1"/>
          </p:cNvSpPr>
          <p:nvPr>
            <p:ph type="dt" sz="half" idx="10"/>
          </p:nvPr>
        </p:nvSpPr>
        <p:spPr/>
        <p:txBody>
          <a:bodyPr/>
          <a:lstStyle/>
          <a:p>
            <a:fld id="{03F41C87-7AD9-4845-A077-840E4A0F3F06}" type="datetimeFigureOut">
              <a:rPr lang="en-US"/>
              <a:t>5/19/2026</a:t>
            </a:fld>
            <a:endParaRPr/>
          </a:p>
        </p:txBody>
      </p:sp>
      <p:sp>
        <p:nvSpPr>
          <p:cNvPr id="6" name="Slide Number Placeholder 5"/>
          <p:cNvSpPr>
            <a:spLocks noGrp="1"/>
          </p:cNvSpPr>
          <p:nvPr>
            <p:ph type="sldNum" sz="quarter" idx="12"/>
          </p:nvPr>
        </p:nvSpPr>
        <p:spPr/>
        <p:txBody>
          <a:bodyPr/>
          <a:lstStyle/>
          <a:p>
            <a:fld id="{2A013F82-EE5E-44EE-A61D-E31C6657F26F}" type="slidenum">
              <a:rPr/>
              <a:t>‹#›</a:t>
            </a:fld>
            <a:endParaRPr/>
          </a:p>
        </p:txBody>
      </p:sp>
      <p:cxnSp>
        <p:nvCxnSpPr>
          <p:cNvPr id="7" name="Straight Connector 6"/>
          <p:cNvCxnSpPr/>
          <p:nvPr/>
        </p:nvCxnSpPr>
        <p:spPr>
          <a:xfrm>
            <a:off x="1658936" y="1709058"/>
            <a:ext cx="9617076" cy="0"/>
          </a:xfrm>
          <a:prstGeom prst="line">
            <a:avLst/>
          </a:prstGeom>
          <a:ln w="12700">
            <a:solidFill>
              <a:schemeClr val="accent1">
                <a:lumMod val="50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382540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522410" y="2237096"/>
            <a:ext cx="8229601" cy="2411103"/>
          </a:xfrm>
        </p:spPr>
        <p:txBody>
          <a:bodyPr anchor="b">
            <a:normAutofit/>
          </a:bodyPr>
          <a:lstStyle>
            <a:lvl1pPr algn="l">
              <a:lnSpc>
                <a:spcPct val="80000"/>
              </a:lnSpc>
              <a:defRPr sz="4800" b="0" cap="none" baseline="0">
                <a:solidFill>
                  <a:schemeClr val="tx1"/>
                </a:solidFill>
              </a:defRPr>
            </a:lvl1pPr>
          </a:lstStyle>
          <a:p>
            <a:r>
              <a:rPr lang="en-US"/>
              <a:t>Click to edit Master title style</a:t>
            </a:r>
            <a:endParaRPr/>
          </a:p>
        </p:txBody>
      </p:sp>
      <p:sp>
        <p:nvSpPr>
          <p:cNvPr id="3" name="Text Placeholder 2"/>
          <p:cNvSpPr>
            <a:spLocks noGrp="1"/>
          </p:cNvSpPr>
          <p:nvPr>
            <p:ph type="body" idx="1"/>
          </p:nvPr>
        </p:nvSpPr>
        <p:spPr>
          <a:xfrm>
            <a:off x="1522412" y="4876800"/>
            <a:ext cx="8229601" cy="1292225"/>
          </a:xfrm>
        </p:spPr>
        <p:txBody>
          <a:bodyPr anchor="t">
            <a:normAutofit/>
          </a:bodyPr>
          <a:lstStyle>
            <a:lvl1pPr marL="0" indent="0">
              <a:spcBef>
                <a:spcPts val="0"/>
              </a:spcBef>
              <a:buNone/>
              <a:defRPr sz="2800" cap="none" baseline="0">
                <a:solidFill>
                  <a:schemeClr val="accent1">
                    <a:lumMod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grpSp>
        <p:nvGrpSpPr>
          <p:cNvPr id="7" name="Group 6"/>
          <p:cNvGrpSpPr/>
          <p:nvPr userDrawn="1"/>
        </p:nvGrpSpPr>
        <p:grpSpPr>
          <a:xfrm>
            <a:off x="11123611" y="0"/>
            <a:ext cx="1065214" cy="6868886"/>
            <a:chOff x="11123611" y="0"/>
            <a:chExt cx="1065214" cy="6868886"/>
          </a:xfrm>
        </p:grpSpPr>
        <p:pic>
          <p:nvPicPr>
            <p:cNvPr id="10" name="Picture 9"/>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11123611" y="0"/>
              <a:ext cx="1065213" cy="6858000"/>
            </a:xfrm>
            <a:prstGeom prst="rect">
              <a:avLst/>
            </a:prstGeom>
          </p:spPr>
        </p:pic>
        <p:sp>
          <p:nvSpPr>
            <p:cNvPr id="12" name="Rectangle 11"/>
            <p:cNvSpPr/>
            <p:nvPr/>
          </p:nvSpPr>
          <p:spPr>
            <a:xfrm>
              <a:off x="11123612" y="10886"/>
              <a:ext cx="1065213" cy="6858000"/>
            </a:xfrm>
            <a:prstGeom prst="rect">
              <a:avLst/>
            </a:prstGeom>
            <a:gradFill flip="none" rotWithShape="1">
              <a:gsLst>
                <a:gs pos="75000">
                  <a:schemeClr val="tx2">
                    <a:alpha val="0"/>
                  </a:schemeClr>
                </a:gs>
                <a:gs pos="100000">
                  <a:schemeClr val="tx2">
                    <a:alpha val="25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5" name="Footer Placeholder 4"/>
          <p:cNvSpPr>
            <a:spLocks noGrp="1"/>
          </p:cNvSpPr>
          <p:nvPr>
            <p:ph type="ftr" sz="quarter" idx="11"/>
          </p:nvPr>
        </p:nvSpPr>
        <p:spPr/>
        <p:txBody>
          <a:bodyPr/>
          <a:lstStyle/>
          <a:p>
            <a:r>
              <a:rPr lang="en-US"/>
              <a:t>Add a footer</a:t>
            </a:r>
          </a:p>
        </p:txBody>
      </p:sp>
      <p:sp>
        <p:nvSpPr>
          <p:cNvPr id="4" name="Date Placeholder 3"/>
          <p:cNvSpPr>
            <a:spLocks noGrp="1"/>
          </p:cNvSpPr>
          <p:nvPr>
            <p:ph type="dt" sz="half" idx="10"/>
          </p:nvPr>
        </p:nvSpPr>
        <p:spPr/>
        <p:txBody>
          <a:bodyPr/>
          <a:lstStyle/>
          <a:p>
            <a:fld id="{03F41C87-7AD9-4845-A077-840E4A0F3F06}" type="datetimeFigureOut">
              <a:rPr lang="en-US"/>
              <a:t>5/19/2026</a:t>
            </a:fld>
            <a:endParaRPr/>
          </a:p>
        </p:txBody>
      </p:sp>
      <p:sp>
        <p:nvSpPr>
          <p:cNvPr id="6" name="Slide Number Placeholder 5"/>
          <p:cNvSpPr>
            <a:spLocks noGrp="1"/>
          </p:cNvSpPr>
          <p:nvPr>
            <p:ph type="sldNum" sz="quarter" idx="12"/>
          </p:nvPr>
        </p:nvSpPr>
        <p:spPr/>
        <p:txBody>
          <a:bodyPr/>
          <a:lstStyle/>
          <a:p>
            <a:fld id="{2A013F82-EE5E-44EE-A61D-E31C6657F26F}" type="slidenum">
              <a:rPr/>
              <a:t>‹#›</a:t>
            </a:fld>
            <a:endParaRPr/>
          </a:p>
        </p:txBody>
      </p:sp>
      <p:cxnSp>
        <p:nvCxnSpPr>
          <p:cNvPr id="9" name="Straight Connector 8"/>
          <p:cNvCxnSpPr/>
          <p:nvPr/>
        </p:nvCxnSpPr>
        <p:spPr>
          <a:xfrm>
            <a:off x="1658936" y="4782971"/>
            <a:ext cx="8016876" cy="0"/>
          </a:xfrm>
          <a:prstGeom prst="line">
            <a:avLst/>
          </a:prstGeom>
          <a:ln w="12700">
            <a:solidFill>
              <a:schemeClr val="accent1">
                <a:lumMod val="50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18133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522413" y="381000"/>
            <a:ext cx="9829798" cy="1219200"/>
          </a:xfrm>
        </p:spPr>
        <p:txBody>
          <a:bodyPr/>
          <a:lstStyle>
            <a:lvl1pPr>
              <a:defRPr>
                <a:solidFill>
                  <a:schemeClr val="accent1">
                    <a:lumMod val="50000"/>
                  </a:schemeClr>
                </a:solidFill>
              </a:defRPr>
            </a:lvl1pPr>
          </a:lstStyle>
          <a:p>
            <a:r>
              <a:rPr lang="en-US"/>
              <a:t>Click to edit Master title style</a:t>
            </a:r>
            <a:endParaRPr/>
          </a:p>
        </p:txBody>
      </p:sp>
      <p:sp>
        <p:nvSpPr>
          <p:cNvPr id="3" name="Content Placeholder 2"/>
          <p:cNvSpPr>
            <a:spLocks noGrp="1"/>
          </p:cNvSpPr>
          <p:nvPr>
            <p:ph sz="half" idx="1"/>
          </p:nvPr>
        </p:nvSpPr>
        <p:spPr>
          <a:xfrm>
            <a:off x="1488168" y="1984248"/>
            <a:ext cx="4800600" cy="4187952"/>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551612" y="1984248"/>
            <a:ext cx="4800601" cy="4187952"/>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Footer Placeholder 5"/>
          <p:cNvSpPr>
            <a:spLocks noGrp="1"/>
          </p:cNvSpPr>
          <p:nvPr>
            <p:ph type="ftr" sz="quarter" idx="11"/>
          </p:nvPr>
        </p:nvSpPr>
        <p:spPr/>
        <p:txBody>
          <a:bodyPr/>
          <a:lstStyle/>
          <a:p>
            <a:r>
              <a:rPr lang="en-US"/>
              <a:t>Add a footer</a:t>
            </a:r>
          </a:p>
        </p:txBody>
      </p:sp>
      <p:sp>
        <p:nvSpPr>
          <p:cNvPr id="5" name="Date Placeholder 4"/>
          <p:cNvSpPr>
            <a:spLocks noGrp="1"/>
          </p:cNvSpPr>
          <p:nvPr>
            <p:ph type="dt" sz="half" idx="10"/>
          </p:nvPr>
        </p:nvSpPr>
        <p:spPr/>
        <p:txBody>
          <a:bodyPr/>
          <a:lstStyle/>
          <a:p>
            <a:fld id="{03F41C87-7AD9-4845-A077-840E4A0F3F06}" type="datetimeFigureOut">
              <a:rPr lang="en-US"/>
              <a:t>5/19/2026</a:t>
            </a:fld>
            <a:endParaRPr/>
          </a:p>
        </p:txBody>
      </p:sp>
      <p:sp>
        <p:nvSpPr>
          <p:cNvPr id="7" name="Slide Number Placeholder 6"/>
          <p:cNvSpPr>
            <a:spLocks noGrp="1"/>
          </p:cNvSpPr>
          <p:nvPr>
            <p:ph type="sldNum" sz="quarter" idx="12"/>
          </p:nvPr>
        </p:nvSpPr>
        <p:spPr/>
        <p:txBody>
          <a:bodyPr/>
          <a:lstStyle/>
          <a:p>
            <a:fld id="{2A013F82-EE5E-44EE-A61D-E31C6657F26F}" type="slidenum">
              <a:rPr/>
              <a:t>‹#›</a:t>
            </a:fld>
            <a:endParaRPr/>
          </a:p>
        </p:txBody>
      </p:sp>
      <p:cxnSp>
        <p:nvCxnSpPr>
          <p:cNvPr id="8" name="Straight Connector 7"/>
          <p:cNvCxnSpPr/>
          <p:nvPr/>
        </p:nvCxnSpPr>
        <p:spPr>
          <a:xfrm>
            <a:off x="1658936" y="1709058"/>
            <a:ext cx="9617076" cy="0"/>
          </a:xfrm>
          <a:prstGeom prst="line">
            <a:avLst/>
          </a:prstGeom>
          <a:ln w="12700">
            <a:solidFill>
              <a:schemeClr val="accent1">
                <a:lumMod val="50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253407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522413" y="381000"/>
            <a:ext cx="9829798" cy="1219200"/>
          </a:xfrm>
        </p:spPr>
        <p:txBody>
          <a:bodyPr/>
          <a:lstStyle>
            <a:lvl1pPr>
              <a:defRPr>
                <a:solidFill>
                  <a:schemeClr val="accent1">
                    <a:lumMod val="50000"/>
                  </a:schemeClr>
                </a:solidFill>
              </a:defRPr>
            </a:lvl1pPr>
          </a:lstStyle>
          <a:p>
            <a:r>
              <a:rPr lang="en-US"/>
              <a:t>Click to edit Master title style</a:t>
            </a:r>
            <a:endParaRPr/>
          </a:p>
        </p:txBody>
      </p:sp>
      <p:sp>
        <p:nvSpPr>
          <p:cNvPr id="3" name="Text Placeholder 2"/>
          <p:cNvSpPr>
            <a:spLocks noGrp="1"/>
          </p:cNvSpPr>
          <p:nvPr>
            <p:ph type="body" idx="1"/>
          </p:nvPr>
        </p:nvSpPr>
        <p:spPr>
          <a:xfrm>
            <a:off x="1522413" y="1828800"/>
            <a:ext cx="4800600" cy="838200"/>
          </a:xfrm>
        </p:spPr>
        <p:txBody>
          <a:bodyPr anchor="ctr">
            <a:noAutofit/>
          </a:bodyPr>
          <a:lstStyle>
            <a:lvl1pPr marL="0" indent="0">
              <a:spcBef>
                <a:spcPts val="0"/>
              </a:spcBef>
              <a:buNone/>
              <a:defRPr sz="2400" b="0" cap="none"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22413" y="2743200"/>
            <a:ext cx="4800600" cy="3425825"/>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551613" y="1828800"/>
            <a:ext cx="4800600" cy="838200"/>
          </a:xfrm>
        </p:spPr>
        <p:txBody>
          <a:bodyPr anchor="ctr">
            <a:noAutofit/>
          </a:bodyPr>
          <a:lstStyle>
            <a:lvl1pPr marL="0" indent="0">
              <a:spcBef>
                <a:spcPts val="0"/>
              </a:spcBef>
              <a:buNone/>
              <a:defRPr sz="2400" b="0" cap="none"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51613" y="2743200"/>
            <a:ext cx="4800600" cy="3425825"/>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Footer Placeholder 7"/>
          <p:cNvSpPr>
            <a:spLocks noGrp="1"/>
          </p:cNvSpPr>
          <p:nvPr>
            <p:ph type="ftr" sz="quarter" idx="11"/>
          </p:nvPr>
        </p:nvSpPr>
        <p:spPr/>
        <p:txBody>
          <a:bodyPr/>
          <a:lstStyle/>
          <a:p>
            <a:r>
              <a:rPr lang="en-US"/>
              <a:t>Add a footer</a:t>
            </a:r>
          </a:p>
        </p:txBody>
      </p:sp>
      <p:sp>
        <p:nvSpPr>
          <p:cNvPr id="7" name="Date Placeholder 6"/>
          <p:cNvSpPr>
            <a:spLocks noGrp="1"/>
          </p:cNvSpPr>
          <p:nvPr>
            <p:ph type="dt" sz="half" idx="10"/>
          </p:nvPr>
        </p:nvSpPr>
        <p:spPr/>
        <p:txBody>
          <a:bodyPr/>
          <a:lstStyle/>
          <a:p>
            <a:fld id="{03F41C87-7AD9-4845-A077-840E4A0F3F06}" type="datetimeFigureOut">
              <a:rPr lang="en-US"/>
              <a:t>5/19/2026</a:t>
            </a:fld>
            <a:endParaRPr/>
          </a:p>
        </p:txBody>
      </p:sp>
      <p:sp>
        <p:nvSpPr>
          <p:cNvPr id="9" name="Slide Number Placeholder 8"/>
          <p:cNvSpPr>
            <a:spLocks noGrp="1"/>
          </p:cNvSpPr>
          <p:nvPr>
            <p:ph type="sldNum" sz="quarter" idx="12"/>
          </p:nvPr>
        </p:nvSpPr>
        <p:spPr/>
        <p:txBody>
          <a:bodyPr/>
          <a:lstStyle/>
          <a:p>
            <a:fld id="{2A013F82-EE5E-44EE-A61D-E31C6657F26F}" type="slidenum">
              <a:rPr/>
              <a:t>‹#›</a:t>
            </a:fld>
            <a:endParaRPr/>
          </a:p>
        </p:txBody>
      </p:sp>
      <p:cxnSp>
        <p:nvCxnSpPr>
          <p:cNvPr id="10" name="Straight Connector 9"/>
          <p:cNvCxnSpPr/>
          <p:nvPr/>
        </p:nvCxnSpPr>
        <p:spPr>
          <a:xfrm>
            <a:off x="1658936" y="1709058"/>
            <a:ext cx="9617076" cy="0"/>
          </a:xfrm>
          <a:prstGeom prst="line">
            <a:avLst/>
          </a:prstGeom>
          <a:ln w="12700">
            <a:solidFill>
              <a:schemeClr val="accent1">
                <a:lumMod val="50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84195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lumMod val="50000"/>
                  </a:schemeClr>
                </a:solidFill>
              </a:defRPr>
            </a:lvl1pPr>
          </a:lstStyle>
          <a:p>
            <a:r>
              <a:rPr lang="en-US"/>
              <a:t>Click to edit Master title style</a:t>
            </a:r>
            <a:endParaRPr/>
          </a:p>
        </p:txBody>
      </p:sp>
      <p:sp>
        <p:nvSpPr>
          <p:cNvPr id="4" name="Footer Placeholder 3"/>
          <p:cNvSpPr>
            <a:spLocks noGrp="1"/>
          </p:cNvSpPr>
          <p:nvPr>
            <p:ph type="ftr" sz="quarter" idx="11"/>
          </p:nvPr>
        </p:nvSpPr>
        <p:spPr/>
        <p:txBody>
          <a:bodyPr/>
          <a:lstStyle/>
          <a:p>
            <a:r>
              <a:rPr lang="en-US"/>
              <a:t>Add a footer</a:t>
            </a:r>
          </a:p>
        </p:txBody>
      </p:sp>
      <p:sp>
        <p:nvSpPr>
          <p:cNvPr id="3" name="Date Placeholder 2"/>
          <p:cNvSpPr>
            <a:spLocks noGrp="1"/>
          </p:cNvSpPr>
          <p:nvPr>
            <p:ph type="dt" sz="half" idx="10"/>
          </p:nvPr>
        </p:nvSpPr>
        <p:spPr/>
        <p:txBody>
          <a:bodyPr/>
          <a:lstStyle/>
          <a:p>
            <a:fld id="{03F41C87-7AD9-4845-A077-840E4A0F3F06}" type="datetimeFigureOut">
              <a:rPr lang="en-US"/>
              <a:t>5/19/2026</a:t>
            </a:fld>
            <a:endParaRPr/>
          </a:p>
        </p:txBody>
      </p:sp>
      <p:sp>
        <p:nvSpPr>
          <p:cNvPr id="5" name="Slide Number Placeholder 4"/>
          <p:cNvSpPr>
            <a:spLocks noGrp="1"/>
          </p:cNvSpPr>
          <p:nvPr>
            <p:ph type="sldNum" sz="quarter" idx="12"/>
          </p:nvPr>
        </p:nvSpPr>
        <p:spPr/>
        <p:txBody>
          <a:bodyPr/>
          <a:lstStyle/>
          <a:p>
            <a:fld id="{2A013F82-EE5E-44EE-A61D-E31C6657F26F}" type="slidenum">
              <a:rPr/>
              <a:t>‹#›</a:t>
            </a:fld>
            <a:endParaRPr/>
          </a:p>
        </p:txBody>
      </p:sp>
      <p:cxnSp>
        <p:nvCxnSpPr>
          <p:cNvPr id="6" name="Straight Connector 5"/>
          <p:cNvCxnSpPr/>
          <p:nvPr/>
        </p:nvCxnSpPr>
        <p:spPr>
          <a:xfrm>
            <a:off x="1658936" y="1709058"/>
            <a:ext cx="9617076" cy="0"/>
          </a:xfrm>
          <a:prstGeom prst="line">
            <a:avLst/>
          </a:prstGeom>
          <a:ln w="12700">
            <a:solidFill>
              <a:schemeClr val="accent1">
                <a:lumMod val="50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266314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a:t>Add a footer</a:t>
            </a:r>
          </a:p>
        </p:txBody>
      </p:sp>
      <p:sp>
        <p:nvSpPr>
          <p:cNvPr id="2" name="Date Placeholder 1"/>
          <p:cNvSpPr>
            <a:spLocks noGrp="1"/>
          </p:cNvSpPr>
          <p:nvPr>
            <p:ph type="dt" sz="half" idx="10"/>
          </p:nvPr>
        </p:nvSpPr>
        <p:spPr/>
        <p:txBody>
          <a:bodyPr/>
          <a:lstStyle/>
          <a:p>
            <a:fld id="{03F41C87-7AD9-4845-A077-840E4A0F3F06}" type="datetimeFigureOut">
              <a:rPr lang="en-US"/>
              <a:t>5/19/2026</a:t>
            </a:fld>
            <a:endParaRPr/>
          </a:p>
        </p:txBody>
      </p:sp>
      <p:sp>
        <p:nvSpPr>
          <p:cNvPr id="4" name="Slide Number Placeholder 3"/>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36075401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22413" y="685800"/>
            <a:ext cx="4114800" cy="1925637"/>
          </a:xfrm>
        </p:spPr>
        <p:txBody>
          <a:bodyPr anchor="b">
            <a:noAutofit/>
          </a:bodyPr>
          <a:lstStyle>
            <a:lvl1pPr algn="l">
              <a:lnSpc>
                <a:spcPct val="80000"/>
              </a:lnSpc>
              <a:defRPr sz="4000" b="0">
                <a:solidFill>
                  <a:schemeClr val="accent1">
                    <a:lumMod val="50000"/>
                  </a:schemeClr>
                </a:solidFill>
              </a:defRPr>
            </a:lvl1pPr>
          </a:lstStyle>
          <a:p>
            <a:r>
              <a:rPr lang="en-US"/>
              <a:t>Click to edit Master title style</a:t>
            </a:r>
            <a:endParaRPr/>
          </a:p>
        </p:txBody>
      </p:sp>
      <p:sp>
        <p:nvSpPr>
          <p:cNvPr id="3" name="Content Placeholder 2"/>
          <p:cNvSpPr>
            <a:spLocks noGrp="1"/>
          </p:cNvSpPr>
          <p:nvPr>
            <p:ph idx="1"/>
          </p:nvPr>
        </p:nvSpPr>
        <p:spPr>
          <a:xfrm>
            <a:off x="6094414" y="685800"/>
            <a:ext cx="5257799" cy="54864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1522413" y="2895599"/>
            <a:ext cx="4114800" cy="1752601"/>
          </a:xfrm>
        </p:spPr>
        <p:txBody>
          <a:bodyPr>
            <a:normAutofit/>
          </a:bodyPr>
          <a:lstStyle>
            <a:lvl1pPr marL="0" indent="0">
              <a:lnSpc>
                <a:spcPct val="90000"/>
              </a:lnSpc>
              <a:spcBef>
                <a:spcPts val="1800"/>
              </a:spcBef>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US"/>
              <a:t>Add a footer</a:t>
            </a:r>
          </a:p>
        </p:txBody>
      </p:sp>
      <p:sp>
        <p:nvSpPr>
          <p:cNvPr id="5" name="Date Placeholder 4"/>
          <p:cNvSpPr>
            <a:spLocks noGrp="1"/>
          </p:cNvSpPr>
          <p:nvPr>
            <p:ph type="dt" sz="half" idx="10"/>
          </p:nvPr>
        </p:nvSpPr>
        <p:spPr/>
        <p:txBody>
          <a:bodyPr/>
          <a:lstStyle/>
          <a:p>
            <a:fld id="{03F41C87-7AD9-4845-A077-840E4A0F3F06}" type="datetimeFigureOut">
              <a:rPr lang="en-US"/>
              <a:t>5/19/2026</a:t>
            </a:fld>
            <a:endParaRPr/>
          </a:p>
        </p:txBody>
      </p:sp>
      <p:sp>
        <p:nvSpPr>
          <p:cNvPr id="7" name="Slide Number Placeholder 6"/>
          <p:cNvSpPr>
            <a:spLocks noGrp="1"/>
          </p:cNvSpPr>
          <p:nvPr>
            <p:ph type="sldNum" sz="quarter" idx="12"/>
          </p:nvPr>
        </p:nvSpPr>
        <p:spPr/>
        <p:txBody>
          <a:bodyPr/>
          <a:lstStyle/>
          <a:p>
            <a:fld id="{2A013F82-EE5E-44EE-A61D-E31C6657F26F}" type="slidenum">
              <a:rPr/>
              <a:t>‹#›</a:t>
            </a:fld>
            <a:endParaRPr/>
          </a:p>
        </p:txBody>
      </p:sp>
      <p:cxnSp>
        <p:nvCxnSpPr>
          <p:cNvPr id="8" name="Straight Connector 7"/>
          <p:cNvCxnSpPr/>
          <p:nvPr/>
        </p:nvCxnSpPr>
        <p:spPr>
          <a:xfrm>
            <a:off x="1658936" y="2743200"/>
            <a:ext cx="3902076" cy="0"/>
          </a:xfrm>
          <a:prstGeom prst="line">
            <a:avLst/>
          </a:prstGeom>
          <a:ln w="12700">
            <a:solidFill>
              <a:schemeClr val="accent1">
                <a:lumMod val="50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44981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22413" y="685800"/>
            <a:ext cx="4114800" cy="1925638"/>
          </a:xfrm>
        </p:spPr>
        <p:txBody>
          <a:bodyPr anchor="b">
            <a:normAutofit/>
          </a:bodyPr>
          <a:lstStyle>
            <a:lvl1pPr algn="l">
              <a:lnSpc>
                <a:spcPct val="80000"/>
              </a:lnSpc>
              <a:defRPr sz="4000" b="0" i="0" baseline="0">
                <a:solidFill>
                  <a:schemeClr val="accent1">
                    <a:lumMod val="50000"/>
                  </a:schemeClr>
                </a:solidFill>
              </a:defRPr>
            </a:lvl1pPr>
          </a:lstStyle>
          <a:p>
            <a:r>
              <a:rPr lang="en-US"/>
              <a:t>Click to edit Master title style</a:t>
            </a:r>
            <a:endParaRPr/>
          </a:p>
        </p:txBody>
      </p:sp>
      <p:sp>
        <p:nvSpPr>
          <p:cNvPr id="3" name="Picture Placeholder 2" descr="An empty placeholder to add an image. Click on the placeholder and select the image that you wish to add"/>
          <p:cNvSpPr>
            <a:spLocks noGrp="1"/>
          </p:cNvSpPr>
          <p:nvPr>
            <p:ph type="pic" idx="1"/>
          </p:nvPr>
        </p:nvSpPr>
        <p:spPr>
          <a:xfrm>
            <a:off x="6025925" y="-50118"/>
            <a:ext cx="6172198" cy="6857999"/>
          </a:xfrm>
          <a:solidFill>
            <a:schemeClr val="bg2"/>
          </a:solidFill>
          <a:effectLst>
            <a:outerShdw blurRad="152400" dist="50800" dir="10800000" algn="r" rotWithShape="0">
              <a:prstClr val="black">
                <a:alpha val="25000"/>
              </a:prstClr>
            </a:outerShdw>
          </a:effectLst>
        </p:spPr>
        <p:txBody>
          <a:bodyPr>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4" name="Text Placeholder 3"/>
          <p:cNvSpPr>
            <a:spLocks noGrp="1"/>
          </p:cNvSpPr>
          <p:nvPr>
            <p:ph type="body" sz="half" idx="2"/>
          </p:nvPr>
        </p:nvSpPr>
        <p:spPr>
          <a:xfrm>
            <a:off x="1522413" y="2895599"/>
            <a:ext cx="4114800" cy="1752601"/>
          </a:xfrm>
        </p:spPr>
        <p:txBody>
          <a:bodyPr>
            <a:normAutofit/>
          </a:bodyPr>
          <a:lstStyle>
            <a:lvl1pPr marL="0" indent="0">
              <a:lnSpc>
                <a:spcPct val="90000"/>
              </a:lnSpc>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0" name="Straight Connector 9"/>
          <p:cNvCxnSpPr/>
          <p:nvPr/>
        </p:nvCxnSpPr>
        <p:spPr>
          <a:xfrm>
            <a:off x="1658936" y="2743200"/>
            <a:ext cx="3902076" cy="0"/>
          </a:xfrm>
          <a:prstGeom prst="line">
            <a:avLst/>
          </a:prstGeom>
          <a:ln w="12700">
            <a:solidFill>
              <a:schemeClr val="accent1">
                <a:lumMod val="50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491721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lumMod val="50000"/>
                  </a:schemeClr>
                </a:solidFill>
              </a:defRPr>
            </a:lvl1p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r>
              <a:rPr lang="en-US"/>
              <a:t>Add a footer</a:t>
            </a:r>
          </a:p>
        </p:txBody>
      </p:sp>
      <p:sp>
        <p:nvSpPr>
          <p:cNvPr id="4" name="Date Placeholder 3"/>
          <p:cNvSpPr>
            <a:spLocks noGrp="1"/>
          </p:cNvSpPr>
          <p:nvPr>
            <p:ph type="dt" sz="half" idx="10"/>
          </p:nvPr>
        </p:nvSpPr>
        <p:spPr/>
        <p:txBody>
          <a:bodyPr/>
          <a:lstStyle/>
          <a:p>
            <a:fld id="{03F41C87-7AD9-4845-A077-840E4A0F3F06}" type="datetimeFigureOut">
              <a:rPr lang="en-US"/>
              <a:t>5/19/2026</a:t>
            </a:fld>
            <a:endParaRPr/>
          </a:p>
        </p:txBody>
      </p:sp>
      <p:sp>
        <p:nvSpPr>
          <p:cNvPr id="6" name="Slide Number Placeholder 5"/>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4600953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23412" y="646112"/>
            <a:ext cx="1828801" cy="5522913"/>
          </a:xfrm>
        </p:spPr>
        <p:txBody>
          <a:bodyPr vert="eaVert"/>
          <a:lstStyle>
            <a:lvl1pPr>
              <a:defRPr>
                <a:solidFill>
                  <a:schemeClr val="accent1">
                    <a:lumMod val="50000"/>
                  </a:schemeClr>
                </a:solidFill>
              </a:defRPr>
            </a:lvl1pPr>
          </a:lstStyle>
          <a:p>
            <a:r>
              <a:rPr lang="en-US"/>
              <a:t>Click to edit Master title style</a:t>
            </a:r>
            <a:endParaRPr/>
          </a:p>
        </p:txBody>
      </p:sp>
      <p:sp>
        <p:nvSpPr>
          <p:cNvPr id="3" name="Vertical Text Placeholder 2"/>
          <p:cNvSpPr>
            <a:spLocks noGrp="1"/>
          </p:cNvSpPr>
          <p:nvPr>
            <p:ph type="body" orient="vert" idx="1"/>
          </p:nvPr>
        </p:nvSpPr>
        <p:spPr>
          <a:xfrm>
            <a:off x="1522412" y="646112"/>
            <a:ext cx="7620000" cy="552291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r>
              <a:rPr lang="en-US"/>
              <a:t>Add a footer</a:t>
            </a:r>
          </a:p>
        </p:txBody>
      </p:sp>
      <p:sp>
        <p:nvSpPr>
          <p:cNvPr id="4" name="Date Placeholder 3"/>
          <p:cNvSpPr>
            <a:spLocks noGrp="1"/>
          </p:cNvSpPr>
          <p:nvPr>
            <p:ph type="dt" sz="half" idx="10"/>
          </p:nvPr>
        </p:nvSpPr>
        <p:spPr/>
        <p:txBody>
          <a:bodyPr/>
          <a:lstStyle/>
          <a:p>
            <a:fld id="{03F41C87-7AD9-4845-A077-840E4A0F3F06}" type="datetimeFigureOut">
              <a:rPr lang="en-US"/>
              <a:t>5/19/2026</a:t>
            </a:fld>
            <a:endParaRPr/>
          </a:p>
        </p:txBody>
      </p:sp>
      <p:sp>
        <p:nvSpPr>
          <p:cNvPr id="6" name="Slide Number Placeholder 5"/>
          <p:cNvSpPr>
            <a:spLocks noGrp="1"/>
          </p:cNvSpPr>
          <p:nvPr>
            <p:ph type="sldNum" sz="quarter" idx="12"/>
          </p:nvPr>
        </p:nvSpPr>
        <p:spPr/>
        <p:txBody>
          <a:bodyPr/>
          <a:lstStyle/>
          <a:p>
            <a:fld id="{2A013F82-EE5E-44EE-A61D-E31C6657F26F}" type="slidenum">
              <a:rPr/>
              <a:t>‹#›</a:t>
            </a:fld>
            <a:endParaRPr/>
          </a:p>
        </p:txBody>
      </p:sp>
      <p:cxnSp>
        <p:nvCxnSpPr>
          <p:cNvPr id="7" name="Straight Connector 6"/>
          <p:cNvCxnSpPr/>
          <p:nvPr/>
        </p:nvCxnSpPr>
        <p:spPr>
          <a:xfrm>
            <a:off x="9371012" y="762000"/>
            <a:ext cx="0" cy="5334000"/>
          </a:xfrm>
          <a:prstGeom prst="line">
            <a:avLst/>
          </a:prstGeom>
          <a:ln w="12700">
            <a:solidFill>
              <a:schemeClr val="accent1">
                <a:lumMod val="50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790354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22413" y="381000"/>
            <a:ext cx="9829799" cy="1219200"/>
          </a:xfrm>
          <a:prstGeom prst="rect">
            <a:avLst/>
          </a:prstGeom>
        </p:spPr>
        <p:txBody>
          <a:bodyPr vert="horz" lIns="91440" tIns="45720" rIns="91440" bIns="45720" rtlCol="0" anchor="b">
            <a:normAutofit/>
          </a:bodyPr>
          <a:lstStyle/>
          <a:p>
            <a:r>
              <a:rPr lang="en-US"/>
              <a:t>Click to edit Master title style</a:t>
            </a:r>
            <a:endParaRPr/>
          </a:p>
        </p:txBody>
      </p:sp>
      <p:sp>
        <p:nvSpPr>
          <p:cNvPr id="3" name="Text Placeholder 2"/>
          <p:cNvSpPr>
            <a:spLocks noGrp="1"/>
          </p:cNvSpPr>
          <p:nvPr>
            <p:ph type="body" idx="1"/>
          </p:nvPr>
        </p:nvSpPr>
        <p:spPr>
          <a:xfrm>
            <a:off x="1522413" y="1981200"/>
            <a:ext cx="9829799" cy="418782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3"/>
          </p:nvPr>
        </p:nvSpPr>
        <p:spPr>
          <a:xfrm>
            <a:off x="1522413" y="6400800"/>
            <a:ext cx="5954834" cy="276228"/>
          </a:xfrm>
          <a:prstGeom prst="rect">
            <a:avLst/>
          </a:prstGeom>
        </p:spPr>
        <p:txBody>
          <a:bodyPr vert="horz" lIns="91440" tIns="45720" rIns="91440" bIns="45720" rtlCol="0" anchor="ctr"/>
          <a:lstStyle>
            <a:lvl1pPr algn="l">
              <a:defRPr sz="1100">
                <a:solidFill>
                  <a:schemeClr val="tx1"/>
                </a:solidFill>
              </a:defRPr>
            </a:lvl1pPr>
          </a:lstStyle>
          <a:p>
            <a:r>
              <a:rPr lang="en-US"/>
              <a:t>Add a footer</a:t>
            </a:r>
          </a:p>
        </p:txBody>
      </p:sp>
      <p:sp>
        <p:nvSpPr>
          <p:cNvPr id="4" name="Date Placeholder 3"/>
          <p:cNvSpPr>
            <a:spLocks noGrp="1"/>
          </p:cNvSpPr>
          <p:nvPr>
            <p:ph type="dt" sz="half" idx="2"/>
          </p:nvPr>
        </p:nvSpPr>
        <p:spPr>
          <a:xfrm>
            <a:off x="8228011" y="6400800"/>
            <a:ext cx="1548659" cy="276228"/>
          </a:xfrm>
          <a:prstGeom prst="rect">
            <a:avLst/>
          </a:prstGeom>
        </p:spPr>
        <p:txBody>
          <a:bodyPr vert="horz" lIns="91440" tIns="45720" rIns="91440" bIns="45720" rtlCol="0" anchor="ctr"/>
          <a:lstStyle>
            <a:lvl1pPr algn="r">
              <a:defRPr sz="1100">
                <a:solidFill>
                  <a:schemeClr val="tx1"/>
                </a:solidFill>
              </a:defRPr>
            </a:lvl1pPr>
          </a:lstStyle>
          <a:p>
            <a:fld id="{03F41C87-7AD9-4845-A077-840E4A0F3F06}" type="datetimeFigureOut">
              <a:rPr lang="en-US" smtClean="0"/>
              <a:pPr/>
              <a:t>5/19/2026</a:t>
            </a:fld>
            <a:endParaRPr lang="en-US"/>
          </a:p>
        </p:txBody>
      </p:sp>
      <p:sp>
        <p:nvSpPr>
          <p:cNvPr id="6" name="Slide Number Placeholder 5"/>
          <p:cNvSpPr>
            <a:spLocks noGrp="1"/>
          </p:cNvSpPr>
          <p:nvPr>
            <p:ph type="sldNum" sz="quarter" idx="4"/>
          </p:nvPr>
        </p:nvSpPr>
        <p:spPr>
          <a:xfrm>
            <a:off x="10285411" y="6400800"/>
            <a:ext cx="1066802" cy="276228"/>
          </a:xfrm>
          <a:prstGeom prst="rect">
            <a:avLst/>
          </a:prstGeom>
        </p:spPr>
        <p:txBody>
          <a:bodyPr vert="horz" lIns="91440" tIns="45720" rIns="91440" bIns="45720" rtlCol="0" anchor="ctr"/>
          <a:lstStyle>
            <a:lvl1pPr algn="r">
              <a:defRPr sz="1100">
                <a:solidFill>
                  <a:schemeClr val="tx1"/>
                </a:solidFill>
              </a:defRPr>
            </a:lvl1pPr>
          </a:lstStyle>
          <a:p>
            <a:fld id="{2A013F82-EE5E-44EE-A61D-E31C6657F26F}" type="slidenum">
              <a:rPr lang="en-US" smtClean="0"/>
              <a:pPr/>
              <a:t>‹#›</a:t>
            </a:fld>
            <a:endParaRPr lang="en-US"/>
          </a:p>
        </p:txBody>
      </p:sp>
      <p:pic>
        <p:nvPicPr>
          <p:cNvPr id="9" name="Picture 8"/>
          <p:cNvPicPr>
            <a:picLocks noChangeAspect="1"/>
          </p:cNvPicPr>
          <p:nvPr/>
        </p:nvPicPr>
        <p:blipFill rotWithShape="1">
          <a:blip r:embed="rId13" cstate="print">
            <a:extLst>
              <a:ext uri="{28A0092B-C50C-407E-A947-70E740481C1C}">
                <a14:useLocalDpi xmlns:a14="http://schemas.microsoft.com/office/drawing/2010/main" val="0"/>
              </a:ext>
            </a:extLst>
          </a:blip>
          <a:srcRect/>
          <a:stretch/>
        </p:blipFill>
        <p:spPr>
          <a:xfrm>
            <a:off x="1" y="0"/>
            <a:ext cx="1065213" cy="6858000"/>
          </a:xfrm>
          <a:prstGeom prst="rect">
            <a:avLst/>
          </a:prstGeom>
        </p:spPr>
      </p:pic>
      <p:sp>
        <p:nvSpPr>
          <p:cNvPr id="10" name="Rectangle 9"/>
          <p:cNvSpPr/>
          <p:nvPr/>
        </p:nvSpPr>
        <p:spPr>
          <a:xfrm>
            <a:off x="1" y="0"/>
            <a:ext cx="1065213" cy="6858000"/>
          </a:xfrm>
          <a:prstGeom prst="rect">
            <a:avLst/>
          </a:prstGeom>
          <a:gradFill flip="none" rotWithShape="1">
            <a:gsLst>
              <a:gs pos="75000">
                <a:schemeClr val="tx2">
                  <a:alpha val="0"/>
                </a:schemeClr>
              </a:gs>
              <a:gs pos="100000">
                <a:schemeClr val="tx2">
                  <a:alpha val="2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14030599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3600" kern="1200">
          <a:solidFill>
            <a:schemeClr val="accent1">
              <a:lumMod val="50000"/>
            </a:schemeClr>
          </a:solidFill>
          <a:latin typeface="+mj-lt"/>
          <a:ea typeface="+mj-ea"/>
          <a:cs typeface="+mj-cs"/>
        </a:defRPr>
      </a:lvl1pPr>
    </p:titleStyle>
    <p:bodyStyle>
      <a:lvl1pPr marL="223838" indent="-223838" algn="l" defTabSz="914400" rtl="0" eaLnBrk="1" latinLnBrk="0" hangingPunct="1">
        <a:lnSpc>
          <a:spcPct val="90000"/>
        </a:lnSpc>
        <a:spcBef>
          <a:spcPts val="1800"/>
        </a:spcBef>
        <a:buClr>
          <a:schemeClr val="tx1">
            <a:lumMod val="90000"/>
            <a:lumOff val="10000"/>
          </a:schemeClr>
        </a:buClr>
        <a:buSzPct val="80000"/>
        <a:buFont typeface="Arial" pitchFamily="34" charset="0"/>
        <a:buChar char="•"/>
        <a:defRPr sz="2400" kern="1200">
          <a:solidFill>
            <a:schemeClr val="tx1"/>
          </a:solidFill>
          <a:latin typeface="+mn-lt"/>
          <a:ea typeface="+mn-ea"/>
          <a:cs typeface="+mn-cs"/>
        </a:defRPr>
      </a:lvl1pPr>
      <a:lvl2pPr marL="511175" indent="-228600" algn="l" defTabSz="914400" rtl="0" eaLnBrk="1" latinLnBrk="0" hangingPunct="1">
        <a:lnSpc>
          <a:spcPct val="90000"/>
        </a:lnSpc>
        <a:spcBef>
          <a:spcPts val="1000"/>
        </a:spcBef>
        <a:buClr>
          <a:schemeClr val="tx1">
            <a:lumMod val="90000"/>
            <a:lumOff val="10000"/>
          </a:schemeClr>
        </a:buClr>
        <a:buSzPct val="80000"/>
        <a:buFont typeface="Arial" pitchFamily="34" charset="0"/>
        <a:buChar char="•"/>
        <a:defRPr sz="2000" kern="1200">
          <a:solidFill>
            <a:schemeClr val="tx1"/>
          </a:solidFill>
          <a:latin typeface="+mn-lt"/>
          <a:ea typeface="+mn-ea"/>
          <a:cs typeface="+mn-cs"/>
        </a:defRPr>
      </a:lvl2pPr>
      <a:lvl3pPr marL="685800" indent="-174625" algn="l" defTabSz="914400" rtl="0" eaLnBrk="1" latinLnBrk="0" hangingPunct="1">
        <a:lnSpc>
          <a:spcPct val="90000"/>
        </a:lnSpc>
        <a:spcBef>
          <a:spcPts val="600"/>
        </a:spcBef>
        <a:buClr>
          <a:schemeClr val="tx1">
            <a:lumMod val="90000"/>
            <a:lumOff val="10000"/>
          </a:schemeClr>
        </a:buClr>
        <a:buSzPct val="80000"/>
        <a:buFont typeface="Arial" pitchFamily="34" charset="0"/>
        <a:buChar char="•"/>
        <a:defRPr sz="1800" kern="1200">
          <a:solidFill>
            <a:schemeClr val="tx1"/>
          </a:solidFill>
          <a:latin typeface="+mn-lt"/>
          <a:ea typeface="+mn-ea"/>
          <a:cs typeface="+mn-cs"/>
        </a:defRPr>
      </a:lvl3pPr>
      <a:lvl4pPr marL="860425" indent="-174625" algn="l" defTabSz="914400" rtl="0" eaLnBrk="1" latinLnBrk="0" hangingPunct="1">
        <a:lnSpc>
          <a:spcPct val="90000"/>
        </a:lnSpc>
        <a:spcBef>
          <a:spcPts val="600"/>
        </a:spcBef>
        <a:buClr>
          <a:schemeClr val="tx1">
            <a:lumMod val="90000"/>
            <a:lumOff val="10000"/>
          </a:schemeClr>
        </a:buClr>
        <a:buSzPct val="80000"/>
        <a:buFont typeface="Arial" pitchFamily="34" charset="0"/>
        <a:buChar char="•"/>
        <a:defRPr sz="1600" kern="1200">
          <a:solidFill>
            <a:schemeClr val="tx1"/>
          </a:solidFill>
          <a:latin typeface="+mn-lt"/>
          <a:ea typeface="+mn-ea"/>
          <a:cs typeface="+mn-cs"/>
        </a:defRPr>
      </a:lvl4pPr>
      <a:lvl5pPr marL="1033463" indent="-173038" algn="l" defTabSz="914400" rtl="0" eaLnBrk="1" latinLnBrk="0" hangingPunct="1">
        <a:lnSpc>
          <a:spcPct val="90000"/>
        </a:lnSpc>
        <a:spcBef>
          <a:spcPts val="600"/>
        </a:spcBef>
        <a:buClr>
          <a:schemeClr val="tx1">
            <a:lumMod val="90000"/>
            <a:lumOff val="10000"/>
          </a:schemeClr>
        </a:buClr>
        <a:buSzPct val="80000"/>
        <a:buFont typeface="Arial" pitchFamily="34" charset="0"/>
        <a:buChar char="•"/>
        <a:defRPr sz="1600" kern="1200">
          <a:solidFill>
            <a:schemeClr val="tx1"/>
          </a:solidFill>
          <a:latin typeface="+mn-lt"/>
          <a:ea typeface="+mn-ea"/>
          <a:cs typeface="+mn-cs"/>
        </a:defRPr>
      </a:lvl5pPr>
      <a:lvl6pPr marL="1207008" indent="-173736" algn="l" defTabSz="914400" rtl="0" eaLnBrk="1" latinLnBrk="0" hangingPunct="1">
        <a:spcBef>
          <a:spcPts val="600"/>
        </a:spcBef>
        <a:buClr>
          <a:schemeClr val="tx1">
            <a:lumMod val="90000"/>
            <a:lumOff val="10000"/>
          </a:schemeClr>
        </a:buClr>
        <a:buSzPct val="80000"/>
        <a:buFont typeface="Arial" pitchFamily="34" charset="0"/>
        <a:buChar char="•"/>
        <a:defRPr sz="1600" kern="1200">
          <a:solidFill>
            <a:schemeClr val="tx1"/>
          </a:solidFill>
          <a:latin typeface="+mn-lt"/>
          <a:ea typeface="+mn-ea"/>
          <a:cs typeface="+mn-cs"/>
        </a:defRPr>
      </a:lvl6pPr>
      <a:lvl7pPr marL="1380744" indent="-173736" algn="l" defTabSz="914400" rtl="0" eaLnBrk="1" latinLnBrk="0" hangingPunct="1">
        <a:spcBef>
          <a:spcPts val="600"/>
        </a:spcBef>
        <a:buClr>
          <a:schemeClr val="tx1">
            <a:lumMod val="90000"/>
            <a:lumOff val="10000"/>
          </a:schemeClr>
        </a:buClr>
        <a:buSzPct val="80000"/>
        <a:buFont typeface="Arial" pitchFamily="34" charset="0"/>
        <a:buChar char="•"/>
        <a:defRPr sz="1600" kern="1200">
          <a:solidFill>
            <a:schemeClr val="tx1"/>
          </a:solidFill>
          <a:latin typeface="+mn-lt"/>
          <a:ea typeface="+mn-ea"/>
          <a:cs typeface="+mn-cs"/>
        </a:defRPr>
      </a:lvl7pPr>
      <a:lvl8pPr marL="1554480" indent="-173736" algn="l" defTabSz="914400" rtl="0" eaLnBrk="1" latinLnBrk="0" hangingPunct="1">
        <a:spcBef>
          <a:spcPts val="600"/>
        </a:spcBef>
        <a:buClr>
          <a:schemeClr val="tx1">
            <a:lumMod val="90000"/>
            <a:lumOff val="10000"/>
          </a:schemeClr>
        </a:buClr>
        <a:buSzPct val="80000"/>
        <a:buFont typeface="Arial" pitchFamily="34" charset="0"/>
        <a:buChar char="•"/>
        <a:defRPr sz="1600" kern="1200">
          <a:solidFill>
            <a:schemeClr val="tx1"/>
          </a:solidFill>
          <a:latin typeface="+mn-lt"/>
          <a:ea typeface="+mn-ea"/>
          <a:cs typeface="+mn-cs"/>
        </a:defRPr>
      </a:lvl8pPr>
      <a:lvl9pPr marL="1728216" indent="-173736" algn="l" defTabSz="914400" rtl="0" eaLnBrk="1" latinLnBrk="0" hangingPunct="1">
        <a:spcBef>
          <a:spcPts val="600"/>
        </a:spcBef>
        <a:buClr>
          <a:schemeClr val="tx1">
            <a:lumMod val="90000"/>
            <a:lumOff val="10000"/>
          </a:schemeClr>
        </a:buClr>
        <a:buSzPct val="80000"/>
        <a:buFont typeface="Arial" pitchFamily="34" charset="0"/>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makerdao.com/"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compound.finance/"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hyperlink" Target="https://pooltogether.com/"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hyperlink" Target="https://aave.com/"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hyperlink" Target="https://uniswap.org/"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0825" y="4898572"/>
            <a:ext cx="5945187" cy="1573112"/>
          </a:xfrm>
        </p:spPr>
        <p:txBody>
          <a:bodyPr/>
          <a:lstStyle/>
          <a:p>
            <a:r>
              <a:rPr lang="en-US" sz="3200" dirty="0">
                <a:latin typeface="National semibold" panose="02000503000000020004"/>
              </a:rPr>
              <a:t>Borrowing, lending, decentralized exchanges and derivatives</a:t>
            </a:r>
          </a:p>
        </p:txBody>
      </p:sp>
      <p:sp>
        <p:nvSpPr>
          <p:cNvPr id="6" name="Title 1">
            <a:extLst>
              <a:ext uri="{FF2B5EF4-FFF2-40B4-BE49-F238E27FC236}">
                <a16:creationId xmlns:a16="http://schemas.microsoft.com/office/drawing/2014/main" id="{0C248AD1-CF7C-BE67-860A-F29149632ABA}"/>
              </a:ext>
            </a:extLst>
          </p:cNvPr>
          <p:cNvSpPr>
            <a:spLocks noGrp="1"/>
          </p:cNvSpPr>
          <p:nvPr>
            <p:ph type="ctrTitle"/>
          </p:nvPr>
        </p:nvSpPr>
        <p:spPr>
          <a:xfrm>
            <a:off x="1520823" y="1600200"/>
            <a:ext cx="6290765" cy="3048000"/>
          </a:xfrm>
        </p:spPr>
        <p:txBody>
          <a:bodyPr/>
          <a:lstStyle/>
          <a:p>
            <a:r>
              <a:rPr lang="en-US" sz="5400" b="1" dirty="0">
                <a:latin typeface="National semibold" panose="02000503000000020004"/>
              </a:rPr>
              <a:t>Introduction to </a:t>
            </a:r>
            <a:br>
              <a:rPr lang="en-US" sz="5400" b="1" dirty="0">
                <a:latin typeface="National semibold" panose="02000503000000020004"/>
              </a:rPr>
            </a:br>
            <a:r>
              <a:rPr lang="en-US" sz="5400" b="1" dirty="0">
                <a:latin typeface="National semibold" panose="02000503000000020004"/>
              </a:rPr>
              <a:t>Decentralized Finance </a:t>
            </a:r>
            <a:br>
              <a:rPr lang="en-US" sz="5400" b="1" dirty="0">
                <a:latin typeface="National semibold" panose="02000503000000020004"/>
              </a:rPr>
            </a:br>
            <a:endParaRPr lang="en-US" sz="4800" dirty="0"/>
          </a:p>
        </p:txBody>
      </p:sp>
    </p:spTree>
    <p:extLst>
      <p:ext uri="{BB962C8B-B14F-4D97-AF65-F5344CB8AC3E}">
        <p14:creationId xmlns:p14="http://schemas.microsoft.com/office/powerpoint/2010/main" val="935251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89314" y="381000"/>
            <a:ext cx="9762898" cy="1219200"/>
          </a:xfrm>
        </p:spPr>
        <p:txBody>
          <a:bodyPr anchor="ctr">
            <a:normAutofit/>
          </a:bodyPr>
          <a:lstStyle/>
          <a:p>
            <a:r>
              <a:rPr lang="en-US" sz="4000" b="1" err="1">
                <a:latin typeface="National semibold" panose="02000503000000020004"/>
              </a:rPr>
              <a:t>DeFi</a:t>
            </a:r>
            <a:r>
              <a:rPr lang="en-US" sz="4000" b="1">
                <a:latin typeface="National semibold" panose="02000503000000020004"/>
              </a:rPr>
              <a:t> categories</a:t>
            </a:r>
          </a:p>
        </p:txBody>
      </p:sp>
      <p:sp>
        <p:nvSpPr>
          <p:cNvPr id="3" name="Content Placeholder 2">
            <a:extLst>
              <a:ext uri="{FF2B5EF4-FFF2-40B4-BE49-F238E27FC236}">
                <a16:creationId xmlns:a16="http://schemas.microsoft.com/office/drawing/2014/main" id="{09A2F897-2643-4490-93FF-4FF458F15722}"/>
              </a:ext>
            </a:extLst>
          </p:cNvPr>
          <p:cNvSpPr>
            <a:spLocks noGrp="1"/>
          </p:cNvSpPr>
          <p:nvPr>
            <p:ph idx="1"/>
          </p:nvPr>
        </p:nvSpPr>
        <p:spPr>
          <a:xfrm>
            <a:off x="1522413" y="1828800"/>
            <a:ext cx="10197582" cy="4648200"/>
          </a:xfrm>
        </p:spPr>
        <p:txBody>
          <a:bodyPr>
            <a:normAutofit/>
          </a:bodyPr>
          <a:lstStyle/>
          <a:p>
            <a:pPr marL="0" indent="0">
              <a:buNone/>
            </a:pPr>
            <a:r>
              <a:rPr lang="en-US" dirty="0" err="1">
                <a:latin typeface="National semibold" panose="02000503000000020004"/>
              </a:rPr>
              <a:t>DeFi</a:t>
            </a:r>
            <a:r>
              <a:rPr lang="en-US" dirty="0">
                <a:latin typeface="National semibold" panose="02000503000000020004"/>
              </a:rPr>
              <a:t> can be broken into categories based on the functionality of </a:t>
            </a:r>
            <a:r>
              <a:rPr lang="en-US" dirty="0" err="1">
                <a:latin typeface="National semibold" panose="02000503000000020004"/>
              </a:rPr>
              <a:t>dApp</a:t>
            </a:r>
            <a:r>
              <a:rPr lang="en-US" dirty="0">
                <a:latin typeface="National semibold" panose="02000503000000020004"/>
              </a:rPr>
              <a:t> (decentralized application). A possible categorization is:</a:t>
            </a:r>
          </a:p>
          <a:p>
            <a:pPr marL="457200" indent="-457200">
              <a:buFont typeface="+mj-lt"/>
              <a:buAutoNum type="arabicPeriod"/>
            </a:pPr>
            <a:r>
              <a:rPr lang="en-US" dirty="0">
                <a:latin typeface="National semibold" panose="02000503000000020004"/>
              </a:rPr>
              <a:t>Lending/credit </a:t>
            </a:r>
          </a:p>
          <a:p>
            <a:pPr marL="457200" indent="-457200">
              <a:buFont typeface="+mj-lt"/>
              <a:buAutoNum type="arabicPeriod"/>
            </a:pPr>
            <a:r>
              <a:rPr lang="en-US" dirty="0">
                <a:latin typeface="National semibold" panose="02000503000000020004"/>
              </a:rPr>
              <a:t>Decentralized exchanges (DEX)</a:t>
            </a:r>
          </a:p>
          <a:p>
            <a:pPr marL="457200" indent="-457200">
              <a:buFont typeface="+mj-lt"/>
              <a:buAutoNum type="arabicPeriod"/>
            </a:pPr>
            <a:r>
              <a:rPr lang="en-US" dirty="0">
                <a:latin typeface="National semibold" panose="02000503000000020004"/>
              </a:rPr>
              <a:t>Derivatives</a:t>
            </a:r>
          </a:p>
          <a:p>
            <a:pPr marL="457200" indent="-457200">
              <a:buFont typeface="+mj-lt"/>
              <a:buAutoNum type="arabicPeriod"/>
            </a:pPr>
            <a:r>
              <a:rPr lang="en-US" dirty="0">
                <a:latin typeface="National semibold" panose="02000503000000020004"/>
              </a:rPr>
              <a:t>Tokenization</a:t>
            </a:r>
          </a:p>
        </p:txBody>
      </p:sp>
    </p:spTree>
    <p:extLst>
      <p:ext uri="{BB962C8B-B14F-4D97-AF65-F5344CB8AC3E}">
        <p14:creationId xmlns:p14="http://schemas.microsoft.com/office/powerpoint/2010/main" val="3163500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F4670-3B49-98B2-C0CB-16AE5F3C31AE}"/>
              </a:ext>
            </a:extLst>
          </p:cNvPr>
          <p:cNvSpPr>
            <a:spLocks noGrp="1"/>
          </p:cNvSpPr>
          <p:nvPr>
            <p:ph type="title"/>
          </p:nvPr>
        </p:nvSpPr>
        <p:spPr>
          <a:xfrm>
            <a:off x="572649" y="1302326"/>
            <a:ext cx="10881157" cy="5107709"/>
          </a:xfrm>
        </p:spPr>
        <p:txBody>
          <a:bodyPr anchor="ctr">
            <a:normAutofit/>
          </a:bodyPr>
          <a:lstStyle/>
          <a:p>
            <a:pPr algn="ctr"/>
            <a:r>
              <a:rPr lang="en-US" sz="4800" b="1">
                <a:latin typeface="National semibold" panose="02000503000000020004"/>
              </a:rPr>
              <a:t>1. Lending/credit</a:t>
            </a:r>
            <a:br>
              <a:rPr lang="en-US" sz="4800" b="1">
                <a:latin typeface="National semibold" panose="02000503000000020004"/>
              </a:rPr>
            </a:br>
            <a:br>
              <a:rPr lang="en-US" sz="4800" b="1">
                <a:latin typeface="National semibold" panose="02000503000000020004"/>
              </a:rPr>
            </a:br>
            <a:r>
              <a:rPr lang="en-US" b="1" err="1">
                <a:latin typeface="National semibold" panose="02000503000000020004"/>
              </a:rPr>
              <a:t>MakerDAO</a:t>
            </a:r>
            <a:br>
              <a:rPr lang="en-US" b="1">
                <a:latin typeface="National semibold" panose="02000503000000020004"/>
              </a:rPr>
            </a:br>
            <a:r>
              <a:rPr lang="en-US" b="1">
                <a:latin typeface="National semibold" panose="02000503000000020004"/>
              </a:rPr>
              <a:t>Compound</a:t>
            </a:r>
            <a:br>
              <a:rPr lang="en-US" b="1">
                <a:latin typeface="National semibold" panose="02000503000000020004"/>
              </a:rPr>
            </a:br>
            <a:r>
              <a:rPr lang="en-US" b="1" err="1">
                <a:latin typeface="National semibold" panose="02000503000000020004"/>
              </a:rPr>
              <a:t>Aave</a:t>
            </a:r>
            <a:br>
              <a:rPr lang="en-US" b="1">
                <a:latin typeface="National semibold" panose="02000503000000020004"/>
              </a:rPr>
            </a:br>
            <a:endParaRPr lang="en-US" sz="4800" b="1"/>
          </a:p>
        </p:txBody>
      </p:sp>
    </p:spTree>
    <p:extLst>
      <p:ext uri="{BB962C8B-B14F-4D97-AF65-F5344CB8AC3E}">
        <p14:creationId xmlns:p14="http://schemas.microsoft.com/office/powerpoint/2010/main" val="16007322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F4670-3B49-98B2-C0CB-16AE5F3C31AE}"/>
              </a:ext>
            </a:extLst>
          </p:cNvPr>
          <p:cNvSpPr>
            <a:spLocks noGrp="1"/>
          </p:cNvSpPr>
          <p:nvPr>
            <p:ph type="title"/>
          </p:nvPr>
        </p:nvSpPr>
        <p:spPr/>
        <p:txBody>
          <a:bodyPr anchor="b"/>
          <a:lstStyle/>
          <a:p>
            <a:r>
              <a:rPr lang="en-US" b="1" err="1">
                <a:latin typeface="National semibold" panose="02000503000000020004"/>
              </a:rPr>
              <a:t>MakerDAO</a:t>
            </a:r>
            <a:endParaRPr lang="en-US" b="1">
              <a:latin typeface="National semibold" panose="02000503000000020004"/>
            </a:endParaRPr>
          </a:p>
        </p:txBody>
      </p:sp>
      <p:sp>
        <p:nvSpPr>
          <p:cNvPr id="3" name="Content Placeholder 2">
            <a:extLst>
              <a:ext uri="{FF2B5EF4-FFF2-40B4-BE49-F238E27FC236}">
                <a16:creationId xmlns:a16="http://schemas.microsoft.com/office/drawing/2014/main" id="{D83E6BDF-3157-3AAA-5AF2-77B350FC737A}"/>
              </a:ext>
            </a:extLst>
          </p:cNvPr>
          <p:cNvSpPr>
            <a:spLocks noGrp="1"/>
          </p:cNvSpPr>
          <p:nvPr>
            <p:ph idx="1"/>
          </p:nvPr>
        </p:nvSpPr>
        <p:spPr>
          <a:xfrm>
            <a:off x="1522413" y="1981200"/>
            <a:ext cx="9829799" cy="4715164"/>
          </a:xfrm>
        </p:spPr>
        <p:txBody>
          <a:bodyPr>
            <a:normAutofit fontScale="92500" lnSpcReduction="20000"/>
          </a:bodyPr>
          <a:lstStyle/>
          <a:p>
            <a:pPr marL="0" indent="0">
              <a:buNone/>
            </a:pPr>
            <a:r>
              <a:rPr lang="en-US" dirty="0">
                <a:latin typeface="National semibold" panose="02000503000000020004"/>
              </a:rPr>
              <a:t>DAO (Decentralized Autonomous Organization) is a type of bottom-up entity structure with no central authority. Members own DAO tokens and can vote on initiatives for the entity.</a:t>
            </a:r>
          </a:p>
          <a:p>
            <a:pPr marL="0" indent="0">
              <a:buNone/>
            </a:pPr>
            <a:r>
              <a:rPr lang="en-US" dirty="0" err="1">
                <a:latin typeface="National semibold" panose="02000503000000020004"/>
                <a:hlinkClick r:id="rId2"/>
              </a:rPr>
              <a:t>MakerDAO</a:t>
            </a:r>
            <a:r>
              <a:rPr lang="en-US" dirty="0">
                <a:latin typeface="National semibold" panose="02000503000000020004"/>
              </a:rPr>
              <a:t> is an organization developing technology for borrowing, savings, and a stable cryptocurrency on the Ethereum blockchain. </a:t>
            </a:r>
          </a:p>
          <a:p>
            <a:r>
              <a:rPr lang="en-US" dirty="0">
                <a:latin typeface="National semibold" panose="02000503000000020004"/>
              </a:rPr>
              <a:t>It has created a protocol allowing anyone with ETH and a </a:t>
            </a:r>
            <a:r>
              <a:rPr lang="en-US" dirty="0" err="1">
                <a:latin typeface="National semibold" panose="02000503000000020004"/>
              </a:rPr>
              <a:t>MetaMask</a:t>
            </a:r>
            <a:r>
              <a:rPr lang="en-US" dirty="0">
                <a:latin typeface="National semibold" panose="02000503000000020004"/>
              </a:rPr>
              <a:t> wallet to lend themselves money in the form of a </a:t>
            </a:r>
            <a:r>
              <a:rPr lang="en-US" dirty="0" err="1">
                <a:latin typeface="National semibold" panose="02000503000000020004"/>
              </a:rPr>
              <a:t>stablecoin</a:t>
            </a:r>
            <a:r>
              <a:rPr lang="en-US" dirty="0">
                <a:latin typeface="National semibold" panose="02000503000000020004"/>
              </a:rPr>
              <a:t> called DAI.  </a:t>
            </a:r>
          </a:p>
          <a:p>
            <a:r>
              <a:rPr lang="en-US" dirty="0">
                <a:latin typeface="National semibold" panose="02000503000000020004"/>
              </a:rPr>
              <a:t>By locking up some ETH in </a:t>
            </a:r>
            <a:r>
              <a:rPr lang="en-US" dirty="0" err="1">
                <a:latin typeface="National semibold" panose="02000503000000020004"/>
              </a:rPr>
              <a:t>MakerDAO’s</a:t>
            </a:r>
            <a:r>
              <a:rPr lang="en-US" dirty="0">
                <a:latin typeface="National semibold" panose="02000503000000020004"/>
              </a:rPr>
              <a:t> smart contracts, users can create a certain amount of DAI. The more ETH locked up, the more DAI can be created. </a:t>
            </a:r>
          </a:p>
          <a:p>
            <a:r>
              <a:rPr lang="en-US" dirty="0">
                <a:latin typeface="National semibold" panose="02000503000000020004"/>
              </a:rPr>
              <a:t>When users are ready to unlock their ETH, which serves as collateral for their DAI loan, they simply pay back the loan along with any fees.</a:t>
            </a:r>
          </a:p>
          <a:p>
            <a:r>
              <a:rPr lang="en-US" dirty="0">
                <a:latin typeface="National semibold" panose="02000503000000020004"/>
              </a:rPr>
              <a:t>There is a second token called MKR that yields voting rights on the platform and participates in value capture. </a:t>
            </a:r>
          </a:p>
        </p:txBody>
      </p:sp>
    </p:spTree>
    <p:extLst>
      <p:ext uri="{BB962C8B-B14F-4D97-AF65-F5344CB8AC3E}">
        <p14:creationId xmlns:p14="http://schemas.microsoft.com/office/powerpoint/2010/main" val="24689145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F4670-3B49-98B2-C0CB-16AE5F3C31AE}"/>
              </a:ext>
            </a:extLst>
          </p:cNvPr>
          <p:cNvSpPr>
            <a:spLocks noGrp="1"/>
          </p:cNvSpPr>
          <p:nvPr>
            <p:ph type="title"/>
          </p:nvPr>
        </p:nvSpPr>
        <p:spPr/>
        <p:txBody>
          <a:bodyPr anchor="b"/>
          <a:lstStyle/>
          <a:p>
            <a:r>
              <a:rPr lang="en-US" b="1" err="1">
                <a:latin typeface="National semibold" panose="02000503000000020004"/>
              </a:rPr>
              <a:t>MakerDAO</a:t>
            </a:r>
            <a:endParaRPr lang="en-US" b="1">
              <a:latin typeface="National semibold" panose="02000503000000020004"/>
            </a:endParaRPr>
          </a:p>
        </p:txBody>
      </p:sp>
      <p:sp>
        <p:nvSpPr>
          <p:cNvPr id="3" name="Content Placeholder 2">
            <a:extLst>
              <a:ext uri="{FF2B5EF4-FFF2-40B4-BE49-F238E27FC236}">
                <a16:creationId xmlns:a16="http://schemas.microsoft.com/office/drawing/2014/main" id="{D83E6BDF-3157-3AAA-5AF2-77B350FC737A}"/>
              </a:ext>
            </a:extLst>
          </p:cNvPr>
          <p:cNvSpPr>
            <a:spLocks noGrp="1"/>
          </p:cNvSpPr>
          <p:nvPr>
            <p:ph idx="1"/>
          </p:nvPr>
        </p:nvSpPr>
        <p:spPr>
          <a:xfrm>
            <a:off x="1522413" y="1981200"/>
            <a:ext cx="9829799" cy="4715164"/>
          </a:xfrm>
        </p:spPr>
        <p:txBody>
          <a:bodyPr>
            <a:normAutofit lnSpcReduction="10000"/>
          </a:bodyPr>
          <a:lstStyle/>
          <a:p>
            <a:pPr marL="0" indent="0">
              <a:buNone/>
            </a:pPr>
            <a:r>
              <a:rPr lang="en-US">
                <a:latin typeface="National semibold" panose="02000503000000020004"/>
              </a:rPr>
              <a:t>The </a:t>
            </a:r>
            <a:r>
              <a:rPr lang="en-US" err="1">
                <a:latin typeface="National semibold" panose="02000503000000020004"/>
              </a:rPr>
              <a:t>stablecoin</a:t>
            </a:r>
            <a:r>
              <a:rPr lang="en-US">
                <a:latin typeface="National semibold" panose="02000503000000020004"/>
              </a:rPr>
              <a:t> DAI is generated as follows:</a:t>
            </a:r>
          </a:p>
          <a:p>
            <a:r>
              <a:rPr lang="en-US">
                <a:latin typeface="National semibold" panose="02000503000000020004"/>
              </a:rPr>
              <a:t>A user deposits ETH or other supported ERC-20 assets into a </a:t>
            </a:r>
            <a:r>
              <a:rPr lang="en-US" b="1" i="1">
                <a:latin typeface="National semibold" panose="02000503000000020004"/>
              </a:rPr>
              <a:t>vault</a:t>
            </a:r>
            <a:r>
              <a:rPr lang="en-US">
                <a:latin typeface="National semibold" panose="02000503000000020004"/>
              </a:rPr>
              <a:t>.  The vault is a smart contract that escrows collateral and keeps track of the USD-denominated value of the collateral. </a:t>
            </a:r>
          </a:p>
          <a:p>
            <a:r>
              <a:rPr lang="en-US">
                <a:latin typeface="National semibold" panose="02000503000000020004"/>
              </a:rPr>
              <a:t>The user can mint DAI up to a certain collateralization ratio. This creates a debt in DAI that the vault holder must pay back. </a:t>
            </a:r>
          </a:p>
          <a:p>
            <a:r>
              <a:rPr lang="en-US">
                <a:latin typeface="National semibold" panose="02000503000000020004"/>
              </a:rPr>
              <a:t>Before repaying the debt, the DAI can be used in any way the vault holder wishes. For example, the user can sell them for cash; buy more ETH and deposit them in the vault to create more DAI; etc.</a:t>
            </a:r>
          </a:p>
          <a:p>
            <a:r>
              <a:rPr lang="en-US">
                <a:latin typeface="National semibold" panose="02000503000000020004"/>
              </a:rPr>
              <a:t>Because of the volatility in the value of the deposited assets, the collateralization requirement is far in excess of 100%. It could be in the 150-200% range.    </a:t>
            </a:r>
          </a:p>
        </p:txBody>
      </p:sp>
    </p:spTree>
    <p:extLst>
      <p:ext uri="{BB962C8B-B14F-4D97-AF65-F5344CB8AC3E}">
        <p14:creationId xmlns:p14="http://schemas.microsoft.com/office/powerpoint/2010/main" val="2096821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F4670-3B49-98B2-C0CB-16AE5F3C31AE}"/>
              </a:ext>
            </a:extLst>
          </p:cNvPr>
          <p:cNvSpPr>
            <a:spLocks noGrp="1"/>
          </p:cNvSpPr>
          <p:nvPr>
            <p:ph type="title"/>
          </p:nvPr>
        </p:nvSpPr>
        <p:spPr/>
        <p:txBody>
          <a:bodyPr anchor="b"/>
          <a:lstStyle/>
          <a:p>
            <a:r>
              <a:rPr lang="en-US" b="1">
                <a:latin typeface="National semibold" panose="02000503000000020004"/>
              </a:rPr>
              <a:t>Validity of </a:t>
            </a:r>
            <a:r>
              <a:rPr lang="en-US" b="1" err="1">
                <a:latin typeface="National semibold" panose="02000503000000020004"/>
              </a:rPr>
              <a:t>MakerDAO</a:t>
            </a:r>
            <a:r>
              <a:rPr lang="en-US" b="1">
                <a:latin typeface="National semibold" panose="02000503000000020004"/>
              </a:rPr>
              <a:t> ecosystem</a:t>
            </a:r>
          </a:p>
        </p:txBody>
      </p:sp>
      <p:sp>
        <p:nvSpPr>
          <p:cNvPr id="3" name="Content Placeholder 2">
            <a:extLst>
              <a:ext uri="{FF2B5EF4-FFF2-40B4-BE49-F238E27FC236}">
                <a16:creationId xmlns:a16="http://schemas.microsoft.com/office/drawing/2014/main" id="{D83E6BDF-3157-3AAA-5AF2-77B350FC737A}"/>
              </a:ext>
            </a:extLst>
          </p:cNvPr>
          <p:cNvSpPr>
            <a:spLocks noGrp="1"/>
          </p:cNvSpPr>
          <p:nvPr>
            <p:ph idx="1"/>
          </p:nvPr>
        </p:nvSpPr>
        <p:spPr>
          <a:xfrm>
            <a:off x="1522413" y="1981200"/>
            <a:ext cx="9829799" cy="4715164"/>
          </a:xfrm>
        </p:spPr>
        <p:txBody>
          <a:bodyPr>
            <a:normAutofit fontScale="92500" lnSpcReduction="20000"/>
          </a:bodyPr>
          <a:lstStyle/>
          <a:p>
            <a:r>
              <a:rPr lang="en-US" dirty="0">
                <a:latin typeface="National semibold" panose="02000503000000020004"/>
              </a:rPr>
              <a:t>Various mechanisms are in place to incentivize demand and supply to drive the price toward the 1-to-1 peg to the USD. They include:</a:t>
            </a:r>
          </a:p>
          <a:p>
            <a:pPr lvl="1"/>
            <a:r>
              <a:rPr lang="en-US" b="1" u="sng" dirty="0">
                <a:latin typeface="National semibold" panose="02000503000000020004"/>
              </a:rPr>
              <a:t>Debt ceiling</a:t>
            </a:r>
            <a:r>
              <a:rPr lang="en-US" dirty="0">
                <a:latin typeface="National semibold" panose="02000503000000020004"/>
              </a:rPr>
              <a:t>: The maximum that can be borrowed out of the collateral value (maximum collateralization ratio).</a:t>
            </a:r>
            <a:endParaRPr lang="en-US" b="1" u="sng" dirty="0">
              <a:latin typeface="National semibold" panose="02000503000000020004"/>
            </a:endParaRPr>
          </a:p>
          <a:p>
            <a:pPr lvl="1"/>
            <a:r>
              <a:rPr lang="en-US" b="1" u="sng" dirty="0">
                <a:latin typeface="National semibold" panose="02000503000000020004"/>
              </a:rPr>
              <a:t>Stability fee</a:t>
            </a:r>
            <a:r>
              <a:rPr lang="en-US" dirty="0">
                <a:latin typeface="National semibold" panose="02000503000000020004"/>
              </a:rPr>
              <a:t>: A variable interest rate that the vault holders pay in DAI on any DAI debt they generate. The rate can be lowered or raised to incentivize the generation or repayment of DAI and to drive its price toward the peg.</a:t>
            </a:r>
            <a:endParaRPr lang="en-US" b="1" u="sng" dirty="0">
              <a:latin typeface="National semibold" panose="02000503000000020004"/>
            </a:endParaRPr>
          </a:p>
          <a:p>
            <a:pPr lvl="1"/>
            <a:r>
              <a:rPr lang="en-US" b="1" u="sng" dirty="0">
                <a:latin typeface="National semibold" panose="02000503000000020004"/>
              </a:rPr>
              <a:t>DAI saving rate (DSR)</a:t>
            </a:r>
            <a:r>
              <a:rPr lang="en-US" dirty="0">
                <a:latin typeface="National semibold" panose="02000503000000020004"/>
              </a:rPr>
              <a:t>: A variable rate earned on DAI deposits by DAI holders.</a:t>
            </a:r>
            <a:endParaRPr lang="en-US" b="1" u="sng" dirty="0">
              <a:latin typeface="National semibold" panose="02000503000000020004"/>
            </a:endParaRPr>
          </a:p>
          <a:p>
            <a:r>
              <a:rPr lang="en-US" dirty="0">
                <a:latin typeface="National semibold" panose="02000503000000020004"/>
              </a:rPr>
              <a:t>The stability fee is always greater or equal to the DAI saving rate (DSR). This is similar, in centralized finance, to interest rate on bank loans vs. interest rate on bank deposits. </a:t>
            </a:r>
          </a:p>
          <a:p>
            <a:r>
              <a:rPr lang="en-US" dirty="0">
                <a:latin typeface="National semibold" panose="02000503000000020004"/>
              </a:rPr>
              <a:t>The debt ceiling can be adjusted to allow for more or less supply to meet current level of demand. If the protocol is at the debt ceiling, no new DAI can be minted. </a:t>
            </a:r>
          </a:p>
          <a:p>
            <a:r>
              <a:rPr lang="en-US" dirty="0">
                <a:latin typeface="National semibold" panose="02000503000000020004"/>
              </a:rPr>
              <a:t>These parameters are controlled by the holders of the governance token maker (MKR) and </a:t>
            </a:r>
            <a:r>
              <a:rPr lang="en-US" dirty="0" err="1">
                <a:latin typeface="National semibold" panose="02000503000000020004"/>
              </a:rPr>
              <a:t>MakerDAO</a:t>
            </a:r>
            <a:r>
              <a:rPr lang="en-US" dirty="0">
                <a:latin typeface="National semibold" panose="02000503000000020004"/>
              </a:rPr>
              <a:t> governance.</a:t>
            </a:r>
          </a:p>
        </p:txBody>
      </p:sp>
    </p:spTree>
    <p:extLst>
      <p:ext uri="{BB962C8B-B14F-4D97-AF65-F5344CB8AC3E}">
        <p14:creationId xmlns:p14="http://schemas.microsoft.com/office/powerpoint/2010/main" val="26661210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F4670-3B49-98B2-C0CB-16AE5F3C31AE}"/>
              </a:ext>
            </a:extLst>
          </p:cNvPr>
          <p:cNvSpPr>
            <a:spLocks noGrp="1"/>
          </p:cNvSpPr>
          <p:nvPr>
            <p:ph type="title"/>
          </p:nvPr>
        </p:nvSpPr>
        <p:spPr/>
        <p:txBody>
          <a:bodyPr anchor="b"/>
          <a:lstStyle/>
          <a:p>
            <a:r>
              <a:rPr lang="en-US" b="1">
                <a:latin typeface="National semibold" panose="02000503000000020004"/>
              </a:rPr>
              <a:t>Validity of </a:t>
            </a:r>
            <a:r>
              <a:rPr lang="en-US" b="1" err="1">
                <a:latin typeface="National semibold" panose="02000503000000020004"/>
              </a:rPr>
              <a:t>MakerDAO</a:t>
            </a:r>
            <a:r>
              <a:rPr lang="en-US" b="1">
                <a:latin typeface="National semibold" panose="02000503000000020004"/>
              </a:rPr>
              <a:t> ecosystem</a:t>
            </a:r>
          </a:p>
        </p:txBody>
      </p:sp>
      <p:sp>
        <p:nvSpPr>
          <p:cNvPr id="3" name="Content Placeholder 2">
            <a:extLst>
              <a:ext uri="{FF2B5EF4-FFF2-40B4-BE49-F238E27FC236}">
                <a16:creationId xmlns:a16="http://schemas.microsoft.com/office/drawing/2014/main" id="{D83E6BDF-3157-3AAA-5AF2-77B350FC737A}"/>
              </a:ext>
            </a:extLst>
          </p:cNvPr>
          <p:cNvSpPr>
            <a:spLocks noGrp="1"/>
          </p:cNvSpPr>
          <p:nvPr>
            <p:ph idx="1"/>
          </p:nvPr>
        </p:nvSpPr>
        <p:spPr>
          <a:xfrm>
            <a:off x="1522413" y="1981200"/>
            <a:ext cx="9829799" cy="4715164"/>
          </a:xfrm>
        </p:spPr>
        <p:txBody>
          <a:bodyPr>
            <a:normAutofit/>
          </a:bodyPr>
          <a:lstStyle/>
          <a:p>
            <a:r>
              <a:rPr lang="en-US" dirty="0">
                <a:latin typeface="National semibold" panose="02000503000000020004"/>
              </a:rPr>
              <a:t>If a position ends up under the liquidation ratio, a keeper can initiate an auction, that is, the sale of some of the ETH deposited in the vault as collateral. </a:t>
            </a:r>
          </a:p>
          <a:p>
            <a:pPr lvl="1"/>
            <a:r>
              <a:rPr lang="en-US" dirty="0">
                <a:latin typeface="National semibold" panose="02000503000000020004"/>
              </a:rPr>
              <a:t>There is a liquidation penalty calculated in percentage of the debt. After the auction, any remaining collateral reverts to the vault owner.  </a:t>
            </a:r>
          </a:p>
          <a:p>
            <a:pPr lvl="1"/>
            <a:r>
              <a:rPr lang="en-US" dirty="0">
                <a:latin typeface="National semibold" panose="02000503000000020004"/>
              </a:rPr>
              <a:t>The role of the penalty fee is to incentivize the market participants to monitor the vaults and to trigger an action when a position is close to be undercollateralized. </a:t>
            </a:r>
          </a:p>
          <a:p>
            <a:r>
              <a:rPr lang="en-US" dirty="0">
                <a:latin typeface="National semibold" panose="02000503000000020004"/>
              </a:rPr>
              <a:t>What happens if the value of the collateral is not enough to repay the debt?</a:t>
            </a:r>
          </a:p>
          <a:p>
            <a:pPr lvl="1"/>
            <a:r>
              <a:rPr lang="en-US" dirty="0">
                <a:latin typeface="National semibold" panose="02000503000000020004"/>
              </a:rPr>
              <a:t>The position is closed, and the unpaid debt is covered by a reserve pool created by the protocol. </a:t>
            </a:r>
          </a:p>
        </p:txBody>
      </p:sp>
    </p:spTree>
    <p:extLst>
      <p:ext uri="{BB962C8B-B14F-4D97-AF65-F5344CB8AC3E}">
        <p14:creationId xmlns:p14="http://schemas.microsoft.com/office/powerpoint/2010/main" val="8933437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F4670-3B49-98B2-C0CB-16AE5F3C31AE}"/>
              </a:ext>
            </a:extLst>
          </p:cNvPr>
          <p:cNvSpPr>
            <a:spLocks noGrp="1"/>
          </p:cNvSpPr>
          <p:nvPr>
            <p:ph type="title"/>
          </p:nvPr>
        </p:nvSpPr>
        <p:spPr/>
        <p:txBody>
          <a:bodyPr anchor="b"/>
          <a:lstStyle/>
          <a:p>
            <a:r>
              <a:rPr lang="en-US" b="1" err="1">
                <a:latin typeface="National semibold" panose="02000503000000020004"/>
              </a:rPr>
              <a:t>MakerDAO</a:t>
            </a:r>
            <a:r>
              <a:rPr lang="en-US" b="1">
                <a:latin typeface="National semibold" panose="02000503000000020004"/>
              </a:rPr>
              <a:t> (example)</a:t>
            </a:r>
          </a:p>
        </p:txBody>
      </p:sp>
      <p:sp>
        <p:nvSpPr>
          <p:cNvPr id="3" name="Content Placeholder 2">
            <a:extLst>
              <a:ext uri="{FF2B5EF4-FFF2-40B4-BE49-F238E27FC236}">
                <a16:creationId xmlns:a16="http://schemas.microsoft.com/office/drawing/2014/main" id="{D83E6BDF-3157-3AAA-5AF2-77B350FC737A}"/>
              </a:ext>
            </a:extLst>
          </p:cNvPr>
          <p:cNvSpPr>
            <a:spLocks noGrp="1"/>
          </p:cNvSpPr>
          <p:nvPr>
            <p:ph idx="1"/>
          </p:nvPr>
        </p:nvSpPr>
        <p:spPr>
          <a:xfrm>
            <a:off x="1522413" y="1981200"/>
            <a:ext cx="9829799" cy="4715164"/>
          </a:xfrm>
        </p:spPr>
        <p:txBody>
          <a:bodyPr>
            <a:normAutofit/>
          </a:bodyPr>
          <a:lstStyle/>
          <a:p>
            <a:r>
              <a:rPr lang="en-US" dirty="0">
                <a:latin typeface="National semibold" panose="02000503000000020004"/>
              </a:rPr>
              <a:t>An ETH investor needs liquidity but does not want to sell the owned ETH. One reason could be that he/she expects an appreciation of ETH. </a:t>
            </a:r>
          </a:p>
          <a:p>
            <a:r>
              <a:rPr lang="en-US" dirty="0">
                <a:latin typeface="National semibold" panose="02000503000000020004"/>
              </a:rPr>
              <a:t>The investor owns 5 ETH, each currently worth $1,000. Total value is $5,000.</a:t>
            </a:r>
          </a:p>
          <a:p>
            <a:r>
              <a:rPr lang="en-US" dirty="0">
                <a:latin typeface="National semibold" panose="02000503000000020004"/>
              </a:rPr>
              <a:t>Collateralization requirement is 150%. By depositing the 5 ETH in the vault, the investor can mint (borrow) 3,333 DAI.</a:t>
            </a:r>
          </a:p>
          <a:p>
            <a:r>
              <a:rPr lang="en-US" dirty="0">
                <a:latin typeface="National semibold" panose="02000503000000020004"/>
              </a:rPr>
              <a:t>However, it would be unwise to use all the borrowing capacity by minting 3,333 DAI. If ETH drops below $1,000, the loan would undercollateralized. </a:t>
            </a:r>
          </a:p>
          <a:p>
            <a:pPr marL="457200" lvl="2" indent="0">
              <a:buNone/>
            </a:pPr>
            <a:r>
              <a:rPr lang="en-US" dirty="0">
                <a:latin typeface="National semibold" panose="02000503000000020004"/>
              </a:rPr>
              <a:t>Similar to a </a:t>
            </a:r>
            <a:r>
              <a:rPr lang="en-US" i="1" dirty="0">
                <a:latin typeface="National semibold" panose="02000503000000020004"/>
              </a:rPr>
              <a:t>margin call</a:t>
            </a:r>
            <a:r>
              <a:rPr lang="en-US" dirty="0">
                <a:latin typeface="National semibold" panose="02000503000000020004"/>
              </a:rPr>
              <a:t>. However, there is not direct communication with a broker and no grace period. The position would be immediately and automatically liquidated by the smart contract.  </a:t>
            </a:r>
          </a:p>
          <a:p>
            <a:r>
              <a:rPr lang="en-US" dirty="0">
                <a:latin typeface="National semibold" panose="02000503000000020004"/>
              </a:rPr>
              <a:t>Because of the risk of becoming undercollateralized, most investors choose to mint less than 3,333 DAI in order to keep a buffer.</a:t>
            </a:r>
          </a:p>
        </p:txBody>
      </p:sp>
    </p:spTree>
    <p:extLst>
      <p:ext uri="{BB962C8B-B14F-4D97-AF65-F5344CB8AC3E}">
        <p14:creationId xmlns:p14="http://schemas.microsoft.com/office/powerpoint/2010/main" val="2659984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F4670-3B49-98B2-C0CB-16AE5F3C31AE}"/>
              </a:ext>
            </a:extLst>
          </p:cNvPr>
          <p:cNvSpPr>
            <a:spLocks noGrp="1"/>
          </p:cNvSpPr>
          <p:nvPr>
            <p:ph type="title"/>
          </p:nvPr>
        </p:nvSpPr>
        <p:spPr/>
        <p:txBody>
          <a:bodyPr anchor="b"/>
          <a:lstStyle/>
          <a:p>
            <a:r>
              <a:rPr lang="en-US" b="1" err="1">
                <a:latin typeface="National semibold" panose="02000503000000020004"/>
              </a:rPr>
              <a:t>MakerDAO</a:t>
            </a:r>
            <a:r>
              <a:rPr lang="en-US" b="1">
                <a:latin typeface="National semibold" panose="02000503000000020004"/>
              </a:rPr>
              <a:t> (continuing example)</a:t>
            </a:r>
          </a:p>
        </p:txBody>
      </p:sp>
      <p:sp>
        <p:nvSpPr>
          <p:cNvPr id="3" name="Content Placeholder 2">
            <a:extLst>
              <a:ext uri="{FF2B5EF4-FFF2-40B4-BE49-F238E27FC236}">
                <a16:creationId xmlns:a16="http://schemas.microsoft.com/office/drawing/2014/main" id="{D83E6BDF-3157-3AAA-5AF2-77B350FC737A}"/>
              </a:ext>
            </a:extLst>
          </p:cNvPr>
          <p:cNvSpPr>
            <a:spLocks noGrp="1"/>
          </p:cNvSpPr>
          <p:nvPr>
            <p:ph idx="1"/>
          </p:nvPr>
        </p:nvSpPr>
        <p:spPr>
          <a:xfrm>
            <a:off x="1522413" y="1981200"/>
            <a:ext cx="9829799" cy="4715164"/>
          </a:xfrm>
        </p:spPr>
        <p:txBody>
          <a:bodyPr>
            <a:normAutofit fontScale="92500" lnSpcReduction="10000"/>
          </a:bodyPr>
          <a:lstStyle/>
          <a:p>
            <a:r>
              <a:rPr lang="en-US" dirty="0">
                <a:latin typeface="National semibold" panose="02000503000000020004"/>
              </a:rPr>
              <a:t>Suppose the investor mints 2,500 DAI. The collateralization ratio is 200%, which is higher than the minimum of 150%.</a:t>
            </a:r>
          </a:p>
          <a:p>
            <a:r>
              <a:rPr lang="en-US" dirty="0">
                <a:latin typeface="National semibold" panose="02000503000000020004"/>
              </a:rPr>
              <a:t>Consider two scenarios:</a:t>
            </a:r>
          </a:p>
          <a:p>
            <a:pPr marL="739775" lvl="1" indent="-457200">
              <a:buFont typeface="+mj-lt"/>
              <a:buAutoNum type="arabicPeriod"/>
            </a:pPr>
            <a:r>
              <a:rPr lang="en-US" dirty="0">
                <a:latin typeface="National semibold" panose="02000503000000020004"/>
              </a:rPr>
              <a:t>ETH price rises by 50%, from $1,000 to $1,500. The value of the collateral rises to $7,500. Even if the investor wants to keep a collateralization of 200%, he/she can mint 1,250 additional DAI.</a:t>
            </a:r>
          </a:p>
          <a:p>
            <a:pPr marL="739775" lvl="1" indent="-457200">
              <a:buFont typeface="+mj-lt"/>
              <a:buAutoNum type="arabicPeriod"/>
            </a:pPr>
            <a:r>
              <a:rPr lang="en-US" dirty="0">
                <a:latin typeface="National semibold" panose="02000503000000020004"/>
              </a:rPr>
              <a:t>ETH price drops by 25%, from $1,000 to $750. The collateral value drops to $3,750 and the collateralization ratio drops to 150% (3,750/2,500). There are three possibilities:</a:t>
            </a:r>
          </a:p>
          <a:p>
            <a:pPr marL="800100" lvl="2" indent="-342900">
              <a:buFont typeface="+mj-lt"/>
              <a:buAutoNum type="alphaLcParenR"/>
            </a:pPr>
            <a:r>
              <a:rPr lang="en-US" dirty="0">
                <a:latin typeface="National semibold" panose="02000503000000020004"/>
              </a:rPr>
              <a:t>Increase the collateral in the contract to bring the collateralization ratio back to 200%. This requires adding to the vault 1.666 ETH, bringing the total deposit to 6.666 ETH.</a:t>
            </a:r>
          </a:p>
          <a:p>
            <a:pPr marL="800100" lvl="2" indent="-342900">
              <a:buFont typeface="+mj-lt"/>
              <a:buAutoNum type="alphaLcParenR"/>
            </a:pPr>
            <a:r>
              <a:rPr lang="en-US" dirty="0">
                <a:latin typeface="National semibold" panose="02000503000000020004"/>
              </a:rPr>
              <a:t>Use the minted 2,500 DAI to pay back the loan. In this case the investor free-up the 5 ETH that now are worth $3,750.      </a:t>
            </a:r>
          </a:p>
          <a:p>
            <a:pPr marL="800100" lvl="2" indent="-342900">
              <a:buFont typeface="+mj-lt"/>
              <a:buAutoNum type="alphaLcParenR"/>
            </a:pPr>
            <a:r>
              <a:rPr lang="en-US" dirty="0">
                <a:latin typeface="National semibold" panose="02000503000000020004"/>
              </a:rPr>
              <a:t>The loan is liquidated by a </a:t>
            </a:r>
            <a:r>
              <a:rPr lang="en-US" i="1" dirty="0">
                <a:latin typeface="National semibold" panose="02000503000000020004"/>
              </a:rPr>
              <a:t>keeper</a:t>
            </a:r>
            <a:r>
              <a:rPr lang="en-US" dirty="0">
                <a:latin typeface="National semibold" panose="02000503000000020004"/>
              </a:rPr>
              <a:t> (any external actor) who is incentivized to do so. The keeper auctions some of the ETH sufficient to repay the loan. At the price of $750, the keeper sells 3.333 ETH in exchange of 2,500 DAI. The remaining  1.667 ETH will be returned to the investor net of a fee. If the fee is 0.2 ETH, the investor receives 1.467 ETH. Now the investor has 2,500 DAI worth $2,500 and 1.467 ETH worth $1,100.25.    </a:t>
            </a:r>
          </a:p>
        </p:txBody>
      </p:sp>
    </p:spTree>
    <p:extLst>
      <p:ext uri="{BB962C8B-B14F-4D97-AF65-F5344CB8AC3E}">
        <p14:creationId xmlns:p14="http://schemas.microsoft.com/office/powerpoint/2010/main" val="28384405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F4670-3B49-98B2-C0CB-16AE5F3C31AE}"/>
              </a:ext>
            </a:extLst>
          </p:cNvPr>
          <p:cNvSpPr>
            <a:spLocks noGrp="1"/>
          </p:cNvSpPr>
          <p:nvPr>
            <p:ph type="title"/>
          </p:nvPr>
        </p:nvSpPr>
        <p:spPr/>
        <p:txBody>
          <a:bodyPr anchor="b"/>
          <a:lstStyle/>
          <a:p>
            <a:r>
              <a:rPr lang="en-US" b="1" dirty="0" err="1">
                <a:latin typeface="National semibold" panose="02000503000000020004"/>
              </a:rPr>
              <a:t>MakerDAO</a:t>
            </a:r>
            <a:r>
              <a:rPr lang="en-US" b="1" dirty="0">
                <a:latin typeface="National semibold" panose="02000503000000020004"/>
              </a:rPr>
              <a:t> (Another example)</a:t>
            </a:r>
          </a:p>
        </p:txBody>
      </p:sp>
      <p:sp>
        <p:nvSpPr>
          <p:cNvPr id="3" name="Content Placeholder 2">
            <a:extLst>
              <a:ext uri="{FF2B5EF4-FFF2-40B4-BE49-F238E27FC236}">
                <a16:creationId xmlns:a16="http://schemas.microsoft.com/office/drawing/2014/main" id="{D83E6BDF-3157-3AAA-5AF2-77B350FC737A}"/>
              </a:ext>
            </a:extLst>
          </p:cNvPr>
          <p:cNvSpPr>
            <a:spLocks noGrp="1"/>
          </p:cNvSpPr>
          <p:nvPr>
            <p:ph idx="1"/>
          </p:nvPr>
        </p:nvSpPr>
        <p:spPr>
          <a:xfrm>
            <a:off x="1522413" y="1981200"/>
            <a:ext cx="10151427" cy="4715164"/>
          </a:xfrm>
        </p:spPr>
        <p:txBody>
          <a:bodyPr>
            <a:normAutofit fontScale="92500" lnSpcReduction="20000"/>
          </a:bodyPr>
          <a:lstStyle/>
          <a:p>
            <a:pPr marL="0" indent="0">
              <a:buNone/>
            </a:pPr>
            <a:r>
              <a:rPr lang="en-US" dirty="0">
                <a:latin typeface="National semibold" panose="02000503000000020004"/>
              </a:rPr>
              <a:t>An investor owns </a:t>
            </a:r>
            <a:r>
              <a:rPr lang="en-US" dirty="0">
                <a:solidFill>
                  <a:srgbClr val="FF0000"/>
                </a:solidFill>
                <a:latin typeface="National semibold" panose="02000503000000020004"/>
              </a:rPr>
              <a:t>100 ETH</a:t>
            </a:r>
            <a:r>
              <a:rPr lang="en-US" dirty="0">
                <a:latin typeface="National semibold" panose="02000503000000020004"/>
              </a:rPr>
              <a:t>, each worth </a:t>
            </a:r>
            <a:r>
              <a:rPr lang="en-US" dirty="0">
                <a:solidFill>
                  <a:srgbClr val="FF0000"/>
                </a:solidFill>
                <a:latin typeface="National semibold" panose="02000503000000020004"/>
              </a:rPr>
              <a:t>1,000 Dollars</a:t>
            </a:r>
            <a:r>
              <a:rPr lang="en-US" dirty="0">
                <a:latin typeface="National semibold" panose="02000503000000020004"/>
              </a:rPr>
              <a:t>. </a:t>
            </a:r>
          </a:p>
          <a:p>
            <a:pPr marL="0" indent="0">
              <a:buNone/>
            </a:pPr>
            <a:r>
              <a:rPr lang="en-US" dirty="0">
                <a:latin typeface="National semibold" panose="02000503000000020004"/>
              </a:rPr>
              <a:t>The investor  deposits </a:t>
            </a:r>
            <a:r>
              <a:rPr lang="en-US" dirty="0">
                <a:solidFill>
                  <a:srgbClr val="FF0000"/>
                </a:solidFill>
                <a:latin typeface="National semibold" panose="02000503000000020004"/>
              </a:rPr>
              <a:t>50 ETH</a:t>
            </a:r>
            <a:r>
              <a:rPr lang="en-US" dirty="0">
                <a:latin typeface="National semibold" panose="02000503000000020004"/>
              </a:rPr>
              <a:t> in a Vault in order to mint DAI (each worth 1 Dollar). The minimum collateralization ratio is </a:t>
            </a:r>
            <a:r>
              <a:rPr lang="en-US" dirty="0">
                <a:solidFill>
                  <a:srgbClr val="FF0000"/>
                </a:solidFill>
                <a:latin typeface="National semibold" panose="02000503000000020004"/>
              </a:rPr>
              <a:t>200%</a:t>
            </a:r>
            <a:r>
              <a:rPr lang="en-US" dirty="0">
                <a:latin typeface="National semibold" panose="02000503000000020004"/>
              </a:rPr>
              <a:t>.</a:t>
            </a:r>
          </a:p>
          <a:p>
            <a:pPr marL="0" indent="0">
              <a:buNone/>
            </a:pPr>
            <a:r>
              <a:rPr lang="en-US" b="1" dirty="0">
                <a:latin typeface="National semibold" panose="02000503000000020004"/>
              </a:rPr>
              <a:t>Questions:</a:t>
            </a:r>
          </a:p>
          <a:p>
            <a:pPr marL="457200" indent="-457200">
              <a:buFont typeface="+mj-lt"/>
              <a:buAutoNum type="arabicPeriod"/>
            </a:pPr>
            <a:r>
              <a:rPr lang="en-US" dirty="0">
                <a:latin typeface="National semibold" panose="02000503000000020004"/>
              </a:rPr>
              <a:t>What is the maximum number of DAI that the investor can mint? </a:t>
            </a:r>
            <a:endParaRPr lang="en-US" dirty="0">
              <a:solidFill>
                <a:srgbClr val="FF0000"/>
              </a:solidFill>
              <a:latin typeface="National semibold" panose="02000503000000020004"/>
            </a:endParaRPr>
          </a:p>
          <a:p>
            <a:pPr marL="457200" indent="-457200">
              <a:buFont typeface="+mj-lt"/>
              <a:buAutoNum type="arabicPeriod"/>
            </a:pPr>
            <a:r>
              <a:rPr lang="en-US" dirty="0">
                <a:latin typeface="National semibold" panose="02000503000000020004"/>
              </a:rPr>
              <a:t>If the investor chooses to mint 20,000 DAI, what is the actual collateralization ratio? </a:t>
            </a:r>
            <a:endParaRPr lang="en-US" dirty="0">
              <a:solidFill>
                <a:srgbClr val="FF0000"/>
              </a:solidFill>
              <a:latin typeface="National semibold" panose="02000503000000020004"/>
            </a:endParaRPr>
          </a:p>
          <a:p>
            <a:pPr marL="457200" indent="-457200">
              <a:buFont typeface="+mj-lt"/>
              <a:buAutoNum type="arabicPeriod"/>
            </a:pPr>
            <a:r>
              <a:rPr lang="en-US" dirty="0">
                <a:latin typeface="National semibold" panose="02000503000000020004"/>
              </a:rPr>
              <a:t>Having minted 20,000 DAI, what is the ETH price below which the loan becomes undercollateralized? </a:t>
            </a:r>
            <a:endParaRPr lang="en-US" dirty="0">
              <a:solidFill>
                <a:srgbClr val="FF0000"/>
              </a:solidFill>
              <a:latin typeface="National semibold" panose="02000503000000020004"/>
            </a:endParaRPr>
          </a:p>
          <a:p>
            <a:pPr marL="457200" indent="-457200">
              <a:buFont typeface="+mj-lt"/>
              <a:buAutoNum type="arabicPeriod"/>
            </a:pPr>
            <a:r>
              <a:rPr lang="en-US" dirty="0">
                <a:latin typeface="National semibold" panose="02000503000000020004"/>
              </a:rPr>
              <a:t>Suppose that the ETH price drops to 500 Dollars, how many ETH need to be deposited in the vault in order to avoid being undercollateralized? </a:t>
            </a:r>
          </a:p>
          <a:p>
            <a:pPr marL="457200" indent="-457200">
              <a:buFont typeface="+mj-lt"/>
              <a:buAutoNum type="arabicPeriod"/>
            </a:pPr>
            <a:r>
              <a:rPr lang="en-US" dirty="0">
                <a:latin typeface="National semibold" panose="02000503000000020004"/>
              </a:rPr>
              <a:t>If the ETH price continue to be 500 Dollars, how many more ETH need to be deposited in the vault in order to have an effective collateralization ratio of 250%? </a:t>
            </a:r>
            <a:endParaRPr lang="en-US" dirty="0">
              <a:solidFill>
                <a:srgbClr val="FF0000"/>
              </a:solidFill>
              <a:latin typeface="National semibold" panose="02000503000000020004"/>
            </a:endParaRPr>
          </a:p>
        </p:txBody>
      </p:sp>
    </p:spTree>
    <p:extLst>
      <p:ext uri="{BB962C8B-B14F-4D97-AF65-F5344CB8AC3E}">
        <p14:creationId xmlns:p14="http://schemas.microsoft.com/office/powerpoint/2010/main" val="9653592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F4670-3B49-98B2-C0CB-16AE5F3C31AE}"/>
              </a:ext>
            </a:extLst>
          </p:cNvPr>
          <p:cNvSpPr>
            <a:spLocks noGrp="1"/>
          </p:cNvSpPr>
          <p:nvPr>
            <p:ph type="title"/>
          </p:nvPr>
        </p:nvSpPr>
        <p:spPr/>
        <p:txBody>
          <a:bodyPr anchor="b"/>
          <a:lstStyle/>
          <a:p>
            <a:r>
              <a:rPr lang="en-US" b="1">
                <a:latin typeface="National semibold" panose="02000503000000020004"/>
              </a:rPr>
              <a:t>MKR token</a:t>
            </a:r>
          </a:p>
        </p:txBody>
      </p:sp>
      <p:sp>
        <p:nvSpPr>
          <p:cNvPr id="3" name="Content Placeholder 2">
            <a:extLst>
              <a:ext uri="{FF2B5EF4-FFF2-40B4-BE49-F238E27FC236}">
                <a16:creationId xmlns:a16="http://schemas.microsoft.com/office/drawing/2014/main" id="{D83E6BDF-3157-3AAA-5AF2-77B350FC737A}"/>
              </a:ext>
            </a:extLst>
          </p:cNvPr>
          <p:cNvSpPr>
            <a:spLocks noGrp="1"/>
          </p:cNvSpPr>
          <p:nvPr>
            <p:ph idx="1"/>
          </p:nvPr>
        </p:nvSpPr>
        <p:spPr>
          <a:xfrm>
            <a:off x="1522413" y="1981200"/>
            <a:ext cx="9829799" cy="4715164"/>
          </a:xfrm>
        </p:spPr>
        <p:txBody>
          <a:bodyPr>
            <a:normAutofit/>
          </a:bodyPr>
          <a:lstStyle/>
          <a:p>
            <a:r>
              <a:rPr lang="en-US" dirty="0">
                <a:latin typeface="National semibold" panose="02000503000000020004"/>
              </a:rPr>
              <a:t>Holders of MKR tokens have the right to vote on protocol upgrades: type of collateral assets, parameters determining the collateralization ratio, stability fee, DAI saving rate, etc. They are the analog of shareholders in corporations.</a:t>
            </a:r>
          </a:p>
          <a:p>
            <a:r>
              <a:rPr lang="en-US" dirty="0">
                <a:latin typeface="National semibold" panose="02000503000000020004"/>
              </a:rPr>
              <a:t>MKR holders are expected to make decisions in the best financial interest of the platform: a healthy platform should increase the value of their share in the platform’s governance.  </a:t>
            </a:r>
          </a:p>
          <a:p>
            <a:r>
              <a:rPr lang="en-US" dirty="0">
                <a:latin typeface="National semibold" panose="02000503000000020004"/>
              </a:rPr>
              <a:t>MKR holders could also vote on paying a dividend based on profits made on the difference between stability fee and DSR. However, this should be weighted against possible negative community response, which would have a negative impact on the MKR value. </a:t>
            </a:r>
          </a:p>
        </p:txBody>
      </p:sp>
    </p:spTree>
    <p:extLst>
      <p:ext uri="{BB962C8B-B14F-4D97-AF65-F5344CB8AC3E}">
        <p14:creationId xmlns:p14="http://schemas.microsoft.com/office/powerpoint/2010/main" val="17482694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F4670-3B49-98B2-C0CB-16AE5F3C31AE}"/>
              </a:ext>
            </a:extLst>
          </p:cNvPr>
          <p:cNvSpPr>
            <a:spLocks noGrp="1"/>
          </p:cNvSpPr>
          <p:nvPr>
            <p:ph type="title"/>
          </p:nvPr>
        </p:nvSpPr>
        <p:spPr/>
        <p:txBody>
          <a:bodyPr anchor="b"/>
          <a:lstStyle/>
          <a:p>
            <a:r>
              <a:rPr lang="en-US" b="1">
                <a:latin typeface="National semibold" panose="02000503000000020004"/>
              </a:rPr>
              <a:t>What is the difference between DAI and a more standard </a:t>
            </a:r>
            <a:r>
              <a:rPr lang="en-US" b="1" err="1">
                <a:latin typeface="National semibold" panose="02000503000000020004"/>
              </a:rPr>
              <a:t>stablecoin</a:t>
            </a:r>
            <a:r>
              <a:rPr lang="en-US" b="1">
                <a:latin typeface="National semibold" panose="02000503000000020004"/>
              </a:rPr>
              <a:t>?</a:t>
            </a:r>
          </a:p>
        </p:txBody>
      </p:sp>
      <p:sp>
        <p:nvSpPr>
          <p:cNvPr id="3" name="Content Placeholder 2">
            <a:extLst>
              <a:ext uri="{FF2B5EF4-FFF2-40B4-BE49-F238E27FC236}">
                <a16:creationId xmlns:a16="http://schemas.microsoft.com/office/drawing/2014/main" id="{D83E6BDF-3157-3AAA-5AF2-77B350FC737A}"/>
              </a:ext>
            </a:extLst>
          </p:cNvPr>
          <p:cNvSpPr>
            <a:spLocks noGrp="1"/>
          </p:cNvSpPr>
          <p:nvPr>
            <p:ph idx="1"/>
          </p:nvPr>
        </p:nvSpPr>
        <p:spPr>
          <a:xfrm>
            <a:off x="1522413" y="1981200"/>
            <a:ext cx="9829799" cy="4715164"/>
          </a:xfrm>
        </p:spPr>
        <p:txBody>
          <a:bodyPr>
            <a:normAutofit/>
          </a:bodyPr>
          <a:lstStyle/>
          <a:p>
            <a:r>
              <a:rPr lang="en-US" dirty="0">
                <a:latin typeface="National semibold" panose="02000503000000020004"/>
              </a:rPr>
              <a:t>In DAI there is no a clear arbitrage mechanism to maintain the peg.</a:t>
            </a:r>
          </a:p>
          <a:p>
            <a:r>
              <a:rPr lang="en-US" dirty="0">
                <a:latin typeface="National semibold" panose="02000503000000020004"/>
              </a:rPr>
              <a:t>A </a:t>
            </a:r>
            <a:r>
              <a:rPr lang="en-US" dirty="0" err="1">
                <a:latin typeface="National semibold" panose="02000503000000020004"/>
              </a:rPr>
              <a:t>stablecoin</a:t>
            </a:r>
            <a:r>
              <a:rPr lang="en-US" dirty="0">
                <a:latin typeface="National semibold" panose="02000503000000020004"/>
              </a:rPr>
              <a:t>, instead, is always redeemable at the peg rate. </a:t>
            </a:r>
          </a:p>
          <a:p>
            <a:pPr lvl="1"/>
            <a:r>
              <a:rPr lang="en-US" dirty="0">
                <a:latin typeface="National semibold" panose="02000503000000020004"/>
              </a:rPr>
              <a:t>For example, </a:t>
            </a:r>
            <a:r>
              <a:rPr lang="en-US" dirty="0" err="1">
                <a:latin typeface="National semibold" panose="02000503000000020004"/>
              </a:rPr>
              <a:t>stablecoin</a:t>
            </a:r>
            <a:r>
              <a:rPr lang="en-US" dirty="0">
                <a:latin typeface="National semibold" panose="02000503000000020004"/>
              </a:rPr>
              <a:t> USDC is always redeemable with no fees by Coinbase for $1. Arbitrageurs have a guaranteed strategy in which they can buy USDC at a discount (if the price drops below $1) and redeem USDC at $1 from Coinbase (assuming solvency of Coinbase). If the price increases above 1USD, arbitrageurs can mint new USDC at $1 and resell them at the higher market price.   </a:t>
            </a:r>
          </a:p>
          <a:p>
            <a:pPr lvl="1"/>
            <a:r>
              <a:rPr lang="en-US" dirty="0">
                <a:latin typeface="National semibold" panose="02000503000000020004"/>
              </a:rPr>
              <a:t>This is not the case with DAI. There is no mechanism assuring that the price stays 1. For example, if the price of DAI increases above $1, it could be profitable to mint new DAI. But in order to do this, investors need collateral (deposit ETH in the vault). If there is scarcity of suitable collateral, no more DAI will be minted.  </a:t>
            </a:r>
          </a:p>
          <a:p>
            <a:r>
              <a:rPr lang="en-US" dirty="0">
                <a:latin typeface="National semibold" panose="02000503000000020004"/>
              </a:rPr>
              <a:t>Despite the drawbacks, the simplicity of DAI makes it an essential building block for other </a:t>
            </a:r>
            <a:r>
              <a:rPr lang="en-US" dirty="0" err="1">
                <a:latin typeface="National semibold" panose="02000503000000020004"/>
              </a:rPr>
              <a:t>DeFi</a:t>
            </a:r>
            <a:r>
              <a:rPr lang="en-US" dirty="0">
                <a:latin typeface="National semibold" panose="02000503000000020004"/>
              </a:rPr>
              <a:t> applications. </a:t>
            </a:r>
          </a:p>
        </p:txBody>
      </p:sp>
    </p:spTree>
    <p:extLst>
      <p:ext uri="{BB962C8B-B14F-4D97-AF65-F5344CB8AC3E}">
        <p14:creationId xmlns:p14="http://schemas.microsoft.com/office/powerpoint/2010/main" val="20011399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F4670-3B49-98B2-C0CB-16AE5F3C31AE}"/>
              </a:ext>
            </a:extLst>
          </p:cNvPr>
          <p:cNvSpPr>
            <a:spLocks noGrp="1"/>
          </p:cNvSpPr>
          <p:nvPr>
            <p:ph type="title"/>
          </p:nvPr>
        </p:nvSpPr>
        <p:spPr/>
        <p:txBody>
          <a:bodyPr anchor="b"/>
          <a:lstStyle/>
          <a:p>
            <a:r>
              <a:rPr lang="en-US" b="1">
                <a:latin typeface="National semibold" panose="02000503000000020004"/>
              </a:rPr>
              <a:t>Compound</a:t>
            </a:r>
          </a:p>
        </p:txBody>
      </p:sp>
      <p:sp>
        <p:nvSpPr>
          <p:cNvPr id="3" name="Content Placeholder 2">
            <a:extLst>
              <a:ext uri="{FF2B5EF4-FFF2-40B4-BE49-F238E27FC236}">
                <a16:creationId xmlns:a16="http://schemas.microsoft.com/office/drawing/2014/main" id="{D83E6BDF-3157-3AAA-5AF2-77B350FC737A}"/>
              </a:ext>
            </a:extLst>
          </p:cNvPr>
          <p:cNvSpPr>
            <a:spLocks noGrp="1"/>
          </p:cNvSpPr>
          <p:nvPr>
            <p:ph idx="1"/>
          </p:nvPr>
        </p:nvSpPr>
        <p:spPr>
          <a:xfrm>
            <a:off x="1522413" y="1981200"/>
            <a:ext cx="9829799" cy="4715164"/>
          </a:xfrm>
        </p:spPr>
        <p:txBody>
          <a:bodyPr>
            <a:normAutofit fontScale="92500" lnSpcReduction="20000"/>
          </a:bodyPr>
          <a:lstStyle/>
          <a:p>
            <a:r>
              <a:rPr lang="en-US" dirty="0">
                <a:latin typeface="National semibold" panose="02000503000000020004"/>
                <a:hlinkClick r:id="rId2"/>
              </a:rPr>
              <a:t>Compound</a:t>
            </a:r>
            <a:r>
              <a:rPr lang="en-US" dirty="0">
                <a:latin typeface="National semibold" panose="02000503000000020004"/>
              </a:rPr>
              <a:t> is a lending market that offers several different ERC-20 assets for borrowing and lending. </a:t>
            </a:r>
          </a:p>
          <a:p>
            <a:pPr lvl="1"/>
            <a:r>
              <a:rPr lang="en-US" dirty="0">
                <a:latin typeface="National semibold" panose="02000503000000020004"/>
              </a:rPr>
              <a:t>ERC-20 is the technical standard for fungible tokens created using the Ethereum blockchain. A fungible token is one that is interchangeable with another token, while non-fungible tokens (NFTs) are not interchangeable.</a:t>
            </a:r>
          </a:p>
          <a:p>
            <a:r>
              <a:rPr lang="en-US" dirty="0">
                <a:latin typeface="National semibold" panose="02000503000000020004"/>
              </a:rPr>
              <a:t>All tokens in a single market (for example ETH, or BTC, etc.) are pooled together so that every lender earns the same variable rate, and every borrower pays the same variable rate. </a:t>
            </a:r>
          </a:p>
          <a:p>
            <a:r>
              <a:rPr lang="en-US" dirty="0">
                <a:latin typeface="National semibold" panose="02000503000000020004"/>
              </a:rPr>
              <a:t>Because Ethereum accounts are pseudonymous, enforcing repayment in the event of default is impossible. The concept of credit rating is irrelevant. </a:t>
            </a:r>
          </a:p>
          <a:p>
            <a:pPr lvl="1"/>
            <a:r>
              <a:rPr lang="en-US" dirty="0">
                <a:latin typeface="National semibold" panose="02000503000000020004"/>
              </a:rPr>
              <a:t>All loans are overcollateralized in an asset that is different from the one being borrowed. </a:t>
            </a:r>
          </a:p>
          <a:p>
            <a:r>
              <a:rPr lang="en-US" dirty="0">
                <a:latin typeface="National semibold" panose="02000503000000020004"/>
              </a:rPr>
              <a:t>If a borrower’s position falls below the collateralization ratio, the position is liquidated to pay back the loan. </a:t>
            </a:r>
          </a:p>
          <a:p>
            <a:pPr lvl="1"/>
            <a:r>
              <a:rPr lang="en-US" dirty="0">
                <a:latin typeface="National semibold" panose="02000503000000020004"/>
              </a:rPr>
              <a:t>The debt can be liquidated by keepers, similarly to </a:t>
            </a:r>
            <a:r>
              <a:rPr lang="en-US" dirty="0" err="1">
                <a:latin typeface="National semibold" panose="02000503000000020004"/>
              </a:rPr>
              <a:t>MakerDAO</a:t>
            </a:r>
            <a:r>
              <a:rPr lang="en-US" dirty="0">
                <a:latin typeface="National semibold" panose="02000503000000020004"/>
              </a:rPr>
              <a:t>, who receive a bonus incentive for each unit of debt they close out.      </a:t>
            </a:r>
          </a:p>
        </p:txBody>
      </p:sp>
    </p:spTree>
    <p:extLst>
      <p:ext uri="{BB962C8B-B14F-4D97-AF65-F5344CB8AC3E}">
        <p14:creationId xmlns:p14="http://schemas.microsoft.com/office/powerpoint/2010/main" val="40564024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F4670-3B49-98B2-C0CB-16AE5F3C31AE}"/>
              </a:ext>
            </a:extLst>
          </p:cNvPr>
          <p:cNvSpPr>
            <a:spLocks noGrp="1"/>
          </p:cNvSpPr>
          <p:nvPr>
            <p:ph type="title"/>
          </p:nvPr>
        </p:nvSpPr>
        <p:spPr/>
        <p:txBody>
          <a:bodyPr anchor="b"/>
          <a:lstStyle/>
          <a:p>
            <a:r>
              <a:rPr lang="en-US" b="1">
                <a:latin typeface="National semibold" panose="02000503000000020004"/>
              </a:rPr>
              <a:t>Compound</a:t>
            </a:r>
          </a:p>
        </p:txBody>
      </p:sp>
      <p:sp>
        <p:nvSpPr>
          <p:cNvPr id="3" name="Content Placeholder 2">
            <a:extLst>
              <a:ext uri="{FF2B5EF4-FFF2-40B4-BE49-F238E27FC236}">
                <a16:creationId xmlns:a16="http://schemas.microsoft.com/office/drawing/2014/main" id="{D83E6BDF-3157-3AAA-5AF2-77B350FC737A}"/>
              </a:ext>
            </a:extLst>
          </p:cNvPr>
          <p:cNvSpPr>
            <a:spLocks noGrp="1"/>
          </p:cNvSpPr>
          <p:nvPr>
            <p:ph idx="1"/>
          </p:nvPr>
        </p:nvSpPr>
        <p:spPr>
          <a:xfrm>
            <a:off x="1522413" y="1981200"/>
            <a:ext cx="9829799" cy="4715164"/>
          </a:xfrm>
        </p:spPr>
        <p:txBody>
          <a:bodyPr>
            <a:normAutofit/>
          </a:bodyPr>
          <a:lstStyle/>
          <a:p>
            <a:r>
              <a:rPr lang="en-US">
                <a:latin typeface="National semibold" panose="02000503000000020004"/>
              </a:rPr>
              <a:t>The collateralization ratio is calculated via a </a:t>
            </a:r>
            <a:r>
              <a:rPr lang="en-US" i="1">
                <a:latin typeface="National semibold" panose="02000503000000020004"/>
              </a:rPr>
              <a:t>collateral factor</a:t>
            </a:r>
            <a:r>
              <a:rPr lang="en-US">
                <a:latin typeface="National semibold" panose="02000503000000020004"/>
              </a:rPr>
              <a:t>.</a:t>
            </a:r>
          </a:p>
          <a:p>
            <a:r>
              <a:rPr lang="en-US">
                <a:latin typeface="National semibold" panose="02000503000000020004"/>
              </a:rPr>
              <a:t>Each ERC-20 asset on the platform has its own collateral factor ranging from 0 to 90 percent. </a:t>
            </a:r>
          </a:p>
          <a:p>
            <a:pPr lvl="1"/>
            <a:r>
              <a:rPr lang="en-US">
                <a:latin typeface="National semibold" panose="02000503000000020004"/>
              </a:rPr>
              <a:t>The collateralization ratio is 100 divided by the collateral factor. For example, if the collateral factor is 25, then the collateralization ratio is 100/25=4 or 400%. </a:t>
            </a:r>
          </a:p>
          <a:p>
            <a:pPr lvl="1"/>
            <a:r>
              <a:rPr lang="en-US">
                <a:latin typeface="National semibold" panose="02000503000000020004"/>
              </a:rPr>
              <a:t>In general, ERC-20 assets characterized by more volatile prices have a lower collateral factor (and a higher collateralization ratio).  </a:t>
            </a:r>
          </a:p>
          <a:p>
            <a:pPr lvl="1"/>
            <a:r>
              <a:rPr lang="en-US">
                <a:latin typeface="National semibold" panose="02000503000000020004"/>
              </a:rPr>
              <a:t>An account can use multiple ERC-20 assets as collateral. In this case the collateral factor is calculated as a weighted average of the various assets. </a:t>
            </a:r>
          </a:p>
          <a:p>
            <a:r>
              <a:rPr lang="en-US">
                <a:latin typeface="National semibold" panose="02000503000000020004"/>
              </a:rPr>
              <a:t>The collateralization ratio is similar to a reserve multiplier in traditional banking: it constrains the amount of “borrowed dollars” that can be in the system relative to the “real” supply. </a:t>
            </a:r>
          </a:p>
          <a:p>
            <a:endParaRPr lang="en-US">
              <a:latin typeface="National semibold" panose="02000503000000020004"/>
            </a:endParaRPr>
          </a:p>
          <a:p>
            <a:endParaRPr lang="en-US">
              <a:latin typeface="National semibold" panose="02000503000000020004"/>
            </a:endParaRPr>
          </a:p>
        </p:txBody>
      </p:sp>
    </p:spTree>
    <p:extLst>
      <p:ext uri="{BB962C8B-B14F-4D97-AF65-F5344CB8AC3E}">
        <p14:creationId xmlns:p14="http://schemas.microsoft.com/office/powerpoint/2010/main" val="25109442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F4670-3B49-98B2-C0CB-16AE5F3C31AE}"/>
              </a:ext>
            </a:extLst>
          </p:cNvPr>
          <p:cNvSpPr>
            <a:spLocks noGrp="1"/>
          </p:cNvSpPr>
          <p:nvPr>
            <p:ph type="title"/>
          </p:nvPr>
        </p:nvSpPr>
        <p:spPr/>
        <p:txBody>
          <a:bodyPr anchor="b"/>
          <a:lstStyle/>
          <a:p>
            <a:r>
              <a:rPr lang="en-US" b="1">
                <a:latin typeface="National semibold" panose="02000503000000020004"/>
              </a:rPr>
              <a:t>Compound (example)</a:t>
            </a:r>
          </a:p>
        </p:txBody>
      </p:sp>
      <p:sp>
        <p:nvSpPr>
          <p:cNvPr id="3" name="Content Placeholder 2">
            <a:extLst>
              <a:ext uri="{FF2B5EF4-FFF2-40B4-BE49-F238E27FC236}">
                <a16:creationId xmlns:a16="http://schemas.microsoft.com/office/drawing/2014/main" id="{D83E6BDF-3157-3AAA-5AF2-77B350FC737A}"/>
              </a:ext>
            </a:extLst>
          </p:cNvPr>
          <p:cNvSpPr>
            <a:spLocks noGrp="1"/>
          </p:cNvSpPr>
          <p:nvPr>
            <p:ph idx="1"/>
          </p:nvPr>
        </p:nvSpPr>
        <p:spPr>
          <a:xfrm>
            <a:off x="1522413" y="1981200"/>
            <a:ext cx="9829799" cy="4715164"/>
          </a:xfrm>
        </p:spPr>
        <p:txBody>
          <a:bodyPr>
            <a:normAutofit/>
          </a:bodyPr>
          <a:lstStyle/>
          <a:p>
            <a:r>
              <a:rPr lang="en-US" dirty="0">
                <a:latin typeface="National semibold" panose="02000503000000020004"/>
              </a:rPr>
              <a:t>Suppose an investor deposits 100 DAI with a collateral factor of 90.</a:t>
            </a:r>
          </a:p>
          <a:p>
            <a:r>
              <a:rPr lang="en-US" dirty="0">
                <a:latin typeface="National semibold" panose="02000503000000020004"/>
              </a:rPr>
              <a:t>The collateralization ratio is 100/90=1.11 or 111%. If 1 DAI = $1, the investor can borrow up to $90 worth of any other asset in Compound.  </a:t>
            </a:r>
          </a:p>
          <a:p>
            <a:r>
              <a:rPr lang="en-US" dirty="0">
                <a:latin typeface="National semibold" panose="02000503000000020004"/>
              </a:rPr>
              <a:t>Suppose the investor also deposits 0.1 ETH valued at 1 ETH = $1,000. The collateral factor for ETH is 60. </a:t>
            </a:r>
          </a:p>
          <a:p>
            <a:r>
              <a:rPr lang="en-US" dirty="0">
                <a:latin typeface="National semibold" panose="02000503000000020004"/>
              </a:rPr>
              <a:t>The total balance of the deposit is $200 but the collateralization ratio is 100/(0.5 x 90 + 0.5 x 60) = 1.33 (or 133%).  </a:t>
            </a:r>
          </a:p>
          <a:p>
            <a:r>
              <a:rPr lang="en-US" dirty="0">
                <a:latin typeface="National semibold" panose="02000503000000020004"/>
              </a:rPr>
              <a:t>The maximum borrowing is $200/1.33 = $150 worth of the borrow asset.</a:t>
            </a:r>
          </a:p>
        </p:txBody>
      </p:sp>
    </p:spTree>
    <p:extLst>
      <p:ext uri="{BB962C8B-B14F-4D97-AF65-F5344CB8AC3E}">
        <p14:creationId xmlns:p14="http://schemas.microsoft.com/office/powerpoint/2010/main" val="12293629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F4670-3B49-98B2-C0CB-16AE5F3C31AE}"/>
              </a:ext>
            </a:extLst>
          </p:cNvPr>
          <p:cNvSpPr>
            <a:spLocks noGrp="1"/>
          </p:cNvSpPr>
          <p:nvPr>
            <p:ph type="title"/>
          </p:nvPr>
        </p:nvSpPr>
        <p:spPr/>
        <p:txBody>
          <a:bodyPr anchor="b"/>
          <a:lstStyle/>
          <a:p>
            <a:r>
              <a:rPr lang="en-US" b="1">
                <a:latin typeface="National semibold" panose="02000503000000020004"/>
              </a:rPr>
              <a:t>Compound</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83E6BDF-3157-3AAA-5AF2-77B350FC737A}"/>
                  </a:ext>
                </a:extLst>
              </p:cNvPr>
              <p:cNvSpPr>
                <a:spLocks noGrp="1"/>
              </p:cNvSpPr>
              <p:nvPr>
                <p:ph idx="1"/>
              </p:nvPr>
            </p:nvSpPr>
            <p:spPr>
              <a:xfrm>
                <a:off x="1522413" y="1981200"/>
                <a:ext cx="9829799" cy="4715164"/>
              </a:xfrm>
            </p:spPr>
            <p:txBody>
              <a:bodyPr>
                <a:normAutofit fontScale="85000" lnSpcReduction="20000"/>
              </a:bodyPr>
              <a:lstStyle/>
              <a:p>
                <a:r>
                  <a:rPr lang="en-US" dirty="0">
                    <a:latin typeface="National semibold" panose="02000503000000020004"/>
                  </a:rPr>
                  <a:t>Borrow and supply interests are compounded at the frequency of every new block (approximately every 12 seconds on Ethereum).</a:t>
                </a:r>
              </a:p>
              <a:p>
                <a:r>
                  <a:rPr lang="en-US" dirty="0">
                    <a:latin typeface="National semibold" panose="02000503000000020004"/>
                  </a:rPr>
                  <a:t>The borrow interest rate is in general determined as </a:t>
                </a:r>
              </a:p>
              <a:p>
                <a:pPr marL="282575" lvl="1" indent="0">
                  <a:buNone/>
                </a:pPr>
                <a:r>
                  <a:rPr lang="en-US" dirty="0">
                    <a:latin typeface="National semibold" panose="02000503000000020004"/>
                  </a:rPr>
                  <a:t>			</a:t>
                </a:r>
                <a:r>
                  <a:rPr lang="en-US" sz="2100" dirty="0">
                    <a:solidFill>
                      <a:srgbClr val="0070C0"/>
                    </a:solidFill>
                    <a:latin typeface="National semibold" panose="02000503000000020004"/>
                  </a:rPr>
                  <a:t>Borrow rate</a:t>
                </a:r>
                <a:r>
                  <a:rPr lang="en-US" sz="2100" dirty="0">
                    <a:latin typeface="National semibold" panose="02000503000000020004"/>
                  </a:rPr>
                  <a:t> = </a:t>
                </a:r>
                <a:r>
                  <a:rPr lang="en-US" sz="2100" dirty="0">
                    <a:solidFill>
                      <a:srgbClr val="FF0000"/>
                    </a:solidFill>
                    <a:latin typeface="National semibold" panose="02000503000000020004"/>
                  </a:rPr>
                  <a:t>a</a:t>
                </a:r>
                <a:r>
                  <a:rPr lang="en-US" sz="2100" dirty="0">
                    <a:latin typeface="National semibold" panose="02000503000000020004"/>
                  </a:rPr>
                  <a:t>  +  </a:t>
                </a:r>
                <a:r>
                  <a:rPr lang="en-US" sz="2100" dirty="0">
                    <a:solidFill>
                      <a:srgbClr val="FF0000"/>
                    </a:solidFill>
                    <a:latin typeface="National semibold" panose="02000503000000020004"/>
                  </a:rPr>
                  <a:t>b</a:t>
                </a:r>
                <a:r>
                  <a:rPr lang="en-US" sz="2100" dirty="0">
                    <a:latin typeface="National semibold" panose="02000503000000020004"/>
                  </a:rPr>
                  <a:t> x </a:t>
                </a:r>
                <a:r>
                  <a:rPr lang="en-US" sz="2100" dirty="0">
                    <a:solidFill>
                      <a:srgbClr val="0070C0"/>
                    </a:solidFill>
                    <a:latin typeface="National semibold" panose="02000503000000020004"/>
                  </a:rPr>
                  <a:t>Utilization rate</a:t>
                </a:r>
                <a:endParaRPr lang="en-US" dirty="0">
                  <a:solidFill>
                    <a:srgbClr val="0070C0"/>
                  </a:solidFill>
                  <a:latin typeface="National semibold" panose="02000503000000020004"/>
                </a:endParaRPr>
              </a:p>
              <a:p>
                <a:pPr marL="511175" lvl="2" indent="0">
                  <a:buNone/>
                </a:pPr>
                <a:r>
                  <a:rPr lang="en-US" sz="1900" dirty="0">
                    <a:solidFill>
                      <a:srgbClr val="FF0000"/>
                    </a:solidFill>
                    <a:latin typeface="National semibold" panose="02000503000000020004"/>
                  </a:rPr>
                  <a:t>	a</a:t>
                </a:r>
                <a:r>
                  <a:rPr lang="en-US" sz="1900" dirty="0">
                    <a:latin typeface="National semibold" panose="02000503000000020004"/>
                  </a:rPr>
                  <a:t> = base rate; </a:t>
                </a:r>
                <a:r>
                  <a:rPr lang="en-US" sz="1900" dirty="0">
                    <a:solidFill>
                      <a:srgbClr val="FF0000"/>
                    </a:solidFill>
                    <a:latin typeface="National semibold" panose="02000503000000020004"/>
                  </a:rPr>
                  <a:t>b</a:t>
                </a:r>
                <a:r>
                  <a:rPr lang="en-US" sz="1900" dirty="0">
                    <a:latin typeface="National semibold" panose="02000503000000020004"/>
                  </a:rPr>
                  <a:t> = slope.</a:t>
                </a:r>
                <a:endParaRPr lang="en-US" dirty="0">
                  <a:latin typeface="National semibold" panose="02000503000000020004"/>
                </a:endParaRPr>
              </a:p>
              <a:p>
                <a:endParaRPr lang="en-US" dirty="0">
                  <a:latin typeface="National semibold" panose="02000503000000020004"/>
                </a:endParaRPr>
              </a:p>
              <a:p>
                <a:r>
                  <a:rPr lang="en-US" dirty="0">
                    <a:latin typeface="National semibold" panose="02000503000000020004"/>
                  </a:rPr>
                  <a:t>The supply (lending) rate is calculated as</a:t>
                </a:r>
              </a:p>
              <a:p>
                <a:pPr marL="0" indent="0">
                  <a:buNone/>
                </a:pPr>
                <a:r>
                  <a:rPr lang="en-US" dirty="0">
                    <a:latin typeface="National semibold" panose="02000503000000020004"/>
                  </a:rPr>
                  <a:t>			</a:t>
                </a:r>
                <a:r>
                  <a:rPr lang="en-US" sz="2100" dirty="0">
                    <a:solidFill>
                      <a:srgbClr val="0070C0"/>
                    </a:solidFill>
                    <a:latin typeface="National semibold" panose="02000503000000020004"/>
                  </a:rPr>
                  <a:t>Supply rate</a:t>
                </a:r>
                <a:r>
                  <a:rPr lang="en-US" sz="2100" dirty="0">
                    <a:latin typeface="National semibold" panose="02000503000000020004"/>
                  </a:rPr>
                  <a:t> = </a:t>
                </a:r>
                <a:r>
                  <a:rPr lang="en-US" sz="2100" dirty="0">
                    <a:solidFill>
                      <a:srgbClr val="0070C0"/>
                    </a:solidFill>
                    <a:latin typeface="National semibold" panose="02000503000000020004"/>
                  </a:rPr>
                  <a:t>Borrow rate</a:t>
                </a:r>
                <a:r>
                  <a:rPr lang="en-US" sz="2100" dirty="0">
                    <a:latin typeface="National semibold" panose="02000503000000020004"/>
                  </a:rPr>
                  <a:t> x </a:t>
                </a:r>
                <a:r>
                  <a:rPr lang="en-US" sz="2100" dirty="0">
                    <a:solidFill>
                      <a:srgbClr val="0070C0"/>
                    </a:solidFill>
                    <a:latin typeface="National semibold" panose="02000503000000020004"/>
                  </a:rPr>
                  <a:t>Utilization rate</a:t>
                </a:r>
                <a:endParaRPr lang="en-US" dirty="0">
                  <a:solidFill>
                    <a:srgbClr val="0070C0"/>
                  </a:solidFill>
                  <a:latin typeface="National semibold" panose="02000503000000020004"/>
                </a:endParaRPr>
              </a:p>
              <a:p>
                <a:pPr marL="0" indent="0">
                  <a:buNone/>
                </a:pPr>
                <a:r>
                  <a:rPr lang="en-US" dirty="0">
                    <a:latin typeface="National semibold" panose="02000503000000020004"/>
                  </a:rPr>
                  <a:t>           		    	    </a:t>
                </a:r>
              </a:p>
              <a:p>
                <a:pPr marL="0" indent="0">
                  <a:buNone/>
                </a:pPr>
                <a:r>
                  <a:rPr lang="en-US" sz="1900" dirty="0">
                    <a:solidFill>
                      <a:srgbClr val="0070C0"/>
                    </a:solidFill>
                    <a:latin typeface="National semibold" panose="02000503000000020004"/>
                  </a:rPr>
                  <a:t>			     Utilization rate</a:t>
                </a:r>
                <a:r>
                  <a:rPr lang="en-US" sz="1900" dirty="0">
                    <a:latin typeface="National semibold" panose="02000503000000020004"/>
                  </a:rPr>
                  <a:t> = </a:t>
                </a:r>
                <a14:m>
                  <m:oMath xmlns:m="http://schemas.openxmlformats.org/officeDocument/2006/math">
                    <m:f>
                      <m:fPr>
                        <m:ctrlPr>
                          <a:rPr lang="en-US" sz="1900" i="1" dirty="0" smtClean="0">
                            <a:latin typeface="Cambria Math" panose="02040503050406030204" pitchFamily="18" charset="0"/>
                          </a:rPr>
                        </m:ctrlPr>
                      </m:fPr>
                      <m:num>
                        <m:r>
                          <m:rPr>
                            <m:sty m:val="p"/>
                          </m:rPr>
                          <a:rPr lang="en-US" sz="1900" b="0" i="0" dirty="0" smtClean="0">
                            <a:latin typeface="Cambria Math" panose="02040503050406030204" pitchFamily="18" charset="0"/>
                          </a:rPr>
                          <m:t>Total</m:t>
                        </m:r>
                        <m:r>
                          <a:rPr lang="en-US" sz="1900" b="0" i="0" dirty="0" smtClean="0">
                            <a:latin typeface="Cambria Math" panose="02040503050406030204" pitchFamily="18" charset="0"/>
                          </a:rPr>
                          <m:t> </m:t>
                        </m:r>
                        <m:r>
                          <m:rPr>
                            <m:sty m:val="p"/>
                          </m:rPr>
                          <a:rPr lang="en-US" sz="1900" b="0" i="0" dirty="0" smtClean="0">
                            <a:latin typeface="Cambria Math" panose="02040503050406030204" pitchFamily="18" charset="0"/>
                          </a:rPr>
                          <m:t>borrowing</m:t>
                        </m:r>
                        <m:r>
                          <a:rPr lang="en-US" sz="1900" b="0" i="0" dirty="0" smtClean="0">
                            <a:latin typeface="Cambria Math" panose="02040503050406030204" pitchFamily="18" charset="0"/>
                          </a:rPr>
                          <m:t> </m:t>
                        </m:r>
                        <m:r>
                          <m:rPr>
                            <m:sty m:val="p"/>
                          </m:rPr>
                          <a:rPr lang="en-US" sz="1900" b="0" i="0" dirty="0" smtClean="0">
                            <a:latin typeface="Cambria Math" panose="02040503050406030204" pitchFamily="18" charset="0"/>
                          </a:rPr>
                          <m:t>in</m:t>
                        </m:r>
                        <m:r>
                          <a:rPr lang="en-US" sz="1900" b="0" i="0" dirty="0" smtClean="0">
                            <a:latin typeface="Cambria Math" panose="02040503050406030204" pitchFamily="18" charset="0"/>
                          </a:rPr>
                          <m:t> </m:t>
                        </m:r>
                        <m:r>
                          <m:rPr>
                            <m:sty m:val="p"/>
                          </m:rPr>
                          <a:rPr lang="en-US" sz="1900" b="0" i="0" dirty="0" smtClean="0">
                            <a:latin typeface="Cambria Math" panose="02040503050406030204" pitchFamily="18" charset="0"/>
                          </a:rPr>
                          <m:t>the</m:t>
                        </m:r>
                        <m:r>
                          <a:rPr lang="en-US" sz="1900" b="0" i="0" dirty="0" smtClean="0">
                            <a:latin typeface="Cambria Math" panose="02040503050406030204" pitchFamily="18" charset="0"/>
                          </a:rPr>
                          <m:t> </m:t>
                        </m:r>
                        <m:r>
                          <m:rPr>
                            <m:sty m:val="p"/>
                          </m:rPr>
                          <a:rPr lang="en-US" sz="1900" b="0" i="0" dirty="0" smtClean="0">
                            <a:latin typeface="Cambria Math" panose="02040503050406030204" pitchFamily="18" charset="0"/>
                          </a:rPr>
                          <m:t>market</m:t>
                        </m:r>
                      </m:num>
                      <m:den>
                        <m:r>
                          <m:rPr>
                            <m:sty m:val="p"/>
                          </m:rPr>
                          <a:rPr lang="en-US" sz="1900" b="0" i="0" dirty="0" smtClean="0">
                            <a:latin typeface="Cambria Math" panose="02040503050406030204" pitchFamily="18" charset="0"/>
                          </a:rPr>
                          <m:t>Total</m:t>
                        </m:r>
                        <m:r>
                          <a:rPr lang="en-US" sz="1900" b="0" i="0" dirty="0" smtClean="0">
                            <a:latin typeface="Cambria Math" panose="02040503050406030204" pitchFamily="18" charset="0"/>
                          </a:rPr>
                          <m:t> </m:t>
                        </m:r>
                        <m:r>
                          <m:rPr>
                            <m:sty m:val="p"/>
                          </m:rPr>
                          <a:rPr lang="en-US" sz="1900" b="0" i="0" dirty="0" smtClean="0">
                            <a:latin typeface="Cambria Math" panose="02040503050406030204" pitchFamily="18" charset="0"/>
                          </a:rPr>
                          <m:t>supply</m:t>
                        </m:r>
                        <m:r>
                          <a:rPr lang="en-US" sz="1900" b="0" i="0" dirty="0" smtClean="0">
                            <a:latin typeface="Cambria Math" panose="02040503050406030204" pitchFamily="18" charset="0"/>
                          </a:rPr>
                          <m:t> </m:t>
                        </m:r>
                        <m:r>
                          <m:rPr>
                            <m:sty m:val="p"/>
                          </m:rPr>
                          <a:rPr lang="en-US" sz="1900" b="0" i="0" dirty="0" smtClean="0">
                            <a:latin typeface="Cambria Math" panose="02040503050406030204" pitchFamily="18" charset="0"/>
                          </a:rPr>
                          <m:t>in</m:t>
                        </m:r>
                        <m:r>
                          <a:rPr lang="en-US" sz="1900" b="0" i="0" dirty="0" smtClean="0">
                            <a:latin typeface="Cambria Math" panose="02040503050406030204" pitchFamily="18" charset="0"/>
                          </a:rPr>
                          <m:t> </m:t>
                        </m:r>
                        <m:r>
                          <m:rPr>
                            <m:sty m:val="p"/>
                          </m:rPr>
                          <a:rPr lang="en-US" sz="1900" b="0" i="0" dirty="0" smtClean="0">
                            <a:latin typeface="Cambria Math" panose="02040503050406030204" pitchFamily="18" charset="0"/>
                          </a:rPr>
                          <m:t>the</m:t>
                        </m:r>
                        <m:r>
                          <a:rPr lang="en-US" sz="1900" b="0" i="0" dirty="0" smtClean="0">
                            <a:latin typeface="Cambria Math" panose="02040503050406030204" pitchFamily="18" charset="0"/>
                          </a:rPr>
                          <m:t> </m:t>
                        </m:r>
                        <m:r>
                          <m:rPr>
                            <m:sty m:val="p"/>
                          </m:rPr>
                          <a:rPr lang="en-US" sz="1900" b="0" i="0" dirty="0" smtClean="0">
                            <a:latin typeface="Cambria Math" panose="02040503050406030204" pitchFamily="18" charset="0"/>
                          </a:rPr>
                          <m:t>market</m:t>
                        </m:r>
                      </m:den>
                    </m:f>
                  </m:oMath>
                </a14:m>
                <a:endParaRPr lang="en-US" sz="1900" dirty="0">
                  <a:latin typeface="National semibold" panose="02000503000000020004"/>
                </a:endParaRPr>
              </a:p>
              <a:p>
                <a:r>
                  <a:rPr lang="en-US" dirty="0">
                    <a:latin typeface="National semibold" panose="02000503000000020004"/>
                  </a:rPr>
                  <a:t>The parameters </a:t>
                </a:r>
                <a:r>
                  <a:rPr lang="en-US" dirty="0">
                    <a:solidFill>
                      <a:srgbClr val="FF0000"/>
                    </a:solidFill>
                    <a:latin typeface="National semibold" panose="02000503000000020004"/>
                  </a:rPr>
                  <a:t>a</a:t>
                </a:r>
                <a:r>
                  <a:rPr lang="en-US" dirty="0">
                    <a:latin typeface="National semibold" panose="02000503000000020004"/>
                  </a:rPr>
                  <a:t> and </a:t>
                </a:r>
                <a:r>
                  <a:rPr lang="en-US" dirty="0">
                    <a:solidFill>
                      <a:srgbClr val="FF0000"/>
                    </a:solidFill>
                    <a:latin typeface="National semibold" panose="02000503000000020004"/>
                  </a:rPr>
                  <a:t>b</a:t>
                </a:r>
                <a:r>
                  <a:rPr lang="en-US" dirty="0">
                    <a:latin typeface="National semibold" panose="02000503000000020004"/>
                  </a:rPr>
                  <a:t> are set by </a:t>
                </a:r>
                <a:r>
                  <a:rPr lang="en-US" i="1" dirty="0">
                    <a:latin typeface="National semibold" panose="02000503000000020004"/>
                  </a:rPr>
                  <a:t>Compound Governance and </a:t>
                </a:r>
                <a:r>
                  <a:rPr lang="en-US" dirty="0">
                    <a:latin typeface="National semibold" panose="02000503000000020004"/>
                  </a:rPr>
                  <a:t>are different for different ERC-20 assets. Some markets may have a more complex formula. For example, there could be a kink: a utilization rate beyond which the slope steepens. </a:t>
                </a:r>
              </a:p>
            </p:txBody>
          </p:sp>
        </mc:Choice>
        <mc:Fallback xmlns="">
          <p:sp>
            <p:nvSpPr>
              <p:cNvPr id="3" name="Content Placeholder 2">
                <a:extLst>
                  <a:ext uri="{FF2B5EF4-FFF2-40B4-BE49-F238E27FC236}">
                    <a16:creationId xmlns:a16="http://schemas.microsoft.com/office/drawing/2014/main" id="{D83E6BDF-3157-3AAA-5AF2-77B350FC737A}"/>
                  </a:ext>
                </a:extLst>
              </p:cNvPr>
              <p:cNvSpPr>
                <a:spLocks noGrp="1" noRot="1" noChangeAspect="1" noMove="1" noResize="1" noEditPoints="1" noAdjustHandles="1" noChangeArrowheads="1" noChangeShapeType="1" noTextEdit="1"/>
              </p:cNvSpPr>
              <p:nvPr>
                <p:ph idx="1"/>
              </p:nvPr>
            </p:nvSpPr>
            <p:spPr>
              <a:xfrm>
                <a:off x="1522413" y="1981200"/>
                <a:ext cx="9829799" cy="4715164"/>
              </a:xfrm>
              <a:blipFill>
                <a:blip r:embed="rId2"/>
                <a:stretch>
                  <a:fillRect l="-248" t="-2329" r="-186" b="-1552"/>
                </a:stretch>
              </a:blipFill>
            </p:spPr>
            <p:txBody>
              <a:bodyPr/>
              <a:lstStyle/>
              <a:p>
                <a:r>
                  <a:rPr lang="en-US">
                    <a:noFill/>
                  </a:rPr>
                  <a:t> </a:t>
                </a:r>
              </a:p>
            </p:txBody>
          </p:sp>
        </mc:Fallback>
      </mc:AlternateContent>
      <p:cxnSp>
        <p:nvCxnSpPr>
          <p:cNvPr id="5" name="Connector: Curved 4">
            <a:extLst>
              <a:ext uri="{FF2B5EF4-FFF2-40B4-BE49-F238E27FC236}">
                <a16:creationId xmlns:a16="http://schemas.microsoft.com/office/drawing/2014/main" id="{4E5FC58F-DFFF-4E7D-8908-3449FE9AAC9B}"/>
              </a:ext>
            </a:extLst>
          </p:cNvPr>
          <p:cNvCxnSpPr>
            <a:cxnSpLocks/>
          </p:cNvCxnSpPr>
          <p:nvPr/>
        </p:nvCxnSpPr>
        <p:spPr>
          <a:xfrm rot="16200000" flipH="1">
            <a:off x="4995052" y="3282446"/>
            <a:ext cx="1357502" cy="1332748"/>
          </a:xfrm>
          <a:prstGeom prst="curvedConnector3">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Connector: Curved 6">
            <a:extLst>
              <a:ext uri="{FF2B5EF4-FFF2-40B4-BE49-F238E27FC236}">
                <a16:creationId xmlns:a16="http://schemas.microsoft.com/office/drawing/2014/main" id="{48DB77F2-1E44-4100-91A3-7621A8171BDC}"/>
              </a:ext>
            </a:extLst>
          </p:cNvPr>
          <p:cNvCxnSpPr>
            <a:cxnSpLocks/>
          </p:cNvCxnSpPr>
          <p:nvPr/>
        </p:nvCxnSpPr>
        <p:spPr>
          <a:xfrm rot="5400000" flipH="1" flipV="1">
            <a:off x="6994918" y="4887395"/>
            <a:ext cx="523210" cy="381410"/>
          </a:xfrm>
          <a:prstGeom prst="curvedConnector3">
            <a:avLst>
              <a:gd name="adj1" fmla="val 50000"/>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 name="Connector: Curved 5">
            <a:extLst>
              <a:ext uri="{FF2B5EF4-FFF2-40B4-BE49-F238E27FC236}">
                <a16:creationId xmlns:a16="http://schemas.microsoft.com/office/drawing/2014/main" id="{E9D63EA2-85FC-491C-AD19-7D4D388C353B}"/>
              </a:ext>
            </a:extLst>
          </p:cNvPr>
          <p:cNvCxnSpPr>
            <a:cxnSpLocks/>
          </p:cNvCxnSpPr>
          <p:nvPr/>
        </p:nvCxnSpPr>
        <p:spPr>
          <a:xfrm rot="5400000" flipH="1" flipV="1">
            <a:off x="6158037" y="4177850"/>
            <a:ext cx="2069637" cy="254074"/>
          </a:xfrm>
          <a:prstGeom prst="curvedConnector3">
            <a:avLst>
              <a:gd name="adj1" fmla="val 50000"/>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37522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7"/>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F4670-3B49-98B2-C0CB-16AE5F3C31AE}"/>
              </a:ext>
            </a:extLst>
          </p:cNvPr>
          <p:cNvSpPr>
            <a:spLocks noGrp="1"/>
          </p:cNvSpPr>
          <p:nvPr>
            <p:ph type="title"/>
          </p:nvPr>
        </p:nvSpPr>
        <p:spPr/>
        <p:txBody>
          <a:bodyPr anchor="b"/>
          <a:lstStyle/>
          <a:p>
            <a:r>
              <a:rPr lang="en-US" b="1">
                <a:latin typeface="National semibold" panose="02000503000000020004"/>
              </a:rPr>
              <a:t>Compound (example)</a:t>
            </a:r>
          </a:p>
        </p:txBody>
      </p:sp>
      <p:sp>
        <p:nvSpPr>
          <p:cNvPr id="3" name="Content Placeholder 2">
            <a:extLst>
              <a:ext uri="{FF2B5EF4-FFF2-40B4-BE49-F238E27FC236}">
                <a16:creationId xmlns:a16="http://schemas.microsoft.com/office/drawing/2014/main" id="{D83E6BDF-3157-3AAA-5AF2-77B350FC737A}"/>
              </a:ext>
            </a:extLst>
          </p:cNvPr>
          <p:cNvSpPr>
            <a:spLocks noGrp="1"/>
          </p:cNvSpPr>
          <p:nvPr>
            <p:ph idx="1"/>
          </p:nvPr>
        </p:nvSpPr>
        <p:spPr>
          <a:xfrm>
            <a:off x="1522413" y="1981200"/>
            <a:ext cx="9829799" cy="4715164"/>
          </a:xfrm>
        </p:spPr>
        <p:txBody>
          <a:bodyPr>
            <a:normAutofit/>
          </a:bodyPr>
          <a:lstStyle/>
          <a:p>
            <a:r>
              <a:rPr lang="en-US">
                <a:solidFill>
                  <a:srgbClr val="0070C0"/>
                </a:solidFill>
                <a:latin typeface="National semibold" panose="02000503000000020004"/>
              </a:rPr>
              <a:t>Supply</a:t>
            </a:r>
            <a:r>
              <a:rPr lang="en-US">
                <a:latin typeface="National semibold" panose="02000503000000020004"/>
              </a:rPr>
              <a:t>: 100 million DAI; </a:t>
            </a:r>
            <a:r>
              <a:rPr lang="en-US">
                <a:solidFill>
                  <a:srgbClr val="0070C0"/>
                </a:solidFill>
                <a:latin typeface="National semibold" panose="02000503000000020004"/>
              </a:rPr>
              <a:t>Borrowed amount</a:t>
            </a:r>
            <a:r>
              <a:rPr lang="en-US">
                <a:latin typeface="National semibold" panose="02000503000000020004"/>
              </a:rPr>
              <a:t>: 50 million. </a:t>
            </a:r>
            <a:r>
              <a:rPr lang="en-US">
                <a:solidFill>
                  <a:srgbClr val="0070C0"/>
                </a:solidFill>
                <a:latin typeface="National semibold" panose="02000503000000020004"/>
              </a:rPr>
              <a:t>Utilization rate:</a:t>
            </a:r>
            <a:r>
              <a:rPr lang="en-US">
                <a:latin typeface="National semibold" panose="02000503000000020004"/>
              </a:rPr>
              <a:t> 0.5.</a:t>
            </a:r>
          </a:p>
          <a:p>
            <a:r>
              <a:rPr lang="en-US">
                <a:latin typeface="National semibold" panose="02000503000000020004"/>
              </a:rPr>
              <a:t>Base rate: 1% (</a:t>
            </a:r>
            <a:r>
              <a:rPr lang="en-US">
                <a:solidFill>
                  <a:srgbClr val="FF0000"/>
                </a:solidFill>
                <a:latin typeface="National semibold" panose="02000503000000020004"/>
              </a:rPr>
              <a:t>a</a:t>
            </a:r>
            <a:r>
              <a:rPr lang="en-US">
                <a:latin typeface="National semibold" panose="02000503000000020004"/>
              </a:rPr>
              <a:t>=0.01)</a:t>
            </a:r>
          </a:p>
          <a:p>
            <a:r>
              <a:rPr lang="en-US">
                <a:latin typeface="National semibold" panose="02000503000000020004"/>
              </a:rPr>
              <a:t>Slope: 10% (</a:t>
            </a:r>
            <a:r>
              <a:rPr lang="en-US">
                <a:solidFill>
                  <a:srgbClr val="FF0000"/>
                </a:solidFill>
                <a:latin typeface="National semibold" panose="02000503000000020004"/>
              </a:rPr>
              <a:t>b</a:t>
            </a:r>
            <a:r>
              <a:rPr lang="en-US">
                <a:latin typeface="National semibold" panose="02000503000000020004"/>
              </a:rPr>
              <a:t>=0.1)</a:t>
            </a:r>
          </a:p>
          <a:p>
            <a:pPr marL="0" indent="0">
              <a:buNone/>
            </a:pPr>
            <a:endParaRPr lang="en-US">
              <a:latin typeface="National semibold" panose="02000503000000020004"/>
            </a:endParaRPr>
          </a:p>
          <a:p>
            <a:pPr marL="0" indent="0">
              <a:buNone/>
            </a:pPr>
            <a:r>
              <a:rPr lang="en-US">
                <a:latin typeface="National semibold" panose="02000503000000020004"/>
              </a:rPr>
              <a:t>		Borrow rate = 0.01 + 0.1 x 0.5 = 0.06  (or 6%)</a:t>
            </a:r>
          </a:p>
          <a:p>
            <a:pPr marL="0" indent="0">
              <a:buNone/>
            </a:pPr>
            <a:endParaRPr lang="en-US">
              <a:latin typeface="National semibold" panose="02000503000000020004"/>
            </a:endParaRPr>
          </a:p>
          <a:p>
            <a:pPr marL="0" indent="0">
              <a:buNone/>
            </a:pPr>
            <a:r>
              <a:rPr lang="en-US">
                <a:latin typeface="National semibold" panose="02000503000000020004"/>
              </a:rPr>
              <a:t>		Supply rate = 0.06 x 0.5 = 0.03 (or 3%) </a:t>
            </a:r>
          </a:p>
          <a:p>
            <a:pPr marL="0" indent="0">
              <a:buNone/>
            </a:pPr>
            <a:endParaRPr lang="en-US">
              <a:latin typeface="National semibold" panose="02000503000000020004"/>
            </a:endParaRPr>
          </a:p>
        </p:txBody>
      </p:sp>
    </p:spTree>
    <p:extLst>
      <p:ext uri="{BB962C8B-B14F-4D97-AF65-F5344CB8AC3E}">
        <p14:creationId xmlns:p14="http://schemas.microsoft.com/office/powerpoint/2010/main" val="41099500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F4670-3B49-98B2-C0CB-16AE5F3C31AE}"/>
              </a:ext>
            </a:extLst>
          </p:cNvPr>
          <p:cNvSpPr>
            <a:spLocks noGrp="1"/>
          </p:cNvSpPr>
          <p:nvPr>
            <p:ph type="title"/>
          </p:nvPr>
        </p:nvSpPr>
        <p:spPr/>
        <p:txBody>
          <a:bodyPr anchor="b"/>
          <a:lstStyle/>
          <a:p>
            <a:r>
              <a:rPr lang="en-US" b="1" dirty="0">
                <a:latin typeface="National semibold" panose="02000503000000020004"/>
              </a:rPr>
              <a:t>Compound (Another example)</a:t>
            </a:r>
          </a:p>
        </p:txBody>
      </p:sp>
      <p:sp>
        <p:nvSpPr>
          <p:cNvPr id="3" name="Content Placeholder 2">
            <a:extLst>
              <a:ext uri="{FF2B5EF4-FFF2-40B4-BE49-F238E27FC236}">
                <a16:creationId xmlns:a16="http://schemas.microsoft.com/office/drawing/2014/main" id="{D83E6BDF-3157-3AAA-5AF2-77B350FC737A}"/>
              </a:ext>
            </a:extLst>
          </p:cNvPr>
          <p:cNvSpPr>
            <a:spLocks noGrp="1"/>
          </p:cNvSpPr>
          <p:nvPr>
            <p:ph idx="1"/>
          </p:nvPr>
        </p:nvSpPr>
        <p:spPr>
          <a:xfrm>
            <a:off x="1522413" y="1981200"/>
            <a:ext cx="9829799" cy="4715164"/>
          </a:xfrm>
        </p:spPr>
        <p:txBody>
          <a:bodyPr vert="horz" lIns="91440" tIns="45720" rIns="91440" bIns="45720" rtlCol="0" anchor="t">
            <a:normAutofit/>
          </a:bodyPr>
          <a:lstStyle/>
          <a:p>
            <a:pPr marL="223520" indent="-223520"/>
            <a:r>
              <a:rPr lang="en-US" dirty="0">
                <a:solidFill>
                  <a:srgbClr val="0070C0"/>
                </a:solidFill>
                <a:latin typeface="National semibold" panose="02000503000000020004"/>
              </a:rPr>
              <a:t>Supply</a:t>
            </a:r>
            <a:r>
              <a:rPr lang="en-US" dirty="0">
                <a:latin typeface="National semibold" panose="02000503000000020004"/>
              </a:rPr>
              <a:t>: 100 million DAI; </a:t>
            </a:r>
            <a:r>
              <a:rPr lang="en-US" dirty="0">
                <a:solidFill>
                  <a:srgbClr val="0070C0"/>
                </a:solidFill>
                <a:latin typeface="National semibold" panose="02000503000000020004"/>
              </a:rPr>
              <a:t>Borrowed amount</a:t>
            </a:r>
            <a:r>
              <a:rPr lang="en-US" dirty="0">
                <a:latin typeface="National semibold" panose="02000503000000020004"/>
              </a:rPr>
              <a:t>: 60 million DAI.</a:t>
            </a:r>
          </a:p>
          <a:p>
            <a:pPr marL="223520" indent="-223520"/>
            <a:r>
              <a:rPr lang="en-US" dirty="0">
                <a:latin typeface="National semibold" panose="02000503000000020004"/>
              </a:rPr>
              <a:t>Base rate: 0.5% (</a:t>
            </a:r>
            <a:r>
              <a:rPr lang="en-US" dirty="0">
                <a:solidFill>
                  <a:srgbClr val="FF0000"/>
                </a:solidFill>
                <a:latin typeface="National semibold" panose="02000503000000020004"/>
              </a:rPr>
              <a:t>a</a:t>
            </a:r>
            <a:r>
              <a:rPr lang="en-US" dirty="0">
                <a:latin typeface="National semibold" panose="02000503000000020004"/>
              </a:rPr>
              <a:t>=0.005)</a:t>
            </a:r>
          </a:p>
          <a:p>
            <a:pPr marL="223520" indent="-223520"/>
            <a:r>
              <a:rPr lang="en-US" dirty="0">
                <a:latin typeface="National semibold" panose="02000503000000020004"/>
              </a:rPr>
              <a:t>Slope: 12% (</a:t>
            </a:r>
            <a:r>
              <a:rPr lang="en-US" dirty="0">
                <a:solidFill>
                  <a:srgbClr val="FF0000"/>
                </a:solidFill>
                <a:latin typeface="National semibold" panose="02000503000000020004"/>
              </a:rPr>
              <a:t>b</a:t>
            </a:r>
            <a:r>
              <a:rPr lang="en-US" dirty="0">
                <a:latin typeface="National semibold" panose="02000503000000020004"/>
              </a:rPr>
              <a:t>=0.12)</a:t>
            </a:r>
          </a:p>
          <a:p>
            <a:pPr marL="0" indent="0">
              <a:buNone/>
            </a:pPr>
            <a:endParaRPr lang="en-US" b="1" dirty="0">
              <a:latin typeface="National semibold" panose="02000503000000020004"/>
            </a:endParaRPr>
          </a:p>
          <a:p>
            <a:pPr marL="0" indent="0">
              <a:buNone/>
            </a:pPr>
            <a:r>
              <a:rPr lang="en-US" b="1" dirty="0">
                <a:latin typeface="National semibold" panose="02000503000000020004"/>
              </a:rPr>
              <a:t>Questions:</a:t>
            </a:r>
          </a:p>
          <a:p>
            <a:pPr marL="223520" indent="-223520"/>
            <a:r>
              <a:rPr lang="en-US" dirty="0">
                <a:latin typeface="National semibold" panose="02000503000000020004"/>
              </a:rPr>
              <a:t>What is the utilization rate?</a:t>
            </a:r>
            <a:endParaRPr lang="en-US" dirty="0">
              <a:solidFill>
                <a:srgbClr val="FF0000"/>
              </a:solidFill>
              <a:latin typeface="National semibold" panose="02000503000000020004"/>
            </a:endParaRPr>
          </a:p>
          <a:p>
            <a:pPr marL="223520" indent="-223520"/>
            <a:r>
              <a:rPr lang="en-US" dirty="0">
                <a:latin typeface="National semibold" panose="02000503000000020004"/>
              </a:rPr>
              <a:t>What is the borrow rate?</a:t>
            </a:r>
            <a:endParaRPr lang="en-US" dirty="0">
              <a:solidFill>
                <a:srgbClr val="FF0000"/>
              </a:solidFill>
              <a:latin typeface="National semibold" panose="02000503000000020004"/>
            </a:endParaRPr>
          </a:p>
          <a:p>
            <a:pPr marL="223520" indent="-223520"/>
            <a:r>
              <a:rPr lang="en-US" dirty="0">
                <a:latin typeface="National semibold" panose="02000503000000020004"/>
              </a:rPr>
              <a:t>What is the supply rate?</a:t>
            </a:r>
            <a:endParaRPr lang="en-US" dirty="0">
              <a:solidFill>
                <a:srgbClr val="FF0000"/>
              </a:solidFill>
              <a:latin typeface="National semibold" panose="02000503000000020004"/>
            </a:endParaRPr>
          </a:p>
          <a:p>
            <a:pPr marL="0" indent="0">
              <a:buNone/>
            </a:pPr>
            <a:endParaRPr lang="en-US" dirty="0">
              <a:latin typeface="National semibold" panose="02000503000000020004"/>
            </a:endParaRPr>
          </a:p>
        </p:txBody>
      </p:sp>
    </p:spTree>
    <p:extLst>
      <p:ext uri="{BB962C8B-B14F-4D97-AF65-F5344CB8AC3E}">
        <p14:creationId xmlns:p14="http://schemas.microsoft.com/office/powerpoint/2010/main" val="9905168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F4670-3B49-98B2-C0CB-16AE5F3C31AE}"/>
              </a:ext>
            </a:extLst>
          </p:cNvPr>
          <p:cNvSpPr>
            <a:spLocks noGrp="1"/>
          </p:cNvSpPr>
          <p:nvPr>
            <p:ph type="title"/>
          </p:nvPr>
        </p:nvSpPr>
        <p:spPr/>
        <p:txBody>
          <a:bodyPr anchor="b"/>
          <a:lstStyle/>
          <a:p>
            <a:r>
              <a:rPr lang="en-US" b="1">
                <a:latin typeface="National semibold" panose="02000503000000020004"/>
              </a:rPr>
              <a:t>Compound (Another example with a kink)</a:t>
            </a:r>
          </a:p>
        </p:txBody>
      </p:sp>
      <p:sp>
        <p:nvSpPr>
          <p:cNvPr id="3" name="Content Placeholder 2">
            <a:extLst>
              <a:ext uri="{FF2B5EF4-FFF2-40B4-BE49-F238E27FC236}">
                <a16:creationId xmlns:a16="http://schemas.microsoft.com/office/drawing/2014/main" id="{D83E6BDF-3157-3AAA-5AF2-77B350FC737A}"/>
              </a:ext>
            </a:extLst>
          </p:cNvPr>
          <p:cNvSpPr>
            <a:spLocks noGrp="1"/>
          </p:cNvSpPr>
          <p:nvPr>
            <p:ph idx="1"/>
          </p:nvPr>
        </p:nvSpPr>
        <p:spPr>
          <a:xfrm>
            <a:off x="1522413" y="1981200"/>
            <a:ext cx="9829799" cy="4715164"/>
          </a:xfrm>
        </p:spPr>
        <p:txBody>
          <a:bodyPr>
            <a:normAutofit/>
          </a:bodyPr>
          <a:lstStyle/>
          <a:p>
            <a:r>
              <a:rPr lang="en-US">
                <a:solidFill>
                  <a:srgbClr val="0070C0"/>
                </a:solidFill>
                <a:latin typeface="National semibold" panose="02000503000000020004"/>
              </a:rPr>
              <a:t>Supply</a:t>
            </a:r>
            <a:r>
              <a:rPr lang="en-US">
                <a:latin typeface="National semibold" panose="02000503000000020004"/>
              </a:rPr>
              <a:t>: 100 million DAI; </a:t>
            </a:r>
            <a:r>
              <a:rPr lang="en-US">
                <a:solidFill>
                  <a:srgbClr val="0070C0"/>
                </a:solidFill>
                <a:latin typeface="National semibold" panose="02000503000000020004"/>
              </a:rPr>
              <a:t>Borrowed amount</a:t>
            </a:r>
            <a:r>
              <a:rPr lang="en-US">
                <a:latin typeface="National semibold" panose="02000503000000020004"/>
              </a:rPr>
              <a:t>: 90 million. </a:t>
            </a:r>
            <a:r>
              <a:rPr lang="en-US">
                <a:solidFill>
                  <a:srgbClr val="0070C0"/>
                </a:solidFill>
                <a:latin typeface="National semibold" panose="02000503000000020004"/>
              </a:rPr>
              <a:t>Utilization rate</a:t>
            </a:r>
            <a:r>
              <a:rPr lang="en-US">
                <a:latin typeface="National semibold" panose="02000503000000020004"/>
              </a:rPr>
              <a:t>: 0.9.</a:t>
            </a:r>
          </a:p>
          <a:p>
            <a:r>
              <a:rPr lang="en-US">
                <a:latin typeface="National semibold" panose="02000503000000020004"/>
              </a:rPr>
              <a:t>Base rate: 1% (</a:t>
            </a:r>
            <a:r>
              <a:rPr lang="en-US">
                <a:solidFill>
                  <a:srgbClr val="FF0000"/>
                </a:solidFill>
                <a:latin typeface="National semibold" panose="02000503000000020004"/>
              </a:rPr>
              <a:t>a</a:t>
            </a:r>
            <a:r>
              <a:rPr lang="en-US">
                <a:latin typeface="National semibold" panose="02000503000000020004"/>
              </a:rPr>
              <a:t>=0.01)</a:t>
            </a:r>
          </a:p>
          <a:p>
            <a:r>
              <a:rPr lang="en-US">
                <a:latin typeface="National semibold" panose="02000503000000020004"/>
              </a:rPr>
              <a:t>Kink: 0.8 utilization rate</a:t>
            </a:r>
          </a:p>
          <a:p>
            <a:pPr lvl="1"/>
            <a:r>
              <a:rPr lang="en-US">
                <a:latin typeface="National semibold" panose="02000503000000020004"/>
              </a:rPr>
              <a:t>Slope utilization&lt;0.8: 10% (</a:t>
            </a:r>
            <a:r>
              <a:rPr lang="en-US">
                <a:solidFill>
                  <a:srgbClr val="FF0000"/>
                </a:solidFill>
                <a:latin typeface="National semibold" panose="02000503000000020004"/>
              </a:rPr>
              <a:t>b</a:t>
            </a:r>
            <a:r>
              <a:rPr lang="en-US">
                <a:latin typeface="National semibold" panose="02000503000000020004"/>
              </a:rPr>
              <a:t>=0.1)</a:t>
            </a:r>
          </a:p>
          <a:p>
            <a:pPr lvl="1"/>
            <a:r>
              <a:rPr lang="en-US">
                <a:latin typeface="National semibold" panose="02000503000000020004"/>
              </a:rPr>
              <a:t>Slope utilization&gt;=0.8: 40% (</a:t>
            </a:r>
            <a:r>
              <a:rPr lang="en-US">
                <a:solidFill>
                  <a:srgbClr val="FF0000"/>
                </a:solidFill>
                <a:latin typeface="National semibold" panose="02000503000000020004"/>
              </a:rPr>
              <a:t>b</a:t>
            </a:r>
            <a:r>
              <a:rPr lang="en-US">
                <a:latin typeface="National semibold" panose="02000503000000020004"/>
              </a:rPr>
              <a:t>=0.4)</a:t>
            </a:r>
          </a:p>
          <a:p>
            <a:pPr marL="0" indent="0">
              <a:buNone/>
            </a:pPr>
            <a:endParaRPr lang="en-US">
              <a:latin typeface="National semibold" panose="02000503000000020004"/>
            </a:endParaRPr>
          </a:p>
          <a:p>
            <a:pPr marL="0" indent="0">
              <a:buNone/>
            </a:pPr>
            <a:r>
              <a:rPr lang="en-US">
                <a:latin typeface="National semibold" panose="02000503000000020004"/>
              </a:rPr>
              <a:t>		Borrow rate = 0.01 + 0.1 x 0.8 + 0.4 x 0.1= 0.13  (or 13%)</a:t>
            </a:r>
          </a:p>
          <a:p>
            <a:pPr marL="0" indent="0">
              <a:buNone/>
            </a:pPr>
            <a:r>
              <a:rPr lang="en-US">
                <a:latin typeface="National semibold" panose="02000503000000020004"/>
              </a:rPr>
              <a:t>		Supply rate = 0.13 x 0.9 = 0.117 (or 11.7%) </a:t>
            </a:r>
          </a:p>
          <a:p>
            <a:pPr marL="0" indent="0">
              <a:buNone/>
            </a:pPr>
            <a:endParaRPr lang="en-US">
              <a:latin typeface="National semibold" panose="02000503000000020004"/>
            </a:endParaRPr>
          </a:p>
        </p:txBody>
      </p:sp>
    </p:spTree>
    <p:extLst>
      <p:ext uri="{BB962C8B-B14F-4D97-AF65-F5344CB8AC3E}">
        <p14:creationId xmlns:p14="http://schemas.microsoft.com/office/powerpoint/2010/main" val="36083649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F4670-3B49-98B2-C0CB-16AE5F3C31AE}"/>
              </a:ext>
            </a:extLst>
          </p:cNvPr>
          <p:cNvSpPr>
            <a:spLocks noGrp="1"/>
          </p:cNvSpPr>
          <p:nvPr>
            <p:ph type="title"/>
          </p:nvPr>
        </p:nvSpPr>
        <p:spPr/>
        <p:txBody>
          <a:bodyPr anchor="b"/>
          <a:lstStyle/>
          <a:p>
            <a:r>
              <a:rPr lang="en-US" b="1" dirty="0">
                <a:latin typeface="National semibold" panose="02000503000000020004"/>
              </a:rPr>
              <a:t>Compound (Another example with a kink)</a:t>
            </a:r>
          </a:p>
        </p:txBody>
      </p:sp>
      <p:sp>
        <p:nvSpPr>
          <p:cNvPr id="3" name="Content Placeholder 2">
            <a:extLst>
              <a:ext uri="{FF2B5EF4-FFF2-40B4-BE49-F238E27FC236}">
                <a16:creationId xmlns:a16="http://schemas.microsoft.com/office/drawing/2014/main" id="{D83E6BDF-3157-3AAA-5AF2-77B350FC737A}"/>
              </a:ext>
            </a:extLst>
          </p:cNvPr>
          <p:cNvSpPr>
            <a:spLocks noGrp="1"/>
          </p:cNvSpPr>
          <p:nvPr>
            <p:ph idx="1"/>
          </p:nvPr>
        </p:nvSpPr>
        <p:spPr>
          <a:xfrm>
            <a:off x="1522413" y="1981200"/>
            <a:ext cx="9829799" cy="4715164"/>
          </a:xfrm>
        </p:spPr>
        <p:txBody>
          <a:bodyPr>
            <a:normAutofit/>
          </a:bodyPr>
          <a:lstStyle/>
          <a:p>
            <a:r>
              <a:rPr lang="en-US" dirty="0">
                <a:solidFill>
                  <a:srgbClr val="0070C0"/>
                </a:solidFill>
                <a:latin typeface="National semibold" panose="02000503000000020004"/>
              </a:rPr>
              <a:t>Supply</a:t>
            </a:r>
            <a:r>
              <a:rPr lang="en-US" dirty="0">
                <a:latin typeface="National semibold" panose="02000503000000020004"/>
              </a:rPr>
              <a:t>: 100 million DAI; </a:t>
            </a:r>
            <a:r>
              <a:rPr lang="en-US" dirty="0">
                <a:solidFill>
                  <a:srgbClr val="0070C0"/>
                </a:solidFill>
                <a:latin typeface="National semibold" panose="02000503000000020004"/>
              </a:rPr>
              <a:t>Borrowed amount</a:t>
            </a:r>
            <a:r>
              <a:rPr lang="en-US" dirty="0">
                <a:latin typeface="National semibold" panose="02000503000000020004"/>
              </a:rPr>
              <a:t>: 85 million.</a:t>
            </a:r>
          </a:p>
          <a:p>
            <a:r>
              <a:rPr lang="en-US" dirty="0">
                <a:latin typeface="National semibold" panose="02000503000000020004"/>
              </a:rPr>
              <a:t>Base rate: 0.5% (</a:t>
            </a:r>
            <a:r>
              <a:rPr lang="en-US" dirty="0">
                <a:solidFill>
                  <a:srgbClr val="FF0000"/>
                </a:solidFill>
                <a:latin typeface="National semibold" panose="02000503000000020004"/>
              </a:rPr>
              <a:t>a</a:t>
            </a:r>
            <a:r>
              <a:rPr lang="en-US" dirty="0">
                <a:latin typeface="National semibold" panose="02000503000000020004"/>
              </a:rPr>
              <a:t>=0.005)</a:t>
            </a:r>
          </a:p>
          <a:p>
            <a:r>
              <a:rPr lang="en-US" dirty="0">
                <a:latin typeface="National semibold" panose="02000503000000020004"/>
              </a:rPr>
              <a:t>Kink: 0.75 utilization rate</a:t>
            </a:r>
          </a:p>
          <a:p>
            <a:pPr lvl="1"/>
            <a:r>
              <a:rPr lang="en-US" dirty="0">
                <a:latin typeface="National semibold" panose="02000503000000020004"/>
              </a:rPr>
              <a:t>Slope utilization&lt;0.75: 12% (</a:t>
            </a:r>
            <a:r>
              <a:rPr lang="en-US" dirty="0">
                <a:solidFill>
                  <a:srgbClr val="FF0000"/>
                </a:solidFill>
                <a:latin typeface="National semibold" panose="02000503000000020004"/>
              </a:rPr>
              <a:t>b</a:t>
            </a:r>
            <a:r>
              <a:rPr lang="en-US" dirty="0">
                <a:latin typeface="National semibold" panose="02000503000000020004"/>
              </a:rPr>
              <a:t>=0.12)</a:t>
            </a:r>
          </a:p>
          <a:p>
            <a:pPr lvl="1"/>
            <a:r>
              <a:rPr lang="en-US" dirty="0">
                <a:latin typeface="National semibold" panose="02000503000000020004"/>
              </a:rPr>
              <a:t>Slope utilization&gt;=0.75: 45% (</a:t>
            </a:r>
            <a:r>
              <a:rPr lang="en-US" dirty="0">
                <a:solidFill>
                  <a:srgbClr val="FF0000"/>
                </a:solidFill>
                <a:latin typeface="National semibold" panose="02000503000000020004"/>
              </a:rPr>
              <a:t>b</a:t>
            </a:r>
            <a:r>
              <a:rPr lang="en-US" dirty="0">
                <a:latin typeface="National semibold" panose="02000503000000020004"/>
              </a:rPr>
              <a:t>=0.45)</a:t>
            </a:r>
          </a:p>
          <a:p>
            <a:pPr marL="0" indent="0">
              <a:buNone/>
            </a:pPr>
            <a:r>
              <a:rPr lang="en-US" b="1" dirty="0">
                <a:latin typeface="National semibold" panose="02000503000000020004"/>
              </a:rPr>
              <a:t>Questions:</a:t>
            </a:r>
          </a:p>
          <a:p>
            <a:r>
              <a:rPr lang="en-US" dirty="0">
                <a:latin typeface="National semibold" panose="02000503000000020004"/>
              </a:rPr>
              <a:t>What is the utilization rate? </a:t>
            </a:r>
            <a:endParaRPr lang="en-US" dirty="0">
              <a:solidFill>
                <a:srgbClr val="FF0000"/>
              </a:solidFill>
              <a:latin typeface="National semibold" panose="02000503000000020004"/>
            </a:endParaRPr>
          </a:p>
          <a:p>
            <a:r>
              <a:rPr lang="en-US" dirty="0">
                <a:latin typeface="National semibold" panose="02000503000000020004"/>
              </a:rPr>
              <a:t>What is the borrow rate? </a:t>
            </a:r>
          </a:p>
          <a:p>
            <a:r>
              <a:rPr lang="en-US" dirty="0">
                <a:latin typeface="National semibold" panose="02000503000000020004"/>
              </a:rPr>
              <a:t>What is the supply rate? </a:t>
            </a:r>
            <a:endParaRPr lang="en-US" dirty="0">
              <a:solidFill>
                <a:srgbClr val="FF0000"/>
              </a:solidFill>
              <a:latin typeface="National semibold" panose="02000503000000020004"/>
            </a:endParaRPr>
          </a:p>
          <a:p>
            <a:pPr marL="0" indent="0">
              <a:buNone/>
            </a:pPr>
            <a:endParaRPr lang="en-US" dirty="0">
              <a:latin typeface="National semibold" panose="02000503000000020004"/>
            </a:endParaRPr>
          </a:p>
        </p:txBody>
      </p:sp>
    </p:spTree>
    <p:extLst>
      <p:ext uri="{BB962C8B-B14F-4D97-AF65-F5344CB8AC3E}">
        <p14:creationId xmlns:p14="http://schemas.microsoft.com/office/powerpoint/2010/main" val="21182043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F4670-3B49-98B2-C0CB-16AE5F3C31AE}"/>
              </a:ext>
            </a:extLst>
          </p:cNvPr>
          <p:cNvSpPr>
            <a:spLocks noGrp="1"/>
          </p:cNvSpPr>
          <p:nvPr>
            <p:ph type="title"/>
          </p:nvPr>
        </p:nvSpPr>
        <p:spPr/>
        <p:txBody>
          <a:bodyPr anchor="b"/>
          <a:lstStyle/>
          <a:p>
            <a:r>
              <a:rPr lang="en-US" b="1">
                <a:latin typeface="National semibold" panose="02000503000000020004"/>
              </a:rPr>
              <a:t>Compound</a:t>
            </a:r>
          </a:p>
        </p:txBody>
      </p:sp>
      <p:sp>
        <p:nvSpPr>
          <p:cNvPr id="3" name="Content Placeholder 2">
            <a:extLst>
              <a:ext uri="{FF2B5EF4-FFF2-40B4-BE49-F238E27FC236}">
                <a16:creationId xmlns:a16="http://schemas.microsoft.com/office/drawing/2014/main" id="{D83E6BDF-3157-3AAA-5AF2-77B350FC737A}"/>
              </a:ext>
            </a:extLst>
          </p:cNvPr>
          <p:cNvSpPr>
            <a:spLocks noGrp="1"/>
          </p:cNvSpPr>
          <p:nvPr>
            <p:ph idx="1"/>
          </p:nvPr>
        </p:nvSpPr>
        <p:spPr>
          <a:xfrm>
            <a:off x="1522413" y="1981200"/>
            <a:ext cx="9829799" cy="4715164"/>
          </a:xfrm>
        </p:spPr>
        <p:txBody>
          <a:bodyPr>
            <a:normAutofit/>
          </a:bodyPr>
          <a:lstStyle/>
          <a:p>
            <a:r>
              <a:rPr lang="en-US">
                <a:latin typeface="National semibold" panose="02000503000000020004"/>
              </a:rPr>
              <a:t>There are </a:t>
            </a:r>
            <a:r>
              <a:rPr lang="en-US" b="1" u="sng">
                <a:latin typeface="National semibold" panose="02000503000000020004"/>
              </a:rPr>
              <a:t>reserves</a:t>
            </a:r>
            <a:r>
              <a:rPr lang="en-US">
                <a:latin typeface="National semibold" panose="02000503000000020004"/>
              </a:rPr>
              <a:t>. The </a:t>
            </a:r>
            <a:r>
              <a:rPr lang="en-US" i="1">
                <a:latin typeface="National semibold" panose="02000503000000020004"/>
              </a:rPr>
              <a:t>reserve factor</a:t>
            </a:r>
            <a:r>
              <a:rPr lang="en-US">
                <a:latin typeface="National semibold" panose="02000503000000020004"/>
              </a:rPr>
              <a:t> is a percentage of the borrow payments not given to the suppliers but set aside in a reserve pool that acts as insurance in case a borrower defaults. </a:t>
            </a:r>
          </a:p>
        </p:txBody>
      </p:sp>
    </p:spTree>
    <p:extLst>
      <p:ext uri="{BB962C8B-B14F-4D97-AF65-F5344CB8AC3E}">
        <p14:creationId xmlns:p14="http://schemas.microsoft.com/office/powerpoint/2010/main" val="26865463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F4670-3B49-98B2-C0CB-16AE5F3C31AE}"/>
              </a:ext>
            </a:extLst>
          </p:cNvPr>
          <p:cNvSpPr>
            <a:spLocks noGrp="1"/>
          </p:cNvSpPr>
          <p:nvPr>
            <p:ph type="title"/>
          </p:nvPr>
        </p:nvSpPr>
        <p:spPr/>
        <p:txBody>
          <a:bodyPr anchor="b"/>
          <a:lstStyle/>
          <a:p>
            <a:r>
              <a:rPr lang="en-US" b="1">
                <a:latin typeface="National semibold" panose="02000503000000020004"/>
              </a:rPr>
              <a:t>Why is Compound lending market useful?</a:t>
            </a:r>
          </a:p>
        </p:txBody>
      </p:sp>
      <p:sp>
        <p:nvSpPr>
          <p:cNvPr id="3" name="Content Placeholder 2">
            <a:extLst>
              <a:ext uri="{FF2B5EF4-FFF2-40B4-BE49-F238E27FC236}">
                <a16:creationId xmlns:a16="http://schemas.microsoft.com/office/drawing/2014/main" id="{D83E6BDF-3157-3AAA-5AF2-77B350FC737A}"/>
              </a:ext>
            </a:extLst>
          </p:cNvPr>
          <p:cNvSpPr>
            <a:spLocks noGrp="1"/>
          </p:cNvSpPr>
          <p:nvPr>
            <p:ph idx="1"/>
          </p:nvPr>
        </p:nvSpPr>
        <p:spPr>
          <a:xfrm>
            <a:off x="1522413" y="1981200"/>
            <a:ext cx="9829799" cy="4715164"/>
          </a:xfrm>
        </p:spPr>
        <p:txBody>
          <a:bodyPr>
            <a:normAutofit fontScale="92500" lnSpcReduction="10000"/>
          </a:bodyPr>
          <a:lstStyle/>
          <a:p>
            <a:r>
              <a:rPr lang="en-US" dirty="0">
                <a:latin typeface="National semibold" panose="02000503000000020004"/>
              </a:rPr>
              <a:t>Compound allows users to unlock the value of an asset without selling it and incurring a taxable event, similar to a home equity line of credit. </a:t>
            </a:r>
          </a:p>
          <a:p>
            <a:r>
              <a:rPr lang="en-US" dirty="0">
                <a:latin typeface="National semibold" panose="02000503000000020004"/>
              </a:rPr>
              <a:t>Also, the borrowed assets can be used to engineer long or short leveraged positions, with competitive pooled rates and no approval process. </a:t>
            </a:r>
          </a:p>
          <a:p>
            <a:pPr lvl="1"/>
            <a:r>
              <a:rPr lang="en-US" dirty="0">
                <a:latin typeface="National semibold" panose="02000503000000020004"/>
              </a:rPr>
              <a:t>If an investor is bearish about the price of ETH, he/she can simply deposit DAI or </a:t>
            </a:r>
            <a:r>
              <a:rPr lang="en-US" dirty="0" err="1">
                <a:latin typeface="National semibold" panose="02000503000000020004"/>
              </a:rPr>
              <a:t>stablecoin</a:t>
            </a:r>
            <a:r>
              <a:rPr lang="en-US" dirty="0">
                <a:latin typeface="National semibold" panose="02000503000000020004"/>
              </a:rPr>
              <a:t> USDC as collateral, borrow ETH and sell them for more DAI or USDC. If the price of ETH falls, the investor will use some of the owned DAI or USDC to repurchase later ETH at the lower price and repay the debt.</a:t>
            </a:r>
          </a:p>
          <a:p>
            <a:pPr lvl="1"/>
            <a:r>
              <a:rPr lang="en-US" dirty="0">
                <a:latin typeface="National semibold" panose="02000503000000020004"/>
              </a:rPr>
              <a:t>If an investor is optimistic about the price of ETH, he/she can simply deposit ETH as collateral, borrow USDC and sell them for more ETH. If the price of ETH increases, the </a:t>
            </a:r>
            <a:r>
              <a:rPr lang="en-US">
                <a:latin typeface="National semibold" panose="02000503000000020004"/>
              </a:rPr>
              <a:t>investor will </a:t>
            </a:r>
            <a:r>
              <a:rPr lang="en-US" dirty="0">
                <a:latin typeface="National semibold" panose="02000503000000020004"/>
              </a:rPr>
              <a:t>repay the debt in USDC by selling the ETH at the higher price.</a:t>
            </a:r>
          </a:p>
          <a:p>
            <a:pPr marL="338138" indent="-342900"/>
            <a:r>
              <a:rPr lang="en-US" dirty="0">
                <a:latin typeface="National semibold" panose="02000503000000020004"/>
              </a:rPr>
              <a:t>Other platforms can easily escrow funds in Compound to provide additional value to their users or enable novel business models.</a:t>
            </a:r>
          </a:p>
          <a:p>
            <a:pPr marL="625475" lvl="1" indent="-342900"/>
            <a:r>
              <a:rPr lang="en-US" dirty="0">
                <a:latin typeface="National semibold" panose="02000503000000020004"/>
              </a:rPr>
              <a:t>An example is </a:t>
            </a:r>
            <a:r>
              <a:rPr lang="en-US" dirty="0">
                <a:latin typeface="National semibold" panose="02000503000000020004"/>
                <a:hlinkClick r:id="rId2"/>
              </a:rPr>
              <a:t>Pool-Together</a:t>
            </a:r>
            <a:r>
              <a:rPr lang="en-US" dirty="0">
                <a:latin typeface="National semibold" panose="02000503000000020004"/>
              </a:rPr>
              <a:t>, a no-loss lottery that deposits all user’s funds into Compound but pays the entire pool’s earned interest to a single random depositor at fixed intervals.   </a:t>
            </a:r>
          </a:p>
          <a:p>
            <a:endParaRPr lang="en-US" dirty="0">
              <a:latin typeface="National semibold" panose="02000503000000020004"/>
            </a:endParaRPr>
          </a:p>
          <a:p>
            <a:pPr marL="282575" lvl="1" indent="0">
              <a:buNone/>
            </a:pPr>
            <a:endParaRPr lang="en-US" dirty="0">
              <a:latin typeface="National semibold" panose="02000503000000020004"/>
            </a:endParaRPr>
          </a:p>
        </p:txBody>
      </p:sp>
    </p:spTree>
    <p:extLst>
      <p:ext uri="{BB962C8B-B14F-4D97-AF65-F5344CB8AC3E}">
        <p14:creationId xmlns:p14="http://schemas.microsoft.com/office/powerpoint/2010/main" val="33294974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F4670-3B49-98B2-C0CB-16AE5F3C31AE}"/>
              </a:ext>
            </a:extLst>
          </p:cNvPr>
          <p:cNvSpPr>
            <a:spLocks noGrp="1"/>
          </p:cNvSpPr>
          <p:nvPr>
            <p:ph type="title"/>
          </p:nvPr>
        </p:nvSpPr>
        <p:spPr/>
        <p:txBody>
          <a:bodyPr anchor="b"/>
          <a:lstStyle/>
          <a:p>
            <a:r>
              <a:rPr lang="en-US" b="1" err="1">
                <a:latin typeface="National semibold" panose="02000503000000020004"/>
              </a:rPr>
              <a:t>cTokens</a:t>
            </a:r>
            <a:endParaRPr lang="en-US" b="1">
              <a:latin typeface="National semibold" panose="02000503000000020004"/>
            </a:endParaRPr>
          </a:p>
        </p:txBody>
      </p:sp>
      <p:sp>
        <p:nvSpPr>
          <p:cNvPr id="3" name="Content Placeholder 2">
            <a:extLst>
              <a:ext uri="{FF2B5EF4-FFF2-40B4-BE49-F238E27FC236}">
                <a16:creationId xmlns:a16="http://schemas.microsoft.com/office/drawing/2014/main" id="{D83E6BDF-3157-3AAA-5AF2-77B350FC737A}"/>
              </a:ext>
            </a:extLst>
          </p:cNvPr>
          <p:cNvSpPr>
            <a:spLocks noGrp="1"/>
          </p:cNvSpPr>
          <p:nvPr>
            <p:ph idx="1"/>
          </p:nvPr>
        </p:nvSpPr>
        <p:spPr>
          <a:xfrm>
            <a:off x="1522413" y="1981200"/>
            <a:ext cx="9829799" cy="4715164"/>
          </a:xfrm>
        </p:spPr>
        <p:txBody>
          <a:bodyPr>
            <a:normAutofit fontScale="92500" lnSpcReduction="10000"/>
          </a:bodyPr>
          <a:lstStyle/>
          <a:p>
            <a:pPr marL="338138" indent="-342900"/>
            <a:r>
              <a:rPr lang="en-US" dirty="0">
                <a:latin typeface="National semibold" panose="02000503000000020004"/>
              </a:rPr>
              <a:t>To facilitate keeping track of each user’s ownership stake in each market, Compound issues a </a:t>
            </a:r>
            <a:r>
              <a:rPr lang="en-US" dirty="0" err="1">
                <a:latin typeface="National semibold" panose="02000503000000020004"/>
              </a:rPr>
              <a:t>cToken</a:t>
            </a:r>
            <a:r>
              <a:rPr lang="en-US" dirty="0">
                <a:latin typeface="National semibold" panose="02000503000000020004"/>
              </a:rPr>
              <a:t>. </a:t>
            </a:r>
          </a:p>
          <a:p>
            <a:pPr marL="338138" indent="-342900"/>
            <a:r>
              <a:rPr lang="en-US" dirty="0">
                <a:latin typeface="National semibold" panose="02000503000000020004"/>
              </a:rPr>
              <a:t>A </a:t>
            </a:r>
            <a:r>
              <a:rPr lang="en-US" dirty="0" err="1">
                <a:latin typeface="National semibold" panose="02000503000000020004"/>
              </a:rPr>
              <a:t>cToken</a:t>
            </a:r>
            <a:r>
              <a:rPr lang="en-US" dirty="0">
                <a:latin typeface="National semibold" panose="02000503000000020004"/>
              </a:rPr>
              <a:t> is an ERC-20 asset representing the ownership stake in the underlying Compound market. </a:t>
            </a:r>
          </a:p>
          <a:p>
            <a:pPr marL="625475" lvl="1" indent="-342900"/>
            <a:r>
              <a:rPr lang="en-US" dirty="0">
                <a:latin typeface="National semibold" panose="02000503000000020004"/>
              </a:rPr>
              <a:t>For example, </a:t>
            </a:r>
            <a:r>
              <a:rPr lang="en-US" dirty="0" err="1">
                <a:latin typeface="National semibold" panose="02000503000000020004"/>
              </a:rPr>
              <a:t>cDAI</a:t>
            </a:r>
            <a:r>
              <a:rPr lang="en-US" dirty="0">
                <a:latin typeface="National semibold" panose="02000503000000020004"/>
              </a:rPr>
              <a:t> corresponds to the Compound DAI market; </a:t>
            </a:r>
            <a:r>
              <a:rPr lang="en-US" dirty="0" err="1">
                <a:latin typeface="National semibold" panose="02000503000000020004"/>
              </a:rPr>
              <a:t>cETH</a:t>
            </a:r>
            <a:r>
              <a:rPr lang="en-US" dirty="0">
                <a:latin typeface="National semibold" panose="02000503000000020004"/>
              </a:rPr>
              <a:t> corresponds to the Compound ETH market.</a:t>
            </a:r>
          </a:p>
          <a:p>
            <a:pPr marL="338138" indent="-342900"/>
            <a:r>
              <a:rPr lang="en-US" dirty="0" err="1">
                <a:latin typeface="National semibold" panose="02000503000000020004"/>
              </a:rPr>
              <a:t>cTokens</a:t>
            </a:r>
            <a:r>
              <a:rPr lang="en-US" dirty="0">
                <a:latin typeface="National semibold" panose="02000503000000020004"/>
              </a:rPr>
              <a:t> are minted and burned in proportion to the funds added and removed to/from the underlying market.</a:t>
            </a:r>
          </a:p>
          <a:p>
            <a:pPr marL="338138" indent="-342900"/>
            <a:r>
              <a:rPr lang="en-US" dirty="0">
                <a:latin typeface="National semibold" panose="02000503000000020004"/>
              </a:rPr>
              <a:t>One benefit of </a:t>
            </a:r>
            <a:r>
              <a:rPr lang="en-US" dirty="0" err="1">
                <a:latin typeface="National semibold" panose="02000503000000020004"/>
              </a:rPr>
              <a:t>cToken</a:t>
            </a:r>
            <a:r>
              <a:rPr lang="en-US" dirty="0">
                <a:latin typeface="National semibold" panose="02000503000000020004"/>
              </a:rPr>
              <a:t> is that it can be traded on its own like a normal ERC-20 asset, which allows other protocols to integrate seamlessly with Compound.</a:t>
            </a:r>
          </a:p>
          <a:p>
            <a:pPr marL="625475" lvl="1" indent="-342900"/>
            <a:r>
              <a:rPr lang="en-US" dirty="0">
                <a:latin typeface="National semibold" panose="02000503000000020004"/>
              </a:rPr>
              <a:t>For example, an investor can deploy the owned </a:t>
            </a:r>
            <a:r>
              <a:rPr lang="en-US" dirty="0" err="1">
                <a:latin typeface="National semibold" panose="02000503000000020004"/>
              </a:rPr>
              <a:t>cTokens</a:t>
            </a:r>
            <a:r>
              <a:rPr lang="en-US" dirty="0">
                <a:latin typeface="National semibold" panose="02000503000000020004"/>
              </a:rPr>
              <a:t> as a collateral in the </a:t>
            </a:r>
            <a:r>
              <a:rPr lang="en-US" dirty="0" err="1">
                <a:latin typeface="National semibold" panose="02000503000000020004"/>
              </a:rPr>
              <a:t>MakerDAO</a:t>
            </a:r>
            <a:r>
              <a:rPr lang="en-US" dirty="0">
                <a:latin typeface="National semibold" panose="02000503000000020004"/>
              </a:rPr>
              <a:t> vault. Instead of using ETH only as collateral, the investor can use </a:t>
            </a:r>
            <a:r>
              <a:rPr lang="en-US" dirty="0" err="1">
                <a:latin typeface="National semibold" panose="02000503000000020004"/>
              </a:rPr>
              <a:t>cETH</a:t>
            </a:r>
            <a:r>
              <a:rPr lang="en-US" dirty="0">
                <a:latin typeface="National semibold" panose="02000503000000020004"/>
              </a:rPr>
              <a:t>, earning lending interest on the ETH collateral.  </a:t>
            </a:r>
          </a:p>
        </p:txBody>
      </p:sp>
    </p:spTree>
    <p:extLst>
      <p:ext uri="{BB962C8B-B14F-4D97-AF65-F5344CB8AC3E}">
        <p14:creationId xmlns:p14="http://schemas.microsoft.com/office/powerpoint/2010/main" val="38330587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F4670-3B49-98B2-C0CB-16AE5F3C31AE}"/>
              </a:ext>
            </a:extLst>
          </p:cNvPr>
          <p:cNvSpPr>
            <a:spLocks noGrp="1"/>
          </p:cNvSpPr>
          <p:nvPr>
            <p:ph type="title"/>
          </p:nvPr>
        </p:nvSpPr>
        <p:spPr/>
        <p:txBody>
          <a:bodyPr anchor="b"/>
          <a:lstStyle/>
          <a:p>
            <a:r>
              <a:rPr lang="en-US" b="1" err="1">
                <a:latin typeface="National semibold" panose="02000503000000020004"/>
              </a:rPr>
              <a:t>cTokens</a:t>
            </a:r>
            <a:r>
              <a:rPr lang="en-US" b="1">
                <a:latin typeface="National semibold" panose="02000503000000020004"/>
              </a:rPr>
              <a:t> (example)</a:t>
            </a:r>
          </a:p>
        </p:txBody>
      </p:sp>
      <p:sp>
        <p:nvSpPr>
          <p:cNvPr id="3" name="Content Placeholder 2">
            <a:extLst>
              <a:ext uri="{FF2B5EF4-FFF2-40B4-BE49-F238E27FC236}">
                <a16:creationId xmlns:a16="http://schemas.microsoft.com/office/drawing/2014/main" id="{D83E6BDF-3157-3AAA-5AF2-77B350FC737A}"/>
              </a:ext>
            </a:extLst>
          </p:cNvPr>
          <p:cNvSpPr>
            <a:spLocks noGrp="1"/>
          </p:cNvSpPr>
          <p:nvPr>
            <p:ph idx="1"/>
          </p:nvPr>
        </p:nvSpPr>
        <p:spPr>
          <a:xfrm>
            <a:off x="1522413" y="1981200"/>
            <a:ext cx="9829799" cy="4715164"/>
          </a:xfrm>
        </p:spPr>
        <p:txBody>
          <a:bodyPr>
            <a:normAutofit/>
          </a:bodyPr>
          <a:lstStyle/>
          <a:p>
            <a:pPr marL="338138" indent="-342900"/>
            <a:r>
              <a:rPr lang="en-US" sz="2200">
                <a:latin typeface="National semibold" panose="02000503000000020004"/>
              </a:rPr>
              <a:t>There are 2,000 DAI in the Compound DAI market, and 500 </a:t>
            </a:r>
            <a:r>
              <a:rPr lang="en-US" sz="2200" err="1">
                <a:latin typeface="National semibold" panose="02000503000000020004"/>
              </a:rPr>
              <a:t>cDAI</a:t>
            </a:r>
            <a:r>
              <a:rPr lang="en-US" sz="2200">
                <a:latin typeface="National semibold" panose="02000503000000020004"/>
              </a:rPr>
              <a:t> are representative of the ownership in the market.</a:t>
            </a:r>
          </a:p>
          <a:p>
            <a:pPr marL="338138" indent="-342900"/>
            <a:r>
              <a:rPr lang="en-US" sz="2200">
                <a:latin typeface="National semibold" panose="02000503000000020004"/>
              </a:rPr>
              <a:t>Initially, 1 </a:t>
            </a:r>
            <a:r>
              <a:rPr lang="en-US" sz="2200" err="1">
                <a:latin typeface="National semibold" panose="02000503000000020004"/>
              </a:rPr>
              <a:t>cDAI</a:t>
            </a:r>
            <a:r>
              <a:rPr lang="en-US" sz="2200">
                <a:latin typeface="National semibold" panose="02000503000000020004"/>
              </a:rPr>
              <a:t> represents 4 DAI. However, after interest accrues, the ratio changes.</a:t>
            </a:r>
          </a:p>
          <a:p>
            <a:pPr marL="338138" indent="-342900"/>
            <a:r>
              <a:rPr lang="en-US" sz="2200">
                <a:latin typeface="National semibold" panose="02000503000000020004"/>
              </a:rPr>
              <a:t>If the interest rate is 10% at year end, the number of DAI in the Compound has 2,200 DAI. Thus, 1 </a:t>
            </a:r>
            <a:r>
              <a:rPr lang="en-US" sz="2200" err="1">
                <a:latin typeface="National semibold" panose="02000503000000020004"/>
              </a:rPr>
              <a:t>cDAI</a:t>
            </a:r>
            <a:r>
              <a:rPr lang="en-US" sz="2200">
                <a:latin typeface="National semibold" panose="02000503000000020004"/>
              </a:rPr>
              <a:t> is now worth 4.4 DAI. Equivalently, investors could redeem the 500 </a:t>
            </a:r>
            <a:r>
              <a:rPr lang="en-US" sz="2200" err="1">
                <a:latin typeface="National semibold" panose="02000503000000020004"/>
              </a:rPr>
              <a:t>cDAI</a:t>
            </a:r>
            <a:r>
              <a:rPr lang="en-US" sz="2200">
                <a:latin typeface="National semibold" panose="02000503000000020004"/>
              </a:rPr>
              <a:t> for 2,200 DAI. </a:t>
            </a:r>
          </a:p>
          <a:p>
            <a:pPr marL="338138" indent="-342900"/>
            <a:r>
              <a:rPr lang="en-US" sz="2200">
                <a:latin typeface="National semibold" panose="02000503000000020004"/>
              </a:rPr>
              <a:t>If at this point a new investor would like to participate in the market with the deposit of 2,000 DAI, he/she will receive 2,000/4.4=454 </a:t>
            </a:r>
            <a:r>
              <a:rPr lang="en-US" sz="2200" err="1">
                <a:latin typeface="National semibold" panose="02000503000000020004"/>
              </a:rPr>
              <a:t>cDAI</a:t>
            </a:r>
            <a:r>
              <a:rPr lang="en-US" sz="2200">
                <a:latin typeface="National semibold" panose="02000503000000020004"/>
              </a:rPr>
              <a:t>.   </a:t>
            </a:r>
          </a:p>
          <a:p>
            <a:pPr marL="338138" indent="-342900"/>
            <a:r>
              <a:rPr lang="en-US" sz="2200">
                <a:latin typeface="National semibold" panose="02000503000000020004"/>
              </a:rPr>
              <a:t>The investor could deploy </a:t>
            </a:r>
            <a:r>
              <a:rPr lang="en-US" sz="2200" err="1">
                <a:latin typeface="National semibold" panose="02000503000000020004"/>
              </a:rPr>
              <a:t>cDAI</a:t>
            </a:r>
            <a:r>
              <a:rPr lang="en-US" sz="2200">
                <a:latin typeface="National semibold" panose="02000503000000020004"/>
              </a:rPr>
              <a:t>, in place of DAI, so that the DAI is not sitting idle but earning interest via the Compound pool.     </a:t>
            </a:r>
          </a:p>
        </p:txBody>
      </p:sp>
    </p:spTree>
    <p:extLst>
      <p:ext uri="{BB962C8B-B14F-4D97-AF65-F5344CB8AC3E}">
        <p14:creationId xmlns:p14="http://schemas.microsoft.com/office/powerpoint/2010/main" val="21362306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F4670-3B49-98B2-C0CB-16AE5F3C31AE}"/>
              </a:ext>
            </a:extLst>
          </p:cNvPr>
          <p:cNvSpPr>
            <a:spLocks noGrp="1"/>
          </p:cNvSpPr>
          <p:nvPr>
            <p:ph type="title"/>
          </p:nvPr>
        </p:nvSpPr>
        <p:spPr/>
        <p:txBody>
          <a:bodyPr anchor="b"/>
          <a:lstStyle/>
          <a:p>
            <a:r>
              <a:rPr lang="en-US" b="1">
                <a:latin typeface="National semibold" panose="02000503000000020004"/>
              </a:rPr>
              <a:t>Compound Governance</a:t>
            </a:r>
          </a:p>
        </p:txBody>
      </p:sp>
      <p:sp>
        <p:nvSpPr>
          <p:cNvPr id="3" name="Content Placeholder 2">
            <a:extLst>
              <a:ext uri="{FF2B5EF4-FFF2-40B4-BE49-F238E27FC236}">
                <a16:creationId xmlns:a16="http://schemas.microsoft.com/office/drawing/2014/main" id="{D83E6BDF-3157-3AAA-5AF2-77B350FC737A}"/>
              </a:ext>
            </a:extLst>
          </p:cNvPr>
          <p:cNvSpPr>
            <a:spLocks noGrp="1"/>
          </p:cNvSpPr>
          <p:nvPr>
            <p:ph idx="1"/>
          </p:nvPr>
        </p:nvSpPr>
        <p:spPr>
          <a:xfrm>
            <a:off x="1522413" y="1981200"/>
            <a:ext cx="9829799" cy="4715164"/>
          </a:xfrm>
        </p:spPr>
        <p:txBody>
          <a:bodyPr>
            <a:normAutofit fontScale="92500" lnSpcReduction="20000"/>
          </a:bodyPr>
          <a:lstStyle/>
          <a:p>
            <a:pPr marL="338138" indent="-342900"/>
            <a:r>
              <a:rPr lang="en-US">
                <a:latin typeface="National semibold" panose="02000503000000020004"/>
              </a:rPr>
              <a:t>Compound Governance can tune the parameters of the Compound market</a:t>
            </a:r>
          </a:p>
          <a:p>
            <a:pPr marL="625475" lvl="1" indent="-342900"/>
            <a:r>
              <a:rPr lang="en-US" sz="1800">
                <a:latin typeface="National semibold" panose="02000503000000020004"/>
              </a:rPr>
              <a:t>Collateral factor</a:t>
            </a:r>
          </a:p>
          <a:p>
            <a:pPr marL="625475" lvl="1" indent="-342900"/>
            <a:r>
              <a:rPr lang="en-US" sz="1800">
                <a:latin typeface="National semibold" panose="02000503000000020004"/>
              </a:rPr>
              <a:t>Reserve factor</a:t>
            </a:r>
          </a:p>
          <a:p>
            <a:pPr marL="625475" lvl="1" indent="-342900"/>
            <a:r>
              <a:rPr lang="en-US" sz="1800">
                <a:latin typeface="National semibold" panose="02000503000000020004"/>
              </a:rPr>
              <a:t>Base rate</a:t>
            </a:r>
          </a:p>
          <a:p>
            <a:pPr marL="625475" lvl="1" indent="-342900"/>
            <a:r>
              <a:rPr lang="en-US" sz="1800">
                <a:latin typeface="National semibold" panose="02000503000000020004"/>
              </a:rPr>
              <a:t>Slope</a:t>
            </a:r>
          </a:p>
          <a:p>
            <a:pPr marL="625475" lvl="1" indent="-342900"/>
            <a:r>
              <a:rPr lang="en-US" sz="1800">
                <a:latin typeface="National semibold" panose="02000503000000020004"/>
              </a:rPr>
              <a:t>Kink</a:t>
            </a:r>
          </a:p>
          <a:p>
            <a:pPr marL="625475" lvl="1" indent="-342900"/>
            <a:r>
              <a:rPr lang="en-US" sz="1800">
                <a:latin typeface="National semibold" panose="02000503000000020004"/>
              </a:rPr>
              <a:t>Add new markets</a:t>
            </a:r>
          </a:p>
          <a:p>
            <a:pPr marL="625475" lvl="1" indent="-342900"/>
            <a:r>
              <a:rPr lang="en-US" sz="1800">
                <a:latin typeface="National semibold" panose="02000503000000020004"/>
              </a:rPr>
              <a:t>Freeze the ability to initiate new deposits or borrow in a market</a:t>
            </a:r>
          </a:p>
          <a:p>
            <a:pPr marL="625475" lvl="1" indent="-342900"/>
            <a:r>
              <a:rPr lang="en-US" sz="1800">
                <a:latin typeface="National semibold" panose="02000503000000020004"/>
              </a:rPr>
              <a:t>Upgrade some of the contract codes</a:t>
            </a:r>
          </a:p>
          <a:p>
            <a:pPr marL="338138" indent="-342900"/>
            <a:r>
              <a:rPr lang="en-US" sz="2200">
                <a:latin typeface="National semibold" panose="02000503000000020004"/>
              </a:rPr>
              <a:t>However, Compound Governance cannot steal funds, or prevent users from withdrawing. </a:t>
            </a:r>
          </a:p>
          <a:p>
            <a:pPr marL="338138" indent="-342900"/>
            <a:r>
              <a:rPr lang="en-US" sz="2200">
                <a:latin typeface="National semibold" panose="02000503000000020004"/>
              </a:rPr>
              <a:t>Initially, governance was done by developer administrators. But the goal was to replace administrators with a system based on governance tokens. This was done in June 2020 via the COMP token (similar to MKR for </a:t>
            </a:r>
            <a:r>
              <a:rPr lang="en-US" sz="2200" err="1">
                <a:latin typeface="National semibold" panose="02000503000000020004"/>
              </a:rPr>
              <a:t>MakerDAO</a:t>
            </a:r>
            <a:r>
              <a:rPr lang="en-US" sz="2200">
                <a:latin typeface="National semibold" panose="02000503000000020004"/>
              </a:rPr>
              <a:t>). COMP were distributed to suppliers and borrowers in the same way a tech company gives its own stocks to its users.      </a:t>
            </a:r>
          </a:p>
        </p:txBody>
      </p:sp>
    </p:spTree>
    <p:extLst>
      <p:ext uri="{BB962C8B-B14F-4D97-AF65-F5344CB8AC3E}">
        <p14:creationId xmlns:p14="http://schemas.microsoft.com/office/powerpoint/2010/main" val="9811959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F4670-3B49-98B2-C0CB-16AE5F3C31AE}"/>
              </a:ext>
            </a:extLst>
          </p:cNvPr>
          <p:cNvSpPr>
            <a:spLocks noGrp="1"/>
          </p:cNvSpPr>
          <p:nvPr>
            <p:ph type="title"/>
          </p:nvPr>
        </p:nvSpPr>
        <p:spPr/>
        <p:txBody>
          <a:bodyPr anchor="b"/>
          <a:lstStyle/>
          <a:p>
            <a:r>
              <a:rPr lang="en-US" b="1" err="1">
                <a:latin typeface="National semibold" panose="02000503000000020004"/>
              </a:rPr>
              <a:t>Aave</a:t>
            </a:r>
            <a:endParaRPr lang="en-US" b="1">
              <a:latin typeface="National semibold" panose="02000503000000020004"/>
            </a:endParaRPr>
          </a:p>
        </p:txBody>
      </p:sp>
      <p:sp>
        <p:nvSpPr>
          <p:cNvPr id="3" name="Content Placeholder 2">
            <a:extLst>
              <a:ext uri="{FF2B5EF4-FFF2-40B4-BE49-F238E27FC236}">
                <a16:creationId xmlns:a16="http://schemas.microsoft.com/office/drawing/2014/main" id="{D83E6BDF-3157-3AAA-5AF2-77B350FC737A}"/>
              </a:ext>
            </a:extLst>
          </p:cNvPr>
          <p:cNvSpPr>
            <a:spLocks noGrp="1"/>
          </p:cNvSpPr>
          <p:nvPr>
            <p:ph idx="1"/>
          </p:nvPr>
        </p:nvSpPr>
        <p:spPr>
          <a:xfrm>
            <a:off x="1522413" y="1981200"/>
            <a:ext cx="9829799" cy="4715164"/>
          </a:xfrm>
        </p:spPr>
        <p:txBody>
          <a:bodyPr>
            <a:normAutofit/>
          </a:bodyPr>
          <a:lstStyle/>
          <a:p>
            <a:pPr marL="338138" indent="-342900"/>
            <a:r>
              <a:rPr lang="en-US" dirty="0" err="1">
                <a:latin typeface="National semibold" panose="02000503000000020004"/>
                <a:hlinkClick r:id="rId2"/>
              </a:rPr>
              <a:t>Aave</a:t>
            </a:r>
            <a:r>
              <a:rPr lang="en-US" dirty="0">
                <a:latin typeface="National semibold" panose="02000503000000020004"/>
              </a:rPr>
              <a:t> is a lending market protocol similar to Compound and offers several enhanced features. It offers many additional tokens to supply and borrow beyond what Compound offers. </a:t>
            </a:r>
          </a:p>
          <a:p>
            <a:pPr marL="338138" indent="-342900"/>
            <a:endParaRPr lang="en-US" dirty="0">
              <a:latin typeface="National semibold" panose="02000503000000020004"/>
            </a:endParaRPr>
          </a:p>
          <a:p>
            <a:pPr marL="338138" indent="-342900"/>
            <a:r>
              <a:rPr lang="en-US" dirty="0" err="1">
                <a:latin typeface="National semibold" panose="02000503000000020004"/>
              </a:rPr>
              <a:t>Aave</a:t>
            </a:r>
            <a:r>
              <a:rPr lang="en-US" dirty="0">
                <a:latin typeface="National semibold" panose="02000503000000020004"/>
              </a:rPr>
              <a:t> allows for “flash loans”: </a:t>
            </a:r>
            <a:r>
              <a:rPr lang="en-US" i="0" dirty="0">
                <a:solidFill>
                  <a:srgbClr val="202124"/>
                </a:solidFill>
                <a:effectLst/>
                <a:latin typeface="National semibold" panose="02000503000000020004"/>
              </a:rPr>
              <a:t>An instant loan with the condition that must be repaid within a single Ethereum transaction. </a:t>
            </a:r>
          </a:p>
          <a:p>
            <a:pPr marL="625475" lvl="1" indent="-342900"/>
            <a:r>
              <a:rPr lang="en-US" i="0" dirty="0">
                <a:solidFill>
                  <a:srgbClr val="202124"/>
                </a:solidFill>
                <a:effectLst/>
                <a:latin typeface="National semibold" panose="02000503000000020004"/>
              </a:rPr>
              <a:t>Similar idea as overnigh</a:t>
            </a:r>
            <a:r>
              <a:rPr lang="en-US" dirty="0">
                <a:solidFill>
                  <a:srgbClr val="202124"/>
                </a:solidFill>
                <a:latin typeface="National semibold" panose="02000503000000020004"/>
              </a:rPr>
              <a:t>t loan in traditional finance. </a:t>
            </a:r>
          </a:p>
          <a:p>
            <a:pPr marL="625475" lvl="1" indent="-342900"/>
            <a:r>
              <a:rPr lang="en-US" dirty="0">
                <a:solidFill>
                  <a:srgbClr val="202124"/>
                </a:solidFill>
                <a:latin typeface="National semibold" panose="02000503000000020004"/>
              </a:rPr>
              <a:t>One important clause is that, if the loan is not repaid with interest by the end of the transaction, the whole process reverts to the state before any money ever left the lender’s account. </a:t>
            </a:r>
          </a:p>
          <a:p>
            <a:pPr marL="625475" lvl="1" indent="-342900"/>
            <a:r>
              <a:rPr lang="en-US" dirty="0">
                <a:solidFill>
                  <a:srgbClr val="202124"/>
                </a:solidFill>
                <a:latin typeface="National semibold" panose="02000503000000020004"/>
              </a:rPr>
              <a:t>Flash loans allow a user to take advantage of arbitrage opportunities or to refinance loans without pledging  collateral</a:t>
            </a:r>
            <a:r>
              <a:rPr lang="en-US">
                <a:solidFill>
                  <a:srgbClr val="202124"/>
                </a:solidFill>
                <a:latin typeface="National semibold" panose="02000503000000020004"/>
              </a:rPr>
              <a:t>. </a:t>
            </a:r>
            <a:endParaRPr lang="en-US" dirty="0">
              <a:solidFill>
                <a:srgbClr val="202124"/>
              </a:solidFill>
              <a:latin typeface="National semibold" panose="02000503000000020004"/>
            </a:endParaRPr>
          </a:p>
        </p:txBody>
      </p:sp>
    </p:spTree>
    <p:extLst>
      <p:ext uri="{BB962C8B-B14F-4D97-AF65-F5344CB8AC3E}">
        <p14:creationId xmlns:p14="http://schemas.microsoft.com/office/powerpoint/2010/main" val="17737862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F4670-3B49-98B2-C0CB-16AE5F3C31AE}"/>
              </a:ext>
            </a:extLst>
          </p:cNvPr>
          <p:cNvSpPr>
            <a:spLocks noGrp="1"/>
          </p:cNvSpPr>
          <p:nvPr>
            <p:ph type="title"/>
          </p:nvPr>
        </p:nvSpPr>
        <p:spPr/>
        <p:txBody>
          <a:bodyPr anchor="b"/>
          <a:lstStyle/>
          <a:p>
            <a:r>
              <a:rPr lang="en-US" b="1">
                <a:latin typeface="National semibold" panose="02000503000000020004"/>
              </a:rPr>
              <a:t>Flash loan (example)</a:t>
            </a:r>
          </a:p>
        </p:txBody>
      </p:sp>
      <p:sp>
        <p:nvSpPr>
          <p:cNvPr id="3" name="Content Placeholder 2">
            <a:extLst>
              <a:ext uri="{FF2B5EF4-FFF2-40B4-BE49-F238E27FC236}">
                <a16:creationId xmlns:a16="http://schemas.microsoft.com/office/drawing/2014/main" id="{D83E6BDF-3157-3AAA-5AF2-77B350FC737A}"/>
              </a:ext>
            </a:extLst>
          </p:cNvPr>
          <p:cNvSpPr>
            <a:spLocks noGrp="1"/>
          </p:cNvSpPr>
          <p:nvPr>
            <p:ph idx="1"/>
          </p:nvPr>
        </p:nvSpPr>
        <p:spPr>
          <a:xfrm>
            <a:off x="1522413" y="1981200"/>
            <a:ext cx="9829799" cy="4715164"/>
          </a:xfrm>
        </p:spPr>
        <p:txBody>
          <a:bodyPr>
            <a:normAutofit fontScale="92500" lnSpcReduction="20000"/>
          </a:bodyPr>
          <a:lstStyle/>
          <a:p>
            <a:pPr marL="338138" indent="-342900"/>
            <a:r>
              <a:rPr lang="en-US" dirty="0">
                <a:latin typeface="National semibold" panose="02000503000000020004"/>
              </a:rPr>
              <a:t>Suppose that the price of ETH is 1,000 DAI. A user supplies 100 ETH in Compound and borrows 50,000 DAI with which it uses to purchase an additional 50 ETH supplied to Compound.</a:t>
            </a:r>
          </a:p>
          <a:p>
            <a:pPr marL="338138" indent="-342900"/>
            <a:r>
              <a:rPr lang="en-US" dirty="0">
                <a:latin typeface="National semibold" panose="02000503000000020004"/>
              </a:rPr>
              <a:t>The borrow interest rate for DAI in Compound is 15%. However, the borrow interest rate in </a:t>
            </a:r>
            <a:r>
              <a:rPr lang="en-US" dirty="0" err="1">
                <a:latin typeface="National semibold" panose="02000503000000020004"/>
              </a:rPr>
              <a:t>Aave</a:t>
            </a:r>
            <a:r>
              <a:rPr lang="en-US" dirty="0">
                <a:latin typeface="National semibold" panose="02000503000000020004"/>
              </a:rPr>
              <a:t> is 5%. It would be optimal, then, to refinance the Compound loan with an </a:t>
            </a:r>
            <a:r>
              <a:rPr lang="en-US" dirty="0" err="1">
                <a:latin typeface="National semibold" panose="02000503000000020004"/>
              </a:rPr>
              <a:t>Aave</a:t>
            </a:r>
            <a:r>
              <a:rPr lang="en-US" dirty="0">
                <a:latin typeface="National semibold" panose="02000503000000020004"/>
              </a:rPr>
              <a:t> loan. </a:t>
            </a:r>
          </a:p>
          <a:p>
            <a:pPr marL="338138" indent="-342900"/>
            <a:r>
              <a:rPr lang="en-US" dirty="0">
                <a:latin typeface="National semibold" panose="02000503000000020004"/>
              </a:rPr>
              <a:t>How can we do that? Here two alternatives:</a:t>
            </a:r>
          </a:p>
          <a:p>
            <a:pPr marL="739775" lvl="1" indent="-457200">
              <a:buFont typeface="+mj-lt"/>
              <a:buAutoNum type="arabicPeriod"/>
            </a:pPr>
            <a:r>
              <a:rPr lang="en-US" dirty="0">
                <a:latin typeface="National semibold" panose="02000503000000020004"/>
              </a:rPr>
              <a:t>Manually unwind each trade in Compound and redo both trades in </a:t>
            </a:r>
            <a:r>
              <a:rPr lang="en-US" dirty="0" err="1">
                <a:latin typeface="National semibold" panose="02000503000000020004"/>
              </a:rPr>
              <a:t>Aave</a:t>
            </a:r>
            <a:r>
              <a:rPr lang="en-US" dirty="0">
                <a:latin typeface="National semibold" panose="02000503000000020004"/>
              </a:rPr>
              <a:t>. This is possible but also costly in terms of exchange fees and gas fees. </a:t>
            </a:r>
          </a:p>
          <a:p>
            <a:pPr marL="739775" lvl="1" indent="-457200">
              <a:buFont typeface="+mj-lt"/>
              <a:buAutoNum type="arabicPeriod"/>
            </a:pPr>
            <a:r>
              <a:rPr lang="en-US" dirty="0">
                <a:latin typeface="National semibold" panose="02000503000000020004"/>
              </a:rPr>
              <a:t>Alternatively, (</a:t>
            </a:r>
            <a:r>
              <a:rPr lang="en-US" dirty="0" err="1">
                <a:latin typeface="National semibold" panose="02000503000000020004"/>
              </a:rPr>
              <a:t>i</a:t>
            </a:r>
            <a:r>
              <a:rPr lang="en-US" dirty="0">
                <a:latin typeface="National semibold" panose="02000503000000020004"/>
              </a:rPr>
              <a:t>) take a flash loan from </a:t>
            </a:r>
            <a:r>
              <a:rPr lang="en-US" dirty="0" err="1">
                <a:latin typeface="National semibold" panose="02000503000000020004"/>
              </a:rPr>
              <a:t>Aave</a:t>
            </a:r>
            <a:r>
              <a:rPr lang="en-US" dirty="0">
                <a:latin typeface="National semibold" panose="02000503000000020004"/>
              </a:rPr>
              <a:t> for 50,000 DAI; (ii) pay the debt in Compound; (iii) withdraw the full 150 ETH from Compound; (iv) resupply the 150 ETH to </a:t>
            </a:r>
            <a:r>
              <a:rPr lang="en-US" dirty="0" err="1">
                <a:latin typeface="National semibold" panose="02000503000000020004"/>
              </a:rPr>
              <a:t>Aave</a:t>
            </a:r>
            <a:r>
              <a:rPr lang="en-US" dirty="0">
                <a:latin typeface="National semibold" panose="02000503000000020004"/>
              </a:rPr>
              <a:t>; (v) take a normal loan from </a:t>
            </a:r>
            <a:r>
              <a:rPr lang="en-US" dirty="0" err="1">
                <a:latin typeface="National semibold" panose="02000503000000020004"/>
              </a:rPr>
              <a:t>Aave</a:t>
            </a:r>
            <a:r>
              <a:rPr lang="en-US" dirty="0">
                <a:latin typeface="National semibold" panose="02000503000000020004"/>
              </a:rPr>
              <a:t> for 50.000 DAI (at 5% interest); (vi) repay the flash loan. All these operations are done in a single transaction.     </a:t>
            </a:r>
          </a:p>
          <a:p>
            <a:pPr marL="452438" indent="-457200"/>
            <a:r>
              <a:rPr lang="en-US" dirty="0">
                <a:latin typeface="National semibold" panose="02000503000000020004"/>
              </a:rPr>
              <a:t>The second alternative skips the step of exchanging ETH for DAI to unwind and rewind the leverage. </a:t>
            </a:r>
          </a:p>
        </p:txBody>
      </p:sp>
    </p:spTree>
    <p:extLst>
      <p:ext uri="{BB962C8B-B14F-4D97-AF65-F5344CB8AC3E}">
        <p14:creationId xmlns:p14="http://schemas.microsoft.com/office/powerpoint/2010/main" val="36989380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F4670-3B49-98B2-C0CB-16AE5F3C31AE}"/>
              </a:ext>
            </a:extLst>
          </p:cNvPr>
          <p:cNvSpPr>
            <a:spLocks noGrp="1"/>
          </p:cNvSpPr>
          <p:nvPr>
            <p:ph type="title"/>
          </p:nvPr>
        </p:nvSpPr>
        <p:spPr/>
        <p:txBody>
          <a:bodyPr anchor="b"/>
          <a:lstStyle/>
          <a:p>
            <a:r>
              <a:rPr lang="en-US" b="1" err="1">
                <a:latin typeface="National semibold" panose="02000503000000020004"/>
              </a:rPr>
              <a:t>Aave</a:t>
            </a:r>
            <a:endParaRPr lang="en-US" b="1">
              <a:latin typeface="National semibold" panose="02000503000000020004"/>
            </a:endParaRPr>
          </a:p>
        </p:txBody>
      </p:sp>
      <p:sp>
        <p:nvSpPr>
          <p:cNvPr id="3" name="Content Placeholder 2">
            <a:extLst>
              <a:ext uri="{FF2B5EF4-FFF2-40B4-BE49-F238E27FC236}">
                <a16:creationId xmlns:a16="http://schemas.microsoft.com/office/drawing/2014/main" id="{D83E6BDF-3157-3AAA-5AF2-77B350FC737A}"/>
              </a:ext>
            </a:extLst>
          </p:cNvPr>
          <p:cNvSpPr>
            <a:spLocks noGrp="1"/>
          </p:cNvSpPr>
          <p:nvPr>
            <p:ph idx="1"/>
          </p:nvPr>
        </p:nvSpPr>
        <p:spPr>
          <a:xfrm>
            <a:off x="1522413" y="1981200"/>
            <a:ext cx="9829799" cy="4715164"/>
          </a:xfrm>
        </p:spPr>
        <p:txBody>
          <a:bodyPr>
            <a:normAutofit/>
          </a:bodyPr>
          <a:lstStyle/>
          <a:p>
            <a:pPr marL="338138" indent="-342900"/>
            <a:r>
              <a:rPr lang="en-US" err="1">
                <a:latin typeface="National semibold" panose="02000503000000020004"/>
              </a:rPr>
              <a:t>Aave</a:t>
            </a:r>
            <a:r>
              <a:rPr lang="en-US">
                <a:latin typeface="National semibold" panose="02000503000000020004"/>
              </a:rPr>
              <a:t> also offers “stable rate loans”.</a:t>
            </a:r>
          </a:p>
          <a:p>
            <a:pPr marL="625475" lvl="1" indent="-342900"/>
            <a:r>
              <a:rPr lang="en-US">
                <a:latin typeface="National semibold" panose="02000503000000020004"/>
              </a:rPr>
              <a:t>A borrower has the option to switch between the variable rate and the current stable rate.  </a:t>
            </a:r>
          </a:p>
          <a:p>
            <a:pPr marL="625475" lvl="1" indent="-342900"/>
            <a:r>
              <a:rPr lang="en-US">
                <a:latin typeface="National semibold" panose="02000503000000020004"/>
              </a:rPr>
              <a:t>The stable rate is not a fixed rate because the rate is adjustable in extreme liquidity crunches and can be refinanced to a lower rate if market conditions allow. </a:t>
            </a:r>
          </a:p>
          <a:p>
            <a:pPr marL="625475" lvl="1" indent="-342900"/>
            <a:r>
              <a:rPr lang="en-US">
                <a:latin typeface="National semibold" panose="02000503000000020004"/>
              </a:rPr>
              <a:t>The supply rate, however, is always variable: the suppliers collectively earn the sum of the stable and variable borrow interest payments minus any fees to the platform.  </a:t>
            </a:r>
          </a:p>
          <a:p>
            <a:pPr marL="338138" indent="-342900"/>
            <a:r>
              <a:rPr lang="en-US" err="1">
                <a:latin typeface="National semibold" panose="02000503000000020004"/>
              </a:rPr>
              <a:t>Aave</a:t>
            </a:r>
            <a:r>
              <a:rPr lang="en-US">
                <a:latin typeface="National semibold" panose="02000503000000020004"/>
              </a:rPr>
              <a:t> also allows for “credit delegation”.</a:t>
            </a:r>
          </a:p>
          <a:p>
            <a:pPr marL="625475" lvl="1" indent="-342900"/>
            <a:r>
              <a:rPr lang="en-US">
                <a:latin typeface="National semibold" panose="02000503000000020004"/>
              </a:rPr>
              <a:t>Users can allocate collateral to potential borrowers who can use it to borrow a desired asset. </a:t>
            </a:r>
          </a:p>
          <a:p>
            <a:pPr marL="625475" lvl="1" indent="-342900"/>
            <a:r>
              <a:rPr lang="en-US">
                <a:latin typeface="National semibold" panose="02000503000000020004"/>
              </a:rPr>
              <a:t>This process allows for uncollateralized loan relationships (unsecured borrowing based on trust). </a:t>
            </a:r>
          </a:p>
          <a:p>
            <a:pPr marL="625475" lvl="1" indent="-342900"/>
            <a:endParaRPr lang="en-US">
              <a:latin typeface="National semibold" panose="02000503000000020004"/>
            </a:endParaRPr>
          </a:p>
        </p:txBody>
      </p:sp>
    </p:spTree>
    <p:extLst>
      <p:ext uri="{BB962C8B-B14F-4D97-AF65-F5344CB8AC3E}">
        <p14:creationId xmlns:p14="http://schemas.microsoft.com/office/powerpoint/2010/main" val="27018412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F4670-3B49-98B2-C0CB-16AE5F3C31AE}"/>
              </a:ext>
            </a:extLst>
          </p:cNvPr>
          <p:cNvSpPr>
            <a:spLocks noGrp="1"/>
          </p:cNvSpPr>
          <p:nvPr>
            <p:ph type="title"/>
          </p:nvPr>
        </p:nvSpPr>
        <p:spPr/>
        <p:txBody>
          <a:bodyPr anchor="b"/>
          <a:lstStyle/>
          <a:p>
            <a:r>
              <a:rPr lang="en-US" b="1">
                <a:latin typeface="National semibold" panose="02000503000000020004"/>
              </a:rPr>
              <a:t>Credit delegation (example)</a:t>
            </a:r>
          </a:p>
        </p:txBody>
      </p:sp>
      <p:sp>
        <p:nvSpPr>
          <p:cNvPr id="3" name="Content Placeholder 2">
            <a:extLst>
              <a:ext uri="{FF2B5EF4-FFF2-40B4-BE49-F238E27FC236}">
                <a16:creationId xmlns:a16="http://schemas.microsoft.com/office/drawing/2014/main" id="{D83E6BDF-3157-3AAA-5AF2-77B350FC737A}"/>
              </a:ext>
            </a:extLst>
          </p:cNvPr>
          <p:cNvSpPr>
            <a:spLocks noGrp="1"/>
          </p:cNvSpPr>
          <p:nvPr>
            <p:ph idx="1"/>
          </p:nvPr>
        </p:nvSpPr>
        <p:spPr>
          <a:xfrm>
            <a:off x="1522413" y="1981200"/>
            <a:ext cx="9829799" cy="4715164"/>
          </a:xfrm>
        </p:spPr>
        <p:txBody>
          <a:bodyPr>
            <a:normAutofit lnSpcReduction="10000"/>
          </a:bodyPr>
          <a:lstStyle/>
          <a:p>
            <a:pPr marL="338138" indent="-342900"/>
            <a:r>
              <a:rPr lang="en-US">
                <a:latin typeface="National semibold" panose="02000503000000020004"/>
              </a:rPr>
              <a:t>A supplier has 40,000 DAI in </a:t>
            </a:r>
            <a:r>
              <a:rPr lang="en-US" err="1">
                <a:latin typeface="National semibold" panose="02000503000000020004"/>
              </a:rPr>
              <a:t>Aave</a:t>
            </a:r>
            <a:r>
              <a:rPr lang="en-US">
                <a:latin typeface="National semibold" panose="02000503000000020004"/>
              </a:rPr>
              <a:t> earning interest. </a:t>
            </a:r>
          </a:p>
          <a:p>
            <a:pPr marL="338138" indent="-342900"/>
            <a:endParaRPr lang="en-US">
              <a:latin typeface="National semibold" panose="02000503000000020004"/>
            </a:endParaRPr>
          </a:p>
          <a:p>
            <a:pPr marL="338138" indent="-342900"/>
            <a:r>
              <a:rPr lang="en-US">
                <a:latin typeface="National semibold" panose="02000503000000020004"/>
              </a:rPr>
              <a:t>The supplier wants to increase the expected return via an unsecured delegation of the collateral to a trusted counterparty. </a:t>
            </a:r>
          </a:p>
          <a:p>
            <a:pPr marL="338138" indent="-342900"/>
            <a:endParaRPr lang="en-US">
              <a:latin typeface="National semibold" panose="02000503000000020004"/>
            </a:endParaRPr>
          </a:p>
          <a:p>
            <a:pPr marL="338138" indent="-342900"/>
            <a:r>
              <a:rPr lang="en-US">
                <a:latin typeface="National semibold" panose="02000503000000020004"/>
              </a:rPr>
              <a:t>Most likely, the supplier knows the counterparty through an off-chain relationship (perhaps a banking client).</a:t>
            </a:r>
          </a:p>
          <a:p>
            <a:pPr marL="338138" indent="-342900"/>
            <a:endParaRPr lang="en-US">
              <a:latin typeface="National semibold" panose="02000503000000020004"/>
            </a:endParaRPr>
          </a:p>
          <a:p>
            <a:pPr marL="338138" indent="-342900"/>
            <a:r>
              <a:rPr lang="en-US">
                <a:latin typeface="National semibold" panose="02000503000000020004"/>
              </a:rPr>
              <a:t>After delegating 40,000 DAI, the counterparty can proceed to borrow, for instance, 20 ETH, each worth $1,000.</a:t>
            </a:r>
          </a:p>
        </p:txBody>
      </p:sp>
    </p:spTree>
    <p:extLst>
      <p:ext uri="{BB962C8B-B14F-4D97-AF65-F5344CB8AC3E}">
        <p14:creationId xmlns:p14="http://schemas.microsoft.com/office/powerpoint/2010/main" val="2853946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F4670-3B49-98B2-C0CB-16AE5F3C31AE}"/>
              </a:ext>
            </a:extLst>
          </p:cNvPr>
          <p:cNvSpPr>
            <a:spLocks noGrp="1"/>
          </p:cNvSpPr>
          <p:nvPr>
            <p:ph type="title"/>
          </p:nvPr>
        </p:nvSpPr>
        <p:spPr>
          <a:xfrm>
            <a:off x="599283" y="1953089"/>
            <a:ext cx="10881157" cy="2339670"/>
          </a:xfrm>
        </p:spPr>
        <p:txBody>
          <a:bodyPr anchor="ctr">
            <a:normAutofit/>
          </a:bodyPr>
          <a:lstStyle/>
          <a:p>
            <a:pPr algn="ctr"/>
            <a:r>
              <a:rPr lang="en-US" sz="4800" b="1" dirty="0">
                <a:latin typeface="National semibold" panose="02000503000000020004"/>
              </a:rPr>
              <a:t>2. Decentralized exchanges</a:t>
            </a:r>
            <a:br>
              <a:rPr lang="en-US" sz="4800" b="1" dirty="0">
                <a:latin typeface="National semibold" panose="02000503000000020004"/>
              </a:rPr>
            </a:br>
            <a:br>
              <a:rPr lang="en-US" sz="4800" b="1" dirty="0">
                <a:latin typeface="National semibold" panose="02000503000000020004"/>
              </a:rPr>
            </a:br>
            <a:r>
              <a:rPr lang="en-US" b="1" dirty="0">
                <a:latin typeface="National semibold" panose="02000503000000020004"/>
              </a:rPr>
              <a:t>Uniswap 2.0</a:t>
            </a:r>
            <a:endParaRPr lang="en-US" sz="4800" b="1" dirty="0"/>
          </a:p>
        </p:txBody>
      </p:sp>
    </p:spTree>
    <p:extLst>
      <p:ext uri="{BB962C8B-B14F-4D97-AF65-F5344CB8AC3E}">
        <p14:creationId xmlns:p14="http://schemas.microsoft.com/office/powerpoint/2010/main" val="41082690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F4670-3B49-98B2-C0CB-16AE5F3C31AE}"/>
              </a:ext>
            </a:extLst>
          </p:cNvPr>
          <p:cNvSpPr>
            <a:spLocks noGrp="1"/>
          </p:cNvSpPr>
          <p:nvPr>
            <p:ph type="title"/>
          </p:nvPr>
        </p:nvSpPr>
        <p:spPr/>
        <p:txBody>
          <a:bodyPr/>
          <a:lstStyle/>
          <a:p>
            <a:r>
              <a:rPr lang="en-US" b="1" err="1">
                <a:latin typeface="National semibold" panose="02000503000000020004"/>
              </a:rPr>
              <a:t>Uniswap</a:t>
            </a:r>
            <a:endParaRPr lang="en-US" b="1">
              <a:latin typeface="National semibold" panose="02000503000000020004"/>
            </a:endParaRPr>
          </a:p>
        </p:txBody>
      </p:sp>
      <p:sp>
        <p:nvSpPr>
          <p:cNvPr id="3" name="Content Placeholder 2">
            <a:extLst>
              <a:ext uri="{FF2B5EF4-FFF2-40B4-BE49-F238E27FC236}">
                <a16:creationId xmlns:a16="http://schemas.microsoft.com/office/drawing/2014/main" id="{D83E6BDF-3157-3AAA-5AF2-77B350FC737A}"/>
              </a:ext>
            </a:extLst>
          </p:cNvPr>
          <p:cNvSpPr>
            <a:spLocks noGrp="1"/>
          </p:cNvSpPr>
          <p:nvPr>
            <p:ph idx="1"/>
          </p:nvPr>
        </p:nvSpPr>
        <p:spPr>
          <a:xfrm>
            <a:off x="1522413" y="1981200"/>
            <a:ext cx="10240500" cy="4650419"/>
          </a:xfrm>
        </p:spPr>
        <p:txBody>
          <a:bodyPr>
            <a:normAutofit fontScale="92500" lnSpcReduction="10000"/>
          </a:bodyPr>
          <a:lstStyle/>
          <a:p>
            <a:r>
              <a:rPr lang="en-US" err="1">
                <a:latin typeface="National semibold" panose="02000503000000020004"/>
                <a:hlinkClick r:id="rId2"/>
              </a:rPr>
              <a:t>Uniswap</a:t>
            </a:r>
            <a:r>
              <a:rPr lang="en-US">
                <a:latin typeface="National semibold" panose="02000503000000020004"/>
                <a:hlinkClick r:id="rId2"/>
              </a:rPr>
              <a:t> </a:t>
            </a:r>
            <a:r>
              <a:rPr lang="en-US">
                <a:latin typeface="National semibold" panose="02000503000000020004"/>
              </a:rPr>
              <a:t> is an example of Automated Marker Maker (AMM) on Ethereum.</a:t>
            </a:r>
          </a:p>
          <a:p>
            <a:r>
              <a:rPr lang="en-US" err="1">
                <a:latin typeface="National semibold" panose="02000503000000020004"/>
              </a:rPr>
              <a:t>Uniswap</a:t>
            </a:r>
            <a:r>
              <a:rPr lang="en-US">
                <a:latin typeface="National semibold" panose="02000503000000020004"/>
              </a:rPr>
              <a:t> v2 uses a constant product rule to determine the trading price:</a:t>
            </a:r>
          </a:p>
          <a:p>
            <a:pPr marL="0" indent="0">
              <a:buNone/>
            </a:pPr>
            <a:r>
              <a:rPr lang="en-US">
                <a:latin typeface="National semibold" panose="02000503000000020004"/>
              </a:rPr>
              <a:t>				</a:t>
            </a:r>
            <a:r>
              <a:rPr lang="en-US" sz="3000" i="1">
                <a:solidFill>
                  <a:srgbClr val="FF0000"/>
                </a:solidFill>
                <a:latin typeface="National semibold" panose="02000503000000020004"/>
              </a:rPr>
              <a:t>k</a:t>
            </a:r>
            <a:r>
              <a:rPr lang="en-US" sz="3000" i="1">
                <a:latin typeface="National semibold" panose="02000503000000020004"/>
              </a:rPr>
              <a:t> = </a:t>
            </a:r>
            <a:r>
              <a:rPr lang="en-US" sz="3000" i="1">
                <a:solidFill>
                  <a:srgbClr val="FF0000"/>
                </a:solidFill>
                <a:latin typeface="National semibold" panose="02000503000000020004"/>
              </a:rPr>
              <a:t>x</a:t>
            </a:r>
            <a:r>
              <a:rPr lang="en-US" sz="3000" i="1">
                <a:latin typeface="National semibold" panose="02000503000000020004"/>
              </a:rPr>
              <a:t> * </a:t>
            </a:r>
            <a:r>
              <a:rPr lang="en-US" sz="3000" i="1">
                <a:solidFill>
                  <a:srgbClr val="FF0000"/>
                </a:solidFill>
                <a:latin typeface="National semibold" panose="02000503000000020004"/>
              </a:rPr>
              <a:t>y</a:t>
            </a:r>
            <a:endParaRPr lang="en-US" i="1">
              <a:solidFill>
                <a:srgbClr val="FF0000"/>
              </a:solidFill>
              <a:latin typeface="National semibold" panose="02000503000000020004"/>
            </a:endParaRPr>
          </a:p>
          <a:p>
            <a:pPr marL="0" indent="0">
              <a:buNone/>
            </a:pPr>
            <a:r>
              <a:rPr lang="en-US">
                <a:latin typeface="National semibold" panose="02000503000000020004"/>
              </a:rPr>
              <a:t>	</a:t>
            </a:r>
            <a:r>
              <a:rPr lang="en-US" i="1">
                <a:solidFill>
                  <a:srgbClr val="FF0000"/>
                </a:solidFill>
                <a:latin typeface="National semibold" panose="02000503000000020004"/>
              </a:rPr>
              <a:t>x</a:t>
            </a:r>
            <a:r>
              <a:rPr lang="en-US" i="1">
                <a:latin typeface="National semibold" panose="02000503000000020004"/>
              </a:rPr>
              <a:t> </a:t>
            </a:r>
            <a:r>
              <a:rPr lang="en-US">
                <a:latin typeface="National semibold" panose="02000503000000020004"/>
              </a:rPr>
              <a:t>= Balance of asset A</a:t>
            </a:r>
          </a:p>
          <a:p>
            <a:pPr marL="0" indent="0">
              <a:buNone/>
            </a:pPr>
            <a:r>
              <a:rPr lang="en-US">
                <a:latin typeface="National semibold" panose="02000503000000020004"/>
              </a:rPr>
              <a:t>	</a:t>
            </a:r>
            <a:r>
              <a:rPr lang="en-US" i="1">
                <a:solidFill>
                  <a:srgbClr val="FF0000"/>
                </a:solidFill>
                <a:latin typeface="National semibold" panose="02000503000000020004"/>
              </a:rPr>
              <a:t>y</a:t>
            </a:r>
            <a:r>
              <a:rPr lang="en-US">
                <a:latin typeface="National semibold" panose="02000503000000020004"/>
              </a:rPr>
              <a:t> = Balance of asset B </a:t>
            </a:r>
          </a:p>
          <a:p>
            <a:pPr marL="0" indent="0">
              <a:buNone/>
            </a:pPr>
            <a:r>
              <a:rPr lang="en-US">
                <a:latin typeface="National semibold" panose="02000503000000020004"/>
              </a:rPr>
              <a:t>	</a:t>
            </a:r>
            <a:r>
              <a:rPr lang="en-US" i="1">
                <a:solidFill>
                  <a:srgbClr val="FF0000"/>
                </a:solidFill>
                <a:latin typeface="National semibold" panose="02000503000000020004"/>
              </a:rPr>
              <a:t>k</a:t>
            </a:r>
            <a:r>
              <a:rPr lang="en-US">
                <a:latin typeface="National semibold" panose="02000503000000020004"/>
              </a:rPr>
              <a:t> = Invariant </a:t>
            </a:r>
          </a:p>
          <a:p>
            <a:r>
              <a:rPr lang="en-US">
                <a:latin typeface="National semibold" panose="02000503000000020004"/>
              </a:rPr>
              <a:t>The invariant </a:t>
            </a:r>
            <a:r>
              <a:rPr lang="en-US" i="1">
                <a:solidFill>
                  <a:srgbClr val="FF0000"/>
                </a:solidFill>
                <a:latin typeface="National semibold" panose="02000503000000020004"/>
              </a:rPr>
              <a:t>k</a:t>
            </a:r>
            <a:r>
              <a:rPr lang="en-US">
                <a:latin typeface="National semibold" panose="02000503000000020004"/>
              </a:rPr>
              <a:t> is required to remain fixed at a given level of liquidity. </a:t>
            </a:r>
          </a:p>
          <a:p>
            <a:pPr lvl="1"/>
            <a:r>
              <a:rPr lang="en-US">
                <a:latin typeface="National semibold" panose="02000503000000020004"/>
              </a:rPr>
              <a:t>To purchase (withdraw) some </a:t>
            </a:r>
            <a:r>
              <a:rPr lang="en-US" i="1">
                <a:solidFill>
                  <a:srgbClr val="FF0000"/>
                </a:solidFill>
                <a:latin typeface="National semibold" panose="02000503000000020004"/>
              </a:rPr>
              <a:t>x</a:t>
            </a:r>
            <a:r>
              <a:rPr lang="en-US">
                <a:latin typeface="National semibold" panose="02000503000000020004"/>
              </a:rPr>
              <a:t>, some </a:t>
            </a:r>
            <a:r>
              <a:rPr lang="en-US" i="1">
                <a:solidFill>
                  <a:srgbClr val="FF0000"/>
                </a:solidFill>
                <a:latin typeface="National semibold" panose="02000503000000020004"/>
              </a:rPr>
              <a:t>y</a:t>
            </a:r>
            <a:r>
              <a:rPr lang="en-US">
                <a:latin typeface="National semibold" panose="02000503000000020004"/>
              </a:rPr>
              <a:t> must be sold (deposited).</a:t>
            </a:r>
          </a:p>
          <a:p>
            <a:r>
              <a:rPr lang="en-US">
                <a:latin typeface="National semibold" panose="02000503000000020004"/>
              </a:rPr>
              <a:t>The implied price is </a:t>
            </a:r>
            <a:r>
              <a:rPr lang="en-US" i="1">
                <a:solidFill>
                  <a:srgbClr val="FF0000"/>
                </a:solidFill>
                <a:latin typeface="National semibold" panose="02000503000000020004"/>
              </a:rPr>
              <a:t>x/y</a:t>
            </a:r>
            <a:r>
              <a:rPr lang="en-US">
                <a:latin typeface="National semibold" panose="02000503000000020004"/>
              </a:rPr>
              <a:t>. This is the risk-neutral price because the contract is equally willing to buy or sell at this rate, as long as invariant </a:t>
            </a:r>
            <a:r>
              <a:rPr lang="en-US" i="1">
                <a:solidFill>
                  <a:srgbClr val="FF0000"/>
                </a:solidFill>
                <a:latin typeface="National semibold" panose="02000503000000020004"/>
              </a:rPr>
              <a:t>k</a:t>
            </a:r>
            <a:r>
              <a:rPr lang="en-US">
                <a:latin typeface="National semibold" panose="02000503000000020004"/>
              </a:rPr>
              <a:t> is constant.</a:t>
            </a:r>
          </a:p>
          <a:p>
            <a:pPr marL="0" indent="0">
              <a:buNone/>
            </a:pPr>
            <a:endParaRPr lang="en-US">
              <a:latin typeface="National semibold" panose="02000503000000020004"/>
            </a:endParaRPr>
          </a:p>
        </p:txBody>
      </p:sp>
    </p:spTree>
    <p:extLst>
      <p:ext uri="{BB962C8B-B14F-4D97-AF65-F5344CB8AC3E}">
        <p14:creationId xmlns:p14="http://schemas.microsoft.com/office/powerpoint/2010/main" val="3670103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F4670-3B49-98B2-C0CB-16AE5F3C31AE}"/>
              </a:ext>
            </a:extLst>
          </p:cNvPr>
          <p:cNvSpPr>
            <a:spLocks noGrp="1"/>
          </p:cNvSpPr>
          <p:nvPr>
            <p:ph type="title"/>
          </p:nvPr>
        </p:nvSpPr>
        <p:spPr/>
        <p:txBody>
          <a:bodyPr/>
          <a:lstStyle/>
          <a:p>
            <a:r>
              <a:rPr lang="en-US" b="1" dirty="0" err="1">
                <a:latin typeface="National semibold" panose="02000503000000020004"/>
              </a:rPr>
              <a:t>Uniswap</a:t>
            </a:r>
            <a:r>
              <a:rPr lang="en-US" b="1" dirty="0">
                <a:latin typeface="National semibold" panose="02000503000000020004"/>
              </a:rPr>
              <a:t> (example)</a:t>
            </a:r>
          </a:p>
        </p:txBody>
      </p:sp>
      <p:sp>
        <p:nvSpPr>
          <p:cNvPr id="3" name="Content Placeholder 2">
            <a:extLst>
              <a:ext uri="{FF2B5EF4-FFF2-40B4-BE49-F238E27FC236}">
                <a16:creationId xmlns:a16="http://schemas.microsoft.com/office/drawing/2014/main" id="{D83E6BDF-3157-3AAA-5AF2-77B350FC737A}"/>
              </a:ext>
            </a:extLst>
          </p:cNvPr>
          <p:cNvSpPr>
            <a:spLocks noGrp="1"/>
          </p:cNvSpPr>
          <p:nvPr>
            <p:ph idx="1"/>
          </p:nvPr>
        </p:nvSpPr>
        <p:spPr>
          <a:xfrm>
            <a:off x="1522413" y="1981200"/>
            <a:ext cx="9823249" cy="4187825"/>
          </a:xfrm>
        </p:spPr>
        <p:txBody>
          <a:bodyPr>
            <a:normAutofit fontScale="92500" lnSpcReduction="10000"/>
          </a:bodyPr>
          <a:lstStyle/>
          <a:p>
            <a:r>
              <a:rPr lang="en-US" dirty="0">
                <a:latin typeface="National semibold" panose="02000503000000020004"/>
              </a:rPr>
              <a:t>Investors in the USDC/DAI market have 4 DAI (asset A) and 4 USDC (Asset B). Thus, </a:t>
            </a:r>
          </a:p>
          <a:p>
            <a:pPr marL="0" indent="0">
              <a:buNone/>
            </a:pPr>
            <a:r>
              <a:rPr lang="en-US" i="1" dirty="0">
                <a:solidFill>
                  <a:srgbClr val="FF0000"/>
                </a:solidFill>
                <a:latin typeface="National semibold" panose="02000503000000020004"/>
              </a:rPr>
              <a:t>                                       	    x</a:t>
            </a:r>
            <a:r>
              <a:rPr lang="en-US" i="1" dirty="0">
                <a:latin typeface="National semibold" panose="02000503000000020004"/>
              </a:rPr>
              <a:t> </a:t>
            </a:r>
            <a:r>
              <a:rPr lang="en-US" dirty="0">
                <a:latin typeface="National semibold" panose="02000503000000020004"/>
              </a:rPr>
              <a:t>= 4 DAI,   </a:t>
            </a:r>
            <a:r>
              <a:rPr lang="en-US" i="1" dirty="0">
                <a:solidFill>
                  <a:srgbClr val="FF0000"/>
                </a:solidFill>
                <a:latin typeface="National semibold" panose="02000503000000020004"/>
              </a:rPr>
              <a:t>y</a:t>
            </a:r>
            <a:r>
              <a:rPr lang="en-US" dirty="0">
                <a:latin typeface="National semibold" panose="02000503000000020004"/>
              </a:rPr>
              <a:t> = 4 USDC,   </a:t>
            </a:r>
            <a:r>
              <a:rPr lang="en-US" i="1" dirty="0">
                <a:solidFill>
                  <a:srgbClr val="FF0000"/>
                </a:solidFill>
                <a:latin typeface="National semibold" panose="02000503000000020004"/>
              </a:rPr>
              <a:t>k</a:t>
            </a:r>
            <a:r>
              <a:rPr lang="en-US" dirty="0">
                <a:latin typeface="National semibold" panose="02000503000000020004"/>
              </a:rPr>
              <a:t> = 4 * 4 = 16</a:t>
            </a:r>
          </a:p>
          <a:p>
            <a:pPr marL="0" indent="0">
              <a:buNone/>
            </a:pPr>
            <a:r>
              <a:rPr lang="en-US" dirty="0">
                <a:latin typeface="National semibold" panose="02000503000000020004"/>
              </a:rPr>
              <a:t>			</a:t>
            </a:r>
          </a:p>
          <a:p>
            <a:r>
              <a:rPr lang="en-US" dirty="0">
                <a:latin typeface="National semibold" panose="02000503000000020004"/>
              </a:rPr>
              <a:t>An investor sells 4 DAI for USDC. How many USDC will the investor receive?</a:t>
            </a:r>
          </a:p>
          <a:p>
            <a:pPr marL="0" indent="0">
              <a:buNone/>
            </a:pPr>
            <a:r>
              <a:rPr lang="en-US" i="1" dirty="0">
                <a:solidFill>
                  <a:srgbClr val="FF0000"/>
                </a:solidFill>
                <a:latin typeface="National semibold" panose="02000503000000020004"/>
              </a:rPr>
              <a:t>		                x</a:t>
            </a:r>
            <a:r>
              <a:rPr lang="en-US" i="1" dirty="0">
                <a:latin typeface="National semibold" panose="02000503000000020004"/>
              </a:rPr>
              <a:t> </a:t>
            </a:r>
            <a:r>
              <a:rPr lang="en-US" dirty="0">
                <a:latin typeface="National semibold" panose="02000503000000020004"/>
              </a:rPr>
              <a:t>= 4+4 = 8 DAI,   </a:t>
            </a:r>
            <a:r>
              <a:rPr lang="en-US" i="1" dirty="0">
                <a:solidFill>
                  <a:srgbClr val="FF0000"/>
                </a:solidFill>
                <a:latin typeface="National semibold" panose="02000503000000020004"/>
              </a:rPr>
              <a:t>y</a:t>
            </a:r>
            <a:r>
              <a:rPr lang="en-US" dirty="0">
                <a:latin typeface="National semibold" panose="02000503000000020004"/>
              </a:rPr>
              <a:t> = </a:t>
            </a:r>
            <a:r>
              <a:rPr lang="en-US" i="1" dirty="0">
                <a:solidFill>
                  <a:srgbClr val="FF0000"/>
                </a:solidFill>
                <a:latin typeface="National semibold" panose="02000503000000020004"/>
              </a:rPr>
              <a:t>k/x</a:t>
            </a:r>
            <a:r>
              <a:rPr lang="en-US" dirty="0">
                <a:latin typeface="National semibold" panose="02000503000000020004"/>
              </a:rPr>
              <a:t> = 16/8 = 2 USDC		</a:t>
            </a:r>
          </a:p>
          <a:p>
            <a:pPr marL="0" indent="0">
              <a:buNone/>
            </a:pPr>
            <a:r>
              <a:rPr lang="en-US" dirty="0">
                <a:latin typeface="National semibold" panose="02000503000000020004"/>
              </a:rPr>
              <a:t>		         The investor can withdraw 4-2 = 2 USDC 	</a:t>
            </a:r>
          </a:p>
          <a:p>
            <a:pPr marL="0" indent="0">
              <a:buNone/>
            </a:pPr>
            <a:r>
              <a:rPr lang="en-US" dirty="0">
                <a:latin typeface="National semibold" panose="02000503000000020004"/>
              </a:rPr>
              <a:t>	       Effective exchange rate = 4/2 = </a:t>
            </a:r>
            <a:r>
              <a:rPr lang="en-US" dirty="0">
                <a:solidFill>
                  <a:srgbClr val="0070C0"/>
                </a:solidFill>
                <a:latin typeface="National semibold" panose="02000503000000020004"/>
              </a:rPr>
              <a:t>2 (2 DAI in exchange of 1 USDC)</a:t>
            </a:r>
          </a:p>
          <a:p>
            <a:r>
              <a:rPr lang="en-US" dirty="0">
                <a:latin typeface="National semibold" panose="02000503000000020004"/>
              </a:rPr>
              <a:t>The change in the exchange rate is due to slippage because of the low level of liquidity in the market. The magnitude of the </a:t>
            </a:r>
            <a:r>
              <a:rPr lang="en-US" i="1" dirty="0">
                <a:latin typeface="National semibold" panose="02000503000000020004"/>
              </a:rPr>
              <a:t>invariant, </a:t>
            </a:r>
            <a:r>
              <a:rPr lang="en-US" i="1" dirty="0">
                <a:solidFill>
                  <a:srgbClr val="FF0000"/>
                </a:solidFill>
                <a:latin typeface="National semibold" panose="02000503000000020004"/>
              </a:rPr>
              <a:t>k</a:t>
            </a:r>
            <a:r>
              <a:rPr lang="en-US" dirty="0">
                <a:latin typeface="National semibold" panose="02000503000000020004"/>
              </a:rPr>
              <a:t>, determines the slippage.</a:t>
            </a:r>
          </a:p>
          <a:p>
            <a:pPr marL="0" indent="0">
              <a:buNone/>
            </a:pPr>
            <a:endParaRPr lang="en-US" dirty="0">
              <a:latin typeface="National semibold" panose="02000503000000020004"/>
            </a:endParaRPr>
          </a:p>
        </p:txBody>
      </p:sp>
    </p:spTree>
    <p:extLst>
      <p:ext uri="{BB962C8B-B14F-4D97-AF65-F5344CB8AC3E}">
        <p14:creationId xmlns:p14="http://schemas.microsoft.com/office/powerpoint/2010/main" val="9324506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F4670-3B49-98B2-C0CB-16AE5F3C31AE}"/>
              </a:ext>
            </a:extLst>
          </p:cNvPr>
          <p:cNvSpPr>
            <a:spLocks noGrp="1"/>
          </p:cNvSpPr>
          <p:nvPr>
            <p:ph type="title"/>
          </p:nvPr>
        </p:nvSpPr>
        <p:spPr/>
        <p:txBody>
          <a:bodyPr/>
          <a:lstStyle/>
          <a:p>
            <a:r>
              <a:rPr lang="en-US" b="1" err="1">
                <a:latin typeface="National semibold" panose="02000503000000020004"/>
              </a:rPr>
              <a:t>Uniswap</a:t>
            </a:r>
            <a:r>
              <a:rPr lang="en-US" b="1">
                <a:latin typeface="National semibold" panose="02000503000000020004"/>
              </a:rPr>
              <a:t> (Modified example with more liquidity)</a:t>
            </a:r>
          </a:p>
        </p:txBody>
      </p:sp>
      <p:sp>
        <p:nvSpPr>
          <p:cNvPr id="3" name="Content Placeholder 2">
            <a:extLst>
              <a:ext uri="{FF2B5EF4-FFF2-40B4-BE49-F238E27FC236}">
                <a16:creationId xmlns:a16="http://schemas.microsoft.com/office/drawing/2014/main" id="{D83E6BDF-3157-3AAA-5AF2-77B350FC737A}"/>
              </a:ext>
            </a:extLst>
          </p:cNvPr>
          <p:cNvSpPr>
            <a:spLocks noGrp="1"/>
          </p:cNvSpPr>
          <p:nvPr>
            <p:ph idx="1"/>
          </p:nvPr>
        </p:nvSpPr>
        <p:spPr>
          <a:xfrm>
            <a:off x="1522413" y="1981200"/>
            <a:ext cx="9823249" cy="4187825"/>
          </a:xfrm>
        </p:spPr>
        <p:txBody>
          <a:bodyPr>
            <a:normAutofit/>
          </a:bodyPr>
          <a:lstStyle/>
          <a:p>
            <a:r>
              <a:rPr lang="en-US" sz="2200" dirty="0">
                <a:latin typeface="National semibold" panose="02000503000000020004"/>
              </a:rPr>
              <a:t>Suppose now that investors have 100 DAI (asset A) and 100 USDC (Asset B). Thus, </a:t>
            </a:r>
          </a:p>
          <a:p>
            <a:pPr marL="0" indent="0">
              <a:buNone/>
            </a:pPr>
            <a:r>
              <a:rPr lang="en-US" sz="2200" i="1" dirty="0">
                <a:solidFill>
                  <a:srgbClr val="FF0000"/>
                </a:solidFill>
                <a:latin typeface="National semibold" panose="02000503000000020004"/>
              </a:rPr>
              <a:t>                                    x</a:t>
            </a:r>
            <a:r>
              <a:rPr lang="en-US" sz="2200" i="1" dirty="0">
                <a:latin typeface="National semibold" panose="02000503000000020004"/>
              </a:rPr>
              <a:t> </a:t>
            </a:r>
            <a:r>
              <a:rPr lang="en-US" sz="2200" dirty="0">
                <a:latin typeface="National semibold" panose="02000503000000020004"/>
              </a:rPr>
              <a:t>= 100 DAI,   </a:t>
            </a:r>
            <a:r>
              <a:rPr lang="en-US" sz="2200" i="1" dirty="0">
                <a:solidFill>
                  <a:srgbClr val="FF0000"/>
                </a:solidFill>
                <a:latin typeface="National semibold" panose="02000503000000020004"/>
              </a:rPr>
              <a:t>y</a:t>
            </a:r>
            <a:r>
              <a:rPr lang="en-US" sz="2200" dirty="0">
                <a:latin typeface="National semibold" panose="02000503000000020004"/>
              </a:rPr>
              <a:t> = 100 USDC,   </a:t>
            </a:r>
            <a:r>
              <a:rPr lang="en-US" sz="2200" i="1" dirty="0">
                <a:solidFill>
                  <a:srgbClr val="FF0000"/>
                </a:solidFill>
                <a:latin typeface="National semibold" panose="02000503000000020004"/>
              </a:rPr>
              <a:t>k</a:t>
            </a:r>
            <a:r>
              <a:rPr lang="en-US" sz="2200" dirty="0">
                <a:latin typeface="National semibold" panose="02000503000000020004"/>
              </a:rPr>
              <a:t> = 100 * 100 = 10,000</a:t>
            </a:r>
          </a:p>
          <a:p>
            <a:pPr marL="0" indent="0">
              <a:buNone/>
            </a:pPr>
            <a:r>
              <a:rPr lang="en-US" sz="2200" dirty="0">
                <a:latin typeface="National semibold" panose="02000503000000020004"/>
              </a:rPr>
              <a:t>			</a:t>
            </a:r>
          </a:p>
          <a:p>
            <a:r>
              <a:rPr lang="en-US" sz="2200" dirty="0">
                <a:latin typeface="National semibold" panose="02000503000000020004"/>
              </a:rPr>
              <a:t>An investor makes the same sale of 4 DAI for USDC as before. How many USDC will the investor receive with the deposit of 4 DAI? </a:t>
            </a:r>
          </a:p>
          <a:p>
            <a:pPr marL="0" indent="0">
              <a:buNone/>
            </a:pPr>
            <a:r>
              <a:rPr lang="en-US" sz="2200" i="1" dirty="0">
                <a:solidFill>
                  <a:srgbClr val="FF0000"/>
                </a:solidFill>
                <a:latin typeface="National semibold" panose="02000503000000020004"/>
              </a:rPr>
              <a:t>		        x</a:t>
            </a:r>
            <a:r>
              <a:rPr lang="en-US" sz="2200" i="1" dirty="0">
                <a:latin typeface="National semibold" panose="02000503000000020004"/>
              </a:rPr>
              <a:t> </a:t>
            </a:r>
            <a:r>
              <a:rPr lang="en-US" sz="2200" dirty="0">
                <a:latin typeface="National semibold" panose="02000503000000020004"/>
              </a:rPr>
              <a:t>= 100+4 = 104 DAI,   </a:t>
            </a:r>
            <a:r>
              <a:rPr lang="en-US" sz="2200" i="1" dirty="0">
                <a:solidFill>
                  <a:srgbClr val="FF0000"/>
                </a:solidFill>
                <a:latin typeface="National semibold" panose="02000503000000020004"/>
              </a:rPr>
              <a:t>y</a:t>
            </a:r>
            <a:r>
              <a:rPr lang="en-US" sz="2200" dirty="0">
                <a:latin typeface="National semibold" panose="02000503000000020004"/>
              </a:rPr>
              <a:t> = </a:t>
            </a:r>
            <a:r>
              <a:rPr lang="en-US" sz="2200" i="1" dirty="0">
                <a:solidFill>
                  <a:srgbClr val="FF0000"/>
                </a:solidFill>
                <a:latin typeface="National semibold" panose="02000503000000020004"/>
              </a:rPr>
              <a:t>k/x</a:t>
            </a:r>
            <a:r>
              <a:rPr lang="en-US" sz="2200" dirty="0">
                <a:latin typeface="National semibold" panose="02000503000000020004"/>
              </a:rPr>
              <a:t> = 10,000/104 = 96.15 USDC  </a:t>
            </a:r>
          </a:p>
          <a:p>
            <a:pPr marL="0" indent="0">
              <a:buNone/>
            </a:pPr>
            <a:r>
              <a:rPr lang="en-US" sz="2200" dirty="0">
                <a:latin typeface="National semibold" panose="02000503000000020004"/>
              </a:rPr>
              <a:t>		       The investor can withdraw 100-96.15 = 3.85 USDC </a:t>
            </a:r>
          </a:p>
          <a:p>
            <a:pPr marL="0" indent="0">
              <a:buNone/>
            </a:pPr>
            <a:r>
              <a:rPr lang="en-US" sz="2200">
                <a:latin typeface="National semibold" panose="02000503000000020004"/>
              </a:rPr>
              <a:t>	Effective </a:t>
            </a:r>
            <a:r>
              <a:rPr lang="en-US" sz="2200" dirty="0">
                <a:latin typeface="National semibold" panose="02000503000000020004"/>
              </a:rPr>
              <a:t>exchange rate = 4/3.85 = </a:t>
            </a:r>
            <a:r>
              <a:rPr lang="en-US" sz="2200" dirty="0">
                <a:solidFill>
                  <a:srgbClr val="0070C0"/>
                </a:solidFill>
                <a:latin typeface="National semibold" panose="02000503000000020004"/>
              </a:rPr>
              <a:t>1.04 (1.04 DAI </a:t>
            </a:r>
            <a:r>
              <a:rPr lang="en-US" sz="2200">
                <a:solidFill>
                  <a:srgbClr val="0070C0"/>
                </a:solidFill>
                <a:latin typeface="National semibold" panose="02000503000000020004"/>
              </a:rPr>
              <a:t>in exchange of 1 USDC)</a:t>
            </a:r>
            <a:endParaRPr lang="en-US" sz="2200" dirty="0">
              <a:solidFill>
                <a:srgbClr val="0070C0"/>
              </a:solidFill>
              <a:latin typeface="National semibold" panose="02000503000000020004"/>
            </a:endParaRPr>
          </a:p>
          <a:p>
            <a:pPr marL="0" indent="0">
              <a:buNone/>
            </a:pPr>
            <a:endParaRPr lang="en-US" dirty="0">
              <a:solidFill>
                <a:srgbClr val="0070C0"/>
              </a:solidFill>
              <a:latin typeface="National semibold" panose="02000503000000020004"/>
            </a:endParaRPr>
          </a:p>
          <a:p>
            <a:pPr marL="0" indent="0">
              <a:buNone/>
            </a:pPr>
            <a:endParaRPr lang="en-US" dirty="0">
              <a:latin typeface="National semibold" panose="02000503000000020004"/>
            </a:endParaRPr>
          </a:p>
        </p:txBody>
      </p:sp>
    </p:spTree>
    <p:extLst>
      <p:ext uri="{BB962C8B-B14F-4D97-AF65-F5344CB8AC3E}">
        <p14:creationId xmlns:p14="http://schemas.microsoft.com/office/powerpoint/2010/main" val="23990028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F4670-3B49-98B2-C0CB-16AE5F3C31AE}"/>
              </a:ext>
            </a:extLst>
          </p:cNvPr>
          <p:cNvSpPr>
            <a:spLocks noGrp="1"/>
          </p:cNvSpPr>
          <p:nvPr>
            <p:ph type="title"/>
          </p:nvPr>
        </p:nvSpPr>
        <p:spPr/>
        <p:txBody>
          <a:bodyPr/>
          <a:lstStyle/>
          <a:p>
            <a:r>
              <a:rPr lang="en-US" b="1" err="1">
                <a:latin typeface="National semibold" panose="02000503000000020004"/>
              </a:rPr>
              <a:t>Uniswap</a:t>
            </a:r>
            <a:r>
              <a:rPr lang="en-US" b="1">
                <a:latin typeface="National semibold" panose="02000503000000020004"/>
              </a:rPr>
              <a:t> (Another example)</a:t>
            </a:r>
          </a:p>
        </p:txBody>
      </p:sp>
      <p:sp>
        <p:nvSpPr>
          <p:cNvPr id="3" name="Content Placeholder 2">
            <a:extLst>
              <a:ext uri="{FF2B5EF4-FFF2-40B4-BE49-F238E27FC236}">
                <a16:creationId xmlns:a16="http://schemas.microsoft.com/office/drawing/2014/main" id="{D83E6BDF-3157-3AAA-5AF2-77B350FC737A}"/>
              </a:ext>
            </a:extLst>
          </p:cNvPr>
          <p:cNvSpPr>
            <a:spLocks noGrp="1"/>
          </p:cNvSpPr>
          <p:nvPr>
            <p:ph idx="1"/>
          </p:nvPr>
        </p:nvSpPr>
        <p:spPr>
          <a:xfrm>
            <a:off x="1522413" y="1981200"/>
            <a:ext cx="10177553" cy="4187825"/>
          </a:xfrm>
        </p:spPr>
        <p:txBody>
          <a:bodyPr>
            <a:normAutofit/>
          </a:bodyPr>
          <a:lstStyle/>
          <a:p>
            <a:pPr marL="0" indent="0">
              <a:buNone/>
            </a:pPr>
            <a:r>
              <a:rPr lang="en-US" sz="2200" dirty="0">
                <a:latin typeface="National semibold" panose="02000503000000020004"/>
              </a:rPr>
              <a:t>Investors have 200 DAI (asset A) and 200 USDC (Asset B). </a:t>
            </a:r>
          </a:p>
          <a:p>
            <a:pPr marL="0" indent="0">
              <a:buNone/>
            </a:pPr>
            <a:r>
              <a:rPr lang="en-US" sz="2200" b="1" dirty="0">
                <a:latin typeface="National semibold" panose="02000503000000020004"/>
              </a:rPr>
              <a:t>Questions</a:t>
            </a:r>
            <a:r>
              <a:rPr lang="en-US" sz="2200" dirty="0">
                <a:latin typeface="National semibold" panose="02000503000000020004"/>
              </a:rPr>
              <a:t>:</a:t>
            </a:r>
          </a:p>
          <a:p>
            <a:r>
              <a:rPr lang="en-US" sz="2200" dirty="0">
                <a:latin typeface="National semibold" panose="02000503000000020004"/>
              </a:rPr>
              <a:t>What is the value of </a:t>
            </a:r>
            <a:r>
              <a:rPr lang="en-US" sz="2200" i="1" dirty="0">
                <a:solidFill>
                  <a:srgbClr val="FF0000"/>
                </a:solidFill>
                <a:latin typeface="National semibold" panose="02000503000000020004"/>
              </a:rPr>
              <a:t>x</a:t>
            </a:r>
            <a:r>
              <a:rPr lang="en-US" sz="2200" dirty="0">
                <a:latin typeface="National semibold" panose="02000503000000020004"/>
              </a:rPr>
              <a:t>? </a:t>
            </a:r>
            <a:endParaRPr lang="en-US" sz="2200" dirty="0">
              <a:solidFill>
                <a:srgbClr val="FF0000"/>
              </a:solidFill>
              <a:latin typeface="National semibold" panose="02000503000000020004"/>
            </a:endParaRPr>
          </a:p>
          <a:p>
            <a:r>
              <a:rPr lang="en-US" sz="2200" dirty="0">
                <a:latin typeface="National semibold" panose="02000503000000020004"/>
              </a:rPr>
              <a:t>What is the value of </a:t>
            </a:r>
            <a:r>
              <a:rPr lang="en-US" sz="2200" i="1" dirty="0">
                <a:solidFill>
                  <a:srgbClr val="FF0000"/>
                </a:solidFill>
                <a:latin typeface="National semibold" panose="02000503000000020004"/>
              </a:rPr>
              <a:t>y</a:t>
            </a:r>
            <a:r>
              <a:rPr lang="en-US" sz="2200" dirty="0">
                <a:latin typeface="National semibold" panose="02000503000000020004"/>
              </a:rPr>
              <a:t>? </a:t>
            </a:r>
            <a:endParaRPr lang="en-US" sz="2200" dirty="0">
              <a:solidFill>
                <a:srgbClr val="FF0000"/>
              </a:solidFill>
              <a:latin typeface="National semibold" panose="02000503000000020004"/>
            </a:endParaRPr>
          </a:p>
          <a:p>
            <a:r>
              <a:rPr lang="en-US" sz="2200" dirty="0">
                <a:latin typeface="National semibold" panose="02000503000000020004"/>
              </a:rPr>
              <a:t>What is the value of the invariant </a:t>
            </a:r>
            <a:r>
              <a:rPr lang="en-US" sz="2200" i="1" dirty="0">
                <a:solidFill>
                  <a:srgbClr val="FF0000"/>
                </a:solidFill>
                <a:latin typeface="National semibold" panose="02000503000000020004"/>
              </a:rPr>
              <a:t>k</a:t>
            </a:r>
            <a:r>
              <a:rPr lang="en-US" sz="2200" dirty="0">
                <a:latin typeface="National semibold" panose="02000503000000020004"/>
              </a:rPr>
              <a:t>? 	</a:t>
            </a:r>
          </a:p>
          <a:p>
            <a:pPr marL="0" indent="0">
              <a:buNone/>
            </a:pPr>
            <a:r>
              <a:rPr lang="en-US" sz="2200" dirty="0">
                <a:latin typeface="National semibold" panose="02000503000000020004"/>
              </a:rPr>
              <a:t>An investor sells 10 USDC for DAI. </a:t>
            </a:r>
          </a:p>
          <a:p>
            <a:pPr marL="0" indent="0">
              <a:buNone/>
            </a:pPr>
            <a:r>
              <a:rPr lang="en-US" sz="2200" b="1" dirty="0">
                <a:latin typeface="National semibold" panose="02000503000000020004"/>
              </a:rPr>
              <a:t>Question</a:t>
            </a:r>
            <a:r>
              <a:rPr lang="en-US" sz="2200" dirty="0">
                <a:latin typeface="National semibold" panose="02000503000000020004"/>
              </a:rPr>
              <a:t>:</a:t>
            </a:r>
          </a:p>
          <a:p>
            <a:r>
              <a:rPr lang="en-US" sz="2200" dirty="0">
                <a:latin typeface="National semibold" panose="02000503000000020004"/>
              </a:rPr>
              <a:t>How many DAI will the investor receive with the deposit of 10 USDC? </a:t>
            </a:r>
            <a:endParaRPr lang="en-US" sz="2200" dirty="0">
              <a:solidFill>
                <a:srgbClr val="FF0000"/>
              </a:solidFill>
              <a:latin typeface="National semibold" panose="02000503000000020004"/>
            </a:endParaRPr>
          </a:p>
          <a:p>
            <a:pPr marL="0" indent="0">
              <a:buNone/>
            </a:pPr>
            <a:endParaRPr lang="en-US" dirty="0">
              <a:solidFill>
                <a:srgbClr val="0070C0"/>
              </a:solidFill>
              <a:latin typeface="National semibold" panose="02000503000000020004"/>
            </a:endParaRPr>
          </a:p>
          <a:p>
            <a:pPr marL="0" indent="0">
              <a:buNone/>
            </a:pPr>
            <a:endParaRPr lang="en-US" dirty="0">
              <a:latin typeface="National semibold" panose="02000503000000020004"/>
            </a:endParaRPr>
          </a:p>
        </p:txBody>
      </p:sp>
    </p:spTree>
    <p:extLst>
      <p:ext uri="{BB962C8B-B14F-4D97-AF65-F5344CB8AC3E}">
        <p14:creationId xmlns:p14="http://schemas.microsoft.com/office/powerpoint/2010/main" val="463347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F4670-3B49-98B2-C0CB-16AE5F3C31AE}"/>
              </a:ext>
            </a:extLst>
          </p:cNvPr>
          <p:cNvSpPr>
            <a:spLocks noGrp="1"/>
          </p:cNvSpPr>
          <p:nvPr>
            <p:ph type="title"/>
          </p:nvPr>
        </p:nvSpPr>
        <p:spPr/>
        <p:txBody>
          <a:bodyPr/>
          <a:lstStyle/>
          <a:p>
            <a:r>
              <a:rPr lang="en-US" b="1" err="1">
                <a:latin typeface="National semibold" panose="02000503000000020004"/>
              </a:rPr>
              <a:t>Uniswap</a:t>
            </a:r>
            <a:endParaRPr lang="en-US" b="1">
              <a:latin typeface="National semibold" panose="02000503000000020004"/>
            </a:endParaRPr>
          </a:p>
        </p:txBody>
      </p:sp>
      <p:sp>
        <p:nvSpPr>
          <p:cNvPr id="3" name="Content Placeholder 2">
            <a:extLst>
              <a:ext uri="{FF2B5EF4-FFF2-40B4-BE49-F238E27FC236}">
                <a16:creationId xmlns:a16="http://schemas.microsoft.com/office/drawing/2014/main" id="{D83E6BDF-3157-3AAA-5AF2-77B350FC737A}"/>
              </a:ext>
            </a:extLst>
          </p:cNvPr>
          <p:cNvSpPr>
            <a:spLocks noGrp="1"/>
          </p:cNvSpPr>
          <p:nvPr>
            <p:ph idx="1"/>
          </p:nvPr>
        </p:nvSpPr>
        <p:spPr>
          <a:xfrm>
            <a:off x="1522413" y="1981200"/>
            <a:ext cx="9823249" cy="4357456"/>
          </a:xfrm>
        </p:spPr>
        <p:txBody>
          <a:bodyPr>
            <a:normAutofit fontScale="77500" lnSpcReduction="20000"/>
          </a:bodyPr>
          <a:lstStyle/>
          <a:p>
            <a:r>
              <a:rPr lang="en-US" dirty="0">
                <a:latin typeface="National semibold" panose="02000503000000020004"/>
              </a:rPr>
              <a:t>Deep liquidity helps minimizing slippage. It is then important to incentivize depositors to supply capital to a given market. </a:t>
            </a:r>
          </a:p>
          <a:p>
            <a:r>
              <a:rPr lang="en-US" dirty="0">
                <a:latin typeface="National semibold" panose="02000503000000020004"/>
              </a:rPr>
              <a:t>Anyone can become a liquidity provider by supplying assets on both sides of the market at the current exchange rate.</a:t>
            </a:r>
          </a:p>
          <a:p>
            <a:r>
              <a:rPr lang="en-US" dirty="0">
                <a:latin typeface="National semibold" panose="02000503000000020004"/>
              </a:rPr>
              <a:t>Liquidity provision on both sides of the market increases the invariant without affecting the price, whereas trading against a market impacts the price with no effect on the invariant. </a:t>
            </a:r>
          </a:p>
          <a:p>
            <a:r>
              <a:rPr lang="en-US" dirty="0">
                <a:latin typeface="National semibold" panose="02000503000000020004"/>
              </a:rPr>
              <a:t>Each trade in </a:t>
            </a:r>
            <a:r>
              <a:rPr lang="en-US" dirty="0" err="1">
                <a:latin typeface="National semibold" panose="02000503000000020004"/>
              </a:rPr>
              <a:t>Uniswap</a:t>
            </a:r>
            <a:r>
              <a:rPr lang="en-US" dirty="0">
                <a:latin typeface="National semibold" panose="02000503000000020004"/>
              </a:rPr>
              <a:t> has a fee (0.3 percent?) that is paid back into the pool. Liquidity providers earn these fees based on their pro-rata contribution to the liquidity pool. Compensation increases with trade volumes. Thus, there is a preference for high volume-markets. </a:t>
            </a:r>
          </a:p>
          <a:p>
            <a:r>
              <a:rPr lang="en-US" dirty="0">
                <a:latin typeface="National semibold" panose="02000503000000020004"/>
              </a:rPr>
              <a:t>The compensation mechanism is similar to </a:t>
            </a:r>
            <a:r>
              <a:rPr lang="en-US" dirty="0" err="1">
                <a:latin typeface="National semibold" panose="02000503000000020004"/>
              </a:rPr>
              <a:t>cToken</a:t>
            </a:r>
            <a:r>
              <a:rPr lang="en-US" dirty="0">
                <a:latin typeface="National semibold" panose="02000503000000020004"/>
              </a:rPr>
              <a:t> in Compound. The ownership stake is represented by a UNI token. For example, the token for the DAI/ETH pool is UNI DAI/ETH. </a:t>
            </a:r>
          </a:p>
          <a:p>
            <a:r>
              <a:rPr lang="en-US" dirty="0">
                <a:latin typeface="National semibold" panose="02000503000000020004"/>
              </a:rPr>
              <a:t>The liquidity provider earns the trading fees. At withdrawal, however, the exchange rate may have changed and there could be possible losses. More stable markets such as </a:t>
            </a:r>
            <a:r>
              <a:rPr lang="en-US" dirty="0" err="1">
                <a:latin typeface="National semibold" panose="02000503000000020004"/>
              </a:rPr>
              <a:t>stablecoin</a:t>
            </a:r>
            <a:r>
              <a:rPr lang="en-US" dirty="0">
                <a:latin typeface="National semibold" panose="02000503000000020004"/>
              </a:rPr>
              <a:t> trading pairs USDC/DAI are more attractive because of lower price fluctuations.         </a:t>
            </a:r>
          </a:p>
        </p:txBody>
      </p:sp>
    </p:spTree>
    <p:extLst>
      <p:ext uri="{BB962C8B-B14F-4D97-AF65-F5344CB8AC3E}">
        <p14:creationId xmlns:p14="http://schemas.microsoft.com/office/powerpoint/2010/main" val="28675444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F4670-3B49-98B2-C0CB-16AE5F3C31AE}"/>
              </a:ext>
            </a:extLst>
          </p:cNvPr>
          <p:cNvSpPr>
            <a:spLocks noGrp="1"/>
          </p:cNvSpPr>
          <p:nvPr>
            <p:ph type="title"/>
          </p:nvPr>
        </p:nvSpPr>
        <p:spPr/>
        <p:txBody>
          <a:bodyPr/>
          <a:lstStyle/>
          <a:p>
            <a:r>
              <a:rPr lang="en-US" b="1" err="1">
                <a:latin typeface="National semibold" panose="02000503000000020004"/>
              </a:rPr>
              <a:t>Uniswap</a:t>
            </a:r>
            <a:endParaRPr lang="en-US" b="1">
              <a:latin typeface="National semibold" panose="02000503000000020004"/>
            </a:endParaRPr>
          </a:p>
        </p:txBody>
      </p:sp>
      <p:sp>
        <p:nvSpPr>
          <p:cNvPr id="3" name="Content Placeholder 2">
            <a:extLst>
              <a:ext uri="{FF2B5EF4-FFF2-40B4-BE49-F238E27FC236}">
                <a16:creationId xmlns:a16="http://schemas.microsoft.com/office/drawing/2014/main" id="{D83E6BDF-3157-3AAA-5AF2-77B350FC737A}"/>
              </a:ext>
            </a:extLst>
          </p:cNvPr>
          <p:cNvSpPr>
            <a:spLocks noGrp="1"/>
          </p:cNvSpPr>
          <p:nvPr>
            <p:ph idx="1"/>
          </p:nvPr>
        </p:nvSpPr>
        <p:spPr>
          <a:xfrm>
            <a:off x="1522413" y="1981200"/>
            <a:ext cx="9823249" cy="4357456"/>
          </a:xfrm>
        </p:spPr>
        <p:txBody>
          <a:bodyPr>
            <a:normAutofit/>
          </a:bodyPr>
          <a:lstStyle/>
          <a:p>
            <a:r>
              <a:rPr lang="en-US" err="1">
                <a:latin typeface="National semibold" panose="02000503000000020004"/>
              </a:rPr>
              <a:t>Uniswap</a:t>
            </a:r>
            <a:r>
              <a:rPr lang="en-US">
                <a:latin typeface="National semibold" panose="02000503000000020004"/>
              </a:rPr>
              <a:t> offers “flash swaps”, which are similar to flash loans. </a:t>
            </a:r>
          </a:p>
          <a:p>
            <a:pPr marL="630237" lvl="1" indent="-342900"/>
            <a:r>
              <a:rPr lang="en-US">
                <a:latin typeface="National semibold" panose="02000503000000020004"/>
              </a:rPr>
              <a:t>A flash swap sends the tokens </a:t>
            </a:r>
            <a:r>
              <a:rPr lang="en-US" i="1">
                <a:latin typeface="National semibold" panose="02000503000000020004"/>
              </a:rPr>
              <a:t>before</a:t>
            </a:r>
            <a:r>
              <a:rPr lang="en-US">
                <a:latin typeface="National semibold" panose="02000503000000020004"/>
              </a:rPr>
              <a:t> the user pays for them with assets on the other side of the pair.  </a:t>
            </a:r>
          </a:p>
          <a:p>
            <a:pPr marL="630237" lvl="1" indent="-342900"/>
            <a:r>
              <a:rPr lang="en-US">
                <a:latin typeface="National semibold" panose="02000503000000020004"/>
              </a:rPr>
              <a:t>This opens many opportunities for arbitrageurs. For example, the user can deploy this instant liquidity to acquire the other asset at a discount on another exchange before repaying it. </a:t>
            </a:r>
          </a:p>
          <a:p>
            <a:pPr marL="630237" lvl="1" indent="-342900"/>
            <a:r>
              <a:rPr lang="en-US">
                <a:latin typeface="National semibold" panose="02000503000000020004"/>
              </a:rPr>
              <a:t>The difference with a flash loan is that the repayment does not have to be made with the same asset borrowed with the flash swap. Similar to a flash loan, and all trades must occur during a single Ethereum transaction.  </a:t>
            </a:r>
          </a:p>
        </p:txBody>
      </p:sp>
    </p:spTree>
    <p:extLst>
      <p:ext uri="{BB962C8B-B14F-4D97-AF65-F5344CB8AC3E}">
        <p14:creationId xmlns:p14="http://schemas.microsoft.com/office/powerpoint/2010/main" val="19744864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F4670-3B49-98B2-C0CB-16AE5F3C31AE}"/>
              </a:ext>
            </a:extLst>
          </p:cNvPr>
          <p:cNvSpPr>
            <a:spLocks noGrp="1"/>
          </p:cNvSpPr>
          <p:nvPr>
            <p:ph type="title"/>
          </p:nvPr>
        </p:nvSpPr>
        <p:spPr/>
        <p:txBody>
          <a:bodyPr/>
          <a:lstStyle/>
          <a:p>
            <a:r>
              <a:rPr lang="en-US" b="1">
                <a:latin typeface="National semibold" panose="02000503000000020004"/>
              </a:rPr>
              <a:t>Flash swap (example)</a:t>
            </a:r>
          </a:p>
        </p:txBody>
      </p:sp>
      <p:sp>
        <p:nvSpPr>
          <p:cNvPr id="3" name="Content Placeholder 2">
            <a:extLst>
              <a:ext uri="{FF2B5EF4-FFF2-40B4-BE49-F238E27FC236}">
                <a16:creationId xmlns:a16="http://schemas.microsoft.com/office/drawing/2014/main" id="{D83E6BDF-3157-3AAA-5AF2-77B350FC737A}"/>
              </a:ext>
            </a:extLst>
          </p:cNvPr>
          <p:cNvSpPr>
            <a:spLocks noGrp="1"/>
          </p:cNvSpPr>
          <p:nvPr>
            <p:ph idx="1"/>
          </p:nvPr>
        </p:nvSpPr>
        <p:spPr>
          <a:xfrm>
            <a:off x="1522413" y="1981200"/>
            <a:ext cx="9823249" cy="4357456"/>
          </a:xfrm>
        </p:spPr>
        <p:txBody>
          <a:bodyPr>
            <a:normAutofit fontScale="92500" lnSpcReduction="10000"/>
          </a:bodyPr>
          <a:lstStyle/>
          <a:p>
            <a:r>
              <a:rPr lang="en-US" dirty="0">
                <a:latin typeface="National semibold" panose="02000503000000020004"/>
              </a:rPr>
              <a:t>Consider the DAI/USDC market with a supply of 100,000 DAI and 100,000 USDC. Thus, the exchange rate is 1-to-1 and the invariant is 10 billion.</a:t>
            </a:r>
          </a:p>
          <a:p>
            <a:r>
              <a:rPr lang="en-US" dirty="0">
                <a:latin typeface="National semibold" panose="02000503000000020004"/>
              </a:rPr>
              <a:t> A trader spots an arbitrage opportunity to buy DAI on a Decentralized Exchange (DEX) for 0.95 USDC.</a:t>
            </a:r>
          </a:p>
          <a:p>
            <a:r>
              <a:rPr lang="en-US" dirty="0">
                <a:latin typeface="National semibold" panose="02000503000000020004"/>
              </a:rPr>
              <a:t>The trader can arbitrage with a flash swap as follows: </a:t>
            </a:r>
          </a:p>
          <a:p>
            <a:pPr marL="739775" lvl="1" indent="-457200">
              <a:buFont typeface="+mj-lt"/>
              <a:buAutoNum type="arabicPeriod"/>
            </a:pPr>
            <a:r>
              <a:rPr lang="en-US" dirty="0">
                <a:latin typeface="National semibold" panose="02000503000000020004"/>
              </a:rPr>
              <a:t>The trader borrows an amount of USCD from the DAI/USDC market with a flash swap. Let’s say 1,000 USDC. The 1,000 USDC must be repaid by the end of the transaction. </a:t>
            </a:r>
          </a:p>
          <a:p>
            <a:pPr marL="739775" lvl="1" indent="-457200">
              <a:buFont typeface="+mj-lt"/>
              <a:buAutoNum type="arabicPeriod"/>
            </a:pPr>
            <a:r>
              <a:rPr lang="en-US" dirty="0">
                <a:latin typeface="National semibold" panose="02000503000000020004"/>
              </a:rPr>
              <a:t>The 1,000 USDC are used to purchase 1,000/0.95 = 1,052 DAI on the decentralized exchange (DEX). </a:t>
            </a:r>
          </a:p>
          <a:p>
            <a:pPr marL="739775" lvl="1" indent="-457200">
              <a:buFont typeface="+mj-lt"/>
              <a:buAutoNum type="arabicPeriod"/>
            </a:pPr>
            <a:r>
              <a:rPr lang="en-US" dirty="0">
                <a:latin typeface="National semibold" panose="02000503000000020004"/>
              </a:rPr>
              <a:t>The 1,052 DAI are supplied to </a:t>
            </a:r>
            <a:r>
              <a:rPr lang="en-US" dirty="0" err="1">
                <a:latin typeface="National semibold" panose="02000503000000020004"/>
              </a:rPr>
              <a:t>Uniswap</a:t>
            </a:r>
            <a:r>
              <a:rPr lang="en-US" dirty="0">
                <a:latin typeface="National semibold" panose="02000503000000020004"/>
              </a:rPr>
              <a:t>. The trader receives 1,041 USDC (less of 1,052 because of slippage). There is also a transaction fee of 0.3%, totaling 1,041 x 0.003=3 USDC. The remaining amount, after paying the fee, is 1,038 USDC. </a:t>
            </a:r>
          </a:p>
          <a:p>
            <a:pPr marL="739775" lvl="1" indent="-457200">
              <a:buFont typeface="+mj-lt"/>
              <a:buAutoNum type="arabicPeriod"/>
            </a:pPr>
            <a:r>
              <a:rPr lang="en-US" dirty="0">
                <a:latin typeface="National semibold" panose="02000503000000020004"/>
              </a:rPr>
              <a:t>The trader repays the flash swap using 1,000 USDC, leaving 38 USDC in profits. </a:t>
            </a:r>
          </a:p>
        </p:txBody>
      </p:sp>
    </p:spTree>
    <p:extLst>
      <p:ext uri="{BB962C8B-B14F-4D97-AF65-F5344CB8AC3E}">
        <p14:creationId xmlns:p14="http://schemas.microsoft.com/office/powerpoint/2010/main" val="5053416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F4670-3B49-98B2-C0CB-16AE5F3C31AE}"/>
              </a:ext>
            </a:extLst>
          </p:cNvPr>
          <p:cNvSpPr>
            <a:spLocks noGrp="1"/>
          </p:cNvSpPr>
          <p:nvPr>
            <p:ph type="title"/>
          </p:nvPr>
        </p:nvSpPr>
        <p:spPr/>
        <p:txBody>
          <a:bodyPr/>
          <a:lstStyle/>
          <a:p>
            <a:r>
              <a:rPr lang="en-US" b="1" err="1">
                <a:latin typeface="National semibold" panose="02000503000000020004"/>
              </a:rPr>
              <a:t>Uniswap</a:t>
            </a:r>
            <a:endParaRPr lang="en-US" b="1">
              <a:latin typeface="National semibold" panose="02000503000000020004"/>
            </a:endParaRPr>
          </a:p>
        </p:txBody>
      </p:sp>
      <p:sp>
        <p:nvSpPr>
          <p:cNvPr id="3" name="Content Placeholder 2">
            <a:extLst>
              <a:ext uri="{FF2B5EF4-FFF2-40B4-BE49-F238E27FC236}">
                <a16:creationId xmlns:a16="http://schemas.microsoft.com/office/drawing/2014/main" id="{D83E6BDF-3157-3AAA-5AF2-77B350FC737A}"/>
              </a:ext>
            </a:extLst>
          </p:cNvPr>
          <p:cNvSpPr>
            <a:spLocks noGrp="1"/>
          </p:cNvSpPr>
          <p:nvPr>
            <p:ph idx="1"/>
          </p:nvPr>
        </p:nvSpPr>
        <p:spPr>
          <a:xfrm>
            <a:off x="1522413" y="1981200"/>
            <a:ext cx="9823249" cy="4357456"/>
          </a:xfrm>
        </p:spPr>
        <p:txBody>
          <a:bodyPr>
            <a:normAutofit/>
          </a:bodyPr>
          <a:lstStyle/>
          <a:p>
            <a:r>
              <a:rPr lang="en-US" dirty="0">
                <a:latin typeface="National semibold" panose="02000503000000020004"/>
              </a:rPr>
              <a:t>The current version of Uniswap 3.0 is more complex. It has multiple pools for the same pair of cryptocurrencies. Also, liquidity providers can provide for particular ranges of the price curve. </a:t>
            </a:r>
          </a:p>
          <a:p>
            <a:pPr marL="0" indent="0">
              <a:buNone/>
            </a:pPr>
            <a:endParaRPr lang="en-US" dirty="0">
              <a:latin typeface="National semibold" panose="02000503000000020004"/>
            </a:endParaRPr>
          </a:p>
        </p:txBody>
      </p:sp>
    </p:spTree>
    <p:extLst>
      <p:ext uri="{BB962C8B-B14F-4D97-AF65-F5344CB8AC3E}">
        <p14:creationId xmlns:p14="http://schemas.microsoft.com/office/powerpoint/2010/main" val="41330553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F4670-3B49-98B2-C0CB-16AE5F3C31AE}"/>
              </a:ext>
            </a:extLst>
          </p:cNvPr>
          <p:cNvSpPr>
            <a:spLocks noGrp="1"/>
          </p:cNvSpPr>
          <p:nvPr>
            <p:ph type="title"/>
          </p:nvPr>
        </p:nvSpPr>
        <p:spPr>
          <a:xfrm>
            <a:off x="581885" y="1505531"/>
            <a:ext cx="10881157" cy="4010286"/>
          </a:xfrm>
        </p:spPr>
        <p:txBody>
          <a:bodyPr anchor="ctr">
            <a:normAutofit/>
          </a:bodyPr>
          <a:lstStyle/>
          <a:p>
            <a:pPr algn="ctr"/>
            <a:r>
              <a:rPr lang="en-US" sz="4800" b="1" dirty="0">
                <a:latin typeface="National semibold" panose="02000503000000020004"/>
              </a:rPr>
              <a:t>3. Derivative</a:t>
            </a:r>
            <a:br>
              <a:rPr lang="en-US" sz="4800" b="1" dirty="0">
                <a:latin typeface="National semibold" panose="02000503000000020004"/>
              </a:rPr>
            </a:br>
            <a:br>
              <a:rPr lang="en-US" sz="4800" b="1" dirty="0">
                <a:latin typeface="National semibold" panose="02000503000000020004"/>
              </a:rPr>
            </a:br>
            <a:r>
              <a:rPr lang="en-US" b="1" dirty="0">
                <a:latin typeface="National semibold" panose="02000503000000020004"/>
              </a:rPr>
              <a:t>Yield Protocol</a:t>
            </a:r>
            <a:br>
              <a:rPr lang="en-US" b="1" dirty="0">
                <a:latin typeface="National semibold" panose="02000503000000020004"/>
              </a:rPr>
            </a:br>
            <a:r>
              <a:rPr lang="en-US" b="1" dirty="0" err="1">
                <a:latin typeface="National semibold" panose="02000503000000020004"/>
              </a:rPr>
              <a:t>dYdX</a:t>
            </a:r>
            <a:br>
              <a:rPr lang="en-US" b="1" dirty="0">
                <a:latin typeface="National semibold" panose="02000503000000020004"/>
              </a:rPr>
            </a:br>
            <a:r>
              <a:rPr lang="en-US" b="1" dirty="0" err="1">
                <a:latin typeface="National semibold" panose="02000503000000020004"/>
              </a:rPr>
              <a:t>Synthetix</a:t>
            </a:r>
            <a:endParaRPr lang="en-US" sz="4800" b="1" dirty="0"/>
          </a:p>
        </p:txBody>
      </p:sp>
    </p:spTree>
    <p:extLst>
      <p:ext uri="{BB962C8B-B14F-4D97-AF65-F5344CB8AC3E}">
        <p14:creationId xmlns:p14="http://schemas.microsoft.com/office/powerpoint/2010/main" val="38687016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F4670-3B49-98B2-C0CB-16AE5F3C31AE}"/>
              </a:ext>
            </a:extLst>
          </p:cNvPr>
          <p:cNvSpPr>
            <a:spLocks noGrp="1"/>
          </p:cNvSpPr>
          <p:nvPr>
            <p:ph type="title"/>
          </p:nvPr>
        </p:nvSpPr>
        <p:spPr/>
        <p:txBody>
          <a:bodyPr/>
          <a:lstStyle/>
          <a:p>
            <a:r>
              <a:rPr lang="en-US" b="1" dirty="0">
                <a:latin typeface="National semibold"/>
              </a:rPr>
              <a:t>Derivatives</a:t>
            </a:r>
          </a:p>
        </p:txBody>
      </p:sp>
      <p:sp>
        <p:nvSpPr>
          <p:cNvPr id="3" name="Content Placeholder 2">
            <a:extLst>
              <a:ext uri="{FF2B5EF4-FFF2-40B4-BE49-F238E27FC236}">
                <a16:creationId xmlns:a16="http://schemas.microsoft.com/office/drawing/2014/main" id="{D83E6BDF-3157-3AAA-5AF2-77B350FC737A}"/>
              </a:ext>
            </a:extLst>
          </p:cNvPr>
          <p:cNvSpPr>
            <a:spLocks noGrp="1"/>
          </p:cNvSpPr>
          <p:nvPr>
            <p:ph idx="1"/>
          </p:nvPr>
        </p:nvSpPr>
        <p:spPr>
          <a:xfrm>
            <a:off x="1522413" y="1981200"/>
            <a:ext cx="9829799" cy="4674781"/>
          </a:xfrm>
        </p:spPr>
        <p:txBody>
          <a:bodyPr>
            <a:normAutofit/>
          </a:bodyPr>
          <a:lstStyle/>
          <a:p>
            <a:pPr marL="0" indent="0">
              <a:buNone/>
            </a:pPr>
            <a:r>
              <a:rPr lang="en-US" dirty="0">
                <a:latin typeface="National semibold"/>
              </a:rPr>
              <a:t>A </a:t>
            </a:r>
            <a:r>
              <a:rPr lang="en-US" i="1" u="sng" dirty="0">
                <a:latin typeface="National semibold"/>
              </a:rPr>
              <a:t>derivative</a:t>
            </a:r>
            <a:r>
              <a:rPr lang="en-US" dirty="0">
                <a:latin typeface="National semibold"/>
              </a:rPr>
              <a:t> is a contract between two parties which </a:t>
            </a:r>
            <a:r>
              <a:rPr lang="en-US" i="1" dirty="0">
                <a:latin typeface="National semibold"/>
              </a:rPr>
              <a:t>derives</a:t>
            </a:r>
            <a:r>
              <a:rPr lang="en-US" dirty="0">
                <a:latin typeface="National semibold"/>
              </a:rPr>
              <a:t> its value/price from an underlying asset. </a:t>
            </a:r>
          </a:p>
          <a:p>
            <a:pPr marL="0" indent="0">
              <a:buNone/>
            </a:pPr>
            <a:endParaRPr lang="en-US" dirty="0">
              <a:latin typeface="National semibold"/>
            </a:endParaRPr>
          </a:p>
          <a:p>
            <a:pPr marL="0" indent="0">
              <a:buNone/>
            </a:pPr>
            <a:r>
              <a:rPr lang="en-US" dirty="0">
                <a:latin typeface="National semibold"/>
              </a:rPr>
              <a:t>The most common types of derivatives are futures, options, forwards and swaps. </a:t>
            </a:r>
          </a:p>
        </p:txBody>
      </p:sp>
    </p:spTree>
    <p:extLst>
      <p:ext uri="{BB962C8B-B14F-4D97-AF65-F5344CB8AC3E}">
        <p14:creationId xmlns:p14="http://schemas.microsoft.com/office/powerpoint/2010/main" val="20793577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F4670-3B49-98B2-C0CB-16AE5F3C31AE}"/>
              </a:ext>
            </a:extLst>
          </p:cNvPr>
          <p:cNvSpPr>
            <a:spLocks noGrp="1"/>
          </p:cNvSpPr>
          <p:nvPr>
            <p:ph type="title"/>
          </p:nvPr>
        </p:nvSpPr>
        <p:spPr>
          <a:xfrm>
            <a:off x="581885" y="1745674"/>
            <a:ext cx="10881157" cy="4100944"/>
          </a:xfrm>
        </p:spPr>
        <p:txBody>
          <a:bodyPr anchor="ctr">
            <a:normAutofit/>
          </a:bodyPr>
          <a:lstStyle/>
          <a:p>
            <a:pPr algn="ctr"/>
            <a:r>
              <a:rPr lang="en-US" sz="4800" b="1" dirty="0">
                <a:latin typeface="National semibold" panose="02000503000000020004"/>
              </a:rPr>
              <a:t>4. Tokenization</a:t>
            </a:r>
            <a:br>
              <a:rPr lang="en-US" sz="4800" b="1" dirty="0">
                <a:latin typeface="National semibold" panose="02000503000000020004"/>
              </a:rPr>
            </a:br>
            <a:br>
              <a:rPr lang="en-US" b="1" dirty="0">
                <a:latin typeface="National semibold" panose="02000503000000020004"/>
              </a:rPr>
            </a:br>
            <a:r>
              <a:rPr lang="en-US" b="1" dirty="0">
                <a:latin typeface="National semibold" panose="02000503000000020004"/>
              </a:rPr>
              <a:t>Set Protocol</a:t>
            </a:r>
            <a:br>
              <a:rPr lang="en-US" b="1" dirty="0">
                <a:latin typeface="National semibold" panose="02000503000000020004"/>
              </a:rPr>
            </a:br>
            <a:r>
              <a:rPr lang="en-US" b="1" dirty="0">
                <a:latin typeface="National semibold" panose="02000503000000020004"/>
              </a:rPr>
              <a:t>Wrapped Bitcoin</a:t>
            </a:r>
            <a:br>
              <a:rPr lang="en-US" sz="4800" b="1" dirty="0">
                <a:latin typeface="National semibold" panose="02000503000000020004"/>
              </a:rPr>
            </a:br>
            <a:br>
              <a:rPr lang="en-US" sz="4800" b="1" dirty="0">
                <a:latin typeface="National semibold" panose="02000503000000020004"/>
              </a:rPr>
            </a:br>
            <a:endParaRPr lang="en-US" sz="4800" b="1" dirty="0"/>
          </a:p>
        </p:txBody>
      </p:sp>
    </p:spTree>
    <p:extLst>
      <p:ext uri="{BB962C8B-B14F-4D97-AF65-F5344CB8AC3E}">
        <p14:creationId xmlns:p14="http://schemas.microsoft.com/office/powerpoint/2010/main" val="39979843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F4670-3B49-98B2-C0CB-16AE5F3C31AE}"/>
              </a:ext>
            </a:extLst>
          </p:cNvPr>
          <p:cNvSpPr>
            <a:spLocks noGrp="1"/>
          </p:cNvSpPr>
          <p:nvPr>
            <p:ph type="title"/>
          </p:nvPr>
        </p:nvSpPr>
        <p:spPr/>
        <p:txBody>
          <a:bodyPr/>
          <a:lstStyle/>
          <a:p>
            <a:r>
              <a:rPr lang="en-US" b="1" dirty="0">
                <a:latin typeface="National semibold"/>
              </a:rPr>
              <a:t>Tokenization</a:t>
            </a:r>
          </a:p>
        </p:txBody>
      </p:sp>
      <p:sp>
        <p:nvSpPr>
          <p:cNvPr id="3" name="Content Placeholder 2">
            <a:extLst>
              <a:ext uri="{FF2B5EF4-FFF2-40B4-BE49-F238E27FC236}">
                <a16:creationId xmlns:a16="http://schemas.microsoft.com/office/drawing/2014/main" id="{D83E6BDF-3157-3AAA-5AF2-77B350FC737A}"/>
              </a:ext>
            </a:extLst>
          </p:cNvPr>
          <p:cNvSpPr>
            <a:spLocks noGrp="1"/>
          </p:cNvSpPr>
          <p:nvPr>
            <p:ph idx="1"/>
          </p:nvPr>
        </p:nvSpPr>
        <p:spPr>
          <a:xfrm>
            <a:off x="1522413" y="1981200"/>
            <a:ext cx="10047287" cy="4674781"/>
          </a:xfrm>
        </p:spPr>
        <p:txBody>
          <a:bodyPr>
            <a:normAutofit/>
          </a:bodyPr>
          <a:lstStyle/>
          <a:p>
            <a:pPr marL="0" indent="0">
              <a:buNone/>
            </a:pPr>
            <a:r>
              <a:rPr lang="en-US" dirty="0">
                <a:latin typeface="National semibold"/>
              </a:rPr>
              <a:t>It refers to the process of taking some asset or bundle of assets and either</a:t>
            </a:r>
          </a:p>
          <a:p>
            <a:pPr marL="457200" indent="-457200">
              <a:buFont typeface="+mj-lt"/>
              <a:buAutoNum type="arabicPeriod"/>
            </a:pPr>
            <a:r>
              <a:rPr lang="en-US" dirty="0">
                <a:latin typeface="National semibold"/>
              </a:rPr>
              <a:t>representing that asset or bundle of assets with fractional ownership; </a:t>
            </a:r>
          </a:p>
          <a:p>
            <a:pPr marL="0" indent="0">
              <a:buNone/>
            </a:pPr>
            <a:r>
              <a:rPr lang="en-US" dirty="0">
                <a:latin typeface="National semibold"/>
              </a:rPr>
              <a:t> or</a:t>
            </a:r>
          </a:p>
          <a:p>
            <a:pPr marL="457200" indent="-457200">
              <a:buFont typeface="+mj-lt"/>
              <a:buAutoNum type="arabicPeriod"/>
            </a:pPr>
            <a:r>
              <a:rPr lang="en-US" dirty="0">
                <a:latin typeface="National semibold"/>
              </a:rPr>
              <a:t>creating a composite token that holds some number of underlying tokens. </a:t>
            </a:r>
          </a:p>
        </p:txBody>
      </p:sp>
    </p:spTree>
    <p:extLst>
      <p:ext uri="{BB962C8B-B14F-4D97-AF65-F5344CB8AC3E}">
        <p14:creationId xmlns:p14="http://schemas.microsoft.com/office/powerpoint/2010/main" val="628969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ags/tag1.xml><?xml version="1.0" encoding="utf-8"?>
<p:tagLst xmlns:a="http://schemas.openxmlformats.org/drawingml/2006/main" xmlns:r="http://schemas.openxmlformats.org/officeDocument/2006/relationships" xmlns:p="http://schemas.openxmlformats.org/presentationml/2006/main">
  <p:tag name="ARTICULATE_PRESENTER_VERSION" val="6"/>
  <p:tag name="ARTICULATE_PROJECT_OPEN" val="0"/>
</p:tagLst>
</file>

<file path=ppt/theme/theme1.xml><?xml version="1.0" encoding="utf-8"?>
<a:theme xmlns:a="http://schemas.openxmlformats.org/drawingml/2006/main" name="Currency Symbols 16x9">
  <a:themeElements>
    <a:clrScheme name="Currency Symbols">
      <a:dk1>
        <a:srgbClr val="303030"/>
      </a:dk1>
      <a:lt1>
        <a:sysClr val="window" lastClr="FFFFFF"/>
      </a:lt1>
      <a:dk2>
        <a:srgbClr val="000000"/>
      </a:dk2>
      <a:lt2>
        <a:srgbClr val="E8DEC9"/>
      </a:lt2>
      <a:accent1>
        <a:srgbClr val="F7C547"/>
      </a:accent1>
      <a:accent2>
        <a:srgbClr val="AB3C33"/>
      </a:accent2>
      <a:accent3>
        <a:srgbClr val="506084"/>
      </a:accent3>
      <a:accent4>
        <a:srgbClr val="599EA5"/>
      </a:accent4>
      <a:accent5>
        <a:srgbClr val="758F21"/>
      </a:accent5>
      <a:accent6>
        <a:srgbClr val="894A27"/>
      </a:accent6>
      <a:hlink>
        <a:srgbClr val="506084"/>
      </a:hlink>
      <a:folHlink>
        <a:srgbClr val="828282"/>
      </a:folHlink>
    </a:clrScheme>
    <a:fontScheme name="Currency Symbols">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urrency symbols presentation (widescreen).potx" id="{0BEEB329-2C4D-4D02-9858-CA91ACE92AB1}" vid="{944DA297-E844-470D-A85C-00068074ACC2}"/>
    </a:ext>
  </a:extLst>
</a:theme>
</file>

<file path=ppt/theme/theme2.xml><?xml version="1.0" encoding="utf-8"?>
<a:theme xmlns:a="http://schemas.openxmlformats.org/drawingml/2006/main" name="Office Theme">
  <a:themeElements>
    <a:clrScheme name="Currency Symbols">
      <a:dk1>
        <a:srgbClr val="303030"/>
      </a:dk1>
      <a:lt1>
        <a:sysClr val="window" lastClr="FFFFFF"/>
      </a:lt1>
      <a:dk2>
        <a:srgbClr val="000000"/>
      </a:dk2>
      <a:lt2>
        <a:srgbClr val="E8DEC9"/>
      </a:lt2>
      <a:accent1>
        <a:srgbClr val="F7C547"/>
      </a:accent1>
      <a:accent2>
        <a:srgbClr val="AB3C33"/>
      </a:accent2>
      <a:accent3>
        <a:srgbClr val="506084"/>
      </a:accent3>
      <a:accent4>
        <a:srgbClr val="599EA5"/>
      </a:accent4>
      <a:accent5>
        <a:srgbClr val="758F21"/>
      </a:accent5>
      <a:accent6>
        <a:srgbClr val="894A27"/>
      </a:accent6>
      <a:hlink>
        <a:srgbClr val="506084"/>
      </a:hlink>
      <a:folHlink>
        <a:srgbClr val="828282"/>
      </a:folHlink>
    </a:clrScheme>
    <a:fontScheme name="Currency Symbols">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Office Theme">
  <a:themeElements>
    <a:clrScheme name="Currency Symbols">
      <a:dk1>
        <a:srgbClr val="303030"/>
      </a:dk1>
      <a:lt1>
        <a:sysClr val="window" lastClr="FFFFFF"/>
      </a:lt1>
      <a:dk2>
        <a:srgbClr val="000000"/>
      </a:dk2>
      <a:lt2>
        <a:srgbClr val="E8DEC9"/>
      </a:lt2>
      <a:accent1>
        <a:srgbClr val="F7C547"/>
      </a:accent1>
      <a:accent2>
        <a:srgbClr val="AB3C33"/>
      </a:accent2>
      <a:accent3>
        <a:srgbClr val="506084"/>
      </a:accent3>
      <a:accent4>
        <a:srgbClr val="599EA5"/>
      </a:accent4>
      <a:accent5>
        <a:srgbClr val="758F21"/>
      </a:accent5>
      <a:accent6>
        <a:srgbClr val="894A27"/>
      </a:accent6>
      <a:hlink>
        <a:srgbClr val="506084"/>
      </a:hlink>
      <a:folHlink>
        <a:srgbClr val="828282"/>
      </a:folHlink>
    </a:clrScheme>
    <a:fontScheme name="Currency Symbols">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Currency symbols presentation (widescreen)</Template>
  <TotalTime>482</TotalTime>
  <Words>4797</Words>
  <Application>Microsoft Office PowerPoint</Application>
  <PresentationFormat>Custom</PresentationFormat>
  <Paragraphs>273</Paragraphs>
  <Slides>42</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42</vt:i4>
      </vt:variant>
    </vt:vector>
  </HeadingPairs>
  <TitlesOfParts>
    <vt:vector size="47" baseType="lpstr">
      <vt:lpstr>National semibold</vt:lpstr>
      <vt:lpstr>Arial</vt:lpstr>
      <vt:lpstr>Cambria</vt:lpstr>
      <vt:lpstr>Cambria Math</vt:lpstr>
      <vt:lpstr>Currency Symbols 16x9</vt:lpstr>
      <vt:lpstr>Introduction to  Decentralized Finance  </vt:lpstr>
      <vt:lpstr>DeFi categories</vt:lpstr>
      <vt:lpstr>1. Lending/credit  MakerDAO Compound Aave </vt:lpstr>
      <vt:lpstr>MakerDAO</vt:lpstr>
      <vt:lpstr>MakerDAO</vt:lpstr>
      <vt:lpstr>Validity of MakerDAO ecosystem</vt:lpstr>
      <vt:lpstr>Validity of MakerDAO ecosystem</vt:lpstr>
      <vt:lpstr>MakerDAO (example)</vt:lpstr>
      <vt:lpstr>MakerDAO (continuing example)</vt:lpstr>
      <vt:lpstr>MakerDAO (Another example)</vt:lpstr>
      <vt:lpstr>MKR token</vt:lpstr>
      <vt:lpstr>What is the difference between DAI and a more standard stablecoin?</vt:lpstr>
      <vt:lpstr>Compound</vt:lpstr>
      <vt:lpstr>Compound</vt:lpstr>
      <vt:lpstr>Compound (example)</vt:lpstr>
      <vt:lpstr>Compound</vt:lpstr>
      <vt:lpstr>Compound (example)</vt:lpstr>
      <vt:lpstr>Compound (Another example)</vt:lpstr>
      <vt:lpstr>Compound (Another example with a kink)</vt:lpstr>
      <vt:lpstr>Compound (Another example with a kink)</vt:lpstr>
      <vt:lpstr>Compound</vt:lpstr>
      <vt:lpstr>Why is Compound lending market useful?</vt:lpstr>
      <vt:lpstr>cTokens</vt:lpstr>
      <vt:lpstr>cTokens (example)</vt:lpstr>
      <vt:lpstr>Compound Governance</vt:lpstr>
      <vt:lpstr>Aave</vt:lpstr>
      <vt:lpstr>Flash loan (example)</vt:lpstr>
      <vt:lpstr>Aave</vt:lpstr>
      <vt:lpstr>Credit delegation (example)</vt:lpstr>
      <vt:lpstr>2. Decentralized exchanges  Uniswap 2.0</vt:lpstr>
      <vt:lpstr>Uniswap</vt:lpstr>
      <vt:lpstr>Uniswap (example)</vt:lpstr>
      <vt:lpstr>Uniswap (Modified example with more liquidity)</vt:lpstr>
      <vt:lpstr>Uniswap (Another example)</vt:lpstr>
      <vt:lpstr>Uniswap</vt:lpstr>
      <vt:lpstr>Uniswap</vt:lpstr>
      <vt:lpstr>Flash swap (example)</vt:lpstr>
      <vt:lpstr>Uniswap</vt:lpstr>
      <vt:lpstr>3. Derivative  Yield Protocol dYdX Synthetix</vt:lpstr>
      <vt:lpstr>Derivatives</vt:lpstr>
      <vt:lpstr>4. Tokenization  Set Protocol Wrapped Bitcoin  </vt:lpstr>
      <vt:lpstr>Tokenization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Layout</dc:title>
  <dc:creator>Vincenzo Quadrini</dc:creator>
  <cp:lastModifiedBy>Quadrini, Vincenzo</cp:lastModifiedBy>
  <cp:revision>20</cp:revision>
  <dcterms:created xsi:type="dcterms:W3CDTF">2020-10-28T19:26:18Z</dcterms:created>
  <dcterms:modified xsi:type="dcterms:W3CDTF">2026-05-19T13:36:06Z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ies>
</file>