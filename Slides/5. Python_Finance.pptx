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417" r:id="rId2"/>
    <p:sldId id="630" r:id="rId3"/>
    <p:sldId id="632" r:id="rId4"/>
    <p:sldId id="645" r:id="rId5"/>
    <p:sldId id="646" r:id="rId6"/>
    <p:sldId id="649" r:id="rId7"/>
    <p:sldId id="648" r:id="rId8"/>
    <p:sldId id="647" r:id="rId9"/>
    <p:sldId id="668" r:id="rId10"/>
    <p:sldId id="664" r:id="rId11"/>
    <p:sldId id="659" r:id="rId12"/>
    <p:sldId id="660" r:id="rId13"/>
    <p:sldId id="665" r:id="rId14"/>
    <p:sldId id="661" r:id="rId15"/>
    <p:sldId id="667" r:id="rId16"/>
  </p:sldIdLst>
  <p:sldSz cx="12188825" cy="6858000"/>
  <p:notesSz cx="6858000" cy="9144000"/>
  <p:custDataLst>
    <p:tags r:id="rId1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orient="horz" pos="4030">
          <p15:clr>
            <a:srgbClr val="A4A3A4"/>
          </p15:clr>
        </p15:guide>
        <p15:guide id="3" orient="horz" pos="1152">
          <p15:clr>
            <a:srgbClr val="A4A3A4"/>
          </p15:clr>
        </p15:guide>
        <p15:guide id="4" orient="horz" pos="1018">
          <p15:clr>
            <a:srgbClr val="A4A3A4"/>
          </p15:clr>
        </p15:guide>
        <p15:guide id="5" orient="horz" pos="3886">
          <p15:clr>
            <a:srgbClr val="A4A3A4"/>
          </p15:clr>
        </p15:guide>
        <p15:guide id="6" orient="horz" pos="2928">
          <p15:clr>
            <a:srgbClr val="A4A3A4"/>
          </p15:clr>
        </p15:guide>
        <p15:guide id="7" orient="horz" pos="3072">
          <p15:clr>
            <a:srgbClr val="A4A3A4"/>
          </p15:clr>
        </p15:guide>
        <p15:guide id="8" orient="horz" pos="407">
          <p15:clr>
            <a:srgbClr val="A4A3A4"/>
          </p15:clr>
        </p15:guide>
        <p15:guide id="9" pos="3839">
          <p15:clr>
            <a:srgbClr val="A4A3A4"/>
          </p15:clr>
        </p15:guide>
        <p15:guide id="10" pos="959">
          <p15:clr>
            <a:srgbClr val="A4A3A4"/>
          </p15:clr>
        </p15:guide>
        <p15:guide id="11" pos="7151">
          <p15:clr>
            <a:srgbClr val="A4A3A4"/>
          </p15:clr>
        </p15:guide>
        <p15:guide id="12" pos="671">
          <p15:clr>
            <a:srgbClr val="A4A3A4"/>
          </p15:clr>
        </p15:guide>
        <p15:guide id="13" pos="4991">
          <p15:clr>
            <a:srgbClr val="A4A3A4"/>
          </p15:clr>
        </p15:guide>
        <p15:guide id="14" pos="7007">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8282"/>
    <a:srgbClr val="6E90FE"/>
    <a:srgbClr val="8086FC"/>
    <a:srgbClr val="6D6DFB"/>
    <a:srgbClr val="4E78F0"/>
    <a:srgbClr val="F0932C"/>
    <a:srgbClr val="92C610"/>
    <a:srgbClr val="9FD812"/>
    <a:srgbClr val="E05F2C"/>
    <a:srgbClr val="0ABE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C4C7D2-ABB0-408F-ADEF-B2104221FAC5}" v="3" dt="2026-05-15T00:16:18.704"/>
  </p1510:revLst>
</p1510:revInfo>
</file>

<file path=ppt/tableStyles.xml><?xml version="1.0" encoding="utf-8"?>
<a:tblStyleLst xmlns:a="http://schemas.openxmlformats.org/drawingml/2006/main" def="{69CF1AB2-1976-4502-BF36-3FF5EA218861}">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guide orient="horz" pos="2160"/>
        <p:guide orient="horz" pos="4030"/>
        <p:guide orient="horz" pos="1152"/>
        <p:guide orient="horz" pos="1018"/>
        <p:guide orient="horz" pos="3886"/>
        <p:guide orient="horz" pos="2928"/>
        <p:guide orient="horz" pos="3072"/>
        <p:guide orient="horz" pos="407"/>
        <p:guide pos="3839"/>
        <p:guide pos="959"/>
        <p:guide pos="7151"/>
        <p:guide pos="671"/>
        <p:guide pos="4991"/>
        <p:guide pos="700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adrini, Vincenzo" userId="f61352d9-9198-4695-abd8-70fd6e64330a" providerId="ADAL" clId="{888D66D8-61BD-4B74-94E0-0078727E2FCE}"/>
    <pc:docChg chg="custSel modSld">
      <pc:chgData name="Quadrini, Vincenzo" userId="f61352d9-9198-4695-abd8-70fd6e64330a" providerId="ADAL" clId="{888D66D8-61BD-4B74-94E0-0078727E2FCE}" dt="2026-05-15T00:16:41.055" v="25" actId="2711"/>
      <pc:docMkLst>
        <pc:docMk/>
      </pc:docMkLst>
      <pc:sldChg chg="addSp delSp modSp mod">
        <pc:chgData name="Quadrini, Vincenzo" userId="f61352d9-9198-4695-abd8-70fd6e64330a" providerId="ADAL" clId="{888D66D8-61BD-4B74-94E0-0078727E2FCE}" dt="2026-05-15T00:16:41.055" v="25" actId="2711"/>
        <pc:sldMkLst>
          <pc:docMk/>
          <pc:sldMk cId="935251751" sldId="417"/>
        </pc:sldMkLst>
        <pc:spChg chg="del">
          <ac:chgData name="Quadrini, Vincenzo" userId="f61352d9-9198-4695-abd8-70fd6e64330a" providerId="ADAL" clId="{888D66D8-61BD-4B74-94E0-0078727E2FCE}" dt="2026-05-15T00:16:12.843" v="0" actId="478"/>
          <ac:spMkLst>
            <pc:docMk/>
            <pc:sldMk cId="935251751" sldId="417"/>
            <ac:spMk id="2" creationId="{00000000-0000-0000-0000-000000000000}"/>
          </ac:spMkLst>
        </pc:spChg>
        <pc:spChg chg="mod">
          <ac:chgData name="Quadrini, Vincenzo" userId="f61352d9-9198-4695-abd8-70fd6e64330a" providerId="ADAL" clId="{888D66D8-61BD-4B74-94E0-0078727E2FCE}" dt="2026-05-15T00:16:41.055" v="25" actId="2711"/>
          <ac:spMkLst>
            <pc:docMk/>
            <pc:sldMk cId="935251751" sldId="417"/>
            <ac:spMk id="3" creationId="{00000000-0000-0000-0000-000000000000}"/>
          </ac:spMkLst>
        </pc:spChg>
        <pc:spChg chg="add del mod">
          <ac:chgData name="Quadrini, Vincenzo" userId="f61352d9-9198-4695-abd8-70fd6e64330a" providerId="ADAL" clId="{888D66D8-61BD-4B74-94E0-0078727E2FCE}" dt="2026-05-15T00:16:17.856" v="3" actId="478"/>
          <ac:spMkLst>
            <pc:docMk/>
            <pc:sldMk cId="935251751" sldId="417"/>
            <ac:spMk id="5" creationId="{232F27FC-E375-BA6C-997C-377C37B0066F}"/>
          </ac:spMkLst>
        </pc:spChg>
        <pc:spChg chg="add mod">
          <ac:chgData name="Quadrini, Vincenzo" userId="f61352d9-9198-4695-abd8-70fd6e64330a" providerId="ADAL" clId="{888D66D8-61BD-4B74-94E0-0078727E2FCE}" dt="2026-05-15T00:16:15.498" v="2"/>
          <ac:spMkLst>
            <pc:docMk/>
            <pc:sldMk cId="935251751" sldId="417"/>
            <ac:spMk id="6" creationId="{7ACC4553-3E64-1224-A735-7BEA9DA94769}"/>
          </ac:spMkLst>
        </pc:spChg>
        <pc:spChg chg="add mod">
          <ac:chgData name="Quadrini, Vincenzo" userId="f61352d9-9198-4695-abd8-70fd6e64330a" providerId="ADAL" clId="{888D66D8-61BD-4B74-94E0-0078727E2FCE}" dt="2026-05-15T00:16:18.704" v="4"/>
          <ac:spMkLst>
            <pc:docMk/>
            <pc:sldMk cId="935251751" sldId="417"/>
            <ac:spMk id="7" creationId="{9A55A810-52C3-EE32-9674-19C97B9A1AEA}"/>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5"/>
    </mc:Choice>
    <mc:Fallback>
      <c:style val="5"/>
    </mc:Fallback>
  </mc:AlternateContent>
  <c:chart>
    <c:autoTitleDeleted val="1"/>
    <c:plotArea>
      <c:layout/>
      <c:scatterChart>
        <c:scatterStyle val="lineMarker"/>
        <c:varyColors val="0"/>
        <c:ser>
          <c:idx val="0"/>
          <c:order val="0"/>
          <c:tx>
            <c:strRef>
              <c:f>Sheet2!$B$1</c:f>
              <c:strCache>
                <c:ptCount val="1"/>
                <c:pt idx="0">
                  <c:v>Exp.Return</c:v>
                </c:pt>
              </c:strCache>
            </c:strRef>
          </c:tx>
          <c:spPr>
            <a:ln w="19050" cap="rnd">
              <a:noFill/>
              <a:round/>
            </a:ln>
            <a:effectLst/>
          </c:spPr>
          <c:marker>
            <c:symbol val="circle"/>
            <c:size val="5"/>
            <c:spPr>
              <a:solidFill>
                <a:schemeClr val="accent3"/>
              </a:solidFill>
              <a:ln w="9525">
                <a:solidFill>
                  <a:schemeClr val="accent3"/>
                </a:solidFill>
              </a:ln>
              <a:effectLst/>
            </c:spPr>
          </c:marker>
          <c:xVal>
            <c:numRef>
              <c:f>Sheet2!$A$2:$A$12</c:f>
              <c:numCache>
                <c:formatCode>0.000</c:formatCode>
                <c:ptCount val="11"/>
                <c:pt idx="0">
                  <c:v>0.05</c:v>
                </c:pt>
                <c:pt idx="1">
                  <c:v>4.8010415536631219E-2</c:v>
                </c:pt>
                <c:pt idx="2">
                  <c:v>4.7328638264796934E-2</c:v>
                </c:pt>
                <c:pt idx="3">
                  <c:v>4.8010415536631212E-2</c:v>
                </c:pt>
                <c:pt idx="4">
                  <c:v>0.05</c:v>
                </c:pt>
                <c:pt idx="5">
                  <c:v>5.3150729063673248E-2</c:v>
                </c:pt>
                <c:pt idx="6">
                  <c:v>5.7271284253105403E-2</c:v>
                </c:pt>
                <c:pt idx="7">
                  <c:v>6.2169124169478202E-2</c:v>
                </c:pt>
                <c:pt idx="8">
                  <c:v>6.7675697262754519E-2</c:v>
                </c:pt>
                <c:pt idx="9">
                  <c:v>7.3654599313281166E-2</c:v>
                </c:pt>
                <c:pt idx="10">
                  <c:v>0.08</c:v>
                </c:pt>
              </c:numCache>
            </c:numRef>
          </c:xVal>
          <c:yVal>
            <c:numRef>
              <c:f>Sheet2!$B$2:$B$12</c:f>
              <c:numCache>
                <c:formatCode>General</c:formatCode>
                <c:ptCount val="11"/>
                <c:pt idx="0">
                  <c:v>7.0000000000000007E-2</c:v>
                </c:pt>
                <c:pt idx="1">
                  <c:v>7.2000000000000008E-2</c:v>
                </c:pt>
                <c:pt idx="2">
                  <c:v>7.400000000000001E-2</c:v>
                </c:pt>
                <c:pt idx="3">
                  <c:v>7.5999999999999998E-2</c:v>
                </c:pt>
                <c:pt idx="4">
                  <c:v>7.8E-2</c:v>
                </c:pt>
                <c:pt idx="5">
                  <c:v>0.08</c:v>
                </c:pt>
                <c:pt idx="6">
                  <c:v>8.199999999999999E-2</c:v>
                </c:pt>
                <c:pt idx="7">
                  <c:v>8.3999999999999991E-2</c:v>
                </c:pt>
                <c:pt idx="8">
                  <c:v>8.5999999999999993E-2</c:v>
                </c:pt>
                <c:pt idx="9">
                  <c:v>8.7999999999999995E-2</c:v>
                </c:pt>
                <c:pt idx="10">
                  <c:v>0.09</c:v>
                </c:pt>
              </c:numCache>
            </c:numRef>
          </c:yVal>
          <c:smooth val="0"/>
          <c:extLst>
            <c:ext xmlns:c16="http://schemas.microsoft.com/office/drawing/2014/chart" uri="{C3380CC4-5D6E-409C-BE32-E72D297353CC}">
              <c16:uniqueId val="{00000000-0069-4208-A10A-8E1E69E0353B}"/>
            </c:ext>
          </c:extLst>
        </c:ser>
        <c:dLbls>
          <c:showLegendKey val="0"/>
          <c:showVal val="0"/>
          <c:showCatName val="0"/>
          <c:showSerName val="0"/>
          <c:showPercent val="0"/>
          <c:showBubbleSize val="0"/>
        </c:dLbls>
        <c:axId val="1320911008"/>
        <c:axId val="1334015632"/>
      </c:scatterChart>
      <c:valAx>
        <c:axId val="1320911008"/>
        <c:scaling>
          <c:orientation val="minMax"/>
          <c:min val="4.0000000000000008E-2"/>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Standard deviation</a:t>
                </a: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0.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crossAx val="1334015632"/>
        <c:crosses val="autoZero"/>
        <c:crossBetween val="midCat"/>
      </c:valAx>
      <c:valAx>
        <c:axId val="1334015632"/>
        <c:scaling>
          <c:orientation val="minMax"/>
          <c:min val="6.0000000000000012E-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r>
                  <a:rPr lang="en-US" sz="1400"/>
                  <a:t>Expected return</a:t>
                </a: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crossAx val="1320911008"/>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3">
  <a:schemeClr val="accent3"/>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69AFDC-7658-4951-B0FF-52DFF2A93C0A}" type="datetimeFigureOut">
              <a:rPr lang="en-US" smtClean="0"/>
              <a:t>5/14/2026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F8ED99B-9732-49FC-9C16-B56FEB1B1092}" type="slidenum">
              <a:rPr lang="en-US" smtClean="0"/>
              <a:t>‹#›</a:t>
            </a:fld>
            <a:endParaRPr lang="en-US"/>
          </a:p>
        </p:txBody>
      </p:sp>
    </p:spTree>
    <p:extLst>
      <p:ext uri="{BB962C8B-B14F-4D97-AF65-F5344CB8AC3E}">
        <p14:creationId xmlns:p14="http://schemas.microsoft.com/office/powerpoint/2010/main" val="1314662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ABD2D7A-D230-4F91-BD59-0A39C2703BA8}" type="datetimeFigureOut">
              <a:rPr lang="en-US" smtClean="0"/>
              <a:t>5/14/2026</a:t>
            </a:fld>
            <a:endParaRPr lang="en-US"/>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3199CD-3E1B-4AE6-990F-76F925F5EA9F}" type="slidenum">
              <a:rPr lang="en-US" smtClean="0"/>
              <a:t>‹#›</a:t>
            </a:fld>
            <a:endParaRPr lang="en-US"/>
          </a:p>
        </p:txBody>
      </p:sp>
    </p:spTree>
    <p:extLst>
      <p:ext uri="{BB962C8B-B14F-4D97-AF65-F5344CB8AC3E}">
        <p14:creationId xmlns:p14="http://schemas.microsoft.com/office/powerpoint/2010/main" val="4276579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93199CD-3E1B-4AE6-990F-76F925F5EA9F}" type="slidenum">
              <a:rPr lang="en-US" smtClean="0"/>
              <a:t>1</a:t>
            </a:fld>
            <a:endParaRPr lang="en-US"/>
          </a:p>
        </p:txBody>
      </p:sp>
    </p:spTree>
    <p:extLst>
      <p:ext uri="{BB962C8B-B14F-4D97-AF65-F5344CB8AC3E}">
        <p14:creationId xmlns:p14="http://schemas.microsoft.com/office/powerpoint/2010/main" val="37727688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3C0C3E65-9ACB-475D-8C0B-49DB9D92C949}" type="slidenum">
              <a:rPr kumimoji="0" lang="en-US" sz="1300" b="0" i="0" u="none" strike="noStrike" kern="1200" cap="none" spc="0" normalizeH="0" baseline="0" noProof="0" smtClean="0">
                <a:ln>
                  <a:noFill/>
                </a:ln>
                <a:solidFill>
                  <a:srgbClr val="303030"/>
                </a:solidFill>
                <a:effectLst/>
                <a:uLnTx/>
                <a:uFillTx/>
                <a:latin typeface="Arial" charset="0"/>
                <a:ea typeface="+mn-ea"/>
                <a:cs typeface="+mn-cs"/>
              </a:rPr>
              <a:pPr marL="0" marR="0" lvl="0" indent="0" algn="r" defTabSz="966788" rtl="0" eaLnBrk="1" fontAlgn="auto" latinLnBrk="0" hangingPunct="1">
                <a:lnSpc>
                  <a:spcPct val="100000"/>
                </a:lnSpc>
                <a:spcBef>
                  <a:spcPts val="0"/>
                </a:spcBef>
                <a:spcAft>
                  <a:spcPts val="0"/>
                </a:spcAft>
                <a:buClrTx/>
                <a:buSzTx/>
                <a:buFontTx/>
                <a:buNone/>
                <a:tabLst/>
                <a:defRPr/>
              </a:pPr>
              <a:t>11</a:t>
            </a:fld>
            <a:endParaRPr kumimoji="0" lang="en-US" sz="1300" b="0" i="0" u="none" strike="noStrike" kern="1200" cap="none" spc="0" normalizeH="0" baseline="0" noProof="0">
              <a:ln>
                <a:noFill/>
              </a:ln>
              <a:solidFill>
                <a:srgbClr val="303030"/>
              </a:solidFill>
              <a:effectLst/>
              <a:uLnTx/>
              <a:uFillTx/>
              <a:latin typeface="Arial" charset="0"/>
              <a:ea typeface="+mn-ea"/>
              <a:cs typeface="+mn-cs"/>
            </a:endParaRPr>
          </a:p>
        </p:txBody>
      </p:sp>
    </p:spTree>
    <p:extLst>
      <p:ext uri="{BB962C8B-B14F-4D97-AF65-F5344CB8AC3E}">
        <p14:creationId xmlns:p14="http://schemas.microsoft.com/office/powerpoint/2010/main" val="3736926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3C0C3E65-9ACB-475D-8C0B-49DB9D92C949}" type="slidenum">
              <a:rPr kumimoji="0" lang="en-US" sz="1300" b="0" i="0" u="none" strike="noStrike" kern="1200" cap="none" spc="0" normalizeH="0" baseline="0" noProof="0" smtClean="0">
                <a:ln>
                  <a:noFill/>
                </a:ln>
                <a:solidFill>
                  <a:srgbClr val="303030"/>
                </a:solidFill>
                <a:effectLst/>
                <a:uLnTx/>
                <a:uFillTx/>
                <a:latin typeface="Arial" charset="0"/>
                <a:ea typeface="+mn-ea"/>
                <a:cs typeface="+mn-cs"/>
              </a:rPr>
              <a:pPr marL="0" marR="0" lvl="0" indent="0" algn="r" defTabSz="966788" rtl="0" eaLnBrk="1" fontAlgn="auto" latinLnBrk="0" hangingPunct="1">
                <a:lnSpc>
                  <a:spcPct val="100000"/>
                </a:lnSpc>
                <a:spcBef>
                  <a:spcPts val="0"/>
                </a:spcBef>
                <a:spcAft>
                  <a:spcPts val="0"/>
                </a:spcAft>
                <a:buClrTx/>
                <a:buSzTx/>
                <a:buFontTx/>
                <a:buNone/>
                <a:tabLst/>
                <a:defRPr/>
              </a:pPr>
              <a:t>12</a:t>
            </a:fld>
            <a:endParaRPr kumimoji="0" lang="en-US" sz="1300" b="0" i="0" u="none" strike="noStrike" kern="1200" cap="none" spc="0" normalizeH="0" baseline="0" noProof="0">
              <a:ln>
                <a:noFill/>
              </a:ln>
              <a:solidFill>
                <a:srgbClr val="303030"/>
              </a:solidFill>
              <a:effectLst/>
              <a:uLnTx/>
              <a:uFillTx/>
              <a:latin typeface="Arial" charset="0"/>
              <a:ea typeface="+mn-ea"/>
              <a:cs typeface="+mn-cs"/>
            </a:endParaRPr>
          </a:p>
        </p:txBody>
      </p:sp>
    </p:spTree>
    <p:extLst>
      <p:ext uri="{BB962C8B-B14F-4D97-AF65-F5344CB8AC3E}">
        <p14:creationId xmlns:p14="http://schemas.microsoft.com/office/powerpoint/2010/main" val="37628284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3C0C3E65-9ACB-475D-8C0B-49DB9D92C949}" type="slidenum">
              <a:rPr kumimoji="0" lang="en-US" sz="1300" b="0" i="0" u="none" strike="noStrike" kern="1200" cap="none" spc="0" normalizeH="0" baseline="0" noProof="0" smtClean="0">
                <a:ln>
                  <a:noFill/>
                </a:ln>
                <a:solidFill>
                  <a:srgbClr val="303030"/>
                </a:solidFill>
                <a:effectLst/>
                <a:uLnTx/>
                <a:uFillTx/>
                <a:latin typeface="Arial" charset="0"/>
                <a:ea typeface="+mn-ea"/>
                <a:cs typeface="+mn-cs"/>
              </a:rPr>
              <a:pPr marL="0" marR="0" lvl="0" indent="0" algn="r" defTabSz="966788" rtl="0" eaLnBrk="1" fontAlgn="auto" latinLnBrk="0" hangingPunct="1">
                <a:lnSpc>
                  <a:spcPct val="100000"/>
                </a:lnSpc>
                <a:spcBef>
                  <a:spcPts val="0"/>
                </a:spcBef>
                <a:spcAft>
                  <a:spcPts val="0"/>
                </a:spcAft>
                <a:buClrTx/>
                <a:buSzTx/>
                <a:buFontTx/>
                <a:buNone/>
                <a:tabLst/>
                <a:defRPr/>
              </a:pPr>
              <a:t>13</a:t>
            </a:fld>
            <a:endParaRPr kumimoji="0" lang="en-US" sz="1300" b="0" i="0" u="none" strike="noStrike" kern="1200" cap="none" spc="0" normalizeH="0" baseline="0" noProof="0">
              <a:ln>
                <a:noFill/>
              </a:ln>
              <a:solidFill>
                <a:srgbClr val="303030"/>
              </a:solidFill>
              <a:effectLst/>
              <a:uLnTx/>
              <a:uFillTx/>
              <a:latin typeface="Arial" charset="0"/>
              <a:ea typeface="+mn-ea"/>
              <a:cs typeface="+mn-cs"/>
            </a:endParaRPr>
          </a:p>
        </p:txBody>
      </p:sp>
    </p:spTree>
    <p:extLst>
      <p:ext uri="{BB962C8B-B14F-4D97-AF65-F5344CB8AC3E}">
        <p14:creationId xmlns:p14="http://schemas.microsoft.com/office/powerpoint/2010/main" val="31725517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Slide Image Placeholder 1"/>
          <p:cNvSpPr>
            <a:spLocks noGrp="1" noRot="1" noChangeAspect="1" noTextEdit="1"/>
          </p:cNvSpPr>
          <p:nvPr>
            <p:ph type="sldImg"/>
          </p:nvPr>
        </p:nvSpPr>
        <p:spPr>
          <a:ln/>
        </p:spPr>
      </p:sp>
      <p:sp>
        <p:nvSpPr>
          <p:cNvPr id="11264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12644"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66788">
              <a:defRPr sz="2000">
                <a:solidFill>
                  <a:schemeClr val="tx1"/>
                </a:solidFill>
                <a:latin typeface="Arial" charset="0"/>
              </a:defRPr>
            </a:lvl1pPr>
            <a:lvl2pPr marL="742950" indent="-285750" defTabSz="966788">
              <a:defRPr sz="2000">
                <a:solidFill>
                  <a:schemeClr val="tx1"/>
                </a:solidFill>
                <a:latin typeface="Arial" charset="0"/>
              </a:defRPr>
            </a:lvl2pPr>
            <a:lvl3pPr marL="1143000" indent="-228600" defTabSz="966788">
              <a:defRPr sz="2000">
                <a:solidFill>
                  <a:schemeClr val="tx1"/>
                </a:solidFill>
                <a:latin typeface="Arial" charset="0"/>
              </a:defRPr>
            </a:lvl3pPr>
            <a:lvl4pPr marL="1600200" indent="-228600" defTabSz="966788">
              <a:defRPr sz="2000">
                <a:solidFill>
                  <a:schemeClr val="tx1"/>
                </a:solidFill>
                <a:latin typeface="Arial" charset="0"/>
              </a:defRPr>
            </a:lvl4pPr>
            <a:lvl5pPr marL="2057400" indent="-228600" defTabSz="966788">
              <a:defRPr sz="2000">
                <a:solidFill>
                  <a:schemeClr val="tx1"/>
                </a:solidFill>
                <a:latin typeface="Arial" charset="0"/>
              </a:defRPr>
            </a:lvl5pPr>
            <a:lvl6pPr marL="2514600" indent="-228600" defTabSz="966788" eaLnBrk="0" fontAlgn="base" hangingPunct="0">
              <a:spcBef>
                <a:spcPct val="20000"/>
              </a:spcBef>
              <a:spcAft>
                <a:spcPct val="0"/>
              </a:spcAft>
              <a:buChar char="•"/>
              <a:defRPr sz="2000">
                <a:solidFill>
                  <a:schemeClr val="tx1"/>
                </a:solidFill>
                <a:latin typeface="Arial" charset="0"/>
              </a:defRPr>
            </a:lvl6pPr>
            <a:lvl7pPr marL="2971800" indent="-228600" defTabSz="966788" eaLnBrk="0" fontAlgn="base" hangingPunct="0">
              <a:spcBef>
                <a:spcPct val="20000"/>
              </a:spcBef>
              <a:spcAft>
                <a:spcPct val="0"/>
              </a:spcAft>
              <a:buChar char="•"/>
              <a:defRPr sz="2000">
                <a:solidFill>
                  <a:schemeClr val="tx1"/>
                </a:solidFill>
                <a:latin typeface="Arial" charset="0"/>
              </a:defRPr>
            </a:lvl7pPr>
            <a:lvl8pPr marL="3429000" indent="-228600" defTabSz="966788" eaLnBrk="0" fontAlgn="base" hangingPunct="0">
              <a:spcBef>
                <a:spcPct val="20000"/>
              </a:spcBef>
              <a:spcAft>
                <a:spcPct val="0"/>
              </a:spcAft>
              <a:buChar char="•"/>
              <a:defRPr sz="2000">
                <a:solidFill>
                  <a:schemeClr val="tx1"/>
                </a:solidFill>
                <a:latin typeface="Arial" charset="0"/>
              </a:defRPr>
            </a:lvl8pPr>
            <a:lvl9pPr marL="3886200" indent="-228600" defTabSz="966788" eaLnBrk="0" fontAlgn="base" hangingPunct="0">
              <a:spcBef>
                <a:spcPct val="20000"/>
              </a:spcBef>
              <a:spcAft>
                <a:spcPct val="0"/>
              </a:spcAft>
              <a:buChar char="•"/>
              <a:defRPr sz="2000">
                <a:solidFill>
                  <a:schemeClr val="tx1"/>
                </a:solidFill>
                <a:latin typeface="Arial" charset="0"/>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3C0C3E65-9ACB-475D-8C0B-49DB9D92C949}" type="slidenum">
              <a:rPr kumimoji="0" lang="en-US" sz="1300" b="0" i="0" u="none" strike="noStrike" kern="1200" cap="none" spc="0" normalizeH="0" baseline="0" noProof="0" smtClean="0">
                <a:ln>
                  <a:noFill/>
                </a:ln>
                <a:solidFill>
                  <a:srgbClr val="303030"/>
                </a:solidFill>
                <a:effectLst/>
                <a:uLnTx/>
                <a:uFillTx/>
                <a:latin typeface="Arial" charset="0"/>
                <a:ea typeface="+mn-ea"/>
                <a:cs typeface="+mn-cs"/>
              </a:rPr>
              <a:pPr marL="0" marR="0" lvl="0" indent="0" algn="r" defTabSz="966788" rtl="0" eaLnBrk="1" fontAlgn="auto" latinLnBrk="0" hangingPunct="1">
                <a:lnSpc>
                  <a:spcPct val="100000"/>
                </a:lnSpc>
                <a:spcBef>
                  <a:spcPts val="0"/>
                </a:spcBef>
                <a:spcAft>
                  <a:spcPts val="0"/>
                </a:spcAft>
                <a:buClrTx/>
                <a:buSzTx/>
                <a:buFontTx/>
                <a:buNone/>
                <a:tabLst/>
                <a:defRPr/>
              </a:pPr>
              <a:t>14</a:t>
            </a:fld>
            <a:endParaRPr kumimoji="0" lang="en-US" sz="1300" b="0" i="0" u="none" strike="noStrike" kern="1200" cap="none" spc="0" normalizeH="0" baseline="0" noProof="0">
              <a:ln>
                <a:noFill/>
              </a:ln>
              <a:solidFill>
                <a:srgbClr val="303030"/>
              </a:solidFill>
              <a:effectLst/>
              <a:uLnTx/>
              <a:uFillTx/>
              <a:latin typeface="Arial" charset="0"/>
              <a:ea typeface="+mn-ea"/>
              <a:cs typeface="+mn-cs"/>
            </a:endParaRPr>
          </a:p>
        </p:txBody>
      </p:sp>
    </p:spTree>
    <p:extLst>
      <p:ext uri="{BB962C8B-B14F-4D97-AF65-F5344CB8AC3E}">
        <p14:creationId xmlns:p14="http://schemas.microsoft.com/office/powerpoint/2010/main" val="35861122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0824" y="1600200"/>
            <a:ext cx="5945188" cy="3048000"/>
          </a:xfrm>
        </p:spPr>
        <p:txBody>
          <a:bodyPr anchor="b">
            <a:normAutofit/>
          </a:bodyPr>
          <a:lstStyle>
            <a:lvl1pPr>
              <a:lnSpc>
                <a:spcPct val="80000"/>
              </a:lnSpc>
              <a:defRPr sz="6600">
                <a:solidFill>
                  <a:schemeClr val="tx1"/>
                </a:solidFill>
              </a:defRPr>
            </a:lvl1pPr>
          </a:lstStyle>
          <a:p>
            <a:r>
              <a:rPr lang="en-US"/>
              <a:t>Click to edit Master title style</a:t>
            </a:r>
            <a:endParaRPr/>
          </a:p>
        </p:txBody>
      </p:sp>
      <p:sp>
        <p:nvSpPr>
          <p:cNvPr id="3" name="Subtitle 2"/>
          <p:cNvSpPr>
            <a:spLocks noGrp="1"/>
          </p:cNvSpPr>
          <p:nvPr>
            <p:ph type="subTitle" idx="1" hasCustomPrompt="1"/>
          </p:nvPr>
        </p:nvSpPr>
        <p:spPr>
          <a:xfrm>
            <a:off x="1520825" y="4898572"/>
            <a:ext cx="5945187" cy="1270453"/>
          </a:xfrm>
        </p:spPr>
        <p:txBody>
          <a:bodyPr>
            <a:noAutofit/>
          </a:bodyPr>
          <a:lstStyle>
            <a:lvl1pPr marL="0" indent="0" algn="l">
              <a:spcBef>
                <a:spcPts val="0"/>
              </a:spcBef>
              <a:buNone/>
              <a:defRPr sz="2800" cap="none" baseline="0">
                <a:solidFill>
                  <a:schemeClr val="accent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E</a:t>
            </a:r>
            <a:r>
              <a:t>dit Master subtitle style</a:t>
            </a:r>
          </a:p>
        </p:txBody>
      </p:sp>
      <p:cxnSp>
        <p:nvCxnSpPr>
          <p:cNvPr id="6" name="Straight Connector 5"/>
          <p:cNvCxnSpPr/>
          <p:nvPr/>
        </p:nvCxnSpPr>
        <p:spPr>
          <a:xfrm>
            <a:off x="1658936" y="4782971"/>
            <a:ext cx="56546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grpSp>
        <p:nvGrpSpPr>
          <p:cNvPr id="5" name="Group 4"/>
          <p:cNvGrpSpPr/>
          <p:nvPr userDrawn="1"/>
        </p:nvGrpSpPr>
        <p:grpSpPr>
          <a:xfrm>
            <a:off x="7923213" y="0"/>
            <a:ext cx="4265612" cy="6858000"/>
            <a:chOff x="7923213" y="0"/>
            <a:chExt cx="4265612" cy="685800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7923213" y="0"/>
              <a:ext cx="4265612" cy="6858000"/>
            </a:xfrm>
            <a:prstGeom prst="rect">
              <a:avLst/>
            </a:prstGeom>
          </p:spPr>
        </p:pic>
        <p:sp>
          <p:nvSpPr>
            <p:cNvPr id="13" name="Rectangle 12"/>
            <p:cNvSpPr/>
            <p:nvPr/>
          </p:nvSpPr>
          <p:spPr>
            <a:xfrm>
              <a:off x="7923213" y="0"/>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extLst>
      <p:ext uri="{BB962C8B-B14F-4D97-AF65-F5344CB8AC3E}">
        <p14:creationId xmlns:p14="http://schemas.microsoft.com/office/powerpoint/2010/main" val="94999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82540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522410" y="2237096"/>
            <a:ext cx="8229601" cy="2411103"/>
          </a:xfrm>
        </p:spPr>
        <p:txBody>
          <a:bodyPr anchor="b">
            <a:normAutofit/>
          </a:bodyPr>
          <a:lstStyle>
            <a:lvl1pPr algn="l">
              <a:lnSpc>
                <a:spcPct val="80000"/>
              </a:lnSpc>
              <a:defRPr sz="4800" b="0" cap="none" baseline="0">
                <a:solidFill>
                  <a:schemeClr val="tx1"/>
                </a:solidFill>
              </a:defRPr>
            </a:lvl1pPr>
          </a:lstStyle>
          <a:p>
            <a:r>
              <a:rPr lang="en-US"/>
              <a:t>Click to edit Master title style</a:t>
            </a:r>
            <a:endParaRPr/>
          </a:p>
        </p:txBody>
      </p:sp>
      <p:sp>
        <p:nvSpPr>
          <p:cNvPr id="3" name="Text Placeholder 2"/>
          <p:cNvSpPr>
            <a:spLocks noGrp="1"/>
          </p:cNvSpPr>
          <p:nvPr>
            <p:ph type="body" idx="1"/>
          </p:nvPr>
        </p:nvSpPr>
        <p:spPr>
          <a:xfrm>
            <a:off x="1522412" y="4876800"/>
            <a:ext cx="8229601" cy="1292225"/>
          </a:xfrm>
        </p:spPr>
        <p:txBody>
          <a:bodyPr anchor="t">
            <a:normAutofit/>
          </a:bodyPr>
          <a:lstStyle>
            <a:lvl1pPr marL="0" indent="0">
              <a:spcBef>
                <a:spcPts val="0"/>
              </a:spcBef>
              <a:buNone/>
              <a:defRPr sz="2800" cap="none" baseline="0">
                <a:solidFill>
                  <a:schemeClr val="accent1">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grpSp>
        <p:nvGrpSpPr>
          <p:cNvPr id="7" name="Group 6"/>
          <p:cNvGrpSpPr/>
          <p:nvPr userDrawn="1"/>
        </p:nvGrpSpPr>
        <p:grpSpPr>
          <a:xfrm>
            <a:off x="11123611" y="0"/>
            <a:ext cx="1065214" cy="6868886"/>
            <a:chOff x="11123611" y="0"/>
            <a:chExt cx="1065214" cy="6868886"/>
          </a:xfrm>
        </p:grpSpPr>
        <p:pic>
          <p:nvPicPr>
            <p:cNvPr id="10" name="Picture 9"/>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11123611" y="0"/>
              <a:ext cx="1065213" cy="6858000"/>
            </a:xfrm>
            <a:prstGeom prst="rect">
              <a:avLst/>
            </a:prstGeom>
          </p:spPr>
        </p:pic>
        <p:sp>
          <p:nvSpPr>
            <p:cNvPr id="12" name="Rectangle 11"/>
            <p:cNvSpPr/>
            <p:nvPr/>
          </p:nvSpPr>
          <p:spPr>
            <a:xfrm>
              <a:off x="11123612" y="10886"/>
              <a:ext cx="1065213" cy="6858000"/>
            </a:xfrm>
            <a:prstGeom prst="rect">
              <a:avLst/>
            </a:prstGeom>
            <a:gradFill flip="none" rotWithShape="1">
              <a:gsLst>
                <a:gs pos="75000">
                  <a:schemeClr val="tx2">
                    <a:alpha val="0"/>
                  </a:schemeClr>
                </a:gs>
                <a:gs pos="100000">
                  <a:schemeClr val="tx2">
                    <a:alpha val="25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9" name="Straight Connector 8"/>
          <p:cNvCxnSpPr/>
          <p:nvPr/>
        </p:nvCxnSpPr>
        <p:spPr>
          <a:xfrm>
            <a:off x="1658936" y="4782971"/>
            <a:ext cx="80168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8133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sz="half" idx="1"/>
          </p:nvPr>
        </p:nvSpPr>
        <p:spPr>
          <a:xfrm>
            <a:off x="1488168" y="1984248"/>
            <a:ext cx="4800600"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551612" y="1984248"/>
            <a:ext cx="4800601" cy="4187952"/>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5/14/2026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340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413" y="381000"/>
            <a:ext cx="9829798" cy="1219200"/>
          </a:xfrm>
        </p:spPr>
        <p:txBody>
          <a:bodyPr/>
          <a:lstStyle>
            <a:lvl1pPr>
              <a:defRPr>
                <a:solidFill>
                  <a:schemeClr val="accent1">
                    <a:lumMod val="50000"/>
                  </a:schemeClr>
                </a:solidFill>
              </a:defRPr>
            </a:lvl1pPr>
          </a:lstStyle>
          <a:p>
            <a:r>
              <a:rPr lang="en-US"/>
              <a:t>Click to edit Master title style</a:t>
            </a:r>
            <a:endParaRPr/>
          </a:p>
        </p:txBody>
      </p:sp>
      <p:sp>
        <p:nvSpPr>
          <p:cNvPr id="3" name="Text Placeholder 2"/>
          <p:cNvSpPr>
            <a:spLocks noGrp="1"/>
          </p:cNvSpPr>
          <p:nvPr>
            <p:ph type="body" idx="1"/>
          </p:nvPr>
        </p:nvSpPr>
        <p:spPr>
          <a:xfrm>
            <a:off x="15224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4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551613" y="1828800"/>
            <a:ext cx="4800600" cy="838200"/>
          </a:xfrm>
        </p:spPr>
        <p:txBody>
          <a:bodyPr anchor="ctr">
            <a:noAutofit/>
          </a:bodyPr>
          <a:lstStyle>
            <a:lvl1pPr marL="0" indent="0">
              <a:spcBef>
                <a:spcPts val="0"/>
              </a:spcBef>
              <a:buNone/>
              <a:defRPr sz="2400" b="0" cap="none"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51613" y="2743200"/>
            <a:ext cx="4800600" cy="3425825"/>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a:t>Add a footer</a:t>
            </a:r>
          </a:p>
        </p:txBody>
      </p:sp>
      <p:sp>
        <p:nvSpPr>
          <p:cNvPr id="7" name="Date Placeholder 6"/>
          <p:cNvSpPr>
            <a:spLocks noGrp="1"/>
          </p:cNvSpPr>
          <p:nvPr>
            <p:ph type="dt" sz="half" idx="10"/>
          </p:nvPr>
        </p:nvSpPr>
        <p:spPr/>
        <p:txBody>
          <a:bodyPr/>
          <a:lstStyle/>
          <a:p>
            <a:fld id="{03F41C87-7AD9-4845-A077-840E4A0F3F06}" type="datetimeFigureOut">
              <a:rPr lang="en-US"/>
              <a:t>5/14/2026</a:t>
            </a:fld>
            <a:endParaRPr/>
          </a:p>
        </p:txBody>
      </p:sp>
      <p:sp>
        <p:nvSpPr>
          <p:cNvPr id="9" name="Slide Number Placeholder 8"/>
          <p:cNvSpPr>
            <a:spLocks noGrp="1"/>
          </p:cNvSpPr>
          <p:nvPr>
            <p:ph type="sldNum" sz="quarter" idx="12"/>
          </p:nvPr>
        </p:nvSpPr>
        <p:spPr/>
        <p:txBody>
          <a:bodyPr/>
          <a:lstStyle/>
          <a:p>
            <a:fld id="{2A013F82-EE5E-44EE-A61D-E31C6657F26F}" type="slidenum">
              <a:rPr/>
              <a:t>‹#›</a:t>
            </a:fld>
            <a:endParaRPr/>
          </a:p>
        </p:txBody>
      </p:sp>
      <p:cxnSp>
        <p:nvCxnSpPr>
          <p:cNvPr id="10" name="Straight Connector 9"/>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4195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a:t>Add a footer</a:t>
            </a:r>
          </a:p>
        </p:txBody>
      </p:sp>
      <p:sp>
        <p:nvSpPr>
          <p:cNvPr id="3" name="Date Placeholder 2"/>
          <p:cNvSpPr>
            <a:spLocks noGrp="1"/>
          </p:cNvSpPr>
          <p:nvPr>
            <p:ph type="dt" sz="half" idx="10"/>
          </p:nvPr>
        </p:nvSpPr>
        <p:spPr/>
        <p:txBody>
          <a:bodyPr/>
          <a:lstStyle/>
          <a:p>
            <a:fld id="{03F41C87-7AD9-4845-A077-840E4A0F3F06}" type="datetimeFigureOut">
              <a:rPr lang="en-US"/>
              <a:t>5/14/2026</a:t>
            </a:fld>
            <a:endParaRPr/>
          </a:p>
        </p:txBody>
      </p:sp>
      <p:sp>
        <p:nvSpPr>
          <p:cNvPr id="5" name="Slide Number Placeholder 4"/>
          <p:cNvSpPr>
            <a:spLocks noGrp="1"/>
          </p:cNvSpPr>
          <p:nvPr>
            <p:ph type="sldNum" sz="quarter" idx="12"/>
          </p:nvPr>
        </p:nvSpPr>
        <p:spPr/>
        <p:txBody>
          <a:bodyPr/>
          <a:lstStyle/>
          <a:p>
            <a:fld id="{2A013F82-EE5E-44EE-A61D-E31C6657F26F}" type="slidenum">
              <a:rPr/>
              <a:t>‹#›</a:t>
            </a:fld>
            <a:endParaRPr/>
          </a:p>
        </p:txBody>
      </p:sp>
      <p:cxnSp>
        <p:nvCxnSpPr>
          <p:cNvPr id="6" name="Straight Connector 5"/>
          <p:cNvCxnSpPr/>
          <p:nvPr/>
        </p:nvCxnSpPr>
        <p:spPr>
          <a:xfrm>
            <a:off x="1658936" y="1709058"/>
            <a:ext cx="9617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266314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a:t>Add a footer</a:t>
            </a:r>
          </a:p>
        </p:txBody>
      </p:sp>
      <p:sp>
        <p:nvSpPr>
          <p:cNvPr id="2" name="Date Placeholder 1"/>
          <p:cNvSpPr>
            <a:spLocks noGrp="1"/>
          </p:cNvSpPr>
          <p:nvPr>
            <p:ph type="dt" sz="half" idx="10"/>
          </p:nvPr>
        </p:nvSpPr>
        <p:spPr/>
        <p:txBody>
          <a:bodyPr/>
          <a:lstStyle/>
          <a:p>
            <a:fld id="{03F41C87-7AD9-4845-A077-840E4A0F3F06}" type="datetimeFigureOut">
              <a:rPr lang="en-US"/>
              <a:t>5/14/2026</a:t>
            </a:fld>
            <a:endParaRPr/>
          </a:p>
        </p:txBody>
      </p:sp>
      <p:sp>
        <p:nvSpPr>
          <p:cNvPr id="4" name="Slide Number Placeholder 3"/>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3607540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7"/>
          </a:xfrm>
        </p:spPr>
        <p:txBody>
          <a:bodyPr anchor="b">
            <a:noAutofit/>
          </a:bodyPr>
          <a:lstStyle>
            <a:lvl1pPr algn="l">
              <a:lnSpc>
                <a:spcPct val="80000"/>
              </a:lnSpc>
              <a:defRPr sz="4000" b="0">
                <a:solidFill>
                  <a:schemeClr val="accent1">
                    <a:lumMod val="50000"/>
                  </a:schemeClr>
                </a:solidFill>
              </a:defRPr>
            </a:lvl1pPr>
          </a:lstStyle>
          <a:p>
            <a:r>
              <a:rPr lang="en-US"/>
              <a:t>Click to edit Master title style</a:t>
            </a:r>
            <a:endParaRPr/>
          </a:p>
        </p:txBody>
      </p:sp>
      <p:sp>
        <p:nvSpPr>
          <p:cNvPr id="3" name="Content Placeholder 2"/>
          <p:cNvSpPr>
            <a:spLocks noGrp="1"/>
          </p:cNvSpPr>
          <p:nvPr>
            <p:ph idx="1"/>
          </p:nvPr>
        </p:nvSpPr>
        <p:spPr>
          <a:xfrm>
            <a:off x="6094414" y="685800"/>
            <a:ext cx="5257799" cy="54864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spcBef>
                <a:spcPts val="1800"/>
              </a:spcBef>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a:t>Add a footer</a:t>
            </a:r>
          </a:p>
        </p:txBody>
      </p:sp>
      <p:sp>
        <p:nvSpPr>
          <p:cNvPr id="5" name="Date Placeholder 4"/>
          <p:cNvSpPr>
            <a:spLocks noGrp="1"/>
          </p:cNvSpPr>
          <p:nvPr>
            <p:ph type="dt" sz="half" idx="10"/>
          </p:nvPr>
        </p:nvSpPr>
        <p:spPr/>
        <p:txBody>
          <a:bodyPr/>
          <a:lstStyle/>
          <a:p>
            <a:fld id="{03F41C87-7AD9-4845-A077-840E4A0F3F06}" type="datetimeFigureOut">
              <a:rPr lang="en-US"/>
              <a:t>5/14/2026</a:t>
            </a:fld>
            <a:endParaRPr/>
          </a:p>
        </p:txBody>
      </p:sp>
      <p:sp>
        <p:nvSpPr>
          <p:cNvPr id="7" name="Slide Number Placeholder 6"/>
          <p:cNvSpPr>
            <a:spLocks noGrp="1"/>
          </p:cNvSpPr>
          <p:nvPr>
            <p:ph type="sldNum" sz="quarter" idx="12"/>
          </p:nvPr>
        </p:nvSpPr>
        <p:spPr/>
        <p:txBody>
          <a:bodyPr/>
          <a:lstStyle/>
          <a:p>
            <a:fld id="{2A013F82-EE5E-44EE-A61D-E31C6657F26F}" type="slidenum">
              <a:rPr/>
              <a:t>‹#›</a:t>
            </a:fld>
            <a:endParaRPr/>
          </a:p>
        </p:txBody>
      </p:sp>
      <p:cxnSp>
        <p:nvCxnSpPr>
          <p:cNvPr id="8" name="Straight Connector 7"/>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8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22413" y="685800"/>
            <a:ext cx="4114800" cy="1925638"/>
          </a:xfrm>
        </p:spPr>
        <p:txBody>
          <a:bodyPr anchor="b">
            <a:normAutofit/>
          </a:bodyPr>
          <a:lstStyle>
            <a:lvl1pPr algn="l">
              <a:lnSpc>
                <a:spcPct val="80000"/>
              </a:lnSpc>
              <a:defRPr sz="4000" b="0" i="0" baseline="0">
                <a:solidFill>
                  <a:schemeClr val="accent1">
                    <a:lumMod val="50000"/>
                  </a:schemeClr>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6025925" y="-50118"/>
            <a:ext cx="6172198" cy="6857999"/>
          </a:xfrm>
          <a:solidFill>
            <a:schemeClr val="bg2"/>
          </a:solidFill>
          <a:effectLst>
            <a:outerShdw blurRad="152400" dist="50800" dir="10800000" algn="r" rotWithShape="0">
              <a:prstClr val="black">
                <a:alpha val="25000"/>
              </a:prstClr>
            </a:outerShdw>
          </a:effectLst>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522413" y="2895599"/>
            <a:ext cx="4114800" cy="1752601"/>
          </a:xfrm>
        </p:spPr>
        <p:txBody>
          <a:bodyPr>
            <a:normAutofit/>
          </a:bodyPr>
          <a:lstStyle>
            <a:lvl1pPr marL="0" indent="0">
              <a:lnSpc>
                <a:spcPct val="90000"/>
              </a:lnSpc>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0" name="Straight Connector 9"/>
          <p:cNvCxnSpPr/>
          <p:nvPr/>
        </p:nvCxnSpPr>
        <p:spPr>
          <a:xfrm>
            <a:off x="1658936" y="2743200"/>
            <a:ext cx="3902076" cy="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9172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spTree>
    <p:extLst>
      <p:ext uri="{BB962C8B-B14F-4D97-AF65-F5344CB8AC3E}">
        <p14:creationId xmlns:p14="http://schemas.microsoft.com/office/powerpoint/2010/main" val="460095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23412" y="646112"/>
            <a:ext cx="1828801" cy="5522913"/>
          </a:xfrm>
        </p:spPr>
        <p:txBody>
          <a:bodyPr vert="eaVert"/>
          <a:lstStyle>
            <a:lvl1pPr>
              <a:defRPr>
                <a:solidFill>
                  <a:schemeClr val="accent1">
                    <a:lumMod val="50000"/>
                  </a:schemeClr>
                </a:solidFill>
              </a:defRPr>
            </a:lvl1pPr>
          </a:lstStyle>
          <a:p>
            <a:r>
              <a:rPr lang="en-US"/>
              <a:t>Click to edit Master title style</a:t>
            </a:r>
            <a:endParaRPr/>
          </a:p>
        </p:txBody>
      </p:sp>
      <p:sp>
        <p:nvSpPr>
          <p:cNvPr id="3" name="Vertical Text Placeholder 2"/>
          <p:cNvSpPr>
            <a:spLocks noGrp="1"/>
          </p:cNvSpPr>
          <p:nvPr>
            <p:ph type="body" orient="vert" idx="1"/>
          </p:nvPr>
        </p:nvSpPr>
        <p:spPr>
          <a:xfrm>
            <a:off x="1522412" y="646112"/>
            <a:ext cx="7620000" cy="55229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a:t>Add a footer</a:t>
            </a:r>
          </a:p>
        </p:txBody>
      </p:sp>
      <p:sp>
        <p:nvSpPr>
          <p:cNvPr id="4" name="Date Placeholder 3"/>
          <p:cNvSpPr>
            <a:spLocks noGrp="1"/>
          </p:cNvSpPr>
          <p:nvPr>
            <p:ph type="dt" sz="half" idx="10"/>
          </p:nvPr>
        </p:nvSpPr>
        <p:spPr/>
        <p:txBody>
          <a:bodyPr/>
          <a:lstStyle/>
          <a:p>
            <a:fld id="{03F41C87-7AD9-4845-A077-840E4A0F3F06}" type="datetimeFigureOut">
              <a:rPr lang="en-US"/>
              <a:t>5/14/2026</a:t>
            </a:fld>
            <a:endParaRPr/>
          </a:p>
        </p:txBody>
      </p:sp>
      <p:sp>
        <p:nvSpPr>
          <p:cNvPr id="6" name="Slide Number Placeholder 5"/>
          <p:cNvSpPr>
            <a:spLocks noGrp="1"/>
          </p:cNvSpPr>
          <p:nvPr>
            <p:ph type="sldNum" sz="quarter" idx="12"/>
          </p:nvPr>
        </p:nvSpPr>
        <p:spPr/>
        <p:txBody>
          <a:bodyPr/>
          <a:lstStyle/>
          <a:p>
            <a:fld id="{2A013F82-EE5E-44EE-A61D-E31C6657F26F}" type="slidenum">
              <a:rPr/>
              <a:t>‹#›</a:t>
            </a:fld>
            <a:endParaRPr/>
          </a:p>
        </p:txBody>
      </p:sp>
      <p:cxnSp>
        <p:nvCxnSpPr>
          <p:cNvPr id="7" name="Straight Connector 6"/>
          <p:cNvCxnSpPr/>
          <p:nvPr/>
        </p:nvCxnSpPr>
        <p:spPr>
          <a:xfrm>
            <a:off x="9371012" y="762000"/>
            <a:ext cx="0" cy="5334000"/>
          </a:xfrm>
          <a:prstGeom prst="line">
            <a:avLst/>
          </a:prstGeom>
          <a:ln w="12700">
            <a:solidFill>
              <a:schemeClr val="accent1">
                <a:lumMod val="50000"/>
              </a:schemeClr>
            </a:solidFill>
            <a:miter lim="800000"/>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9035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413" y="381000"/>
            <a:ext cx="9829799" cy="1219200"/>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522413" y="1981200"/>
            <a:ext cx="9829799" cy="418782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3"/>
          </p:nvPr>
        </p:nvSpPr>
        <p:spPr>
          <a:xfrm>
            <a:off x="1522413" y="6400800"/>
            <a:ext cx="5954834" cy="276228"/>
          </a:xfrm>
          <a:prstGeom prst="rect">
            <a:avLst/>
          </a:prstGeom>
        </p:spPr>
        <p:txBody>
          <a:bodyPr vert="horz" lIns="91440" tIns="45720" rIns="91440" bIns="45720" rtlCol="0" anchor="ctr"/>
          <a:lstStyle>
            <a:lvl1pPr algn="l">
              <a:defRPr sz="1100">
                <a:solidFill>
                  <a:schemeClr val="tx1"/>
                </a:solidFill>
              </a:defRPr>
            </a:lvl1pPr>
          </a:lstStyle>
          <a:p>
            <a:r>
              <a:rPr lang="en-US"/>
              <a:t>Add a footer</a:t>
            </a:r>
          </a:p>
        </p:txBody>
      </p:sp>
      <p:sp>
        <p:nvSpPr>
          <p:cNvPr id="4" name="Date Placeholder 3"/>
          <p:cNvSpPr>
            <a:spLocks noGrp="1"/>
          </p:cNvSpPr>
          <p:nvPr>
            <p:ph type="dt" sz="half" idx="2"/>
          </p:nvPr>
        </p:nvSpPr>
        <p:spPr>
          <a:xfrm>
            <a:off x="8228011" y="6400800"/>
            <a:ext cx="1548659" cy="276228"/>
          </a:xfrm>
          <a:prstGeom prst="rect">
            <a:avLst/>
          </a:prstGeom>
        </p:spPr>
        <p:txBody>
          <a:bodyPr vert="horz" lIns="91440" tIns="45720" rIns="91440" bIns="45720" rtlCol="0" anchor="ctr"/>
          <a:lstStyle>
            <a:lvl1pPr algn="r">
              <a:defRPr sz="1100">
                <a:solidFill>
                  <a:schemeClr val="tx1"/>
                </a:solidFill>
              </a:defRPr>
            </a:lvl1pPr>
          </a:lstStyle>
          <a:p>
            <a:fld id="{03F41C87-7AD9-4845-A077-840E4A0F3F06}" type="datetimeFigureOut">
              <a:rPr lang="en-US" smtClean="0"/>
              <a:pPr/>
              <a:t>5/14/2026</a:t>
            </a:fld>
            <a:endParaRPr lang="en-US"/>
          </a:p>
        </p:txBody>
      </p:sp>
      <p:sp>
        <p:nvSpPr>
          <p:cNvPr id="6" name="Slide Number Placeholder 5"/>
          <p:cNvSpPr>
            <a:spLocks noGrp="1"/>
          </p:cNvSpPr>
          <p:nvPr>
            <p:ph type="sldNum" sz="quarter" idx="4"/>
          </p:nvPr>
        </p:nvSpPr>
        <p:spPr>
          <a:xfrm>
            <a:off x="10285411" y="6400800"/>
            <a:ext cx="1066802" cy="276228"/>
          </a:xfrm>
          <a:prstGeom prst="rect">
            <a:avLst/>
          </a:prstGeom>
        </p:spPr>
        <p:txBody>
          <a:bodyPr vert="horz" lIns="91440" tIns="45720" rIns="91440" bIns="45720" rtlCol="0" anchor="ctr"/>
          <a:lstStyle>
            <a:lvl1pPr algn="r">
              <a:defRPr sz="1100">
                <a:solidFill>
                  <a:schemeClr val="tx1"/>
                </a:solidFill>
              </a:defRPr>
            </a:lvl1pPr>
          </a:lstStyle>
          <a:p>
            <a:fld id="{2A013F82-EE5E-44EE-A61D-E31C6657F26F}" type="slidenum">
              <a:rPr lang="en-US" smtClean="0"/>
              <a:pPr/>
              <a:t>‹#›</a:t>
            </a:fld>
            <a:endParaRPr lang="en-US"/>
          </a:p>
        </p:txBody>
      </p:sp>
      <p:pic>
        <p:nvPicPr>
          <p:cNvPr id="9" name="Picture 8"/>
          <p:cNvPicPr>
            <a:picLocks noChangeAspect="1"/>
          </p:cNvPicPr>
          <p:nvPr/>
        </p:nvPicPr>
        <p:blipFill rotWithShape="1">
          <a:blip r:embed="rId13" cstate="print">
            <a:extLst>
              <a:ext uri="{28A0092B-C50C-407E-A947-70E740481C1C}">
                <a14:useLocalDpi xmlns:a14="http://schemas.microsoft.com/office/drawing/2010/main" val="0"/>
              </a:ext>
            </a:extLst>
          </a:blip>
          <a:srcRect/>
          <a:stretch/>
        </p:blipFill>
        <p:spPr>
          <a:xfrm>
            <a:off x="1" y="0"/>
            <a:ext cx="1065213" cy="6858000"/>
          </a:xfrm>
          <a:prstGeom prst="rect">
            <a:avLst/>
          </a:prstGeom>
        </p:spPr>
      </p:pic>
      <p:sp>
        <p:nvSpPr>
          <p:cNvPr id="10" name="Rectangle 9"/>
          <p:cNvSpPr/>
          <p:nvPr/>
        </p:nvSpPr>
        <p:spPr>
          <a:xfrm>
            <a:off x="1" y="0"/>
            <a:ext cx="1065213" cy="6858000"/>
          </a:xfrm>
          <a:prstGeom prst="rect">
            <a:avLst/>
          </a:prstGeom>
          <a:gradFill flip="none" rotWithShape="1">
            <a:gsLst>
              <a:gs pos="75000">
                <a:schemeClr val="tx2">
                  <a:alpha val="0"/>
                </a:schemeClr>
              </a:gs>
              <a:gs pos="100000">
                <a:schemeClr val="tx2">
                  <a:alpha val="25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140305999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kern="1200">
          <a:solidFill>
            <a:schemeClr val="accent1">
              <a:lumMod val="50000"/>
            </a:schemeClr>
          </a:solidFill>
          <a:latin typeface="+mj-lt"/>
          <a:ea typeface="+mj-ea"/>
          <a:cs typeface="+mj-cs"/>
        </a:defRPr>
      </a:lvl1pPr>
    </p:titleStyle>
    <p:body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sz="3200" dirty="0">
                <a:latin typeface="National semibold" panose="02000503000000020004"/>
              </a:rPr>
              <a:t>Financial analysis of cryptocurrencies</a:t>
            </a:r>
          </a:p>
        </p:txBody>
      </p:sp>
      <p:sp>
        <p:nvSpPr>
          <p:cNvPr id="7" name="Title 1">
            <a:extLst>
              <a:ext uri="{FF2B5EF4-FFF2-40B4-BE49-F238E27FC236}">
                <a16:creationId xmlns:a16="http://schemas.microsoft.com/office/drawing/2014/main" id="{9A55A810-52C3-EE32-9674-19C97B9A1AEA}"/>
              </a:ext>
            </a:extLst>
          </p:cNvPr>
          <p:cNvSpPr>
            <a:spLocks noGrp="1"/>
          </p:cNvSpPr>
          <p:nvPr>
            <p:ph type="ctrTitle"/>
          </p:nvPr>
        </p:nvSpPr>
        <p:spPr>
          <a:xfrm>
            <a:off x="1520823" y="1600200"/>
            <a:ext cx="6290765" cy="3048000"/>
          </a:xfrm>
        </p:spPr>
        <p:txBody>
          <a:bodyPr/>
          <a:lstStyle/>
          <a:p>
            <a:r>
              <a:rPr lang="en-US" sz="5400" b="1" dirty="0">
                <a:latin typeface="National semibold" panose="02000503000000020004"/>
              </a:rPr>
              <a:t>Introduction to </a:t>
            </a:r>
            <a:br>
              <a:rPr lang="en-US" sz="5400" b="1" dirty="0">
                <a:latin typeface="National semibold" panose="02000503000000020004"/>
              </a:rPr>
            </a:br>
            <a:r>
              <a:rPr lang="en-US" sz="5400" b="1" dirty="0">
                <a:latin typeface="National semibold" panose="02000503000000020004"/>
              </a:rPr>
              <a:t>Decentralized Finance </a:t>
            </a:r>
            <a:br>
              <a:rPr lang="en-US" sz="5400" b="1" dirty="0">
                <a:latin typeface="National semibold" panose="02000503000000020004"/>
              </a:rPr>
            </a:br>
            <a:endParaRPr lang="en-US" sz="4800" dirty="0"/>
          </a:p>
        </p:txBody>
      </p:sp>
    </p:spTree>
    <p:extLst>
      <p:ext uri="{BB962C8B-B14F-4D97-AF65-F5344CB8AC3E}">
        <p14:creationId xmlns:p14="http://schemas.microsoft.com/office/powerpoint/2010/main" val="935251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a:xfrm>
            <a:off x="1133400" y="2850035"/>
            <a:ext cx="9762898" cy="1219200"/>
          </a:xfrm>
        </p:spPr>
        <p:txBody>
          <a:bodyPr anchor="ctr">
            <a:normAutofit/>
          </a:bodyPr>
          <a:lstStyle/>
          <a:p>
            <a:pPr algn="ctr"/>
            <a:r>
              <a:rPr lang="en-US" sz="4400" b="1">
                <a:latin typeface="National semibold" panose="02000503000000020004"/>
              </a:rPr>
              <a:t>Review of finance concepts</a:t>
            </a:r>
          </a:p>
        </p:txBody>
      </p:sp>
    </p:spTree>
    <p:extLst>
      <p:ext uri="{BB962C8B-B14F-4D97-AF65-F5344CB8AC3E}">
        <p14:creationId xmlns:p14="http://schemas.microsoft.com/office/powerpoint/2010/main" val="501838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Rate of return on a security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413" y="1828800"/>
                <a:ext cx="9929781" cy="4648200"/>
              </a:xfrm>
            </p:spPr>
            <p:txBody>
              <a:bodyPr>
                <a:normAutofit/>
              </a:bodyPr>
              <a:lstStyle/>
              <a:p>
                <a:pPr marL="0" indent="0">
                  <a:buNone/>
                </a:pPr>
                <a:endParaRPr lang="en-US" b="0" i="1">
                  <a:latin typeface="Cambria Math" panose="02040503050406030204" pitchFamily="18" charset="0"/>
                </a:endParaRPr>
              </a:p>
              <a:p>
                <a:pPr marL="0" indent="0">
                  <a:buNone/>
                </a:pPr>
                <a14:m>
                  <m:oMath xmlns:m="http://schemas.openxmlformats.org/officeDocument/2006/math">
                    <m:r>
                      <a:rPr lang="en-US" b="1" i="1" smtClean="0">
                        <a:solidFill>
                          <a:srgbClr val="FF0000"/>
                        </a:solidFill>
                        <a:latin typeface="Cambria Math" panose="02040503050406030204" pitchFamily="18" charset="0"/>
                      </a:rPr>
                      <m:t>𝑹𝒂𝒕𝒆</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𝒐𝒇</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𝑹𝒆𝒕𝒖𝒓𝒏</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𝐸𝑛𝑑</m:t>
                        </m:r>
                        <m:r>
                          <a:rPr lang="en-US" b="0" i="1" smtClean="0">
                            <a:latin typeface="Cambria Math" panose="02040503050406030204" pitchFamily="18" charset="0"/>
                          </a:rPr>
                          <m:t> </m:t>
                        </m:r>
                        <m:r>
                          <a:rPr lang="en-US" b="0" i="1" smtClean="0">
                            <a:latin typeface="Cambria Math" panose="02040503050406030204" pitchFamily="18" charset="0"/>
                          </a:rPr>
                          <m:t>𝑃𝑟𝑖𝑐𝑒</m:t>
                        </m:r>
                        <m:r>
                          <a:rPr lang="en-US" b="0" i="1" smtClean="0">
                            <a:latin typeface="Cambria Math" panose="02040503050406030204" pitchFamily="18" charset="0"/>
                          </a:rPr>
                          <m:t> −</m:t>
                        </m:r>
                        <m:r>
                          <a:rPr lang="en-US" b="0" i="1" smtClean="0">
                            <a:latin typeface="Cambria Math" panose="02040503050406030204" pitchFamily="18" charset="0"/>
                          </a:rPr>
                          <m:t>𝐵𝑒𝑔𝑖𝑛𝑛𝑖𝑛𝑔</m:t>
                        </m:r>
                        <m:r>
                          <a:rPr lang="en-US" b="0" i="1" smtClean="0">
                            <a:latin typeface="Cambria Math" panose="02040503050406030204" pitchFamily="18" charset="0"/>
                          </a:rPr>
                          <m:t> </m:t>
                        </m:r>
                        <m:r>
                          <a:rPr lang="en-US" b="0" i="1" smtClean="0">
                            <a:latin typeface="Cambria Math" panose="02040503050406030204" pitchFamily="18" charset="0"/>
                          </a:rPr>
                          <m:t>𝑃𝑟𝑖𝑐𝑒</m:t>
                        </m:r>
                      </m:num>
                      <m:den>
                        <m:r>
                          <a:rPr lang="en-US" b="0" i="1" smtClean="0">
                            <a:latin typeface="Cambria Math" panose="02040503050406030204" pitchFamily="18" charset="0"/>
                          </a:rPr>
                          <m:t>𝐵𝑒𝑔𝑖𝑛𝑛𝑖𝑛𝑔</m:t>
                        </m:r>
                        <m:r>
                          <a:rPr lang="en-US" b="0" i="1" smtClean="0">
                            <a:latin typeface="Cambria Math" panose="02040503050406030204" pitchFamily="18" charset="0"/>
                          </a:rPr>
                          <m:t> </m:t>
                        </m:r>
                        <m:r>
                          <a:rPr lang="en-US" b="0" i="1" smtClean="0">
                            <a:latin typeface="Cambria Math" panose="02040503050406030204" pitchFamily="18" charset="0"/>
                          </a:rPr>
                          <m:t>𝑃𝑟𝑖𝑐𝑒</m:t>
                        </m:r>
                      </m:den>
                    </m:f>
                  </m:oMath>
                </a14:m>
                <a:r>
                  <a:rPr lang="en-US" b="0">
                    <a:latin typeface="National semibold" panose="02000503000000020004"/>
                  </a:rPr>
                  <a:t>  </a:t>
                </a:r>
                <a14:m>
                  <m:oMath xmlns:m="http://schemas.openxmlformats.org/officeDocument/2006/math">
                    <m:r>
                      <a:rPr lang="en-US" i="1">
                        <a:latin typeface="Cambria Math" panose="02040503050406030204" pitchFamily="18" charset="0"/>
                      </a:rPr>
                      <m:t>=</m:t>
                    </m:r>
                  </m:oMath>
                </a14:m>
                <a:r>
                  <a:rPr lang="en-US" b="0">
                    <a:latin typeface="National semibold" panose="02000503000000020004"/>
                  </a:rPr>
                  <a:t>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𝐸𝑛𝑑</m:t>
                        </m:r>
                        <m:r>
                          <a:rPr lang="en-US" i="1">
                            <a:latin typeface="Cambria Math" panose="02040503050406030204" pitchFamily="18" charset="0"/>
                          </a:rPr>
                          <m:t> </m:t>
                        </m:r>
                        <m:r>
                          <a:rPr lang="en-US" i="1">
                            <a:latin typeface="Cambria Math" panose="02040503050406030204" pitchFamily="18" charset="0"/>
                          </a:rPr>
                          <m:t>𝑃𝑟𝑖𝑐𝑒</m:t>
                        </m:r>
                      </m:num>
                      <m:den>
                        <m:r>
                          <a:rPr lang="en-US" i="1">
                            <a:latin typeface="Cambria Math" panose="02040503050406030204" pitchFamily="18" charset="0"/>
                          </a:rPr>
                          <m:t>𝐵𝑒𝑔𝑖𝑛𝑛𝑖𝑛𝑔</m:t>
                        </m:r>
                        <m:r>
                          <a:rPr lang="en-US" i="1">
                            <a:latin typeface="Cambria Math" panose="02040503050406030204" pitchFamily="18" charset="0"/>
                          </a:rPr>
                          <m:t> </m:t>
                        </m:r>
                        <m:r>
                          <a:rPr lang="en-US" i="1">
                            <a:latin typeface="Cambria Math" panose="02040503050406030204" pitchFamily="18" charset="0"/>
                          </a:rPr>
                          <m:t>𝑃𝑟𝑖𝑐𝑒</m:t>
                        </m:r>
                      </m:den>
                    </m:f>
                  </m:oMath>
                </a14:m>
                <a:r>
                  <a:rPr lang="en-US" sz="2800" b="0">
                    <a:latin typeface="National semibold" panose="02000503000000020004"/>
                  </a:rPr>
                  <a:t> -</a:t>
                </a:r>
                <a:r>
                  <a:rPr lang="en-US" b="0">
                    <a:latin typeface="National semibold" panose="02000503000000020004"/>
                  </a:rPr>
                  <a:t> 1</a:t>
                </a:r>
                <a:endParaRPr lang="en-US">
                  <a:latin typeface="National semibold" panose="02000503000000020004"/>
                </a:endParaRPr>
              </a:p>
              <a:p>
                <a:pPr marL="0" indent="0">
                  <a:buNone/>
                </a:pPr>
                <a:endParaRPr lang="en-US">
                  <a:latin typeface="National semibold" panose="02000503000000020004"/>
                </a:endParaRPr>
              </a:p>
              <a:p>
                <a:pPr marL="0" indent="0">
                  <a:buNone/>
                </a:pPr>
                <a:endParaRPr lang="en-US">
                  <a:latin typeface="National semibold" panose="02000503000000020004"/>
                </a:endParaRPr>
              </a:p>
              <a:p>
                <a:pPr marL="0" indent="0">
                  <a:buNone/>
                </a:pPr>
                <a:r>
                  <a:rPr lang="en-US">
                    <a:latin typeface="National semibold" panose="02000503000000020004"/>
                  </a:rPr>
                  <a:t>Sometimes it is more convenient to use the logarithmic return:</a:t>
                </a:r>
              </a:p>
              <a:p>
                <a:pPr marL="0" indent="0">
                  <a:buNone/>
                </a:pPr>
                <a:endParaRPr lang="en-US">
                  <a:latin typeface="National semibold" panose="02000503000000020004"/>
                </a:endParaRPr>
              </a:p>
              <a:p>
                <a:pPr marL="0" indent="0">
                  <a:buNone/>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𝑹𝒂𝒕𝒆</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𝒐𝒇</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𝑹𝒆𝒕𝒖𝒓𝒏</m:t>
                      </m:r>
                      <m:r>
                        <a:rPr lang="en-US" i="1">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d>
                            <m:dPr>
                              <m:ctrlPr>
                                <a:rPr lang="en-US" b="0" i="1" smtClean="0">
                                  <a:latin typeface="Cambria Math" panose="02040503050406030204" pitchFamily="18" charset="0"/>
                                </a:rPr>
                              </m:ctrlPr>
                            </m:dPr>
                            <m:e>
                              <m:r>
                                <a:rPr lang="en-US" b="0" i="1" smtClean="0">
                                  <a:latin typeface="Cambria Math" panose="02040503050406030204" pitchFamily="18" charset="0"/>
                                </a:rPr>
                                <m:t>𝐸𝑛𝑑</m:t>
                              </m:r>
                              <m:r>
                                <a:rPr lang="en-US" b="0" i="1" smtClean="0">
                                  <a:latin typeface="Cambria Math" panose="02040503050406030204" pitchFamily="18" charset="0"/>
                                </a:rPr>
                                <m:t> </m:t>
                              </m:r>
                              <m:r>
                                <a:rPr lang="en-US" b="0" i="1" smtClean="0">
                                  <a:latin typeface="Cambria Math" panose="02040503050406030204" pitchFamily="18" charset="0"/>
                                </a:rPr>
                                <m:t>𝑃𝑟𝑖𝑐𝑒</m:t>
                              </m:r>
                            </m:e>
                          </m:d>
                        </m:e>
                      </m:func>
                      <m:r>
                        <a:rPr lang="en-US" b="0" i="1" smtClean="0">
                          <a:latin typeface="Cambria Math" panose="02040503050406030204" pitchFamily="18" charset="0"/>
                        </a:rPr>
                        <m:t>−</m:t>
                      </m:r>
                      <m:r>
                        <m:rPr>
                          <m:sty m:val="p"/>
                        </m:rPr>
                        <a:rPr lang="en-US" b="0" i="0" smtClean="0">
                          <a:latin typeface="Cambria Math" panose="02040503050406030204" pitchFamily="18" charset="0"/>
                        </a:rPr>
                        <m:t>log</m:t>
                      </m:r>
                      <m:r>
                        <a:rPr lang="en-US" b="0" i="1" smtClean="0">
                          <a:latin typeface="Cambria Math" panose="02040503050406030204" pitchFamily="18" charset="0"/>
                        </a:rPr>
                        <m:t>⁡(</m:t>
                      </m:r>
                      <m:r>
                        <a:rPr lang="en-US" b="0" i="1" smtClean="0">
                          <a:latin typeface="Cambria Math" panose="02040503050406030204" pitchFamily="18" charset="0"/>
                        </a:rPr>
                        <m:t>𝐵𝑒𝑔𝑖𝑛𝑛𝑖𝑛𝑔</m:t>
                      </m:r>
                      <m:r>
                        <a:rPr lang="en-US" b="0" i="1" smtClean="0">
                          <a:latin typeface="Cambria Math" panose="02040503050406030204" pitchFamily="18" charset="0"/>
                        </a:rPr>
                        <m:t> </m:t>
                      </m:r>
                      <m:r>
                        <a:rPr lang="en-US" b="0" i="1" smtClean="0">
                          <a:latin typeface="Cambria Math" panose="02040503050406030204" pitchFamily="18" charset="0"/>
                        </a:rPr>
                        <m:t>𝑃𝑟𝑖𝑐𝑒</m:t>
                      </m:r>
                      <m:r>
                        <a:rPr lang="en-US" b="0" i="1" smtClean="0">
                          <a:latin typeface="Cambria Math" panose="02040503050406030204" pitchFamily="18" charset="0"/>
                        </a:rPr>
                        <m:t>)</m:t>
                      </m:r>
                    </m:oMath>
                  </m:oMathPara>
                </a14:m>
                <a:endParaRPr lang="en-US">
                  <a:latin typeface="National semibold" panose="02000503000000020004"/>
                </a:endParaRPr>
              </a:p>
            </p:txBody>
          </p:sp>
        </mc:Choice>
        <mc:Fallback xmlns="">
          <p:sp>
            <p:nvSpPr>
              <p:cNvPr id="3" name="Content Placeholder 2">
                <a:extLst>
                  <a:ext uri="{FF2B5EF4-FFF2-40B4-BE49-F238E27FC236}">
                    <a16:creationId xmlns:a16="http://schemas.microsoft.com/office/drawing/2014/main" id="{09A2F897-2643-4490-93FF-4FF458F15722}"/>
                  </a:ext>
                </a:extLst>
              </p:cNvPr>
              <p:cNvSpPr>
                <a:spLocks noGrp="1" noRot="1" noChangeAspect="1" noMove="1" noResize="1" noEditPoints="1" noAdjustHandles="1" noChangeArrowheads="1" noChangeShapeType="1" noTextEdit="1"/>
              </p:cNvSpPr>
              <p:nvPr>
                <p:ph idx="1"/>
              </p:nvPr>
            </p:nvSpPr>
            <p:spPr>
              <a:xfrm>
                <a:off x="1522413" y="1828800"/>
                <a:ext cx="9929781" cy="4648200"/>
              </a:xfrm>
              <a:blipFill>
                <a:blip r:embed="rId2"/>
                <a:stretch>
                  <a:fillRect l="-982"/>
                </a:stretch>
              </a:blipFill>
            </p:spPr>
            <p:txBody>
              <a:bodyPr/>
              <a:lstStyle/>
              <a:p>
                <a:r>
                  <a:rPr lang="en-US">
                    <a:noFill/>
                  </a:rPr>
                  <a:t> </a:t>
                </a:r>
              </a:p>
            </p:txBody>
          </p:sp>
        </mc:Fallback>
      </mc:AlternateContent>
    </p:spTree>
    <p:extLst>
      <p:ext uri="{BB962C8B-B14F-4D97-AF65-F5344CB8AC3E}">
        <p14:creationId xmlns:p14="http://schemas.microsoft.com/office/powerpoint/2010/main" val="3947391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Risk of a security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22074" y="1835285"/>
                <a:ext cx="10666751" cy="4863830"/>
              </a:xfrm>
            </p:spPr>
            <p:txBody>
              <a:bodyPr>
                <a:normAutofit/>
              </a:bodyPr>
              <a:lstStyle/>
              <a:p>
                <a:r>
                  <a:rPr lang="en-US" b="0">
                    <a:latin typeface="National semibold" panose="02000503000000020004"/>
                  </a:rPr>
                  <a:t>In general, investors do not like uncertainty because of the possibility of losses. They would like to have an idea about the risk involved in the investment. </a:t>
                </a:r>
              </a:p>
              <a:p>
                <a:r>
                  <a:rPr lang="en-US" b="0">
                    <a:latin typeface="National semibold" panose="02000503000000020004"/>
                  </a:rPr>
                  <a:t>A measure of risk is the “standard deviation” of return. If we have historical data on a particular asset, we can compute</a:t>
                </a:r>
              </a:p>
              <a:p>
                <a:pPr marL="0" indent="0" algn="ctr">
                  <a:buNone/>
                </a:pPr>
                <a14:m>
                  <m:oMath xmlns:m="http://schemas.openxmlformats.org/officeDocument/2006/math">
                    <m:r>
                      <a:rPr lang="en-US" b="1" i="1" smtClean="0">
                        <a:solidFill>
                          <a:srgbClr val="FF0000"/>
                        </a:solidFill>
                        <a:latin typeface="Cambria Math" panose="02040503050406030204" pitchFamily="18" charset="0"/>
                      </a:rPr>
                      <m:t>𝑴𝒆𝒂𝒏</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𝒐𝒇</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𝑹𝒆𝒕𝒖𝒓𝒏</m:t>
                    </m:r>
                    <m:r>
                      <a:rPr lang="en-US" b="1"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 </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𝑇</m:t>
                        </m:r>
                      </m:den>
                    </m:f>
                  </m:oMath>
                </a14:m>
                <a:r>
                  <a:rPr lang="en-US" b="0">
                    <a:latin typeface="National semibold" panose="02000503000000020004"/>
                  </a:rPr>
                  <a:t> </a:t>
                </a:r>
                <a14:m>
                  <m:oMath xmlns:m="http://schemas.openxmlformats.org/officeDocument/2006/math">
                    <m:nary>
                      <m:naryPr>
                        <m:chr m:val="∑"/>
                        <m:ctrlPr>
                          <a:rPr lang="en-US" i="1">
                            <a:solidFill>
                              <a:srgbClr val="FF0000"/>
                            </a:solidFill>
                            <a:latin typeface="Cambria Math" panose="02040503050406030204" pitchFamily="18" charset="0"/>
                          </a:rPr>
                        </m:ctrlPr>
                      </m:naryPr>
                      <m:sub>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𝑇</m:t>
                        </m:r>
                      </m:sup>
                      <m:e>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𝑟</m:t>
                            </m:r>
                          </m:e>
                          <m:sub>
                            <m:r>
                              <a:rPr lang="en-US" b="0" i="1" smtClean="0">
                                <a:solidFill>
                                  <a:srgbClr val="FF0000"/>
                                </a:solidFill>
                                <a:latin typeface="Cambria Math" panose="02040503050406030204" pitchFamily="18" charset="0"/>
                              </a:rPr>
                              <m:t>𝑡</m:t>
                            </m:r>
                          </m:sub>
                        </m:sSub>
                      </m:e>
                    </m:nary>
                    <m:r>
                      <a:rPr lang="en-US" b="0" i="1" smtClean="0">
                        <a:solidFill>
                          <a:srgbClr val="FF0000"/>
                        </a:solidFill>
                        <a:latin typeface="Cambria Math" panose="02040503050406030204" pitchFamily="18" charset="0"/>
                      </a:rPr>
                      <m:t> =</m:t>
                    </m:r>
                  </m:oMath>
                </a14:m>
                <a:r>
                  <a:rPr lang="en-US" b="0">
                    <a:latin typeface="National semibold" panose="02000503000000020004"/>
                  </a:rPr>
                  <a:t>  </a:t>
                </a:r>
                <a14:m>
                  <m:oMath xmlns:m="http://schemas.openxmlformats.org/officeDocument/2006/math">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𝑟</m:t>
                        </m:r>
                      </m:e>
                    </m:acc>
                  </m:oMath>
                </a14:m>
                <a:endParaRPr lang="en-US" b="1">
                  <a:solidFill>
                    <a:srgbClr val="FF0000"/>
                  </a:solidFill>
                </a:endParaRPr>
              </a:p>
              <a:p>
                <a:pPr marL="0" indent="0" algn="ctr">
                  <a:buNone/>
                </a:pPr>
                <a:endParaRPr lang="en-US" sz="1050" b="1">
                  <a:solidFill>
                    <a:srgbClr val="FF0000"/>
                  </a:solidFill>
                </a:endParaRPr>
              </a:p>
              <a:p>
                <a:pPr marL="0" indent="0" algn="ctr">
                  <a:buNone/>
                </a:pPr>
                <a14:m>
                  <m:oMath xmlns:m="http://schemas.openxmlformats.org/officeDocument/2006/math">
                    <m:r>
                      <a:rPr lang="en-US" b="1" i="1" smtClean="0">
                        <a:solidFill>
                          <a:srgbClr val="FF0000"/>
                        </a:solidFill>
                        <a:latin typeface="Cambria Math" panose="02040503050406030204" pitchFamily="18" charset="0"/>
                      </a:rPr>
                      <m:t>𝑽𝒂𝒓𝒊𝒂𝒏𝒄𝒆</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𝒐𝒇</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𝑹𝒆𝒕𝒖𝒓𝒏</m:t>
                    </m:r>
                    <m:r>
                      <a:rPr lang="en-US" b="1" i="1" smtClean="0">
                        <a:solidFill>
                          <a:srgbClr val="FF0000"/>
                        </a:solidFill>
                        <a:latin typeface="Cambria Math" panose="02040503050406030204" pitchFamily="18" charset="0"/>
                      </a:rPr>
                      <m:t> </m:t>
                    </m:r>
                    <m:r>
                      <a:rPr lang="en-US" b="0" i="1" smtClean="0">
                        <a:solidFill>
                          <a:srgbClr val="FF0000"/>
                        </a:solidFill>
                        <a:latin typeface="Cambria Math" panose="02040503050406030204" pitchFamily="18" charset="0"/>
                      </a:rPr>
                      <m:t>= </m:t>
                    </m:r>
                    <m:f>
                      <m:fPr>
                        <m:ctrlPr>
                          <a:rPr lang="en-US" b="0" i="1" smtClean="0">
                            <a:solidFill>
                              <a:srgbClr val="FF0000"/>
                            </a:solidFill>
                            <a:latin typeface="Cambria Math" panose="02040503050406030204" pitchFamily="18" charset="0"/>
                          </a:rPr>
                        </m:ctrlPr>
                      </m:fPr>
                      <m:num>
                        <m:r>
                          <a:rPr lang="en-US" b="0" i="1" smtClean="0">
                            <a:solidFill>
                              <a:srgbClr val="FF0000"/>
                            </a:solidFill>
                            <a:latin typeface="Cambria Math" panose="02040503050406030204" pitchFamily="18" charset="0"/>
                          </a:rPr>
                          <m:t>1</m:t>
                        </m:r>
                      </m:num>
                      <m:den>
                        <m:r>
                          <a:rPr lang="en-US" b="0" i="1" smtClean="0">
                            <a:solidFill>
                              <a:srgbClr val="FF0000"/>
                            </a:solidFill>
                            <a:latin typeface="Cambria Math" panose="02040503050406030204" pitchFamily="18" charset="0"/>
                          </a:rPr>
                          <m:t>𝑇</m:t>
                        </m:r>
                      </m:den>
                    </m:f>
                  </m:oMath>
                </a14:m>
                <a:r>
                  <a:rPr lang="en-US" b="0">
                    <a:latin typeface="National semibold" panose="02000503000000020004"/>
                  </a:rPr>
                  <a:t> </a:t>
                </a:r>
                <a14:m>
                  <m:oMath xmlns:m="http://schemas.openxmlformats.org/officeDocument/2006/math">
                    <m:nary>
                      <m:naryPr>
                        <m:chr m:val="∑"/>
                        <m:ctrlPr>
                          <a:rPr lang="en-US" i="1">
                            <a:solidFill>
                              <a:srgbClr val="FF0000"/>
                            </a:solidFill>
                            <a:latin typeface="Cambria Math" panose="02040503050406030204" pitchFamily="18" charset="0"/>
                          </a:rPr>
                        </m:ctrlPr>
                      </m:naryPr>
                      <m:sub>
                        <m:r>
                          <a:rPr lang="en-US" i="1">
                            <a:solidFill>
                              <a:srgbClr val="FF0000"/>
                            </a:solidFill>
                            <a:latin typeface="Cambria Math" panose="02040503050406030204" pitchFamily="18" charset="0"/>
                          </a:rPr>
                          <m:t>1</m:t>
                        </m:r>
                      </m:sub>
                      <m:sup>
                        <m:r>
                          <a:rPr lang="en-US" i="1">
                            <a:solidFill>
                              <a:srgbClr val="FF0000"/>
                            </a:solidFill>
                            <a:latin typeface="Cambria Math" panose="02040503050406030204" pitchFamily="18" charset="0"/>
                          </a:rPr>
                          <m:t>𝑇</m:t>
                        </m:r>
                      </m:sup>
                      <m:e>
                        <m:sSup>
                          <m:sSupPr>
                            <m:ctrlPr>
                              <a:rPr lang="en-US" i="1">
                                <a:solidFill>
                                  <a:srgbClr val="FF0000"/>
                                </a:solidFill>
                                <a:latin typeface="Cambria Math" panose="02040503050406030204" pitchFamily="18" charset="0"/>
                              </a:rPr>
                            </m:ctrlPr>
                          </m:sSupPr>
                          <m:e>
                            <m:d>
                              <m:dPr>
                                <m:ctrlPr>
                                  <a:rPr lang="en-US" i="1">
                                    <a:solidFill>
                                      <a:srgbClr val="FF0000"/>
                                    </a:solidFill>
                                    <a:latin typeface="Cambria Math" panose="02040503050406030204" pitchFamily="18" charset="0"/>
                                  </a:rPr>
                                </m:ctrlPr>
                              </m:dPr>
                              <m:e>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𝑟</m:t>
                                    </m:r>
                                  </m:e>
                                  <m:sub>
                                    <m:r>
                                      <a:rPr lang="en-US" i="1">
                                        <a:solidFill>
                                          <a:srgbClr val="FF0000"/>
                                        </a:solidFill>
                                        <a:latin typeface="Cambria Math" panose="02040503050406030204" pitchFamily="18" charset="0"/>
                                      </a:rPr>
                                      <m:t>𝑡</m:t>
                                    </m:r>
                                  </m:sub>
                                </m:sSub>
                                <m:r>
                                  <a:rPr lang="en-US" i="1">
                                    <a:solidFill>
                                      <a:srgbClr val="FF0000"/>
                                    </a:solidFill>
                                    <a:latin typeface="Cambria Math" panose="02040503050406030204" pitchFamily="18" charset="0"/>
                                  </a:rPr>
                                  <m:t>−</m:t>
                                </m:r>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𝑟</m:t>
                                    </m:r>
                                  </m:e>
                                </m:acc>
                              </m:e>
                            </m:d>
                          </m:e>
                          <m:sup>
                            <m:r>
                              <a:rPr lang="en-US" i="1">
                                <a:solidFill>
                                  <a:srgbClr val="FF0000"/>
                                </a:solidFill>
                                <a:latin typeface="Cambria Math" panose="02040503050406030204" pitchFamily="18" charset="0"/>
                              </a:rPr>
                              <m:t>2</m:t>
                            </m:r>
                          </m:sup>
                        </m:sSup>
                      </m:e>
                    </m:nary>
                  </m:oMath>
                </a14:m>
                <a:endParaRPr lang="en-US">
                  <a:latin typeface="National semibold" panose="02000503000000020004"/>
                </a:endParaRPr>
              </a:p>
              <a:p>
                <a:pPr marL="0" indent="0" algn="ctr">
                  <a:buNone/>
                </a:pPr>
                <a:endParaRPr lang="en-US" b="1" i="1">
                  <a:solidFill>
                    <a:srgbClr val="FF0000"/>
                  </a:solidFill>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US" b="1" i="1" smtClean="0">
                          <a:solidFill>
                            <a:srgbClr val="FF0000"/>
                          </a:solidFill>
                          <a:latin typeface="Cambria Math" panose="02040503050406030204" pitchFamily="18" charset="0"/>
                        </a:rPr>
                        <m:t>𝑺𝒕𝒂𝒏𝒅𝒂𝒓𝒅</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𝑫𝒆𝒗𝒊𝒂𝒕𝒊𝒐𝒏</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𝒐𝒇</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𝑹𝒆𝒕𝒖𝒓𝒏</m:t>
                      </m:r>
                      <m:r>
                        <a:rPr lang="en-US" b="0" i="1" smtClean="0">
                          <a:latin typeface="Cambria Math" panose="02040503050406030204" pitchFamily="18" charset="0"/>
                        </a:rPr>
                        <m:t>=</m:t>
                      </m:r>
                      <m:rad>
                        <m:radPr>
                          <m:degHide m:val="on"/>
                          <m:ctrlPr>
                            <a:rPr lang="en-US" b="0" i="1" smtClean="0">
                              <a:latin typeface="Cambria Math" panose="02040503050406030204" pitchFamily="18" charset="0"/>
                            </a:rPr>
                          </m:ctrlPr>
                        </m:radPr>
                        <m:deg/>
                        <m:e>
                          <m:r>
                            <a:rPr lang="en-US" b="1" i="1" smtClean="0">
                              <a:solidFill>
                                <a:srgbClr val="FF0000"/>
                              </a:solidFill>
                              <a:latin typeface="Cambria Math" panose="02040503050406030204" pitchFamily="18" charset="0"/>
                            </a:rPr>
                            <m:t>𝑽𝒂𝒓𝒊𝒏𝒂𝒄𝒆</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𝒐𝒇</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𝑹𝒆𝒕𝒖𝒓𝒏</m:t>
                          </m:r>
                        </m:e>
                      </m:rad>
                    </m:oMath>
                  </m:oMathPara>
                </a14:m>
                <a:endParaRPr lang="en-US" b="1" u="sng">
                  <a:latin typeface="National semibold" panose="02000503000000020004"/>
                </a:endParaRPr>
              </a:p>
              <a:p>
                <a:r>
                  <a:rPr lang="en-US" sz="2000" b="1" u="sng">
                    <a:latin typeface="National semibold" panose="02000503000000020004"/>
                  </a:rPr>
                  <a:t>Note</a:t>
                </a:r>
                <a:r>
                  <a:rPr lang="en-US" sz="2000">
                    <a:latin typeface="National semibold" panose="02000503000000020004"/>
                  </a:rPr>
                  <a:t>: For a statistical principle, we should divide by T-1, not T. However, to simplify we divide by T. </a:t>
                </a:r>
              </a:p>
              <a:p>
                <a:pPr marL="0" indent="0">
                  <a:buNone/>
                </a:pPr>
                <a:endParaRPr lang="en-US">
                  <a:latin typeface="National semibold" panose="02000503000000020004"/>
                </a:endParaRPr>
              </a:p>
            </p:txBody>
          </p:sp>
        </mc:Choice>
        <mc:Fallback xmlns="">
          <p:sp>
            <p:nvSpPr>
              <p:cNvPr id="3" name="Content Placeholder 2">
                <a:extLst>
                  <a:ext uri="{FF2B5EF4-FFF2-40B4-BE49-F238E27FC236}">
                    <a16:creationId xmlns:a16="http://schemas.microsoft.com/office/drawing/2014/main" id="{09A2F897-2643-4490-93FF-4FF458F15722}"/>
                  </a:ext>
                </a:extLst>
              </p:cNvPr>
              <p:cNvSpPr>
                <a:spLocks noGrp="1" noRot="1" noChangeAspect="1" noMove="1" noResize="1" noEditPoints="1" noAdjustHandles="1" noChangeArrowheads="1" noChangeShapeType="1" noTextEdit="1"/>
              </p:cNvSpPr>
              <p:nvPr>
                <p:ph idx="1"/>
              </p:nvPr>
            </p:nvSpPr>
            <p:spPr>
              <a:xfrm>
                <a:off x="1522074" y="1835285"/>
                <a:ext cx="10666751" cy="4863830"/>
              </a:xfrm>
              <a:blipFill>
                <a:blip r:embed="rId2"/>
                <a:stretch>
                  <a:fillRect l="-457" t="-1754" b="-2130"/>
                </a:stretch>
              </a:blipFill>
            </p:spPr>
            <p:txBody>
              <a:bodyPr/>
              <a:lstStyle/>
              <a:p>
                <a:r>
                  <a:rPr lang="en-US">
                    <a:noFill/>
                  </a:rPr>
                  <a:t> </a:t>
                </a:r>
              </a:p>
            </p:txBody>
          </p:sp>
        </mc:Fallback>
      </mc:AlternateContent>
    </p:spTree>
    <p:extLst>
      <p:ext uri="{BB962C8B-B14F-4D97-AF65-F5344CB8AC3E}">
        <p14:creationId xmlns:p14="http://schemas.microsoft.com/office/powerpoint/2010/main" val="3218712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602377" y="374515"/>
            <a:ext cx="9762898" cy="1219200"/>
          </a:xfrm>
        </p:spPr>
        <p:txBody>
          <a:bodyPr anchor="ctr">
            <a:normAutofit/>
          </a:bodyPr>
          <a:lstStyle/>
          <a:p>
            <a:r>
              <a:rPr lang="en-US" sz="4000" b="1">
                <a:latin typeface="National semibold" panose="02000503000000020004"/>
              </a:rPr>
              <a:t>Portfolio diversification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11441" y="1835285"/>
                <a:ext cx="10236422" cy="4648200"/>
              </a:xfrm>
            </p:spPr>
            <p:txBody>
              <a:bodyPr>
                <a:normAutofit fontScale="85000" lnSpcReduction="10000"/>
              </a:bodyPr>
              <a:lstStyle/>
              <a:p>
                <a:r>
                  <a:rPr lang="en-US" b="0">
                    <a:latin typeface="National semibold" panose="02000503000000020004"/>
                  </a:rPr>
                  <a:t>Portfolio diversification could reduce the investment risk without sacrificing expected return. </a:t>
                </a:r>
              </a:p>
              <a:p>
                <a:r>
                  <a:rPr lang="en-US" b="0">
                    <a:latin typeface="National semibold" panose="02000503000000020004"/>
                  </a:rPr>
                  <a:t>The idea is to invest in multiple securities with returns that do not </a:t>
                </a:r>
                <a:r>
                  <a:rPr lang="en-US" b="0" i="1" u="sng">
                    <a:latin typeface="National semibold" panose="02000503000000020004"/>
                  </a:rPr>
                  <a:t>co-move</a:t>
                </a:r>
                <a:r>
                  <a:rPr lang="en-US" b="0">
                    <a:latin typeface="National semibold" panose="02000503000000020004"/>
                  </a:rPr>
                  <a:t> perfectly together.</a:t>
                </a:r>
              </a:p>
              <a:p>
                <a:r>
                  <a:rPr lang="en-US" b="0">
                    <a:latin typeface="National semibold" panose="02000503000000020004"/>
                  </a:rPr>
                  <a:t>The statistical concepts of co-movement are “covariance” and “correlation” of returns. If we have two securities</a:t>
                </a:r>
                <a:r>
                  <a:rPr lang="en-US">
                    <a:latin typeface="National semibold" panose="02000503000000020004"/>
                  </a:rPr>
                  <a:t>,</a:t>
                </a:r>
                <a:r>
                  <a:rPr lang="en-US" b="0">
                    <a:latin typeface="National semibold" panose="02000503000000020004"/>
                  </a:rPr>
                  <a:t> security A and security B, we can use historical data to compute </a:t>
                </a:r>
              </a:p>
              <a:p>
                <a:pPr marL="0" indent="0">
                  <a:buNone/>
                </a:pPr>
                <a:r>
                  <a:rPr lang="en-US" b="1">
                    <a:solidFill>
                      <a:srgbClr val="FF0000"/>
                    </a:solidFill>
                  </a:rPr>
                  <a:t>	            </a:t>
                </a:r>
                <a14:m>
                  <m:oMath xmlns:m="http://schemas.openxmlformats.org/officeDocument/2006/math">
                    <m:r>
                      <a:rPr lang="en-US" sz="2000" b="1" i="1" smtClean="0">
                        <a:solidFill>
                          <a:srgbClr val="FF0000"/>
                        </a:solidFill>
                        <a:latin typeface="Cambria Math" panose="02040503050406030204" pitchFamily="18" charset="0"/>
                      </a:rPr>
                      <m:t>𝑽𝒂𝒓𝒊𝒂𝒏𝒄𝒆</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𝒐𝒇</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𝑹𝒆𝒕𝒖𝒓𝒏</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𝒔𝒆𝒄𝒖𝒓𝒊𝒕𝒚</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𝑨</m:t>
                    </m:r>
                    <m:r>
                      <a:rPr lang="en-US" sz="2000" b="1" i="1" smtClean="0">
                        <a:solidFill>
                          <a:srgbClr val="FF0000"/>
                        </a:solidFill>
                        <a:latin typeface="Cambria Math" panose="02040503050406030204" pitchFamily="18" charset="0"/>
                      </a:rPr>
                      <m:t>,  </m:t>
                    </m:r>
                    <m:sSubSup>
                      <m:sSubSupPr>
                        <m:ctrlPr>
                          <a:rPr lang="en-US" sz="2000" b="1" i="1" smtClean="0">
                            <a:solidFill>
                              <a:srgbClr val="FF0000"/>
                            </a:solidFill>
                            <a:latin typeface="Cambria Math" panose="02040503050406030204" pitchFamily="18" charset="0"/>
                          </a:rPr>
                        </m:ctrlPr>
                      </m:sSubSupPr>
                      <m:e>
                        <m:r>
                          <a:rPr lang="en-US" sz="2000" b="1" i="1" smtClean="0">
                            <a:solidFill>
                              <a:srgbClr val="FF0000"/>
                            </a:solidFill>
                            <a:latin typeface="Cambria Math" panose="02040503050406030204" pitchFamily="18" charset="0"/>
                          </a:rPr>
                          <m:t>𝝈</m:t>
                        </m:r>
                      </m:e>
                      <m:sub>
                        <m:r>
                          <a:rPr lang="en-US" sz="2000" b="1" i="1" smtClean="0">
                            <a:solidFill>
                              <a:srgbClr val="FF0000"/>
                            </a:solidFill>
                            <a:latin typeface="Cambria Math" panose="02040503050406030204" pitchFamily="18" charset="0"/>
                          </a:rPr>
                          <m:t>𝑨</m:t>
                        </m:r>
                      </m:sub>
                      <m:sup>
                        <m:r>
                          <a:rPr lang="en-US" sz="2000" b="1" i="1" smtClean="0">
                            <a:solidFill>
                              <a:srgbClr val="FF0000"/>
                            </a:solidFill>
                            <a:latin typeface="Cambria Math" panose="02040503050406030204" pitchFamily="18" charset="0"/>
                          </a:rPr>
                          <m:t>𝟐</m:t>
                        </m:r>
                      </m:sup>
                    </m:sSubSup>
                    <m:r>
                      <a:rPr lang="en-US" sz="2000" b="0" i="1" smtClean="0">
                        <a:solidFill>
                          <a:schemeClr val="tx1"/>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m:t>
                        </m:r>
                      </m:num>
                      <m:den>
                        <m:r>
                          <a:rPr lang="en-US" sz="2000" b="0" i="1" smtClean="0">
                            <a:solidFill>
                              <a:srgbClr val="FF0000"/>
                            </a:solidFill>
                            <a:latin typeface="Cambria Math" panose="02040503050406030204" pitchFamily="18" charset="0"/>
                          </a:rPr>
                          <m:t>𝑇</m:t>
                        </m:r>
                      </m:den>
                    </m:f>
                  </m:oMath>
                </a14:m>
                <a:r>
                  <a:rPr lang="en-US" sz="2000" b="0">
                    <a:latin typeface="National semibold" panose="02000503000000020004"/>
                  </a:rPr>
                  <a:t> </a:t>
                </a:r>
                <a14:m>
                  <m:oMath xmlns:m="http://schemas.openxmlformats.org/officeDocument/2006/math">
                    <m:nary>
                      <m:naryPr>
                        <m:chr m:val="∑"/>
                        <m:ctrlPr>
                          <a:rPr lang="en-US" sz="2000" i="1">
                            <a:solidFill>
                              <a:srgbClr val="FF0000"/>
                            </a:solidFill>
                            <a:latin typeface="Cambria Math" panose="02040503050406030204" pitchFamily="18" charset="0"/>
                          </a:rPr>
                        </m:ctrlPr>
                      </m:naryPr>
                      <m:sub>
                        <m:r>
                          <a:rPr lang="en-US" sz="2000" i="1">
                            <a:solidFill>
                              <a:srgbClr val="FF0000"/>
                            </a:solidFill>
                            <a:latin typeface="Cambria Math" panose="02040503050406030204" pitchFamily="18" charset="0"/>
                          </a:rPr>
                          <m:t>1</m:t>
                        </m:r>
                      </m:sub>
                      <m:sup>
                        <m:r>
                          <a:rPr lang="en-US" sz="2000" i="1">
                            <a:solidFill>
                              <a:srgbClr val="FF0000"/>
                            </a:solidFill>
                            <a:latin typeface="Cambria Math" panose="02040503050406030204" pitchFamily="18" charset="0"/>
                          </a:rPr>
                          <m:t>𝑇</m:t>
                        </m:r>
                      </m:sup>
                      <m:e>
                        <m:sSup>
                          <m:sSupPr>
                            <m:ctrlPr>
                              <a:rPr lang="en-US" sz="2000" i="1">
                                <a:solidFill>
                                  <a:srgbClr val="FF0000"/>
                                </a:solidFill>
                                <a:latin typeface="Cambria Math" panose="02040503050406030204" pitchFamily="18" charset="0"/>
                              </a:rPr>
                            </m:ctrlPr>
                          </m:sSupPr>
                          <m:e>
                            <m:d>
                              <m:dPr>
                                <m:ctrlPr>
                                  <a:rPr lang="en-US" sz="2000" i="1">
                                    <a:solidFill>
                                      <a:srgbClr val="FF0000"/>
                                    </a:solidFill>
                                    <a:latin typeface="Cambria Math" panose="02040503050406030204" pitchFamily="18" charset="0"/>
                                  </a:rPr>
                                </m:ctrlPr>
                              </m:dPr>
                              <m:e>
                                <m:sSubSup>
                                  <m:sSubSupPr>
                                    <m:ctrlPr>
                                      <a:rPr lang="en-US" sz="2000" b="0" i="1" smtClean="0">
                                        <a:solidFill>
                                          <a:srgbClr val="FF0000"/>
                                        </a:solidFill>
                                        <a:latin typeface="Cambria Math" panose="02040503050406030204" pitchFamily="18" charset="0"/>
                                      </a:rPr>
                                    </m:ctrlPr>
                                  </m:sSubSupPr>
                                  <m:e>
                                    <m:r>
                                      <a:rPr lang="en-US" sz="2000" i="1">
                                        <a:solidFill>
                                          <a:srgbClr val="FF0000"/>
                                        </a:solidFill>
                                        <a:latin typeface="Cambria Math" panose="02040503050406030204" pitchFamily="18" charset="0"/>
                                      </a:rPr>
                                      <m:t>𝑟</m:t>
                                    </m:r>
                                  </m:e>
                                  <m:sub>
                                    <m:r>
                                      <a:rPr lang="en-US" sz="2000" i="1">
                                        <a:solidFill>
                                          <a:srgbClr val="FF0000"/>
                                        </a:solidFill>
                                        <a:latin typeface="Cambria Math" panose="02040503050406030204" pitchFamily="18" charset="0"/>
                                      </a:rPr>
                                      <m:t>𝑡</m:t>
                                    </m:r>
                                  </m:sub>
                                  <m:sup>
                                    <m:r>
                                      <a:rPr lang="en-US" sz="2000" b="0" i="1" smtClean="0">
                                        <a:solidFill>
                                          <a:srgbClr val="FF0000"/>
                                        </a:solidFill>
                                        <a:latin typeface="Cambria Math" panose="02040503050406030204" pitchFamily="18" charset="0"/>
                                      </a:rPr>
                                      <m:t>𝐴</m:t>
                                    </m:r>
                                  </m:sup>
                                </m:sSubSup>
                                <m:r>
                                  <a:rPr lang="en-US" sz="2000" i="1">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rPr>
                                    </m:ctrlPr>
                                  </m:sSup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panose="02040503050406030204" pitchFamily="18" charset="0"/>
                                          </a:rPr>
                                          <m:t>𝑟</m:t>
                                        </m:r>
                                      </m:e>
                                    </m:acc>
                                  </m:e>
                                  <m:sup>
                                    <m:r>
                                      <a:rPr lang="en-US" sz="2000" b="0" i="1" smtClean="0">
                                        <a:solidFill>
                                          <a:srgbClr val="FF0000"/>
                                        </a:solidFill>
                                        <a:latin typeface="Cambria Math" panose="02040503050406030204" pitchFamily="18" charset="0"/>
                                      </a:rPr>
                                      <m:t>𝐴</m:t>
                                    </m:r>
                                  </m:sup>
                                </m:sSup>
                              </m:e>
                            </m:d>
                          </m:e>
                          <m:sup>
                            <m:r>
                              <a:rPr lang="en-US" sz="2000" i="1">
                                <a:solidFill>
                                  <a:srgbClr val="FF0000"/>
                                </a:solidFill>
                                <a:latin typeface="Cambria Math" panose="02040503050406030204" pitchFamily="18" charset="0"/>
                              </a:rPr>
                              <m:t>2</m:t>
                            </m:r>
                          </m:sup>
                        </m:sSup>
                      </m:e>
                    </m:nary>
                  </m:oMath>
                </a14:m>
                <a:endParaRPr lang="en-US" sz="2000" b="1">
                  <a:solidFill>
                    <a:srgbClr val="FF0000"/>
                  </a:solidFill>
                </a:endParaRPr>
              </a:p>
              <a:p>
                <a:pPr marL="0" indent="0">
                  <a:buNone/>
                </a:pPr>
                <a:endParaRPr lang="en-US" sz="1100" b="1">
                  <a:solidFill>
                    <a:srgbClr val="FF0000"/>
                  </a:solidFill>
                </a:endParaRPr>
              </a:p>
              <a:p>
                <a:pPr marL="0" indent="0">
                  <a:buNone/>
                </a:pPr>
                <a:r>
                  <a:rPr lang="en-US" sz="2000" b="1">
                    <a:solidFill>
                      <a:srgbClr val="FF0000"/>
                    </a:solidFill>
                  </a:rPr>
                  <a:t>	              </a:t>
                </a:r>
                <a14:m>
                  <m:oMath xmlns:m="http://schemas.openxmlformats.org/officeDocument/2006/math">
                    <m:r>
                      <a:rPr lang="en-US" sz="2000" b="1" i="1" smtClean="0">
                        <a:solidFill>
                          <a:srgbClr val="FF0000"/>
                        </a:solidFill>
                        <a:latin typeface="Cambria Math" panose="02040503050406030204" pitchFamily="18" charset="0"/>
                      </a:rPr>
                      <m:t>𝑽𝒂𝒓𝒊𝒂𝒏𝒄𝒆</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𝒐𝒇</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𝑹𝒆𝒕𝒖𝒓𝒏</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𝒔𝒆𝒄𝒖𝒓𝒊𝒕𝒚</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𝑩</m:t>
                    </m:r>
                    <m:r>
                      <a:rPr lang="en-US" sz="2000" b="1" i="1" smtClean="0">
                        <a:solidFill>
                          <a:srgbClr val="FF0000"/>
                        </a:solidFill>
                        <a:latin typeface="Cambria Math" panose="02040503050406030204" pitchFamily="18" charset="0"/>
                      </a:rPr>
                      <m:t>,  </m:t>
                    </m:r>
                    <m:sSubSup>
                      <m:sSubSupPr>
                        <m:ctrlPr>
                          <a:rPr lang="en-US" sz="2000" b="1" i="1" smtClean="0">
                            <a:solidFill>
                              <a:srgbClr val="FF0000"/>
                            </a:solidFill>
                            <a:latin typeface="Cambria Math" panose="02040503050406030204" pitchFamily="18" charset="0"/>
                          </a:rPr>
                        </m:ctrlPr>
                      </m:sSubSupPr>
                      <m:e>
                        <m:r>
                          <a:rPr lang="en-US" sz="2000" b="1" i="1" smtClean="0">
                            <a:solidFill>
                              <a:srgbClr val="FF0000"/>
                            </a:solidFill>
                            <a:latin typeface="Cambria Math" panose="02040503050406030204" pitchFamily="18" charset="0"/>
                          </a:rPr>
                          <m:t>𝝈</m:t>
                        </m:r>
                      </m:e>
                      <m:sub>
                        <m:r>
                          <a:rPr lang="en-US" sz="2000" b="1" i="1" smtClean="0">
                            <a:solidFill>
                              <a:srgbClr val="FF0000"/>
                            </a:solidFill>
                            <a:latin typeface="Cambria Math" panose="02040503050406030204" pitchFamily="18" charset="0"/>
                          </a:rPr>
                          <m:t>𝑩</m:t>
                        </m:r>
                      </m:sub>
                      <m:sup>
                        <m:r>
                          <a:rPr lang="en-US" sz="2000" b="1" i="1" smtClean="0">
                            <a:solidFill>
                              <a:srgbClr val="FF0000"/>
                            </a:solidFill>
                            <a:latin typeface="Cambria Math" panose="02040503050406030204" pitchFamily="18" charset="0"/>
                          </a:rPr>
                          <m:t>𝟐</m:t>
                        </m:r>
                      </m:sup>
                    </m:sSubSup>
                    <m:r>
                      <a:rPr lang="en-US" sz="2000" b="0" i="1" smtClean="0">
                        <a:solidFill>
                          <a:schemeClr val="tx1"/>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m:t>
                        </m:r>
                      </m:num>
                      <m:den>
                        <m:r>
                          <a:rPr lang="en-US" sz="2000" b="0" i="1" smtClean="0">
                            <a:solidFill>
                              <a:srgbClr val="FF0000"/>
                            </a:solidFill>
                            <a:latin typeface="Cambria Math" panose="02040503050406030204" pitchFamily="18" charset="0"/>
                          </a:rPr>
                          <m:t>𝑇</m:t>
                        </m:r>
                      </m:den>
                    </m:f>
                  </m:oMath>
                </a14:m>
                <a:r>
                  <a:rPr lang="en-US" sz="2000" b="0">
                    <a:latin typeface="National semibold" panose="02000503000000020004"/>
                  </a:rPr>
                  <a:t> </a:t>
                </a:r>
                <a14:m>
                  <m:oMath xmlns:m="http://schemas.openxmlformats.org/officeDocument/2006/math">
                    <m:nary>
                      <m:naryPr>
                        <m:chr m:val="∑"/>
                        <m:ctrlPr>
                          <a:rPr lang="en-US" sz="2000" i="1">
                            <a:solidFill>
                              <a:srgbClr val="FF0000"/>
                            </a:solidFill>
                            <a:latin typeface="Cambria Math" panose="02040503050406030204" pitchFamily="18" charset="0"/>
                          </a:rPr>
                        </m:ctrlPr>
                      </m:naryPr>
                      <m:sub>
                        <m:r>
                          <a:rPr lang="en-US" sz="2000" i="1">
                            <a:solidFill>
                              <a:srgbClr val="FF0000"/>
                            </a:solidFill>
                            <a:latin typeface="Cambria Math" panose="02040503050406030204" pitchFamily="18" charset="0"/>
                          </a:rPr>
                          <m:t>1</m:t>
                        </m:r>
                      </m:sub>
                      <m:sup>
                        <m:r>
                          <a:rPr lang="en-US" sz="2000" i="1">
                            <a:solidFill>
                              <a:srgbClr val="FF0000"/>
                            </a:solidFill>
                            <a:latin typeface="Cambria Math" panose="02040503050406030204" pitchFamily="18" charset="0"/>
                          </a:rPr>
                          <m:t>𝑇</m:t>
                        </m:r>
                      </m:sup>
                      <m:e>
                        <m:sSup>
                          <m:sSupPr>
                            <m:ctrlPr>
                              <a:rPr lang="en-US" sz="2000" i="1">
                                <a:solidFill>
                                  <a:srgbClr val="FF0000"/>
                                </a:solidFill>
                                <a:latin typeface="Cambria Math" panose="02040503050406030204" pitchFamily="18" charset="0"/>
                              </a:rPr>
                            </m:ctrlPr>
                          </m:sSupPr>
                          <m:e>
                            <m:d>
                              <m:dPr>
                                <m:ctrlPr>
                                  <a:rPr lang="en-US" sz="2000" i="1">
                                    <a:solidFill>
                                      <a:srgbClr val="FF0000"/>
                                    </a:solidFill>
                                    <a:latin typeface="Cambria Math" panose="02040503050406030204" pitchFamily="18" charset="0"/>
                                  </a:rPr>
                                </m:ctrlPr>
                              </m:dPr>
                              <m:e>
                                <m:sSubSup>
                                  <m:sSubSupPr>
                                    <m:ctrlPr>
                                      <a:rPr lang="en-US" sz="2000" b="0" i="1" smtClean="0">
                                        <a:solidFill>
                                          <a:srgbClr val="FF0000"/>
                                        </a:solidFill>
                                        <a:latin typeface="Cambria Math" panose="02040503050406030204" pitchFamily="18" charset="0"/>
                                      </a:rPr>
                                    </m:ctrlPr>
                                  </m:sSubSupPr>
                                  <m:e>
                                    <m:r>
                                      <a:rPr lang="en-US" sz="2000" i="1">
                                        <a:solidFill>
                                          <a:srgbClr val="FF0000"/>
                                        </a:solidFill>
                                        <a:latin typeface="Cambria Math" panose="02040503050406030204" pitchFamily="18" charset="0"/>
                                      </a:rPr>
                                      <m:t>𝑟</m:t>
                                    </m:r>
                                  </m:e>
                                  <m:sub>
                                    <m:r>
                                      <a:rPr lang="en-US" sz="2000" i="1">
                                        <a:solidFill>
                                          <a:srgbClr val="FF0000"/>
                                        </a:solidFill>
                                        <a:latin typeface="Cambria Math" panose="02040503050406030204" pitchFamily="18" charset="0"/>
                                      </a:rPr>
                                      <m:t>𝑡</m:t>
                                    </m:r>
                                  </m:sub>
                                  <m:sup>
                                    <m:r>
                                      <a:rPr lang="en-US" sz="2000" b="0" i="1" smtClean="0">
                                        <a:solidFill>
                                          <a:srgbClr val="FF0000"/>
                                        </a:solidFill>
                                        <a:latin typeface="Cambria Math" panose="02040503050406030204" pitchFamily="18" charset="0"/>
                                      </a:rPr>
                                      <m:t>𝐵</m:t>
                                    </m:r>
                                  </m:sup>
                                </m:sSubSup>
                                <m:r>
                                  <a:rPr lang="en-US" sz="2000" i="1">
                                    <a:solidFill>
                                      <a:srgbClr val="FF0000"/>
                                    </a:solidFill>
                                    <a:latin typeface="Cambria Math" panose="02040503050406030204" pitchFamily="18" charset="0"/>
                                  </a:rPr>
                                  <m:t>−</m:t>
                                </m:r>
                                <m:sSup>
                                  <m:sSupPr>
                                    <m:ctrlPr>
                                      <a:rPr lang="en-US" sz="2000" b="0" i="1" smtClean="0">
                                        <a:solidFill>
                                          <a:srgbClr val="FF0000"/>
                                        </a:solidFill>
                                        <a:latin typeface="Cambria Math" panose="02040503050406030204" pitchFamily="18" charset="0"/>
                                      </a:rPr>
                                    </m:ctrlPr>
                                  </m:sSup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panose="02040503050406030204" pitchFamily="18" charset="0"/>
                                          </a:rPr>
                                          <m:t>𝑟</m:t>
                                        </m:r>
                                      </m:e>
                                    </m:acc>
                                  </m:e>
                                  <m:sup>
                                    <m:r>
                                      <a:rPr lang="en-US" sz="2000" b="0" i="1" smtClean="0">
                                        <a:solidFill>
                                          <a:srgbClr val="FF0000"/>
                                        </a:solidFill>
                                        <a:latin typeface="Cambria Math" panose="02040503050406030204" pitchFamily="18" charset="0"/>
                                      </a:rPr>
                                      <m:t>𝐵</m:t>
                                    </m:r>
                                  </m:sup>
                                </m:sSup>
                              </m:e>
                            </m:d>
                          </m:e>
                          <m:sup>
                            <m:r>
                              <a:rPr lang="en-US" sz="2000" i="1">
                                <a:solidFill>
                                  <a:srgbClr val="FF0000"/>
                                </a:solidFill>
                                <a:latin typeface="Cambria Math" panose="02040503050406030204" pitchFamily="18" charset="0"/>
                              </a:rPr>
                              <m:t>2</m:t>
                            </m:r>
                          </m:sup>
                        </m:sSup>
                      </m:e>
                    </m:nary>
                  </m:oMath>
                </a14:m>
                <a:endParaRPr lang="en-US" sz="2000" b="1">
                  <a:solidFill>
                    <a:srgbClr val="FF0000"/>
                  </a:solidFill>
                </a:endParaRPr>
              </a:p>
              <a:p>
                <a:pPr marL="0" indent="0">
                  <a:buNone/>
                </a:pPr>
                <a:endParaRPr lang="en-US" sz="1100" b="1">
                  <a:solidFill>
                    <a:srgbClr val="FF0000"/>
                  </a:solidFill>
                </a:endParaRPr>
              </a:p>
              <a:p>
                <a:pPr marL="0" indent="0">
                  <a:buNone/>
                </a:pPr>
                <a:r>
                  <a:rPr lang="en-US" sz="2000" b="1">
                    <a:solidFill>
                      <a:srgbClr val="FF0000"/>
                    </a:solidFill>
                  </a:rPr>
                  <a:t>	              </a:t>
                </a:r>
                <a14:m>
                  <m:oMath xmlns:m="http://schemas.openxmlformats.org/officeDocument/2006/math">
                    <m:r>
                      <a:rPr lang="en-US" sz="2000" b="1" i="1" smtClean="0">
                        <a:solidFill>
                          <a:srgbClr val="FF0000"/>
                        </a:solidFill>
                        <a:latin typeface="Cambria Math" panose="02040503050406030204" pitchFamily="18" charset="0"/>
                      </a:rPr>
                      <m:t>𝑪𝒐𝒗𝒂𝒓𝒊𝒂𝒏𝒄𝒆</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𝒐𝒇</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𝑹𝒆𝒕𝒖𝒓𝒏𝒔</m:t>
                    </m:r>
                    <m:r>
                      <a:rPr lang="en-US" sz="2000" b="1" i="1" smtClean="0">
                        <a:solidFill>
                          <a:srgbClr val="FF0000"/>
                        </a:solidFill>
                        <a:latin typeface="Cambria Math" panose="02040503050406030204" pitchFamily="18" charset="0"/>
                      </a:rPr>
                      <m:t>,   </m:t>
                    </m:r>
                    <m:sSub>
                      <m:sSubPr>
                        <m:ctrlPr>
                          <a:rPr lang="en-US" sz="2000" b="1" i="1" smtClean="0">
                            <a:solidFill>
                              <a:srgbClr val="FF0000"/>
                            </a:solidFill>
                            <a:latin typeface="Cambria Math" panose="02040503050406030204" pitchFamily="18" charset="0"/>
                          </a:rPr>
                        </m:ctrlPr>
                      </m:sSubPr>
                      <m:e>
                        <m:r>
                          <a:rPr lang="en-US" sz="2000" b="1" i="1" smtClean="0">
                            <a:solidFill>
                              <a:srgbClr val="FF0000"/>
                            </a:solidFill>
                            <a:latin typeface="Cambria Math" panose="02040503050406030204" pitchFamily="18" charset="0"/>
                          </a:rPr>
                          <m:t>𝝈</m:t>
                        </m:r>
                      </m:e>
                      <m:sub>
                        <m:r>
                          <a:rPr lang="en-US" sz="2000" b="1" i="1" smtClean="0">
                            <a:solidFill>
                              <a:srgbClr val="FF0000"/>
                            </a:solidFill>
                            <a:latin typeface="Cambria Math" panose="02040503050406030204" pitchFamily="18" charset="0"/>
                          </a:rPr>
                          <m:t>𝑨𝑩</m:t>
                        </m:r>
                      </m:sub>
                    </m:sSub>
                    <m:r>
                      <a:rPr lang="en-US" sz="2000" b="0" i="1" smtClean="0">
                        <a:solidFill>
                          <a:schemeClr val="tx1"/>
                        </a:solidFill>
                        <a:latin typeface="Cambria Math" panose="02040503050406030204" pitchFamily="18" charset="0"/>
                      </a:rPr>
                      <m:t>=</m:t>
                    </m:r>
                    <m:f>
                      <m:fPr>
                        <m:ctrlPr>
                          <a:rPr lang="en-US" sz="2000" b="0" i="1" smtClean="0">
                            <a:solidFill>
                              <a:srgbClr val="FF0000"/>
                            </a:solidFill>
                            <a:latin typeface="Cambria Math" panose="02040503050406030204" pitchFamily="18" charset="0"/>
                          </a:rPr>
                        </m:ctrlPr>
                      </m:fPr>
                      <m:num>
                        <m:r>
                          <a:rPr lang="en-US" sz="2000" b="0" i="1" smtClean="0">
                            <a:solidFill>
                              <a:srgbClr val="FF0000"/>
                            </a:solidFill>
                            <a:latin typeface="Cambria Math" panose="02040503050406030204" pitchFamily="18" charset="0"/>
                          </a:rPr>
                          <m:t>1</m:t>
                        </m:r>
                      </m:num>
                      <m:den>
                        <m:r>
                          <a:rPr lang="en-US" sz="2000" b="0" i="1" smtClean="0">
                            <a:solidFill>
                              <a:srgbClr val="FF0000"/>
                            </a:solidFill>
                            <a:latin typeface="Cambria Math" panose="02040503050406030204" pitchFamily="18" charset="0"/>
                          </a:rPr>
                          <m:t>𝑇</m:t>
                        </m:r>
                      </m:den>
                    </m:f>
                  </m:oMath>
                </a14:m>
                <a:r>
                  <a:rPr lang="en-US" sz="2000" b="0">
                    <a:latin typeface="National semibold" panose="02000503000000020004"/>
                  </a:rPr>
                  <a:t> </a:t>
                </a:r>
                <a14:m>
                  <m:oMath xmlns:m="http://schemas.openxmlformats.org/officeDocument/2006/math">
                    <m:nary>
                      <m:naryPr>
                        <m:chr m:val="∑"/>
                        <m:ctrlPr>
                          <a:rPr lang="en-US" sz="2000" i="1">
                            <a:solidFill>
                              <a:srgbClr val="FF0000"/>
                            </a:solidFill>
                            <a:latin typeface="Cambria Math" panose="02040503050406030204" pitchFamily="18" charset="0"/>
                          </a:rPr>
                        </m:ctrlPr>
                      </m:naryPr>
                      <m:sub>
                        <m:r>
                          <a:rPr lang="en-US" sz="2000" i="1">
                            <a:solidFill>
                              <a:srgbClr val="FF0000"/>
                            </a:solidFill>
                            <a:latin typeface="Cambria Math" panose="02040503050406030204" pitchFamily="18" charset="0"/>
                          </a:rPr>
                          <m:t>1</m:t>
                        </m:r>
                      </m:sub>
                      <m:sup>
                        <m:r>
                          <a:rPr lang="en-US" sz="2000" i="1">
                            <a:solidFill>
                              <a:srgbClr val="FF0000"/>
                            </a:solidFill>
                            <a:latin typeface="Cambria Math" panose="02040503050406030204" pitchFamily="18" charset="0"/>
                          </a:rPr>
                          <m:t>𝑇</m:t>
                        </m:r>
                      </m:sup>
                      <m:e>
                        <m:d>
                          <m:dPr>
                            <m:ctrlPr>
                              <a:rPr lang="en-US" sz="2000" i="1">
                                <a:solidFill>
                                  <a:srgbClr val="FF0000"/>
                                </a:solidFill>
                                <a:latin typeface="Cambria Math" panose="02040503050406030204" pitchFamily="18" charset="0"/>
                              </a:rPr>
                            </m:ctrlPr>
                          </m:dPr>
                          <m:e>
                            <m:sSubSup>
                              <m:sSubSupPr>
                                <m:ctrlPr>
                                  <a:rPr lang="en-US" sz="2000" i="1">
                                    <a:solidFill>
                                      <a:srgbClr val="FF0000"/>
                                    </a:solidFill>
                                    <a:latin typeface="Cambria Math" panose="02040503050406030204" pitchFamily="18" charset="0"/>
                                  </a:rPr>
                                </m:ctrlPr>
                              </m:sSubSupPr>
                              <m:e>
                                <m:r>
                                  <a:rPr lang="en-US" sz="2000" i="1">
                                    <a:solidFill>
                                      <a:srgbClr val="FF0000"/>
                                    </a:solidFill>
                                    <a:latin typeface="Cambria Math" panose="02040503050406030204" pitchFamily="18" charset="0"/>
                                  </a:rPr>
                                  <m:t>𝑟</m:t>
                                </m:r>
                              </m:e>
                              <m:sub>
                                <m:r>
                                  <a:rPr lang="en-US" sz="2000" i="1">
                                    <a:solidFill>
                                      <a:srgbClr val="FF0000"/>
                                    </a:solidFill>
                                    <a:latin typeface="Cambria Math" panose="02040503050406030204" pitchFamily="18" charset="0"/>
                                  </a:rPr>
                                  <m:t>𝑡</m:t>
                                </m:r>
                              </m:sub>
                              <m:sup>
                                <m:r>
                                  <a:rPr lang="en-US" sz="2000" i="1">
                                    <a:solidFill>
                                      <a:srgbClr val="FF0000"/>
                                    </a:solidFill>
                                    <a:latin typeface="Cambria Math" panose="02040503050406030204" pitchFamily="18" charset="0"/>
                                  </a:rPr>
                                  <m:t>𝐴</m:t>
                                </m:r>
                              </m:sup>
                            </m:sSubSup>
                            <m:r>
                              <a:rPr lang="en-US" sz="2000" i="1">
                                <a:solidFill>
                                  <a:srgbClr val="FF0000"/>
                                </a:solidFill>
                                <a:latin typeface="Cambria Math" panose="02040503050406030204" pitchFamily="18" charset="0"/>
                              </a:rPr>
                              <m:t>−</m:t>
                            </m:r>
                            <m:sSup>
                              <m:sSupPr>
                                <m:ctrlPr>
                                  <a:rPr lang="en-US" sz="2000" i="1">
                                    <a:solidFill>
                                      <a:srgbClr val="FF0000"/>
                                    </a:solidFill>
                                    <a:latin typeface="Cambria Math" panose="02040503050406030204" pitchFamily="18" charset="0"/>
                                  </a:rPr>
                                </m:ctrlPr>
                              </m:sSup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panose="02040503050406030204" pitchFamily="18" charset="0"/>
                                      </a:rPr>
                                      <m:t>𝑟</m:t>
                                    </m:r>
                                  </m:e>
                                </m:acc>
                              </m:e>
                              <m:sup>
                                <m:r>
                                  <a:rPr lang="en-US" sz="2000" i="1">
                                    <a:solidFill>
                                      <a:srgbClr val="FF0000"/>
                                    </a:solidFill>
                                    <a:latin typeface="Cambria Math" panose="02040503050406030204" pitchFamily="18" charset="0"/>
                                  </a:rPr>
                                  <m:t>𝐴</m:t>
                                </m:r>
                              </m:sup>
                            </m:sSup>
                          </m:e>
                        </m:d>
                        <m:d>
                          <m:dPr>
                            <m:ctrlPr>
                              <a:rPr lang="en-US" sz="2000" i="1">
                                <a:solidFill>
                                  <a:srgbClr val="FF0000"/>
                                </a:solidFill>
                                <a:latin typeface="Cambria Math" panose="02040503050406030204" pitchFamily="18" charset="0"/>
                              </a:rPr>
                            </m:ctrlPr>
                          </m:dPr>
                          <m:e>
                            <m:sSubSup>
                              <m:sSubSupPr>
                                <m:ctrlPr>
                                  <a:rPr lang="en-US" sz="2000" i="1">
                                    <a:solidFill>
                                      <a:srgbClr val="FF0000"/>
                                    </a:solidFill>
                                    <a:latin typeface="Cambria Math" panose="02040503050406030204" pitchFamily="18" charset="0"/>
                                  </a:rPr>
                                </m:ctrlPr>
                              </m:sSubSupPr>
                              <m:e>
                                <m:r>
                                  <a:rPr lang="en-US" sz="2000" i="1">
                                    <a:solidFill>
                                      <a:srgbClr val="FF0000"/>
                                    </a:solidFill>
                                    <a:latin typeface="Cambria Math" panose="02040503050406030204" pitchFamily="18" charset="0"/>
                                  </a:rPr>
                                  <m:t>𝑟</m:t>
                                </m:r>
                              </m:e>
                              <m:sub>
                                <m:r>
                                  <a:rPr lang="en-US" sz="2000" i="1">
                                    <a:solidFill>
                                      <a:srgbClr val="FF0000"/>
                                    </a:solidFill>
                                    <a:latin typeface="Cambria Math" panose="02040503050406030204" pitchFamily="18" charset="0"/>
                                  </a:rPr>
                                  <m:t>𝑡</m:t>
                                </m:r>
                              </m:sub>
                              <m:sup>
                                <m:r>
                                  <a:rPr lang="en-US" sz="2000" b="0" i="1" smtClean="0">
                                    <a:solidFill>
                                      <a:srgbClr val="FF0000"/>
                                    </a:solidFill>
                                    <a:latin typeface="Cambria Math" panose="02040503050406030204" pitchFamily="18" charset="0"/>
                                  </a:rPr>
                                  <m:t>𝐵</m:t>
                                </m:r>
                              </m:sup>
                            </m:sSubSup>
                            <m:r>
                              <a:rPr lang="en-US" sz="2000" i="1">
                                <a:solidFill>
                                  <a:srgbClr val="FF0000"/>
                                </a:solidFill>
                                <a:latin typeface="Cambria Math" panose="02040503050406030204" pitchFamily="18" charset="0"/>
                              </a:rPr>
                              <m:t>−</m:t>
                            </m:r>
                            <m:sSup>
                              <m:sSupPr>
                                <m:ctrlPr>
                                  <a:rPr lang="en-US" sz="2000" i="1">
                                    <a:solidFill>
                                      <a:srgbClr val="FF0000"/>
                                    </a:solidFill>
                                    <a:latin typeface="Cambria Math" panose="02040503050406030204" pitchFamily="18" charset="0"/>
                                  </a:rPr>
                                </m:ctrlPr>
                              </m:sSupPr>
                              <m:e>
                                <m:acc>
                                  <m:accPr>
                                    <m:chr m:val="̅"/>
                                    <m:ctrlPr>
                                      <a:rPr lang="en-US" sz="2000" i="1">
                                        <a:solidFill>
                                          <a:srgbClr val="FF0000"/>
                                        </a:solidFill>
                                        <a:latin typeface="Cambria Math" panose="02040503050406030204" pitchFamily="18" charset="0"/>
                                      </a:rPr>
                                    </m:ctrlPr>
                                  </m:accPr>
                                  <m:e>
                                    <m:r>
                                      <a:rPr lang="en-US" sz="2000" i="1">
                                        <a:solidFill>
                                          <a:srgbClr val="FF0000"/>
                                        </a:solidFill>
                                        <a:latin typeface="Cambria Math" panose="02040503050406030204" pitchFamily="18" charset="0"/>
                                      </a:rPr>
                                      <m:t>𝑟</m:t>
                                    </m:r>
                                  </m:e>
                                </m:acc>
                              </m:e>
                              <m:sup>
                                <m:r>
                                  <a:rPr lang="en-US" sz="2000" b="0" i="1" smtClean="0">
                                    <a:solidFill>
                                      <a:srgbClr val="FF0000"/>
                                    </a:solidFill>
                                    <a:latin typeface="Cambria Math" panose="02040503050406030204" pitchFamily="18" charset="0"/>
                                  </a:rPr>
                                  <m:t>𝐵</m:t>
                                </m:r>
                              </m:sup>
                            </m:sSup>
                          </m:e>
                        </m:d>
                      </m:e>
                    </m:nary>
                  </m:oMath>
                </a14:m>
                <a:endParaRPr lang="en-US" sz="2000" i="1">
                  <a:solidFill>
                    <a:srgbClr val="FF0000"/>
                  </a:solidFill>
                  <a:latin typeface="Cambria Math" panose="02040503050406030204" pitchFamily="18" charset="0"/>
                </a:endParaRPr>
              </a:p>
              <a:p>
                <a:pPr marL="0" indent="0">
                  <a:buNone/>
                </a:pPr>
                <a:endParaRPr lang="en-US" sz="1100" b="1">
                  <a:solidFill>
                    <a:srgbClr val="FF0000"/>
                  </a:solidFill>
                </a:endParaRPr>
              </a:p>
              <a:p>
                <a:pPr marL="0" indent="0">
                  <a:buNone/>
                </a:pPr>
                <a:r>
                  <a:rPr lang="en-US" sz="2000" b="1">
                    <a:solidFill>
                      <a:srgbClr val="FF0000"/>
                    </a:solidFill>
                  </a:rPr>
                  <a:t> 	              </a:t>
                </a:r>
                <a14:m>
                  <m:oMath xmlns:m="http://schemas.openxmlformats.org/officeDocument/2006/math">
                    <m:r>
                      <a:rPr lang="en-US" sz="2000" b="1" i="1" smtClean="0">
                        <a:solidFill>
                          <a:srgbClr val="FF0000"/>
                        </a:solidFill>
                        <a:latin typeface="Cambria Math" panose="02040503050406030204" pitchFamily="18" charset="0"/>
                      </a:rPr>
                      <m:t>𝑪𝒐𝒓𝒓𝒆𝒍𝒂𝒕𝒊𝒐𝒏</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𝒐𝒇</m:t>
                    </m:r>
                    <m:r>
                      <a:rPr lang="en-US" sz="2000" b="1" i="1" smtClean="0">
                        <a:solidFill>
                          <a:srgbClr val="FF0000"/>
                        </a:solidFill>
                        <a:latin typeface="Cambria Math" panose="02040503050406030204" pitchFamily="18" charset="0"/>
                      </a:rPr>
                      <m:t> </m:t>
                    </m:r>
                    <m:r>
                      <a:rPr lang="en-US" sz="2000" b="1" i="1" smtClean="0">
                        <a:solidFill>
                          <a:srgbClr val="FF0000"/>
                        </a:solidFill>
                        <a:latin typeface="Cambria Math" panose="02040503050406030204" pitchFamily="18" charset="0"/>
                      </a:rPr>
                      <m:t>𝑹𝒆𝒕𝒖𝒓𝒏</m:t>
                    </m:r>
                    <m:r>
                      <a:rPr lang="en-US" sz="2000" b="0" i="1" smtClean="0">
                        <a:latin typeface="Cambria Math" panose="02040503050406030204" pitchFamily="18" charset="0"/>
                      </a:rPr>
                      <m:t>=</m:t>
                    </m:r>
                  </m:oMath>
                </a14:m>
                <a:r>
                  <a:rPr lang="en-US" sz="2000" b="0">
                    <a:latin typeface="National semibold" panose="02000503000000020004"/>
                  </a:rPr>
                  <a:t> </a:t>
                </a:r>
                <a14:m>
                  <m:oMath xmlns:m="http://schemas.openxmlformats.org/officeDocument/2006/math">
                    <m:f>
                      <m:fPr>
                        <m:ctrlPr>
                          <a:rPr lang="en-US" sz="2000" b="1" i="1" smtClean="0">
                            <a:solidFill>
                              <a:srgbClr val="FF0000"/>
                            </a:solidFill>
                            <a:latin typeface="Cambria Math" panose="02040503050406030204" pitchFamily="18" charset="0"/>
                          </a:rPr>
                        </m:ctrlPr>
                      </m:fPr>
                      <m:num>
                        <m:sSub>
                          <m:sSubPr>
                            <m:ctrlPr>
                              <a:rPr lang="en-US" sz="2000" b="1" i="1">
                                <a:solidFill>
                                  <a:srgbClr val="FF0000"/>
                                </a:solidFill>
                                <a:latin typeface="Cambria Math" panose="02040503050406030204" pitchFamily="18" charset="0"/>
                              </a:rPr>
                            </m:ctrlPr>
                          </m:sSubPr>
                          <m:e>
                            <m:r>
                              <a:rPr lang="en-US" sz="2000" b="1" i="1">
                                <a:solidFill>
                                  <a:srgbClr val="FF0000"/>
                                </a:solidFill>
                                <a:latin typeface="Cambria Math" panose="02040503050406030204" pitchFamily="18" charset="0"/>
                              </a:rPr>
                              <m:t>𝝈</m:t>
                            </m:r>
                          </m:e>
                          <m:sub>
                            <m:r>
                              <a:rPr lang="en-US" sz="2000" b="1" i="1">
                                <a:solidFill>
                                  <a:srgbClr val="FF0000"/>
                                </a:solidFill>
                                <a:latin typeface="Cambria Math" panose="02040503050406030204" pitchFamily="18" charset="0"/>
                              </a:rPr>
                              <m:t>𝑨𝑩</m:t>
                            </m:r>
                          </m:sub>
                        </m:sSub>
                      </m:num>
                      <m:den>
                        <m:sSub>
                          <m:sSubPr>
                            <m:ctrlPr>
                              <a:rPr lang="en-US" sz="2000" b="1" i="1">
                                <a:solidFill>
                                  <a:srgbClr val="FF0000"/>
                                </a:solidFill>
                                <a:latin typeface="Cambria Math" panose="02040503050406030204" pitchFamily="18" charset="0"/>
                              </a:rPr>
                            </m:ctrlPr>
                          </m:sSubPr>
                          <m:e>
                            <m:r>
                              <a:rPr lang="en-US" sz="2000" b="1" i="1">
                                <a:solidFill>
                                  <a:srgbClr val="FF0000"/>
                                </a:solidFill>
                                <a:latin typeface="Cambria Math" panose="02040503050406030204" pitchFamily="18" charset="0"/>
                              </a:rPr>
                              <m:t>𝝈</m:t>
                            </m:r>
                          </m:e>
                          <m:sub>
                            <m:r>
                              <a:rPr lang="en-US" sz="2000" b="1" i="1">
                                <a:solidFill>
                                  <a:srgbClr val="FF0000"/>
                                </a:solidFill>
                                <a:latin typeface="Cambria Math" panose="02040503050406030204" pitchFamily="18" charset="0"/>
                              </a:rPr>
                              <m:t>𝑨</m:t>
                            </m:r>
                          </m:sub>
                        </m:sSub>
                        <m:sSub>
                          <m:sSubPr>
                            <m:ctrlPr>
                              <a:rPr lang="en-US" sz="2000" b="1" i="1">
                                <a:solidFill>
                                  <a:srgbClr val="FF0000"/>
                                </a:solidFill>
                                <a:latin typeface="Cambria Math" panose="02040503050406030204" pitchFamily="18" charset="0"/>
                              </a:rPr>
                            </m:ctrlPr>
                          </m:sSubPr>
                          <m:e>
                            <m:r>
                              <a:rPr lang="en-US" sz="2000" b="1" i="1">
                                <a:solidFill>
                                  <a:srgbClr val="FF0000"/>
                                </a:solidFill>
                                <a:latin typeface="Cambria Math" panose="02040503050406030204" pitchFamily="18" charset="0"/>
                              </a:rPr>
                              <m:t>𝝈</m:t>
                            </m:r>
                          </m:e>
                          <m:sub>
                            <m:r>
                              <a:rPr lang="en-US" sz="2000" b="1" i="1" smtClean="0">
                                <a:solidFill>
                                  <a:srgbClr val="FF0000"/>
                                </a:solidFill>
                                <a:latin typeface="Cambria Math" panose="02040503050406030204" pitchFamily="18" charset="0"/>
                              </a:rPr>
                              <m:t>𝑩</m:t>
                            </m:r>
                          </m:sub>
                        </m:sSub>
                      </m:den>
                    </m:f>
                  </m:oMath>
                </a14:m>
                <a:endParaRPr lang="en-US" sz="2000" b="0">
                  <a:latin typeface="National semibold" panose="02000503000000020004"/>
                </a:endParaRPr>
              </a:p>
              <a:p>
                <a:pPr marL="0" indent="0">
                  <a:buNone/>
                </a:pPr>
                <a:endParaRPr lang="en-US">
                  <a:latin typeface="National semibold" panose="02000503000000020004"/>
                </a:endParaRPr>
              </a:p>
              <a:p>
                <a:pPr marL="0" indent="0">
                  <a:buNone/>
                </a:pPr>
                <a:endParaRPr lang="en-US">
                  <a:latin typeface="National semibold" panose="02000503000000020004"/>
                </a:endParaRPr>
              </a:p>
              <a:p>
                <a:pPr marL="0" indent="0">
                  <a:buNone/>
                </a:pPr>
                <a:endParaRPr lang="en-US">
                  <a:latin typeface="National semibold" panose="02000503000000020004"/>
                </a:endParaRPr>
              </a:p>
            </p:txBody>
          </p:sp>
        </mc:Choice>
        <mc:Fallback xmlns="">
          <p:sp>
            <p:nvSpPr>
              <p:cNvPr id="3" name="Content Placeholder 2">
                <a:extLst>
                  <a:ext uri="{FF2B5EF4-FFF2-40B4-BE49-F238E27FC236}">
                    <a16:creationId xmlns:a16="http://schemas.microsoft.com/office/drawing/2014/main" id="{09A2F897-2643-4490-93FF-4FF458F15722}"/>
                  </a:ext>
                </a:extLst>
              </p:cNvPr>
              <p:cNvSpPr>
                <a:spLocks noGrp="1" noRot="1" noChangeAspect="1" noMove="1" noResize="1" noEditPoints="1" noAdjustHandles="1" noChangeArrowheads="1" noChangeShapeType="1" noTextEdit="1"/>
              </p:cNvSpPr>
              <p:nvPr>
                <p:ph idx="1"/>
              </p:nvPr>
            </p:nvSpPr>
            <p:spPr>
              <a:xfrm>
                <a:off x="1511441" y="1835285"/>
                <a:ext cx="10236422" cy="4648200"/>
              </a:xfrm>
              <a:blipFill>
                <a:blip r:embed="rId2"/>
                <a:stretch>
                  <a:fillRect l="-238" t="-1835"/>
                </a:stretch>
              </a:blipFill>
            </p:spPr>
            <p:txBody>
              <a:bodyPr/>
              <a:lstStyle/>
              <a:p>
                <a:r>
                  <a:rPr lang="en-US">
                    <a:noFill/>
                  </a:rPr>
                  <a:t> </a:t>
                </a:r>
              </a:p>
            </p:txBody>
          </p:sp>
        </mc:Fallback>
      </mc:AlternateContent>
    </p:spTree>
    <p:extLst>
      <p:ext uri="{BB962C8B-B14F-4D97-AF65-F5344CB8AC3E}">
        <p14:creationId xmlns:p14="http://schemas.microsoft.com/office/powerpoint/2010/main" val="4177771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Theory of Portfolio Diversification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678324" y="1835285"/>
                <a:ext cx="9528392" cy="4648200"/>
              </a:xfrm>
            </p:spPr>
            <p:txBody>
              <a:bodyPr>
                <a:normAutofit/>
              </a:bodyPr>
              <a:lstStyle/>
              <a:p>
                <a:r>
                  <a:rPr lang="en-US" b="0">
                    <a:latin typeface="National semibold" panose="02000503000000020004"/>
                  </a:rPr>
                  <a:t>There are two securities: </a:t>
                </a:r>
                <a:r>
                  <a:rPr lang="en-US" b="0" i="1" u="sng">
                    <a:latin typeface="National semibold" panose="02000503000000020004"/>
                  </a:rPr>
                  <a:t>security A</a:t>
                </a:r>
                <a:r>
                  <a:rPr lang="en-US" b="0">
                    <a:latin typeface="National semibold" panose="02000503000000020004"/>
                  </a:rPr>
                  <a:t> and </a:t>
                </a:r>
                <a:r>
                  <a:rPr lang="en-US" b="0" i="1" u="sng">
                    <a:latin typeface="National semibold" panose="02000503000000020004"/>
                  </a:rPr>
                  <a:t>security B</a:t>
                </a:r>
                <a:r>
                  <a:rPr lang="en-US">
                    <a:latin typeface="National semibold" panose="02000503000000020004"/>
                  </a:rPr>
                  <a:t>:</a:t>
                </a:r>
                <a:r>
                  <a:rPr lang="en-US" b="0">
                    <a:latin typeface="National semibold" panose="02000503000000020004"/>
                  </a:rPr>
                  <a:t> </a:t>
                </a:r>
              </a:p>
              <a:p>
                <a:pPr marL="282575" lvl="1" indent="0">
                  <a:buNone/>
                </a:pPr>
                <a:r>
                  <a:rPr lang="en-US" b="0">
                    <a:latin typeface="National semibold" panose="02000503000000020004"/>
                  </a:rPr>
                  <a:t>	Expected returns: </a:t>
                </a:r>
                <a14:m>
                  <m:oMath xmlns:m="http://schemas.openxmlformats.org/officeDocument/2006/math">
                    <m:sSup>
                      <m:sSupPr>
                        <m:ctrlPr>
                          <a:rPr lang="en-US" b="0" i="1" smtClean="0">
                            <a:solidFill>
                              <a:srgbClr val="FF0000"/>
                            </a:solidFill>
                            <a:latin typeface="Cambria Math" panose="02040503050406030204" pitchFamily="18" charset="0"/>
                          </a:rPr>
                        </m:ctrlPr>
                      </m:sSup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𝑟</m:t>
                            </m:r>
                          </m:e>
                        </m:acc>
                      </m:e>
                      <m:sup>
                        <m:r>
                          <a:rPr lang="en-US" b="0" i="1" smtClean="0">
                            <a:solidFill>
                              <a:srgbClr val="FF0000"/>
                            </a:solidFill>
                            <a:latin typeface="Cambria Math" panose="02040503050406030204" pitchFamily="18" charset="0"/>
                          </a:rPr>
                          <m:t>𝐴</m:t>
                        </m:r>
                      </m:sup>
                    </m:sSup>
                  </m:oMath>
                </a14:m>
                <a:r>
                  <a:rPr lang="en-US" b="0">
                    <a:latin typeface="National semibold" panose="02000503000000020004"/>
                  </a:rPr>
                  <a:t> and </a:t>
                </a:r>
                <a14:m>
                  <m:oMath xmlns:m="http://schemas.openxmlformats.org/officeDocument/2006/math">
                    <m:sSup>
                      <m:sSupPr>
                        <m:ctrlPr>
                          <a:rPr lang="en-US" b="0" i="1" smtClean="0">
                            <a:solidFill>
                              <a:srgbClr val="FF0000"/>
                            </a:solidFill>
                            <a:latin typeface="Cambria Math" panose="02040503050406030204" pitchFamily="18" charset="0"/>
                          </a:rPr>
                        </m:ctrlPr>
                      </m:sSup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𝑟</m:t>
                            </m:r>
                          </m:e>
                        </m:acc>
                      </m:e>
                      <m:sup>
                        <m:r>
                          <a:rPr lang="en-US" b="0" i="1" smtClean="0">
                            <a:solidFill>
                              <a:srgbClr val="FF0000"/>
                            </a:solidFill>
                            <a:latin typeface="Cambria Math" panose="02040503050406030204" pitchFamily="18" charset="0"/>
                          </a:rPr>
                          <m:t>𝐵</m:t>
                        </m:r>
                      </m:sup>
                    </m:sSup>
                  </m:oMath>
                </a14:m>
                <a:endParaRPr lang="en-US" b="0">
                  <a:latin typeface="National semibold" panose="02000503000000020004"/>
                </a:endParaRPr>
              </a:p>
              <a:p>
                <a:pPr marL="282575" lvl="1" indent="0">
                  <a:buNone/>
                </a:pPr>
                <a:r>
                  <a:rPr lang="en-US">
                    <a:latin typeface="National semibold" panose="02000503000000020004"/>
                  </a:rPr>
                  <a:t>	Standard deviations: </a:t>
                </a:r>
                <a14:m>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𝜎</m:t>
                        </m:r>
                      </m:e>
                      <m:sub>
                        <m:r>
                          <a:rPr lang="en-US" i="1">
                            <a:solidFill>
                              <a:srgbClr val="FF0000"/>
                            </a:solidFill>
                            <a:latin typeface="Cambria Math" panose="02040503050406030204" pitchFamily="18" charset="0"/>
                          </a:rPr>
                          <m:t>𝐴</m:t>
                        </m:r>
                      </m:sub>
                      <m:sup>
                        <m:r>
                          <a:rPr lang="en-US" i="1">
                            <a:solidFill>
                              <a:srgbClr val="FF0000"/>
                            </a:solidFill>
                            <a:latin typeface="Cambria Math" panose="02040503050406030204" pitchFamily="18" charset="0"/>
                          </a:rPr>
                          <m:t> </m:t>
                        </m:r>
                      </m:sup>
                    </m:sSubSup>
                  </m:oMath>
                </a14:m>
                <a:r>
                  <a:rPr lang="en-US">
                    <a:latin typeface="National semibold" panose="02000503000000020004"/>
                  </a:rPr>
                  <a:t> and </a:t>
                </a:r>
                <a14:m>
                  <m:oMath xmlns:m="http://schemas.openxmlformats.org/officeDocument/2006/math">
                    <m:sSubSup>
                      <m:sSubSupPr>
                        <m:ctrlPr>
                          <a:rPr lang="en-US" i="1">
                            <a:solidFill>
                              <a:srgbClr val="FF0000"/>
                            </a:solidFill>
                            <a:latin typeface="Cambria Math" panose="02040503050406030204" pitchFamily="18" charset="0"/>
                          </a:rPr>
                        </m:ctrlPr>
                      </m:sSubSupPr>
                      <m:e>
                        <m:r>
                          <a:rPr lang="en-US" i="1">
                            <a:solidFill>
                              <a:srgbClr val="FF0000"/>
                            </a:solidFill>
                            <a:latin typeface="Cambria Math" panose="02040503050406030204" pitchFamily="18" charset="0"/>
                          </a:rPr>
                          <m:t>𝜎</m:t>
                        </m:r>
                      </m:e>
                      <m:sub>
                        <m:r>
                          <a:rPr lang="en-US" b="0" i="1" smtClean="0">
                            <a:solidFill>
                              <a:srgbClr val="FF0000"/>
                            </a:solidFill>
                            <a:latin typeface="Cambria Math" panose="02040503050406030204" pitchFamily="18" charset="0"/>
                          </a:rPr>
                          <m:t>𝐵</m:t>
                        </m:r>
                      </m:sub>
                      <m:sup>
                        <m:r>
                          <a:rPr lang="en-US" i="1">
                            <a:solidFill>
                              <a:srgbClr val="FF0000"/>
                            </a:solidFill>
                            <a:latin typeface="Cambria Math" panose="02040503050406030204" pitchFamily="18" charset="0"/>
                          </a:rPr>
                          <m:t> </m:t>
                        </m:r>
                      </m:sup>
                    </m:sSubSup>
                  </m:oMath>
                </a14:m>
                <a:r>
                  <a:rPr lang="en-US">
                    <a:latin typeface="National semibold" panose="02000503000000020004"/>
                  </a:rPr>
                  <a:t> </a:t>
                </a:r>
              </a:p>
              <a:p>
                <a:pPr marL="282575" lvl="1" indent="0">
                  <a:buNone/>
                </a:pPr>
                <a:r>
                  <a:rPr lang="en-US">
                    <a:latin typeface="National semibold" panose="02000503000000020004"/>
                  </a:rPr>
                  <a:t>	Correlation or returns: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𝜌</m:t>
                        </m:r>
                      </m:e>
                      <m:sub>
                        <m:r>
                          <a:rPr lang="en-US" b="0" i="1" smtClean="0">
                            <a:solidFill>
                              <a:srgbClr val="FF0000"/>
                            </a:solidFill>
                            <a:latin typeface="Cambria Math" panose="02040503050406030204" pitchFamily="18" charset="0"/>
                          </a:rPr>
                          <m:t>𝐴𝐵</m:t>
                        </m:r>
                      </m:sub>
                    </m:sSub>
                  </m:oMath>
                </a14:m>
                <a:endParaRPr lang="en-US">
                  <a:latin typeface="National semibold" panose="02000503000000020004"/>
                </a:endParaRPr>
              </a:p>
              <a:p>
                <a:r>
                  <a:rPr lang="en-US" b="0">
                    <a:latin typeface="National semibold" panose="02000503000000020004"/>
                  </a:rPr>
                  <a:t>Suppose that the investor’s portfolio contains a fraction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𝛼</m:t>
                        </m:r>
                      </m:e>
                      <m:sub>
                        <m:r>
                          <a:rPr lang="en-US" b="0" i="1" smtClean="0">
                            <a:solidFill>
                              <a:srgbClr val="FF0000"/>
                            </a:solidFill>
                            <a:latin typeface="Cambria Math" panose="02040503050406030204" pitchFamily="18" charset="0"/>
                          </a:rPr>
                          <m:t>𝐴</m:t>
                        </m:r>
                      </m:sub>
                    </m:sSub>
                  </m:oMath>
                </a14:m>
                <a:r>
                  <a:rPr lang="en-US" b="0">
                    <a:latin typeface="National semibold" panose="02000503000000020004"/>
                  </a:rPr>
                  <a:t> </a:t>
                </a:r>
                <a:r>
                  <a:rPr lang="en-US">
                    <a:latin typeface="National semibold" panose="02000503000000020004"/>
                  </a:rPr>
                  <a:t>of</a:t>
                </a:r>
                <a:r>
                  <a:rPr lang="en-US" b="0">
                    <a:latin typeface="National semibold" panose="02000503000000020004"/>
                  </a:rPr>
                  <a:t> security A and a fraction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𝛼</m:t>
                        </m:r>
                      </m:e>
                      <m:sub>
                        <m:r>
                          <a:rPr lang="en-US" b="0" i="1" smtClean="0">
                            <a:solidFill>
                              <a:srgbClr val="FF0000"/>
                            </a:solidFill>
                            <a:latin typeface="Cambria Math" panose="02040503050406030204" pitchFamily="18" charset="0"/>
                          </a:rPr>
                          <m:t>𝐵</m:t>
                        </m:r>
                      </m:sub>
                    </m:sSub>
                  </m:oMath>
                </a14:m>
                <a:r>
                  <a:rPr lang="en-US">
                    <a:latin typeface="National semibold" panose="02000503000000020004"/>
                  </a:rPr>
                  <a:t> of security B. The expected return and variance of the portfolio are</a:t>
                </a:r>
                <a:endParaRPr lang="en-US" b="0">
                  <a:latin typeface="National semibold" panose="02000503000000020004"/>
                </a:endParaRPr>
              </a:p>
              <a:p>
                <a:pPr marL="0" indent="0">
                  <a:buNone/>
                </a:pPr>
                <a:r>
                  <a:rPr lang="en-US" b="1">
                    <a:solidFill>
                      <a:srgbClr val="FF0000"/>
                    </a:solidFill>
                  </a:rPr>
                  <a:t>	  </a:t>
                </a:r>
                <a14:m>
                  <m:oMath xmlns:m="http://schemas.openxmlformats.org/officeDocument/2006/math">
                    <m:r>
                      <a:rPr lang="en-US" b="1" i="1" smtClean="0">
                        <a:solidFill>
                          <a:srgbClr val="FF0000"/>
                        </a:solidFill>
                        <a:latin typeface="Cambria Math" panose="02040503050406030204" pitchFamily="18" charset="0"/>
                      </a:rPr>
                      <m:t>𝑬𝒙𝒑𝒆𝒄𝒕𝒆𝒅</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𝑹𝒆𝒕𝒓𝒖𝒏</m:t>
                    </m:r>
                    <m:r>
                      <a:rPr lang="en-US" b="1" i="1" smtClean="0">
                        <a:solidFill>
                          <a:srgbClr val="FF0000"/>
                        </a:solidFill>
                        <a:latin typeface="Cambria Math" panose="02040503050406030204" pitchFamily="18" charset="0"/>
                      </a:rPr>
                      <m:t>,   </m:t>
                    </m:r>
                    <m:sSub>
                      <m:sSubPr>
                        <m:ctrlPr>
                          <a:rPr lang="en-US" b="1" i="1" smtClean="0">
                            <a:solidFill>
                              <a:srgbClr val="FF0000"/>
                            </a:solidFill>
                            <a:latin typeface="Cambria Math" panose="02040503050406030204" pitchFamily="18" charset="0"/>
                          </a:rPr>
                        </m:ctrlPr>
                      </m:sSubPr>
                      <m:e>
                        <m:acc>
                          <m:accPr>
                            <m:chr m:val="̅"/>
                            <m:ctrlPr>
                              <a:rPr lang="en-US" b="1"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𝑟</m:t>
                            </m:r>
                          </m:e>
                        </m:acc>
                      </m:e>
                      <m:sub>
                        <m:r>
                          <a:rPr lang="en-US" b="1" i="1" smtClean="0">
                            <a:solidFill>
                              <a:srgbClr val="FF0000"/>
                            </a:solidFill>
                            <a:latin typeface="Cambria Math" panose="02040503050406030204" pitchFamily="18" charset="0"/>
                          </a:rPr>
                          <m:t>𝑷</m:t>
                        </m:r>
                      </m:sub>
                    </m:sSub>
                    <m:r>
                      <a:rPr lang="en-US" b="0" i="1" smtClean="0">
                        <a:solidFill>
                          <a:schemeClr val="tx1"/>
                        </a:solidFill>
                        <a:latin typeface="Cambria Math" panose="02040503050406030204" pitchFamily="18" charset="0"/>
                      </a:rPr>
                      <m:t>=</m:t>
                    </m:r>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𝛼</m:t>
                        </m:r>
                      </m:e>
                      <m:sub>
                        <m:r>
                          <a:rPr lang="en-US" b="0" i="1" smtClean="0">
                            <a:solidFill>
                              <a:srgbClr val="FF0000"/>
                            </a:solidFill>
                            <a:latin typeface="Cambria Math" panose="02040503050406030204" pitchFamily="18" charset="0"/>
                          </a:rPr>
                          <m:t>𝐴</m:t>
                        </m:r>
                      </m:sub>
                    </m:sSub>
                    <m:r>
                      <a:rPr lang="en-US" b="0" i="1" smtClean="0">
                        <a:solidFill>
                          <a:srgbClr val="FF0000"/>
                        </a:solidFill>
                        <a:latin typeface="Cambria Math" panose="02040503050406030204" pitchFamily="18" charset="0"/>
                      </a:rPr>
                      <m:t> </m:t>
                    </m:r>
                    <m:sSub>
                      <m:sSubPr>
                        <m:ctrlPr>
                          <a:rPr lang="en-US" b="0" i="1" smtClean="0">
                            <a:solidFill>
                              <a:srgbClr val="FF0000"/>
                            </a:solidFill>
                            <a:latin typeface="Cambria Math" panose="02040503050406030204" pitchFamily="18" charset="0"/>
                          </a:rPr>
                        </m:ctrlPr>
                      </m:sSubPr>
                      <m:e>
                        <m:acc>
                          <m:accPr>
                            <m:chr m:val="̅"/>
                            <m:ctrlPr>
                              <a:rPr lang="en-US" b="0" i="1" smtClean="0">
                                <a:solidFill>
                                  <a:srgbClr val="FF0000"/>
                                </a:solidFill>
                                <a:latin typeface="Cambria Math" panose="02040503050406030204" pitchFamily="18" charset="0"/>
                              </a:rPr>
                            </m:ctrlPr>
                          </m:accPr>
                          <m:e>
                            <m:r>
                              <a:rPr lang="en-US" b="0" i="1" smtClean="0">
                                <a:solidFill>
                                  <a:srgbClr val="FF0000"/>
                                </a:solidFill>
                                <a:latin typeface="Cambria Math" panose="02040503050406030204" pitchFamily="18" charset="0"/>
                              </a:rPr>
                              <m:t>𝑟</m:t>
                            </m:r>
                          </m:e>
                        </m:acc>
                      </m:e>
                      <m:sub>
                        <m:r>
                          <a:rPr lang="en-US" b="0" i="1" smtClean="0">
                            <a:solidFill>
                              <a:srgbClr val="FF0000"/>
                            </a:solidFill>
                            <a:latin typeface="Cambria Math" panose="02040503050406030204" pitchFamily="18" charset="0"/>
                          </a:rPr>
                          <m:t>𝐴</m:t>
                        </m:r>
                      </m:sub>
                    </m:sSub>
                    <m:r>
                      <a:rPr lang="en-US" b="0" i="1" smtClean="0">
                        <a:solidFill>
                          <a:schemeClr val="tx1"/>
                        </a:solidFill>
                        <a:latin typeface="Cambria Math" panose="02040503050406030204" pitchFamily="18" charset="0"/>
                      </a:rPr>
                      <m:t>+</m:t>
                    </m:r>
                    <m:sSub>
                      <m:sSubPr>
                        <m:ctrlPr>
                          <a:rPr lang="en-US" i="1">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𝛼</m:t>
                        </m:r>
                      </m:e>
                      <m:sub>
                        <m:r>
                          <a:rPr lang="en-US" b="0" i="1" smtClean="0">
                            <a:solidFill>
                              <a:srgbClr val="FF0000"/>
                            </a:solidFill>
                            <a:latin typeface="Cambria Math" panose="02040503050406030204" pitchFamily="18" charset="0"/>
                          </a:rPr>
                          <m:t>𝐵</m:t>
                        </m:r>
                      </m:sub>
                    </m:sSub>
                    <m:r>
                      <a:rPr lang="en-US" i="1">
                        <a:solidFill>
                          <a:srgbClr val="FF0000"/>
                        </a:solidFill>
                        <a:latin typeface="Cambria Math" panose="02040503050406030204" pitchFamily="18" charset="0"/>
                      </a:rPr>
                      <m:t> </m:t>
                    </m:r>
                    <m:sSub>
                      <m:sSubPr>
                        <m:ctrlPr>
                          <a:rPr lang="en-US" i="1">
                            <a:solidFill>
                              <a:srgbClr val="FF0000"/>
                            </a:solidFill>
                            <a:latin typeface="Cambria Math" panose="02040503050406030204" pitchFamily="18" charset="0"/>
                          </a:rPr>
                        </m:ctrlPr>
                      </m:sSubPr>
                      <m:e>
                        <m:acc>
                          <m:accPr>
                            <m:chr m:val="̅"/>
                            <m:ctrlPr>
                              <a:rPr lang="en-US" i="1">
                                <a:solidFill>
                                  <a:srgbClr val="FF0000"/>
                                </a:solidFill>
                                <a:latin typeface="Cambria Math" panose="02040503050406030204" pitchFamily="18" charset="0"/>
                              </a:rPr>
                            </m:ctrlPr>
                          </m:accPr>
                          <m:e>
                            <m:r>
                              <a:rPr lang="en-US" i="1">
                                <a:solidFill>
                                  <a:srgbClr val="FF0000"/>
                                </a:solidFill>
                                <a:latin typeface="Cambria Math" panose="02040503050406030204" pitchFamily="18" charset="0"/>
                              </a:rPr>
                              <m:t>𝑟</m:t>
                            </m:r>
                          </m:e>
                        </m:acc>
                      </m:e>
                      <m:sub>
                        <m:r>
                          <a:rPr lang="en-US" b="0" i="1" smtClean="0">
                            <a:solidFill>
                              <a:srgbClr val="FF0000"/>
                            </a:solidFill>
                            <a:latin typeface="Cambria Math" panose="02040503050406030204" pitchFamily="18" charset="0"/>
                          </a:rPr>
                          <m:t>𝐵</m:t>
                        </m:r>
                      </m:sub>
                    </m:sSub>
                  </m:oMath>
                </a14:m>
                <a:endParaRPr lang="en-US" i="1">
                  <a:solidFill>
                    <a:srgbClr val="FF0000"/>
                  </a:solidFill>
                  <a:latin typeface="Cambria Math" panose="02040503050406030204" pitchFamily="18" charset="0"/>
                </a:endParaRPr>
              </a:p>
              <a:p>
                <a:pPr marL="0" indent="0">
                  <a:buNone/>
                </a:pPr>
                <a:endParaRPr lang="en-US" sz="1000" i="1">
                  <a:solidFill>
                    <a:srgbClr val="FF0000"/>
                  </a:solidFill>
                  <a:latin typeface="Cambria Math" panose="02040503050406030204" pitchFamily="18" charset="0"/>
                </a:endParaRPr>
              </a:p>
              <a:p>
                <a:pPr marL="0" indent="0">
                  <a:buNone/>
                </a:pPr>
                <a:r>
                  <a:rPr lang="en-US" b="1">
                    <a:solidFill>
                      <a:srgbClr val="FF0000"/>
                    </a:solidFill>
                  </a:rPr>
                  <a:t> 	</a:t>
                </a:r>
                <a14:m>
                  <m:oMath xmlns:m="http://schemas.openxmlformats.org/officeDocument/2006/math">
                    <m:r>
                      <a:rPr lang="en-US" b="1" i="1" smtClean="0">
                        <a:solidFill>
                          <a:srgbClr val="FF0000"/>
                        </a:solidFill>
                        <a:latin typeface="Cambria Math" panose="02040503050406030204" pitchFamily="18" charset="0"/>
                      </a:rPr>
                      <m:t>𝑽𝒂𝒓𝒊𝒂𝒏𝒄𝒆</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𝒐𝒇</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𝑹𝒆𝒕𝒖𝒓𝒏</m:t>
                    </m:r>
                    <m:r>
                      <a:rPr lang="en-US" b="1" i="1" smtClean="0">
                        <a:solidFill>
                          <a:srgbClr val="FF0000"/>
                        </a:solidFill>
                        <a:latin typeface="Cambria Math" panose="02040503050406030204" pitchFamily="18" charset="0"/>
                      </a:rPr>
                      <m:t>, </m:t>
                    </m:r>
                    <m:sSubSup>
                      <m:sSubSupPr>
                        <m:ctrlPr>
                          <a:rPr lang="en-US" b="0"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𝜎</m:t>
                        </m:r>
                      </m:e>
                      <m:sub>
                        <m:r>
                          <a:rPr lang="en-US" b="0" i="1" smtClean="0">
                            <a:solidFill>
                              <a:srgbClr val="FF0000"/>
                            </a:solidFill>
                            <a:latin typeface="Cambria Math" panose="02040503050406030204" pitchFamily="18" charset="0"/>
                          </a:rPr>
                          <m:t>𝑃</m:t>
                        </m:r>
                      </m:sub>
                      <m:sup>
                        <m:r>
                          <a:rPr lang="en-US" b="0" i="1" smtClean="0">
                            <a:solidFill>
                              <a:srgbClr val="FF0000"/>
                            </a:solidFill>
                            <a:latin typeface="Cambria Math" panose="02040503050406030204" pitchFamily="18" charset="0"/>
                          </a:rPr>
                          <m:t>2</m:t>
                        </m:r>
                      </m:sup>
                    </m:sSubSup>
                    <m:r>
                      <a:rPr lang="en-US" b="0" i="1" smtClean="0">
                        <a:solidFill>
                          <a:schemeClr val="tx1"/>
                        </a:solidFill>
                        <a:latin typeface="Cambria Math" panose="02040503050406030204" pitchFamily="18" charset="0"/>
                      </a:rPr>
                      <m:t>=</m:t>
                    </m:r>
                    <m:sSubSup>
                      <m:sSubSupPr>
                        <m:ctrlPr>
                          <a:rPr lang="en-US"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𝛼</m:t>
                        </m:r>
                      </m:e>
                      <m:sub>
                        <m:r>
                          <a:rPr lang="en-US" b="0" i="1" smtClean="0">
                            <a:solidFill>
                              <a:srgbClr val="FF0000"/>
                            </a:solidFill>
                            <a:latin typeface="Cambria Math" panose="02040503050406030204" pitchFamily="18" charset="0"/>
                          </a:rPr>
                          <m:t>𝐴</m:t>
                        </m:r>
                      </m:sub>
                      <m:sup>
                        <m:r>
                          <a:rPr lang="en-US" b="0" i="1" smtClean="0">
                            <a:solidFill>
                              <a:srgbClr val="FF0000"/>
                            </a:solidFill>
                            <a:latin typeface="Cambria Math" panose="02040503050406030204" pitchFamily="18" charset="0"/>
                          </a:rPr>
                          <m:t>2</m:t>
                        </m:r>
                      </m:sup>
                    </m:sSubSup>
                    <m:sSubSup>
                      <m:sSubSupPr>
                        <m:ctrlPr>
                          <a:rPr lang="en-US"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𝜎</m:t>
                        </m:r>
                      </m:e>
                      <m:sub>
                        <m:r>
                          <a:rPr lang="en-US" b="0" i="1" smtClean="0">
                            <a:solidFill>
                              <a:srgbClr val="FF0000"/>
                            </a:solidFill>
                            <a:latin typeface="Cambria Math" panose="02040503050406030204" pitchFamily="18" charset="0"/>
                          </a:rPr>
                          <m:t>𝐴</m:t>
                        </m:r>
                      </m:sub>
                      <m:sup>
                        <m:r>
                          <a:rPr lang="en-US" b="0" i="1" smtClean="0">
                            <a:solidFill>
                              <a:srgbClr val="FF0000"/>
                            </a:solidFill>
                            <a:latin typeface="Cambria Math" panose="02040503050406030204" pitchFamily="18" charset="0"/>
                          </a:rPr>
                          <m:t>2</m:t>
                        </m:r>
                      </m:sup>
                    </m:sSubSup>
                    <m:r>
                      <a:rPr lang="en-US" b="0" i="1" smtClean="0">
                        <a:solidFill>
                          <a:schemeClr val="tx1"/>
                        </a:solidFill>
                        <a:latin typeface="Cambria Math" panose="02040503050406030204" pitchFamily="18" charset="0"/>
                      </a:rPr>
                      <m:t>+</m:t>
                    </m:r>
                    <m:sSubSup>
                      <m:sSubSupPr>
                        <m:ctrlPr>
                          <a:rPr lang="en-US"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𝛼</m:t>
                        </m:r>
                      </m:e>
                      <m:sub>
                        <m:r>
                          <a:rPr lang="en-US" b="0" i="1" smtClean="0">
                            <a:solidFill>
                              <a:srgbClr val="FF0000"/>
                            </a:solidFill>
                            <a:latin typeface="Cambria Math" panose="02040503050406030204" pitchFamily="18" charset="0"/>
                          </a:rPr>
                          <m:t>𝐵</m:t>
                        </m:r>
                      </m:sub>
                      <m:sup>
                        <m:r>
                          <a:rPr lang="en-US" b="0" i="1" smtClean="0">
                            <a:solidFill>
                              <a:srgbClr val="FF0000"/>
                            </a:solidFill>
                            <a:latin typeface="Cambria Math" panose="02040503050406030204" pitchFamily="18" charset="0"/>
                          </a:rPr>
                          <m:t>2</m:t>
                        </m:r>
                      </m:sup>
                    </m:sSubSup>
                    <m:sSubSup>
                      <m:sSubSupPr>
                        <m:ctrlPr>
                          <a:rPr lang="en-US" i="1" smtClean="0">
                            <a:solidFill>
                              <a:srgbClr val="FF0000"/>
                            </a:solidFill>
                            <a:latin typeface="Cambria Math" panose="02040503050406030204" pitchFamily="18" charset="0"/>
                          </a:rPr>
                        </m:ctrlPr>
                      </m:sSubSupPr>
                      <m:e>
                        <m:r>
                          <a:rPr lang="en-US" b="0" i="1" smtClean="0">
                            <a:solidFill>
                              <a:srgbClr val="FF0000"/>
                            </a:solidFill>
                            <a:latin typeface="Cambria Math" panose="02040503050406030204" pitchFamily="18" charset="0"/>
                          </a:rPr>
                          <m:t>𝜎</m:t>
                        </m:r>
                      </m:e>
                      <m:sub>
                        <m:r>
                          <a:rPr lang="en-US" b="0" i="1" smtClean="0">
                            <a:solidFill>
                              <a:srgbClr val="FF0000"/>
                            </a:solidFill>
                            <a:latin typeface="Cambria Math" panose="02040503050406030204" pitchFamily="18" charset="0"/>
                          </a:rPr>
                          <m:t>𝐵</m:t>
                        </m:r>
                      </m:sub>
                      <m:sup>
                        <m:r>
                          <a:rPr lang="en-US" b="0" i="1" smtClean="0">
                            <a:solidFill>
                              <a:srgbClr val="FF0000"/>
                            </a:solidFill>
                            <a:latin typeface="Cambria Math" panose="02040503050406030204" pitchFamily="18" charset="0"/>
                          </a:rPr>
                          <m:t>2</m:t>
                        </m:r>
                      </m:sup>
                    </m:sSubSup>
                    <m:r>
                      <a:rPr lang="en-US" b="0" i="1" smtClean="0">
                        <a:solidFill>
                          <a:schemeClr val="tx1"/>
                        </a:solidFill>
                        <a:latin typeface="Cambria Math" panose="02040503050406030204" pitchFamily="18" charset="0"/>
                      </a:rPr>
                      <m:t>+2</m:t>
                    </m:r>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𝛼</m:t>
                        </m:r>
                      </m:e>
                      <m:sub>
                        <m:r>
                          <a:rPr lang="en-US" b="0" i="1" smtClean="0">
                            <a:solidFill>
                              <a:srgbClr val="FF0000"/>
                            </a:solidFill>
                            <a:latin typeface="Cambria Math" panose="02040503050406030204" pitchFamily="18" charset="0"/>
                          </a:rPr>
                          <m:t>𝐴</m:t>
                        </m:r>
                      </m:sub>
                    </m:sSub>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𝛼</m:t>
                        </m:r>
                      </m:e>
                      <m:sub>
                        <m:r>
                          <a:rPr lang="en-US" b="0" i="1" smtClean="0">
                            <a:solidFill>
                              <a:srgbClr val="FF0000"/>
                            </a:solidFill>
                            <a:latin typeface="Cambria Math" panose="02040503050406030204" pitchFamily="18" charset="0"/>
                          </a:rPr>
                          <m:t>𝐵</m:t>
                        </m:r>
                      </m:sub>
                    </m:sSub>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𝜎</m:t>
                        </m:r>
                      </m:e>
                      <m:sub>
                        <m:r>
                          <a:rPr lang="en-US" b="0" i="1" smtClean="0">
                            <a:solidFill>
                              <a:srgbClr val="FF0000"/>
                            </a:solidFill>
                            <a:latin typeface="Cambria Math" panose="02040503050406030204" pitchFamily="18" charset="0"/>
                          </a:rPr>
                          <m:t>𝐴</m:t>
                        </m:r>
                      </m:sub>
                    </m:sSub>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𝜎</m:t>
                        </m:r>
                      </m:e>
                      <m:sub>
                        <m:r>
                          <a:rPr lang="en-US" b="0" i="1" smtClean="0">
                            <a:solidFill>
                              <a:srgbClr val="FF0000"/>
                            </a:solidFill>
                            <a:latin typeface="Cambria Math" panose="02040503050406030204" pitchFamily="18" charset="0"/>
                          </a:rPr>
                          <m:t>𝐵</m:t>
                        </m:r>
                      </m:sub>
                    </m:sSub>
                    <m:sSub>
                      <m:sSubPr>
                        <m:ctrlPr>
                          <a:rPr lang="en-US"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𝜌</m:t>
                        </m:r>
                      </m:e>
                      <m:sub>
                        <m:r>
                          <a:rPr lang="en-US" b="0" i="1" smtClean="0">
                            <a:solidFill>
                              <a:srgbClr val="FF0000"/>
                            </a:solidFill>
                            <a:latin typeface="Cambria Math" panose="02040503050406030204" pitchFamily="18" charset="0"/>
                          </a:rPr>
                          <m:t>𝐴𝐵</m:t>
                        </m:r>
                      </m:sub>
                    </m:sSub>
                  </m:oMath>
                </a14:m>
                <a:endParaRPr lang="en-US">
                  <a:latin typeface="National semibold" panose="02000503000000020004"/>
                </a:endParaRPr>
              </a:p>
              <a:p>
                <a:pPr marL="0" indent="0">
                  <a:buNone/>
                </a:pPr>
                <a:endParaRPr lang="en-US">
                  <a:latin typeface="National semibold" panose="02000503000000020004"/>
                </a:endParaRPr>
              </a:p>
              <a:p>
                <a:pPr marL="0" indent="0">
                  <a:buNone/>
                </a:pPr>
                <a:endParaRPr lang="en-US">
                  <a:latin typeface="National semibold" panose="02000503000000020004"/>
                </a:endParaRPr>
              </a:p>
            </p:txBody>
          </p:sp>
        </mc:Choice>
        <mc:Fallback xmlns="">
          <p:sp>
            <p:nvSpPr>
              <p:cNvPr id="3" name="Content Placeholder 2">
                <a:extLst>
                  <a:ext uri="{FF2B5EF4-FFF2-40B4-BE49-F238E27FC236}">
                    <a16:creationId xmlns:a16="http://schemas.microsoft.com/office/drawing/2014/main" id="{09A2F897-2643-4490-93FF-4FF458F15722}"/>
                  </a:ext>
                </a:extLst>
              </p:cNvPr>
              <p:cNvSpPr>
                <a:spLocks noGrp="1" noRot="1" noChangeAspect="1" noMove="1" noResize="1" noEditPoints="1" noAdjustHandles="1" noChangeArrowheads="1" noChangeShapeType="1" noTextEdit="1"/>
              </p:cNvSpPr>
              <p:nvPr>
                <p:ph idx="1"/>
              </p:nvPr>
            </p:nvSpPr>
            <p:spPr>
              <a:xfrm>
                <a:off x="1678324" y="1835285"/>
                <a:ext cx="9528392" cy="4648200"/>
              </a:xfrm>
              <a:blipFill>
                <a:blip r:embed="rId2"/>
                <a:stretch>
                  <a:fillRect l="-448" t="-1835"/>
                </a:stretch>
              </a:blipFill>
            </p:spPr>
            <p:txBody>
              <a:bodyPr/>
              <a:lstStyle/>
              <a:p>
                <a:r>
                  <a:rPr lang="en-US">
                    <a:noFill/>
                  </a:rPr>
                  <a:t> </a:t>
                </a:r>
              </a:p>
            </p:txBody>
          </p:sp>
        </mc:Fallback>
      </mc:AlternateContent>
    </p:spTree>
    <p:extLst>
      <p:ext uri="{BB962C8B-B14F-4D97-AF65-F5344CB8AC3E}">
        <p14:creationId xmlns:p14="http://schemas.microsoft.com/office/powerpoint/2010/main" val="3966284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Example:</a:t>
                </a:r>
                <a14:m>
                  <m:oMath xmlns:m="http://schemas.openxmlformats.org/officeDocument/2006/math">
                    <m:r>
                      <a:rPr lang="en-US" sz="2800" b="1" i="0" smtClean="0">
                        <a:solidFill>
                          <a:srgbClr val="FF0000"/>
                        </a:solidFill>
                        <a:latin typeface="Cambria Math" panose="02040503050406030204" pitchFamily="18" charset="0"/>
                      </a:rPr>
                      <m:t> </m:t>
                    </m:r>
                  </m:oMath>
                </a14:m>
                <a:br>
                  <a:rPr lang="en-US" sz="2800" b="1" i="0">
                    <a:solidFill>
                      <a:srgbClr val="FF0000"/>
                    </a:solidFill>
                    <a:latin typeface="Cambria Math" panose="02040503050406030204" pitchFamily="18" charset="0"/>
                  </a:rPr>
                </a:br>
                <a14:m>
                  <m:oMath xmlns:m="http://schemas.openxmlformats.org/officeDocument/2006/math">
                    <m:sSup>
                      <m:sSupPr>
                        <m:ctrlPr>
                          <a:rPr lang="en-US" sz="2800" b="0" i="1" smtClean="0">
                            <a:solidFill>
                              <a:srgbClr val="FF0000"/>
                            </a:solidFill>
                            <a:latin typeface="Cambria Math" panose="02040503050406030204" pitchFamily="18" charset="0"/>
                          </a:rPr>
                        </m:ctrlPr>
                      </m:sSupPr>
                      <m:e>
                        <m:acc>
                          <m:accPr>
                            <m:chr m:val="̅"/>
                            <m:ctrlPr>
                              <a:rPr lang="en-US" sz="2800" i="1">
                                <a:solidFill>
                                  <a:srgbClr val="FF0000"/>
                                </a:solidFill>
                                <a:latin typeface="Cambria Math" panose="02040503050406030204" pitchFamily="18" charset="0"/>
                              </a:rPr>
                            </m:ctrlPr>
                          </m:accPr>
                          <m:e>
                            <m:r>
                              <a:rPr lang="en-US" sz="2800" i="1">
                                <a:solidFill>
                                  <a:srgbClr val="FF0000"/>
                                </a:solidFill>
                                <a:latin typeface="Cambria Math" panose="02040503050406030204" pitchFamily="18" charset="0"/>
                              </a:rPr>
                              <m:t>𝑟</m:t>
                            </m:r>
                          </m:e>
                        </m:acc>
                      </m:e>
                      <m:sup>
                        <m:r>
                          <a:rPr lang="en-US" sz="2800" b="0" i="1" smtClean="0">
                            <a:solidFill>
                              <a:srgbClr val="FF0000"/>
                            </a:solidFill>
                            <a:latin typeface="Cambria Math" panose="02040503050406030204" pitchFamily="18" charset="0"/>
                          </a:rPr>
                          <m:t>𝐴</m:t>
                        </m:r>
                      </m:sup>
                    </m:sSup>
                    <m:r>
                      <a:rPr lang="en-US" sz="2800" b="0" i="0" smtClean="0">
                        <a:solidFill>
                          <a:srgbClr val="FF0000"/>
                        </a:solidFill>
                        <a:latin typeface="Cambria Math" panose="02040503050406030204" pitchFamily="18" charset="0"/>
                      </a:rPr>
                      <m:t>=0.07,</m:t>
                    </m:r>
                  </m:oMath>
                </a14:m>
                <a:r>
                  <a:rPr lang="en-US" sz="2800" b="0">
                    <a:latin typeface="National semibold" panose="02000503000000020004"/>
                  </a:rPr>
                  <a:t> </a:t>
                </a:r>
                <a14:m>
                  <m:oMath xmlns:m="http://schemas.openxmlformats.org/officeDocument/2006/math">
                    <m:sSup>
                      <m:sSupPr>
                        <m:ctrlPr>
                          <a:rPr lang="en-US" sz="2800" b="0" i="1" smtClean="0">
                            <a:solidFill>
                              <a:srgbClr val="FF0000"/>
                            </a:solidFill>
                            <a:latin typeface="Cambria Math" panose="02040503050406030204" pitchFamily="18" charset="0"/>
                          </a:rPr>
                        </m:ctrlPr>
                      </m:sSupPr>
                      <m:e>
                        <m:acc>
                          <m:accPr>
                            <m:chr m:val="̅"/>
                            <m:ctrlPr>
                              <a:rPr lang="en-US" sz="2800" i="1">
                                <a:solidFill>
                                  <a:srgbClr val="FF0000"/>
                                </a:solidFill>
                                <a:latin typeface="Cambria Math" panose="02040503050406030204" pitchFamily="18" charset="0"/>
                              </a:rPr>
                            </m:ctrlPr>
                          </m:accPr>
                          <m:e>
                            <m:r>
                              <a:rPr lang="en-US" sz="2800" i="1">
                                <a:solidFill>
                                  <a:srgbClr val="FF0000"/>
                                </a:solidFill>
                                <a:latin typeface="Cambria Math" panose="02040503050406030204" pitchFamily="18" charset="0"/>
                              </a:rPr>
                              <m:t>𝑟</m:t>
                            </m:r>
                          </m:e>
                        </m:acc>
                      </m:e>
                      <m:sup>
                        <m:r>
                          <a:rPr lang="en-US" sz="2800" b="0" i="1" smtClean="0">
                            <a:solidFill>
                              <a:srgbClr val="FF0000"/>
                            </a:solidFill>
                            <a:latin typeface="Cambria Math" panose="02040503050406030204" pitchFamily="18" charset="0"/>
                          </a:rPr>
                          <m:t>𝐵</m:t>
                        </m:r>
                      </m:sup>
                    </m:sSup>
                    <m:r>
                      <a:rPr lang="en-US" sz="2800" b="0" i="0" smtClean="0">
                        <a:solidFill>
                          <a:srgbClr val="FF0000"/>
                        </a:solidFill>
                        <a:latin typeface="Cambria Math" panose="02040503050406030204" pitchFamily="18" charset="0"/>
                      </a:rPr>
                      <m:t>=0.09</m:t>
                    </m:r>
                  </m:oMath>
                </a14:m>
                <a:r>
                  <a:rPr lang="en-US" sz="2800" b="0" i="0">
                    <a:solidFill>
                      <a:srgbClr val="FF0000"/>
                    </a:solidFill>
                    <a:latin typeface="Cambria Math" panose="02040503050406030204" pitchFamily="18" charset="0"/>
                  </a:rPr>
                  <a:t>, </a:t>
                </a:r>
                <a14:m>
                  <m:oMath xmlns:m="http://schemas.openxmlformats.org/officeDocument/2006/math">
                    <m:sSubSup>
                      <m:sSubSupPr>
                        <m:ctrlPr>
                          <a:rPr lang="en-US" sz="2800" i="1" smtClean="0">
                            <a:solidFill>
                              <a:srgbClr val="FF0000"/>
                            </a:solidFill>
                            <a:latin typeface="Cambria Math" panose="02040503050406030204" pitchFamily="18" charset="0"/>
                          </a:rPr>
                        </m:ctrlPr>
                      </m:sSubSupPr>
                      <m:e>
                        <m:r>
                          <a:rPr lang="en-US" sz="2800" b="0" i="1" smtClean="0">
                            <a:solidFill>
                              <a:srgbClr val="FF0000"/>
                            </a:solidFill>
                            <a:latin typeface="Cambria Math" panose="02040503050406030204" pitchFamily="18" charset="0"/>
                          </a:rPr>
                          <m:t>𝜎</m:t>
                        </m:r>
                      </m:e>
                      <m:sub>
                        <m:r>
                          <a:rPr lang="en-US" sz="2800" b="0" i="1" smtClean="0">
                            <a:solidFill>
                              <a:srgbClr val="FF0000"/>
                            </a:solidFill>
                            <a:latin typeface="Cambria Math" panose="02040503050406030204" pitchFamily="18" charset="0"/>
                          </a:rPr>
                          <m:t>𝐴</m:t>
                        </m:r>
                      </m:sub>
                      <m:sup>
                        <m:r>
                          <a:rPr lang="en-US" sz="2800" b="0" i="1" smtClean="0">
                            <a:solidFill>
                              <a:srgbClr val="FF0000"/>
                            </a:solidFill>
                            <a:latin typeface="Cambria Math" panose="02040503050406030204" pitchFamily="18" charset="0"/>
                          </a:rPr>
                          <m:t> </m:t>
                        </m:r>
                      </m:sup>
                    </m:sSubSup>
                    <m:r>
                      <a:rPr lang="en-US" sz="2800" b="0" i="1" smtClean="0">
                        <a:solidFill>
                          <a:srgbClr val="FF0000"/>
                        </a:solidFill>
                        <a:latin typeface="Cambria Math" panose="02040503050406030204" pitchFamily="18" charset="0"/>
                      </a:rPr>
                      <m:t>=0.05,</m:t>
                    </m:r>
                  </m:oMath>
                </a14:m>
                <a:r>
                  <a:rPr lang="en-US" sz="2800">
                    <a:solidFill>
                      <a:srgbClr val="FF0000"/>
                    </a:solidFill>
                  </a:rPr>
                  <a:t> </a:t>
                </a:r>
                <a14:m>
                  <m:oMath xmlns:m="http://schemas.openxmlformats.org/officeDocument/2006/math">
                    <m:sSubSup>
                      <m:sSubSupPr>
                        <m:ctrlPr>
                          <a:rPr lang="en-US" sz="2800" i="1" smtClean="0">
                            <a:solidFill>
                              <a:srgbClr val="FF0000"/>
                            </a:solidFill>
                            <a:latin typeface="Cambria Math" panose="02040503050406030204" pitchFamily="18" charset="0"/>
                          </a:rPr>
                        </m:ctrlPr>
                      </m:sSubSupPr>
                      <m:e>
                        <m:r>
                          <a:rPr lang="en-US" sz="2800" b="0" i="1" smtClean="0">
                            <a:solidFill>
                              <a:srgbClr val="FF0000"/>
                            </a:solidFill>
                            <a:latin typeface="Cambria Math" panose="02040503050406030204" pitchFamily="18" charset="0"/>
                          </a:rPr>
                          <m:t>𝜎</m:t>
                        </m:r>
                      </m:e>
                      <m:sub>
                        <m:r>
                          <a:rPr lang="en-US" sz="2800" b="0" i="1" smtClean="0">
                            <a:solidFill>
                              <a:srgbClr val="FF0000"/>
                            </a:solidFill>
                            <a:latin typeface="Cambria Math" panose="02040503050406030204" pitchFamily="18" charset="0"/>
                          </a:rPr>
                          <m:t>𝐵</m:t>
                        </m:r>
                      </m:sub>
                      <m:sup>
                        <m:r>
                          <a:rPr lang="en-US" sz="2800" b="0" i="1" smtClean="0">
                            <a:solidFill>
                              <a:srgbClr val="FF0000"/>
                            </a:solidFill>
                            <a:latin typeface="Cambria Math" panose="02040503050406030204" pitchFamily="18" charset="0"/>
                          </a:rPr>
                          <m:t> </m:t>
                        </m:r>
                      </m:sup>
                    </m:sSubSup>
                    <m:r>
                      <a:rPr lang="en-US" sz="2800" b="0" i="1" smtClean="0">
                        <a:solidFill>
                          <a:srgbClr val="FF0000"/>
                        </a:solidFill>
                        <a:latin typeface="Cambria Math" panose="02040503050406030204" pitchFamily="18" charset="0"/>
                      </a:rPr>
                      <m:t>=0.08</m:t>
                    </m:r>
                  </m:oMath>
                </a14:m>
                <a:r>
                  <a:rPr lang="en-US" sz="2800" b="0" i="1">
                    <a:solidFill>
                      <a:srgbClr val="FF0000"/>
                    </a:solidFill>
                    <a:latin typeface="Cambria Math" panose="02040503050406030204" pitchFamily="18" charset="0"/>
                  </a:rPr>
                  <a:t>, </a:t>
                </a:r>
                <a14:m>
                  <m:oMath xmlns:m="http://schemas.openxmlformats.org/officeDocument/2006/math">
                    <m:sSub>
                      <m:sSubPr>
                        <m:ctrlPr>
                          <a:rPr lang="en-US" sz="2800" b="0" i="1" smtClean="0">
                            <a:solidFill>
                              <a:srgbClr val="FF0000"/>
                            </a:solidFill>
                            <a:latin typeface="Cambria Math" panose="02040503050406030204" pitchFamily="18" charset="0"/>
                          </a:rPr>
                        </m:ctrlPr>
                      </m:sSubPr>
                      <m:e>
                        <m:r>
                          <a:rPr lang="en-US" sz="2800" b="0" i="1" smtClean="0">
                            <a:solidFill>
                              <a:srgbClr val="FF0000"/>
                            </a:solidFill>
                            <a:latin typeface="Cambria Math" panose="02040503050406030204" pitchFamily="18" charset="0"/>
                          </a:rPr>
                          <m:t>𝜌</m:t>
                        </m:r>
                      </m:e>
                      <m:sub>
                        <m:r>
                          <a:rPr lang="en-US" sz="2800" b="0" i="1" smtClean="0">
                            <a:solidFill>
                              <a:srgbClr val="FF0000"/>
                            </a:solidFill>
                            <a:latin typeface="Cambria Math" panose="02040503050406030204" pitchFamily="18" charset="0"/>
                          </a:rPr>
                          <m:t>𝐴𝐵</m:t>
                        </m:r>
                      </m:sub>
                    </m:sSub>
                    <m:r>
                      <a:rPr lang="en-US" sz="2800" b="0" i="1" smtClean="0">
                        <a:solidFill>
                          <a:srgbClr val="FF0000"/>
                        </a:solidFill>
                        <a:latin typeface="Cambria Math" panose="02040503050406030204" pitchFamily="18" charset="0"/>
                      </a:rPr>
                      <m:t>=0.3</m:t>
                    </m:r>
                  </m:oMath>
                </a14:m>
                <a:endParaRPr lang="en-US" sz="4000" b="1">
                  <a:latin typeface="National semibold" panose="02000503000000020004"/>
                </a:endParaRPr>
              </a:p>
            </p:txBody>
          </p:sp>
        </mc:Choice>
        <mc:Fallback xmlns="">
          <p:sp>
            <p:nvSpPr>
              <p:cNvPr id="13" name="Title 12"/>
              <p:cNvSpPr>
                <a:spLocks noGrp="1" noRot="1" noChangeAspect="1" noMove="1" noResize="1" noEditPoints="1" noAdjustHandles="1" noChangeArrowheads="1" noChangeShapeType="1" noTextEdit="1"/>
              </p:cNvSpPr>
              <p:nvPr>
                <p:ph type="title"/>
              </p:nvPr>
            </p:nvSpPr>
            <p:spPr>
              <a:xfrm>
                <a:off x="1589314" y="381000"/>
                <a:ext cx="9762898" cy="1219200"/>
              </a:xfrm>
              <a:blipFill>
                <a:blip r:embed="rId2"/>
                <a:stretch>
                  <a:fillRect l="-2249" t="-6500" b="-4500"/>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11441" y="1803386"/>
            <a:ext cx="9929781" cy="4648200"/>
          </a:xfrm>
        </p:spPr>
        <p:txBody>
          <a:bodyPr>
            <a:normAutofit/>
          </a:bodyPr>
          <a:lstStyle/>
          <a:p>
            <a:pPr marL="0" indent="0">
              <a:buNone/>
            </a:pPr>
            <a:endParaRPr lang="en-US">
              <a:latin typeface="National semibold" panose="02000503000000020004"/>
            </a:endParaRPr>
          </a:p>
          <a:p>
            <a:pPr marL="0" indent="0">
              <a:buNone/>
            </a:pPr>
            <a:endParaRPr lang="en-US">
              <a:latin typeface="National semibold" panose="02000503000000020004"/>
            </a:endParaRPr>
          </a:p>
        </p:txBody>
      </p:sp>
      <p:graphicFrame>
        <p:nvGraphicFramePr>
          <p:cNvPr id="2" name="Table 1">
            <a:extLst>
              <a:ext uri="{FF2B5EF4-FFF2-40B4-BE49-F238E27FC236}">
                <a16:creationId xmlns:a16="http://schemas.microsoft.com/office/drawing/2014/main" id="{F977AC53-DBD2-A843-393C-53B57172690E}"/>
              </a:ext>
            </a:extLst>
          </p:cNvPr>
          <p:cNvGraphicFramePr>
            <a:graphicFrameLocks noGrp="1"/>
          </p:cNvGraphicFramePr>
          <p:nvPr>
            <p:extLst>
              <p:ext uri="{D42A27DB-BD31-4B8C-83A1-F6EECF244321}">
                <p14:modId xmlns:p14="http://schemas.microsoft.com/office/powerpoint/2010/main" val="889029488"/>
              </p:ext>
            </p:extLst>
          </p:nvPr>
        </p:nvGraphicFramePr>
        <p:xfrm>
          <a:off x="1783796" y="2440622"/>
          <a:ext cx="3745136" cy="3768794"/>
        </p:xfrm>
        <a:graphic>
          <a:graphicData uri="http://schemas.openxmlformats.org/drawingml/2006/table">
            <a:tbl>
              <a:tblPr>
                <a:tableStyleId>{69CF1AB2-1976-4502-BF36-3FF5EA218861}</a:tableStyleId>
              </a:tblPr>
              <a:tblGrid>
                <a:gridCol w="936284">
                  <a:extLst>
                    <a:ext uri="{9D8B030D-6E8A-4147-A177-3AD203B41FA5}">
                      <a16:colId xmlns:a16="http://schemas.microsoft.com/office/drawing/2014/main" val="2161702755"/>
                    </a:ext>
                  </a:extLst>
                </a:gridCol>
                <a:gridCol w="936284">
                  <a:extLst>
                    <a:ext uri="{9D8B030D-6E8A-4147-A177-3AD203B41FA5}">
                      <a16:colId xmlns:a16="http://schemas.microsoft.com/office/drawing/2014/main" val="3091163892"/>
                    </a:ext>
                  </a:extLst>
                </a:gridCol>
                <a:gridCol w="936284">
                  <a:extLst>
                    <a:ext uri="{9D8B030D-6E8A-4147-A177-3AD203B41FA5}">
                      <a16:colId xmlns:a16="http://schemas.microsoft.com/office/drawing/2014/main" val="3864803304"/>
                    </a:ext>
                  </a:extLst>
                </a:gridCol>
                <a:gridCol w="936284">
                  <a:extLst>
                    <a:ext uri="{9D8B030D-6E8A-4147-A177-3AD203B41FA5}">
                      <a16:colId xmlns:a16="http://schemas.microsoft.com/office/drawing/2014/main" val="1294276199"/>
                    </a:ext>
                  </a:extLst>
                </a:gridCol>
              </a:tblGrid>
              <a:tr h="548852">
                <a:tc>
                  <a:txBody>
                    <a:bodyPr/>
                    <a:lstStyle/>
                    <a:p>
                      <a:pPr algn="ctr" fontAlgn="b"/>
                      <a:r>
                        <a:rPr lang="en-US" sz="1400" u="none" strike="noStrike">
                          <a:effectLst/>
                        </a:rPr>
                        <a:t>Weight A</a:t>
                      </a:r>
                      <a:endParaRPr lang="en-US" sz="14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Weight B</a:t>
                      </a:r>
                      <a:endParaRPr lang="en-US" sz="14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err="1">
                          <a:effectLst/>
                        </a:rPr>
                        <a:t>Exp.Return</a:t>
                      </a:r>
                      <a:endParaRPr lang="en-US" sz="1400" b="1"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Std</a:t>
                      </a:r>
                      <a:endParaRPr lang="en-US" sz="1400" b="1"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355524204"/>
                  </a:ext>
                </a:extLst>
              </a:tr>
              <a:tr h="292722">
                <a:tc>
                  <a:txBody>
                    <a:bodyPr/>
                    <a:lstStyle/>
                    <a:p>
                      <a:pPr algn="ctr"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0.070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0.050</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13871577"/>
                  </a:ext>
                </a:extLst>
              </a:tr>
              <a:tr h="292722">
                <a:tc>
                  <a:txBody>
                    <a:bodyPr/>
                    <a:lstStyle/>
                    <a:p>
                      <a:pPr algn="ctr" fontAlgn="b"/>
                      <a:r>
                        <a:rPr lang="en-US" sz="1400" u="none" strike="noStrike">
                          <a:effectLst/>
                        </a:rPr>
                        <a:t>0.90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0.10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0.072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0.048</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61690529"/>
                  </a:ext>
                </a:extLst>
              </a:tr>
              <a:tr h="292722">
                <a:tc>
                  <a:txBody>
                    <a:bodyPr/>
                    <a:lstStyle/>
                    <a:p>
                      <a:pPr algn="ctr" fontAlgn="b"/>
                      <a:r>
                        <a:rPr lang="en-US" sz="1400" u="none" strike="noStrike">
                          <a:effectLst/>
                        </a:rPr>
                        <a:t>0.80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0.20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0.074</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0.047</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237049253"/>
                  </a:ext>
                </a:extLst>
              </a:tr>
              <a:tr h="292722">
                <a:tc>
                  <a:txBody>
                    <a:bodyPr/>
                    <a:lstStyle/>
                    <a:p>
                      <a:pPr algn="ctr" fontAlgn="b"/>
                      <a:r>
                        <a:rPr lang="en-US" sz="1400" u="none" strike="noStrike">
                          <a:effectLst/>
                        </a:rPr>
                        <a:t>0.70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0.30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0.076</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0.048</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066364373"/>
                  </a:ext>
                </a:extLst>
              </a:tr>
              <a:tr h="292722">
                <a:tc>
                  <a:txBody>
                    <a:bodyPr/>
                    <a:lstStyle/>
                    <a:p>
                      <a:pPr algn="ctr" fontAlgn="b"/>
                      <a:r>
                        <a:rPr lang="en-US" sz="1400" u="none" strike="noStrike">
                          <a:effectLst/>
                        </a:rPr>
                        <a:t>0.60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0.40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0.078</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0.050</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607869776"/>
                  </a:ext>
                </a:extLst>
              </a:tr>
              <a:tr h="292722">
                <a:tc>
                  <a:txBody>
                    <a:bodyPr/>
                    <a:lstStyle/>
                    <a:p>
                      <a:pPr algn="ctr" fontAlgn="b"/>
                      <a:r>
                        <a:rPr lang="en-US" sz="1400" u="none" strike="noStrike">
                          <a:effectLst/>
                        </a:rPr>
                        <a:t>0.50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0.50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0.080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0.053</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887231759"/>
                  </a:ext>
                </a:extLst>
              </a:tr>
              <a:tr h="292722">
                <a:tc>
                  <a:txBody>
                    <a:bodyPr/>
                    <a:lstStyle/>
                    <a:p>
                      <a:pPr algn="ctr" fontAlgn="b"/>
                      <a:r>
                        <a:rPr lang="en-US" sz="1400" u="none" strike="noStrike">
                          <a:effectLst/>
                        </a:rPr>
                        <a:t>0.40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0.60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0.082</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0.057</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24053839"/>
                  </a:ext>
                </a:extLst>
              </a:tr>
              <a:tr h="292722">
                <a:tc>
                  <a:txBody>
                    <a:bodyPr/>
                    <a:lstStyle/>
                    <a:p>
                      <a:pPr algn="ctr" fontAlgn="b"/>
                      <a:r>
                        <a:rPr lang="en-US" sz="1400" u="none" strike="noStrike">
                          <a:effectLst/>
                        </a:rPr>
                        <a:t>0.30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0.70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0.084</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0.062</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3182044923"/>
                  </a:ext>
                </a:extLst>
              </a:tr>
              <a:tr h="292722">
                <a:tc>
                  <a:txBody>
                    <a:bodyPr/>
                    <a:lstStyle/>
                    <a:p>
                      <a:pPr algn="ctr" fontAlgn="b"/>
                      <a:r>
                        <a:rPr lang="en-US" sz="1400" u="none" strike="noStrike">
                          <a:effectLst/>
                        </a:rPr>
                        <a:t>0.20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0.80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0.086</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0.068</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011623240"/>
                  </a:ext>
                </a:extLst>
              </a:tr>
              <a:tr h="292722">
                <a:tc>
                  <a:txBody>
                    <a:bodyPr/>
                    <a:lstStyle/>
                    <a:p>
                      <a:pPr algn="ctr" fontAlgn="b"/>
                      <a:r>
                        <a:rPr lang="en-US" sz="1400" u="none" strike="noStrike">
                          <a:effectLst/>
                        </a:rPr>
                        <a:t>0.10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0.90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0.088</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0.074</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1565013762"/>
                  </a:ext>
                </a:extLst>
              </a:tr>
              <a:tr h="292722">
                <a:tc>
                  <a:txBody>
                    <a:bodyPr/>
                    <a:lstStyle/>
                    <a:p>
                      <a:pPr algn="ctr" fontAlgn="b"/>
                      <a:r>
                        <a:rPr lang="en-US" sz="1400" u="none" strike="noStrike">
                          <a:effectLst/>
                        </a:rPr>
                        <a:t>0.00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1.00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0.090</a:t>
                      </a:r>
                      <a:endParaRPr lang="en-US" sz="1400" b="0" i="0" u="none" strike="noStrike">
                        <a:solidFill>
                          <a:srgbClr val="000000"/>
                        </a:solidFill>
                        <a:effectLst/>
                        <a:latin typeface="Calibri" panose="020F0502020204030204" pitchFamily="34" charset="0"/>
                      </a:endParaRPr>
                    </a:p>
                  </a:txBody>
                  <a:tcPr marL="7620" marR="7620" marT="7620" marB="0" anchor="ctr"/>
                </a:tc>
                <a:tc>
                  <a:txBody>
                    <a:bodyPr/>
                    <a:lstStyle/>
                    <a:p>
                      <a:pPr algn="ctr" fontAlgn="b"/>
                      <a:r>
                        <a:rPr lang="en-US" sz="1400" u="none" strike="noStrike">
                          <a:effectLst/>
                        </a:rPr>
                        <a:t>0.080</a:t>
                      </a:r>
                      <a:endParaRPr lang="en-US" sz="1400" b="0" i="0" u="none" strike="noStrike">
                        <a:solidFill>
                          <a:srgbClr val="000000"/>
                        </a:solidFill>
                        <a:effectLst/>
                        <a:latin typeface="Calibri" panose="020F0502020204030204" pitchFamily="34" charset="0"/>
                      </a:endParaRPr>
                    </a:p>
                  </a:txBody>
                  <a:tcPr marL="7620" marR="7620" marT="7620" marB="0" anchor="ctr"/>
                </a:tc>
                <a:extLst>
                  <a:ext uri="{0D108BD9-81ED-4DB2-BD59-A6C34878D82A}">
                    <a16:rowId xmlns:a16="http://schemas.microsoft.com/office/drawing/2014/main" val="236441830"/>
                  </a:ext>
                </a:extLst>
              </a:tr>
            </a:tbl>
          </a:graphicData>
        </a:graphic>
      </p:graphicFrame>
      <p:graphicFrame>
        <p:nvGraphicFramePr>
          <p:cNvPr id="4" name="Chart 3">
            <a:extLst>
              <a:ext uri="{FF2B5EF4-FFF2-40B4-BE49-F238E27FC236}">
                <a16:creationId xmlns:a16="http://schemas.microsoft.com/office/drawing/2014/main" id="{318CF70F-032D-7F40-6320-0AF136888AB7}"/>
              </a:ext>
            </a:extLst>
          </p:cNvPr>
          <p:cNvGraphicFramePr>
            <a:graphicFrameLocks/>
          </p:cNvGraphicFramePr>
          <p:nvPr>
            <p:extLst>
              <p:ext uri="{D42A27DB-BD31-4B8C-83A1-F6EECF244321}">
                <p14:modId xmlns:p14="http://schemas.microsoft.com/office/powerpoint/2010/main" val="2596167046"/>
              </p:ext>
            </p:extLst>
          </p:nvPr>
        </p:nvGraphicFramePr>
        <p:xfrm>
          <a:off x="5936509" y="2440622"/>
          <a:ext cx="5640572" cy="3768794"/>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1533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Risk-adjusted return of a portfolio</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89313" y="1835285"/>
                <a:ext cx="9685025" cy="4648200"/>
              </a:xfrm>
            </p:spPr>
            <p:txBody>
              <a:bodyPr>
                <a:normAutofit fontScale="92500" lnSpcReduction="10000"/>
              </a:bodyPr>
              <a:lstStyle/>
              <a:p>
                <a:r>
                  <a:rPr lang="en-US">
                    <a:latin typeface="National semibold" panose="02000503000000020004"/>
                  </a:rPr>
                  <a:t>A portfolio may give higher return than another portfolio, but it could be risker. </a:t>
                </a:r>
              </a:p>
              <a:p>
                <a:r>
                  <a:rPr lang="en-US">
                    <a:latin typeface="National semibold" panose="02000503000000020004"/>
                  </a:rPr>
                  <a:t>A measure of expected return </a:t>
                </a:r>
                <a:r>
                  <a:rPr lang="en-US" i="1" u="sng">
                    <a:latin typeface="National semibold" panose="02000503000000020004"/>
                  </a:rPr>
                  <a:t>adjusted</a:t>
                </a:r>
                <a:r>
                  <a:rPr lang="en-US">
                    <a:latin typeface="National semibold" panose="02000503000000020004"/>
                  </a:rPr>
                  <a:t> for the risk of the portfolio is the </a:t>
                </a:r>
                <a:r>
                  <a:rPr lang="en-US" b="1">
                    <a:latin typeface="National semibold" panose="02000503000000020004"/>
                  </a:rPr>
                  <a:t>Sharpe Ratio</a:t>
                </a:r>
                <a:r>
                  <a:rPr lang="en-US">
                    <a:latin typeface="National semibold" panose="02000503000000020004"/>
                  </a:rPr>
                  <a:t>:</a:t>
                </a:r>
                <a:endParaRPr lang="en-US" b="0">
                  <a:latin typeface="National semibold" panose="02000503000000020004"/>
                </a:endParaRPr>
              </a:p>
              <a:p>
                <a:pPr marL="0" indent="0">
                  <a:buNone/>
                </a:pPr>
                <a:r>
                  <a:rPr lang="en-US" b="1">
                    <a:solidFill>
                      <a:srgbClr val="FF0000"/>
                    </a:solidFill>
                  </a:rPr>
                  <a:t>	 	</a:t>
                </a:r>
              </a:p>
              <a:p>
                <a:pPr marL="0" indent="0">
                  <a:buNone/>
                </a:pPr>
                <a:r>
                  <a:rPr lang="en-US" b="1">
                    <a:solidFill>
                      <a:srgbClr val="FF0000"/>
                    </a:solidFill>
                  </a:rPr>
                  <a:t>			</a:t>
                </a:r>
                <a14:m>
                  <m:oMath xmlns:m="http://schemas.openxmlformats.org/officeDocument/2006/math">
                    <m:r>
                      <a:rPr lang="en-US" b="1" i="1" smtClean="0">
                        <a:solidFill>
                          <a:srgbClr val="FF0000"/>
                        </a:solidFill>
                        <a:latin typeface="Cambria Math" panose="02040503050406030204" pitchFamily="18" charset="0"/>
                      </a:rPr>
                      <m:t>𝑺𝒉𝒂𝒓𝒑𝒆</m:t>
                    </m:r>
                    <m:r>
                      <a:rPr lang="en-US" b="1" i="1" smtClean="0">
                        <a:solidFill>
                          <a:srgbClr val="FF0000"/>
                        </a:solidFill>
                        <a:latin typeface="Cambria Math" panose="02040503050406030204" pitchFamily="18" charset="0"/>
                      </a:rPr>
                      <m:t> </m:t>
                    </m:r>
                    <m:r>
                      <a:rPr lang="en-US" b="1" i="1" smtClean="0">
                        <a:solidFill>
                          <a:srgbClr val="FF0000"/>
                        </a:solidFill>
                        <a:latin typeface="Cambria Math" panose="02040503050406030204" pitchFamily="18" charset="0"/>
                      </a:rPr>
                      <m:t>𝒓𝒂𝒕𝒊𝒐</m:t>
                    </m:r>
                    <m:r>
                      <a:rPr lang="en-US" b="0" i="1" smtClean="0">
                        <a:solidFill>
                          <a:srgbClr val="FF0000"/>
                        </a:solidFill>
                        <a:latin typeface="Cambria Math" panose="02040503050406030204" pitchFamily="18" charset="0"/>
                      </a:rPr>
                      <m:t> </m:t>
                    </m:r>
                    <m:r>
                      <a:rPr lang="en-US" b="0" i="1" smtClean="0">
                        <a:latin typeface="Cambria Math" panose="02040503050406030204" pitchFamily="18" charset="0"/>
                      </a:rPr>
                      <m:t>=</m:t>
                    </m:r>
                  </m:oMath>
                </a14:m>
                <a:r>
                  <a:rPr lang="en-US" b="0">
                    <a:latin typeface="National semibold" panose="02000503000000020004"/>
                  </a:rPr>
                  <a:t>  </a:t>
                </a:r>
                <a14:m>
                  <m:oMath xmlns:m="http://schemas.openxmlformats.org/officeDocument/2006/math">
                    <m:f>
                      <m:fPr>
                        <m:ctrlPr>
                          <a:rPr lang="en-US" b="1" i="1" smtClean="0">
                            <a:solidFill>
                              <a:srgbClr val="FF0000"/>
                            </a:solidFill>
                            <a:latin typeface="Cambria Math" panose="02040503050406030204" pitchFamily="18" charset="0"/>
                          </a:rPr>
                        </m:ctrlPr>
                      </m:fPr>
                      <m:num>
                        <m:sSub>
                          <m:sSubPr>
                            <m:ctrlPr>
                              <a:rPr lang="en-US" b="1" i="1">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𝒓</m:t>
                            </m:r>
                          </m:e>
                          <m:sub>
                            <m:r>
                              <a:rPr lang="en-US" b="1" i="1" smtClean="0">
                                <a:solidFill>
                                  <a:srgbClr val="FF0000"/>
                                </a:solidFill>
                                <a:latin typeface="Cambria Math" panose="02040503050406030204" pitchFamily="18" charset="0"/>
                              </a:rPr>
                              <m:t>𝑷</m:t>
                            </m:r>
                          </m:sub>
                        </m:sSub>
                        <m:r>
                          <a:rPr lang="en-US" b="1" i="1" smtClean="0">
                            <a:solidFill>
                              <a:srgbClr val="FF0000"/>
                            </a:solidFill>
                            <a:latin typeface="Cambria Math" panose="02040503050406030204" pitchFamily="18" charset="0"/>
                          </a:rPr>
                          <m:t> −</m:t>
                        </m:r>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𝒓</m:t>
                            </m:r>
                          </m:e>
                          <m:sub>
                            <m:r>
                              <a:rPr lang="en-US" b="1" i="1" smtClean="0">
                                <a:solidFill>
                                  <a:srgbClr val="FF0000"/>
                                </a:solidFill>
                                <a:latin typeface="Cambria Math" panose="02040503050406030204" pitchFamily="18" charset="0"/>
                              </a:rPr>
                              <m:t>𝑭</m:t>
                            </m:r>
                          </m:sub>
                        </m:sSub>
                      </m:num>
                      <m:den>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𝝈</m:t>
                            </m:r>
                          </m:e>
                          <m:sub>
                            <m:r>
                              <a:rPr lang="en-US" b="1" i="1" smtClean="0">
                                <a:solidFill>
                                  <a:srgbClr val="FF0000"/>
                                </a:solidFill>
                                <a:latin typeface="Cambria Math" panose="02040503050406030204" pitchFamily="18" charset="0"/>
                              </a:rPr>
                              <m:t>𝑷</m:t>
                            </m:r>
                          </m:sub>
                        </m:sSub>
                      </m:den>
                    </m:f>
                  </m:oMath>
                </a14:m>
                <a:endParaRPr lang="en-US" b="0">
                  <a:latin typeface="National semibold" panose="02000503000000020004"/>
                </a:endParaRPr>
              </a:p>
              <a:p>
                <a:pPr marL="0" indent="0">
                  <a:buNone/>
                </a:pPr>
                <a:endParaRPr lang="en-US">
                  <a:latin typeface="National semibold" panose="02000503000000020004"/>
                </a:endParaRPr>
              </a:p>
              <a:p>
                <a:r>
                  <a:rPr lang="en-US">
                    <a:latin typeface="National semibold" panose="02000503000000020004"/>
                  </a:rPr>
                  <a:t>The Sharpe Ratio is the differential between the expected return of the portfolio, </a:t>
                </a:r>
                <a14:m>
                  <m:oMath xmlns:m="http://schemas.openxmlformats.org/officeDocument/2006/math">
                    <m:sSub>
                      <m:sSubPr>
                        <m:ctrlPr>
                          <a:rPr lang="en-US" b="1" i="1" smtClean="0">
                            <a:solidFill>
                              <a:srgbClr val="FF0000"/>
                            </a:solidFill>
                            <a:latin typeface="Cambria Math" panose="02040503050406030204" pitchFamily="18" charset="0"/>
                          </a:rPr>
                        </m:ctrlPr>
                      </m:sSubPr>
                      <m:e>
                        <m:r>
                          <a:rPr lang="en-US" b="1" i="1" smtClean="0">
                            <a:solidFill>
                              <a:srgbClr val="FF0000"/>
                            </a:solidFill>
                            <a:latin typeface="Cambria Math" panose="02040503050406030204" pitchFamily="18" charset="0"/>
                          </a:rPr>
                          <m:t>𝒓</m:t>
                        </m:r>
                      </m:e>
                      <m:sub>
                        <m:r>
                          <a:rPr lang="en-US" b="1" i="1" smtClean="0">
                            <a:solidFill>
                              <a:srgbClr val="FF0000"/>
                            </a:solidFill>
                            <a:latin typeface="Cambria Math" panose="02040503050406030204" pitchFamily="18" charset="0"/>
                          </a:rPr>
                          <m:t>𝑷</m:t>
                        </m:r>
                      </m:sub>
                    </m:sSub>
                  </m:oMath>
                </a14:m>
                <a:r>
                  <a:rPr lang="en-US">
                    <a:latin typeface="National semibold" panose="02000503000000020004"/>
                  </a:rPr>
                  <a:t>, and the risk-free rate, </a:t>
                </a:r>
                <a14:m>
                  <m:oMath xmlns:m="http://schemas.openxmlformats.org/officeDocument/2006/math">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𝒓</m:t>
                        </m:r>
                      </m:e>
                      <m:sub>
                        <m:r>
                          <a:rPr lang="en-US" b="1" i="1">
                            <a:solidFill>
                              <a:srgbClr val="FF0000"/>
                            </a:solidFill>
                            <a:latin typeface="Cambria Math" panose="02040503050406030204" pitchFamily="18" charset="0"/>
                          </a:rPr>
                          <m:t>𝑭</m:t>
                        </m:r>
                      </m:sub>
                    </m:sSub>
                  </m:oMath>
                </a14:m>
                <a:r>
                  <a:rPr lang="en-US">
                    <a:latin typeface="National semibold" panose="02000503000000020004"/>
                  </a:rPr>
                  <a:t>, divided by the standard deviation of the portfolio return, </a:t>
                </a:r>
                <a14:m>
                  <m:oMath xmlns:m="http://schemas.openxmlformats.org/officeDocument/2006/math">
                    <m:sSub>
                      <m:sSubPr>
                        <m:ctrlPr>
                          <a:rPr lang="en-US" b="1" i="1">
                            <a:solidFill>
                              <a:srgbClr val="FF0000"/>
                            </a:solidFill>
                            <a:latin typeface="Cambria Math" panose="02040503050406030204" pitchFamily="18" charset="0"/>
                          </a:rPr>
                        </m:ctrlPr>
                      </m:sSubPr>
                      <m:e>
                        <m:r>
                          <a:rPr lang="en-US" b="1" i="1">
                            <a:solidFill>
                              <a:srgbClr val="FF0000"/>
                            </a:solidFill>
                            <a:latin typeface="Cambria Math" panose="02040503050406030204" pitchFamily="18" charset="0"/>
                          </a:rPr>
                          <m:t>𝝈</m:t>
                        </m:r>
                      </m:e>
                      <m:sub>
                        <m:r>
                          <a:rPr lang="en-US" b="1" i="1">
                            <a:solidFill>
                              <a:srgbClr val="FF0000"/>
                            </a:solidFill>
                            <a:latin typeface="Cambria Math" panose="02040503050406030204" pitchFamily="18" charset="0"/>
                          </a:rPr>
                          <m:t>𝑷</m:t>
                        </m:r>
                      </m:sub>
                    </m:sSub>
                  </m:oMath>
                </a14:m>
                <a:r>
                  <a:rPr lang="en-US">
                    <a:latin typeface="National semibold" panose="02000503000000020004"/>
                  </a:rPr>
                  <a:t>.  </a:t>
                </a:r>
              </a:p>
              <a:p>
                <a:r>
                  <a:rPr lang="en-US">
                    <a:latin typeface="National semibold" panose="02000503000000020004"/>
                  </a:rPr>
                  <a:t>One way to compare the risk-return property of portfolios is to look at their Sharpe ratios. </a:t>
                </a:r>
              </a:p>
              <a:p>
                <a:pPr marL="0" indent="0">
                  <a:buNone/>
                </a:pPr>
                <a:endParaRPr lang="en-US">
                  <a:latin typeface="National semibold" panose="02000503000000020004"/>
                </a:endParaRPr>
              </a:p>
              <a:p>
                <a:pPr marL="0" indent="0">
                  <a:buNone/>
                </a:pPr>
                <a:endParaRPr lang="en-US">
                  <a:latin typeface="National semibold" panose="02000503000000020004"/>
                </a:endParaRPr>
              </a:p>
              <a:p>
                <a:pPr marL="0" indent="0">
                  <a:buNone/>
                </a:pPr>
                <a:endParaRPr lang="en-US">
                  <a:latin typeface="National semibold" panose="02000503000000020004"/>
                </a:endParaRPr>
              </a:p>
            </p:txBody>
          </p:sp>
        </mc:Choice>
        <mc:Fallback xmlns="">
          <p:sp>
            <p:nvSpPr>
              <p:cNvPr id="3" name="Content Placeholder 2">
                <a:extLst>
                  <a:ext uri="{FF2B5EF4-FFF2-40B4-BE49-F238E27FC236}">
                    <a16:creationId xmlns:a16="http://schemas.microsoft.com/office/drawing/2014/main" id="{09A2F897-2643-4490-93FF-4FF458F15722}"/>
                  </a:ext>
                </a:extLst>
              </p:cNvPr>
              <p:cNvSpPr>
                <a:spLocks noGrp="1" noRot="1" noChangeAspect="1" noMove="1" noResize="1" noEditPoints="1" noAdjustHandles="1" noChangeArrowheads="1" noChangeShapeType="1" noTextEdit="1"/>
              </p:cNvSpPr>
              <p:nvPr>
                <p:ph idx="1"/>
              </p:nvPr>
            </p:nvSpPr>
            <p:spPr>
              <a:xfrm>
                <a:off x="1589313" y="1835285"/>
                <a:ext cx="9685025" cy="4648200"/>
              </a:xfrm>
              <a:blipFill>
                <a:blip r:embed="rId2"/>
                <a:stretch>
                  <a:fillRect l="-378" t="-2228" r="-189" b="-393"/>
                </a:stretch>
              </a:blipFill>
            </p:spPr>
            <p:txBody>
              <a:bodyPr/>
              <a:lstStyle/>
              <a:p>
                <a:r>
                  <a:rPr lang="en-US">
                    <a:noFill/>
                  </a:rPr>
                  <a:t> </a:t>
                </a:r>
              </a:p>
            </p:txBody>
          </p:sp>
        </mc:Fallback>
      </mc:AlternateContent>
    </p:spTree>
    <p:extLst>
      <p:ext uri="{BB962C8B-B14F-4D97-AF65-F5344CB8AC3E}">
        <p14:creationId xmlns:p14="http://schemas.microsoft.com/office/powerpoint/2010/main" val="2446555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a:xfrm>
            <a:off x="1133400" y="1605280"/>
            <a:ext cx="9762898" cy="3860799"/>
          </a:xfrm>
        </p:spPr>
        <p:txBody>
          <a:bodyPr anchor="ctr">
            <a:normAutofit/>
          </a:bodyPr>
          <a:lstStyle/>
          <a:p>
            <a:pPr algn="ctr"/>
            <a:r>
              <a:rPr lang="en-US" sz="4400" b="1">
                <a:latin typeface="National semibold" panose="02000503000000020004"/>
              </a:rPr>
              <a:t>Application with Python</a:t>
            </a:r>
            <a:br>
              <a:rPr lang="en-US" sz="4400" b="1">
                <a:latin typeface="National semibold" panose="02000503000000020004"/>
              </a:rPr>
            </a:br>
            <a:br>
              <a:rPr lang="en-US" sz="4400" b="1">
                <a:latin typeface="National semibold" panose="02000503000000020004"/>
              </a:rPr>
            </a:br>
            <a:r>
              <a:rPr lang="en-US" sz="4400">
                <a:latin typeface="National semibold" panose="02000503000000020004"/>
              </a:rPr>
              <a:t>Calculating the Sharpe ratio for cryptocurrencies</a:t>
            </a:r>
          </a:p>
        </p:txBody>
      </p:sp>
    </p:spTree>
    <p:extLst>
      <p:ext uri="{BB962C8B-B14F-4D97-AF65-F5344CB8AC3E}">
        <p14:creationId xmlns:p14="http://schemas.microsoft.com/office/powerpoint/2010/main" val="895241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589314" y="381000"/>
            <a:ext cx="9762898" cy="1219200"/>
          </a:xfrm>
        </p:spPr>
        <p:txBody>
          <a:bodyPr anchor="ctr">
            <a:normAutofit/>
          </a:bodyPr>
          <a:lstStyle/>
          <a:p>
            <a:r>
              <a:rPr lang="en-US" sz="4000" b="1">
                <a:latin typeface="National semibold" panose="02000503000000020004"/>
              </a:rPr>
              <a:t>The Market Portfolio</a:t>
            </a:r>
          </a:p>
        </p:txBody>
      </p:sp>
      <p:sp>
        <p:nvSpPr>
          <p:cNvPr id="3" name="Content Placeholder 2">
            <a:extLst>
              <a:ext uri="{FF2B5EF4-FFF2-40B4-BE49-F238E27FC236}">
                <a16:creationId xmlns:a16="http://schemas.microsoft.com/office/drawing/2014/main" id="{09A2F897-2643-4490-93FF-4FF458F15722}"/>
              </a:ext>
            </a:extLst>
          </p:cNvPr>
          <p:cNvSpPr>
            <a:spLocks noGrp="1"/>
          </p:cNvSpPr>
          <p:nvPr>
            <p:ph idx="1"/>
          </p:nvPr>
        </p:nvSpPr>
        <p:spPr>
          <a:xfrm>
            <a:off x="1511441" y="1835285"/>
            <a:ext cx="9929781" cy="4648200"/>
          </a:xfrm>
        </p:spPr>
        <p:txBody>
          <a:bodyPr>
            <a:normAutofit fontScale="92500" lnSpcReduction="10000"/>
          </a:bodyPr>
          <a:lstStyle/>
          <a:p>
            <a:r>
              <a:rPr lang="en-US" b="0">
                <a:latin typeface="National semibold" panose="02000503000000020004"/>
              </a:rPr>
              <a:t>A bundle of all possible investments in the world (bonds, stocks, crypto, NFT, etc.)</a:t>
            </a:r>
          </a:p>
          <a:p>
            <a:r>
              <a:rPr lang="en-US">
                <a:latin typeface="National semibold" panose="02000503000000020004"/>
              </a:rPr>
              <a:t>According to the </a:t>
            </a:r>
            <a:r>
              <a:rPr lang="en-US" u="sng">
                <a:latin typeface="National semibold" panose="02000503000000020004"/>
              </a:rPr>
              <a:t>Capital Asset Price Model</a:t>
            </a:r>
            <a:r>
              <a:rPr lang="en-US">
                <a:latin typeface="National semibold" panose="02000503000000020004"/>
              </a:rPr>
              <a:t> (CAPM), the risk-return combination of the market portfolio is superior to any other portfolio. </a:t>
            </a:r>
            <a:r>
              <a:rPr lang="en-US" b="0">
                <a:latin typeface="National semibold" panose="02000503000000020004"/>
              </a:rPr>
              <a:t> </a:t>
            </a:r>
          </a:p>
          <a:p>
            <a:r>
              <a:rPr lang="en-US">
                <a:latin typeface="National semibold" panose="02000503000000020004"/>
              </a:rPr>
              <a:t>CAPM key objects:</a:t>
            </a:r>
          </a:p>
          <a:p>
            <a:pPr lvl="1"/>
            <a:r>
              <a:rPr lang="en-US" b="1">
                <a:latin typeface="National semibold" panose="02000503000000020004"/>
              </a:rPr>
              <a:t>Market portfolio</a:t>
            </a:r>
            <a:r>
              <a:rPr lang="en-US">
                <a:latin typeface="National semibold" panose="02000503000000020004"/>
              </a:rPr>
              <a:t>: just described</a:t>
            </a:r>
          </a:p>
          <a:p>
            <a:pPr lvl="1"/>
            <a:r>
              <a:rPr lang="en-US" b="1">
                <a:latin typeface="National semibold" panose="02000503000000020004"/>
              </a:rPr>
              <a:t>Efficient frontier</a:t>
            </a:r>
            <a:r>
              <a:rPr lang="en-US">
                <a:latin typeface="National semibold" panose="02000503000000020004"/>
              </a:rPr>
              <a:t>: The (best) combination of all risky investments that gives the highest return for a given risk. </a:t>
            </a:r>
          </a:p>
          <a:p>
            <a:pPr lvl="1"/>
            <a:r>
              <a:rPr lang="en-US" b="1">
                <a:latin typeface="National semibold" panose="02000503000000020004"/>
              </a:rPr>
              <a:t>Risk-free asset</a:t>
            </a:r>
            <a:r>
              <a:rPr lang="en-US">
                <a:latin typeface="National semibold" panose="02000503000000020004"/>
              </a:rPr>
              <a:t>: An investment with no risk (zero standard deviation of returns). It has positive return but zero risk.</a:t>
            </a:r>
          </a:p>
          <a:p>
            <a:pPr lvl="1"/>
            <a:r>
              <a:rPr lang="en-US" b="1">
                <a:latin typeface="National semibold" panose="02000503000000020004"/>
              </a:rPr>
              <a:t>Beta coefficient</a:t>
            </a:r>
            <a:r>
              <a:rPr lang="en-US">
                <a:latin typeface="National semibold" panose="02000503000000020004"/>
              </a:rPr>
              <a:t>: It quantifies the relationship between the return of a single security with the return of the overall market portfolio, based on CAPM model.</a:t>
            </a:r>
          </a:p>
          <a:p>
            <a:pPr lvl="1"/>
            <a:r>
              <a:rPr lang="en-US" b="1">
                <a:latin typeface="National semibold" panose="02000503000000020004"/>
              </a:rPr>
              <a:t>Capital market line</a:t>
            </a:r>
            <a:r>
              <a:rPr lang="en-US">
                <a:latin typeface="National semibold" panose="02000503000000020004"/>
              </a:rPr>
              <a:t>: Line that connects the risk-free rate and the efficient frontier at the tangent point with the frontier. According to CAPM, the point at which the market line is tangent to the efficient frontier is the market portfolio.  </a:t>
            </a:r>
          </a:p>
        </p:txBody>
      </p:sp>
    </p:spTree>
    <p:extLst>
      <p:ext uri="{BB962C8B-B14F-4D97-AF65-F5344CB8AC3E}">
        <p14:creationId xmlns:p14="http://schemas.microsoft.com/office/powerpoint/2010/main" val="1043634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03030"/>
              </a:solidFill>
              <a:effectLst/>
              <a:uLnTx/>
              <a:uFillTx/>
              <a:latin typeface="Cambria"/>
              <a:ea typeface="+mn-ea"/>
              <a:cs typeface="+mn-cs"/>
            </a:endParaRPr>
          </a:p>
        </p:txBody>
      </p:sp>
      <p:sp>
        <p:nvSpPr>
          <p:cNvPr id="9" name="Title 12">
            <a:extLst>
              <a:ext uri="{FF2B5EF4-FFF2-40B4-BE49-F238E27FC236}">
                <a16:creationId xmlns:a16="http://schemas.microsoft.com/office/drawing/2014/main" id="{745B273C-6FED-4863-9CB5-D93C31F4B423}"/>
              </a:ext>
            </a:extLst>
          </p:cNvPr>
          <p:cNvSpPr>
            <a:spLocks noGrp="1"/>
          </p:cNvSpPr>
          <p:nvPr>
            <p:ph type="title"/>
          </p:nvPr>
        </p:nvSpPr>
        <p:spPr>
          <a:xfrm>
            <a:off x="1598612" y="381000"/>
            <a:ext cx="9753600" cy="1219200"/>
          </a:xfrm>
        </p:spPr>
        <p:txBody>
          <a:bodyPr anchor="ctr">
            <a:normAutofit/>
          </a:bodyPr>
          <a:lstStyle/>
          <a:p>
            <a:r>
              <a:rPr lang="en-US" sz="4000" b="1">
                <a:latin typeface="National semibold" panose="02000503000000020004"/>
              </a:rPr>
              <a:t>Capital Asset Pricing Model (CAPM)</a:t>
            </a:r>
            <a:endParaRPr lang="en-US" sz="4000">
              <a:latin typeface="National semibold" panose="02000503000000020004"/>
            </a:endParaRPr>
          </a:p>
        </p:txBody>
      </p:sp>
      <mc:AlternateContent xmlns:mc="http://schemas.openxmlformats.org/markup-compatibility/2006" xmlns:a14="http://schemas.microsoft.com/office/drawing/2010/main">
        <mc:Choice Requires="a14">
          <p:sp>
            <p:nvSpPr>
              <p:cNvPr id="6" name="Rectangle 4">
                <a:extLst>
                  <a:ext uri="{FF2B5EF4-FFF2-40B4-BE49-F238E27FC236}">
                    <a16:creationId xmlns:a16="http://schemas.microsoft.com/office/drawing/2014/main" id="{7EF5D97F-D58F-4EE2-A6A9-449D6CE96E97}"/>
                  </a:ext>
                </a:extLst>
              </p:cNvPr>
              <p:cNvSpPr txBox="1">
                <a:spLocks noChangeArrowheads="1"/>
              </p:cNvSpPr>
              <p:nvPr/>
            </p:nvSpPr>
            <p:spPr>
              <a:xfrm>
                <a:off x="1397726" y="1752600"/>
                <a:ext cx="10458994" cy="4876800"/>
              </a:xfrm>
              <a:prstGeom prst="rect">
                <a:avLst/>
              </a:prstGeom>
            </p:spPr>
            <p:txBody>
              <a:bodyPr vert="horz" lIns="91440" tIns="45720" rIns="91440" bIns="45720" rtlCol="0">
                <a:noAutofit/>
              </a:bodyPr>
              <a:lst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a:lstStyle>
              <a:p>
                <a:pPr marL="0" lvl="0" indent="0">
                  <a:lnSpc>
                    <a:spcPct val="110000"/>
                  </a:lnSpc>
                  <a:buClr>
                    <a:srgbClr val="303030">
                      <a:lumMod val="90000"/>
                      <a:lumOff val="10000"/>
                    </a:srgbClr>
                  </a:buClr>
                  <a:buNone/>
                  <a:defRPr/>
                </a:pPr>
                <a:r>
                  <a:rPr lang="en-US">
                    <a:solidFill>
                      <a:srgbClr val="303030"/>
                    </a:solidFill>
                    <a:latin typeface="National semibold" panose="02000503000000020004"/>
                  </a:rPr>
                  <a:t>According to the CAPM, the </a:t>
                </a: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required expected return </a:t>
                </a:r>
                <a:r>
                  <a:rPr lang="en-US">
                    <a:solidFill>
                      <a:srgbClr val="303030"/>
                    </a:solidFill>
                    <a:latin typeface="National semibold" panose="02000503000000020004"/>
                  </a:rPr>
                  <a:t>on asset </a:t>
                </a:r>
                <a:r>
                  <a:rPr lang="en-US" i="1" err="1">
                    <a:solidFill>
                      <a:srgbClr val="303030"/>
                    </a:solidFill>
                    <a:latin typeface="National semibold" panose="02000503000000020004"/>
                  </a:rPr>
                  <a:t>i</a:t>
                </a:r>
                <a:r>
                  <a:rPr lang="en-US">
                    <a:solidFill>
                      <a:srgbClr val="303030"/>
                    </a:solidFill>
                    <a:latin typeface="National semibold" panose="02000503000000020004"/>
                  </a:rPr>
                  <a:t> is determined by</a:t>
                </a: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a:t>
                </a: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endPar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endPar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endPar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14:m>
                  <m:oMath xmlns:m="http://schemas.openxmlformats.org/officeDocument/2006/math">
                    <m:sSub>
                      <m:sSub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Expected return on asset </a:t>
                </a:r>
                <a:r>
                  <a:rPr kumimoji="0" lang="en-US" sz="2400" b="0" i="1" u="none" strike="noStrike" kern="1200" cap="none" spc="0" normalizeH="0" baseline="0" noProof="0" err="1">
                    <a:ln>
                      <a:noFill/>
                    </a:ln>
                    <a:solidFill>
                      <a:srgbClr val="303030"/>
                    </a:solidFill>
                    <a:effectLst/>
                    <a:uLnTx/>
                    <a:uFillTx/>
                    <a:latin typeface="Times New Roman" panose="02020603050405020304" pitchFamily="18" charset="0"/>
                    <a:ea typeface="+mn-ea"/>
                    <a:cs typeface="Times New Roman" panose="02020603050405020304" pitchFamily="18" charset="0"/>
                  </a:rPr>
                  <a:t>i</a:t>
                </a:r>
                <a:endParaRPr kumimoji="0" lang="en-US" sz="2400" b="0" i="1" u="none" strike="noStrike" kern="1200" cap="none" spc="0" normalizeH="0" baseline="0" noProof="0">
                  <a:ln>
                    <a:noFill/>
                  </a:ln>
                  <a:solidFill>
                    <a:srgbClr val="30303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14:m>
                  <m:oMath xmlns:m="http://schemas.openxmlformats.org/officeDocument/2006/math">
                    <m:sSub>
                      <m:sSub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𝑓</m:t>
                        </m:r>
                      </m:sub>
                    </m:s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Return on risk-free asset (for example on US treasury bills)</a:t>
                </a: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14:m>
                  <m:oMath xmlns:m="http://schemas.openxmlformats.org/officeDocument/2006/math">
                    <m:sSub>
                      <m:sSub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𝑚</m:t>
                        </m:r>
                      </m:sub>
                    </m:s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Expected return on market portfolio consisting of all risky assets</a:t>
                </a: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14:m>
                  <m:oMath xmlns:m="http://schemas.openxmlformats.org/officeDocument/2006/math">
                    <m:sSub>
                      <m:sSub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t>𝑖</m:t>
                        </m:r>
                      </m:sub>
                    </m:sSub>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 Beta for asset </a:t>
                </a:r>
                <a:r>
                  <a:rPr kumimoji="0" lang="en-US" sz="2400" b="0" i="1" u="none" strike="noStrike" kern="1200" cap="none" spc="0" normalizeH="0" baseline="0" noProof="0" err="1">
                    <a:ln>
                      <a:noFill/>
                    </a:ln>
                    <a:solidFill>
                      <a:srgbClr val="303030"/>
                    </a:solidFill>
                    <a:effectLst/>
                    <a:uLnTx/>
                    <a:uFillTx/>
                    <a:latin typeface="Times New Roman" panose="02020603050405020304" pitchFamily="18" charset="0"/>
                    <a:ea typeface="+mn-ea"/>
                    <a:cs typeface="Times New Roman" panose="02020603050405020304" pitchFamily="18" charset="0"/>
                  </a:rPr>
                  <a:t>i</a:t>
                </a:r>
                <a:endParaRPr kumimoji="0" lang="en-US" sz="2400" b="0" i="1" u="none" strike="noStrike" kern="1200" cap="none" spc="0" normalizeH="0" baseline="0" noProof="0">
                  <a:ln>
                    <a:noFill/>
                  </a:ln>
                  <a:solidFill>
                    <a:srgbClr val="30303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endParaRPr kumimoji="0" lang="en-US" sz="2400" b="0" i="1" u="none" strike="noStrike" kern="1200" cap="none" spc="0" normalizeH="0" baseline="0" noProof="0">
                  <a:ln>
                    <a:noFill/>
                  </a:ln>
                  <a:solidFill>
                    <a:srgbClr val="303030"/>
                  </a:solidFill>
                  <a:effectLst/>
                  <a:uLnTx/>
                  <a:uFillTx/>
                  <a:latin typeface="National semibold" panose="02000503000000020004"/>
                  <a:ea typeface="+mn-ea"/>
                  <a:cs typeface="+mn-cs"/>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endPar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endPar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endPar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endParaRPr>
              </a:p>
            </p:txBody>
          </p:sp>
        </mc:Choice>
        <mc:Fallback xmlns="">
          <p:sp>
            <p:nvSpPr>
              <p:cNvPr id="6" name="Rectangle 4">
                <a:extLst>
                  <a:ext uri="{FF2B5EF4-FFF2-40B4-BE49-F238E27FC236}">
                    <a16:creationId xmlns:a16="http://schemas.microsoft.com/office/drawing/2014/main" id="{7EF5D97F-D58F-4EE2-A6A9-449D6CE96E97}"/>
                  </a:ext>
                </a:extLst>
              </p:cNvPr>
              <p:cNvSpPr txBox="1">
                <a:spLocks noRot="1" noChangeAspect="1" noMove="1" noResize="1" noEditPoints="1" noAdjustHandles="1" noChangeArrowheads="1" noChangeShapeType="1" noTextEdit="1"/>
              </p:cNvSpPr>
              <p:nvPr/>
            </p:nvSpPr>
            <p:spPr>
              <a:xfrm>
                <a:off x="1397726" y="1752600"/>
                <a:ext cx="10458994" cy="4876800"/>
              </a:xfrm>
              <a:prstGeom prst="rect">
                <a:avLst/>
              </a:prstGeom>
              <a:blipFill>
                <a:blip r:embed="rId3"/>
                <a:stretch>
                  <a:fillRect l="-874" t="-625" b="-36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5799112-375F-4109-AD98-8B4651956A91}"/>
                  </a:ext>
                </a:extLst>
              </p:cNvPr>
              <p:cNvSpPr/>
              <p:nvPr/>
            </p:nvSpPr>
            <p:spPr>
              <a:xfrm>
                <a:off x="4037012" y="2819400"/>
                <a:ext cx="3505200" cy="11430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𝑓</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𝑚</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𝑓</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m:t>
                      </m:r>
                    </m:oMath>
                  </m:oMathPara>
                </a14:m>
                <a:endParaRPr kumimoji="0" lang="en-US" sz="2400" b="0" i="0" u="none" strike="noStrike" kern="1200" cap="none" spc="0" normalizeH="0" baseline="0" noProof="0">
                  <a:ln>
                    <a:noFill/>
                  </a:ln>
                  <a:solidFill>
                    <a:prstClr val="white"/>
                  </a:solidFill>
                  <a:effectLst/>
                  <a:uLnTx/>
                  <a:uFillTx/>
                  <a:latin typeface="Cambria"/>
                  <a:ea typeface="+mn-ea"/>
                  <a:cs typeface="+mn-cs"/>
                </a:endParaRPr>
              </a:p>
            </p:txBody>
          </p:sp>
        </mc:Choice>
        <mc:Fallback xmlns="">
          <p:sp>
            <p:nvSpPr>
              <p:cNvPr id="2" name="Rectangle 1">
                <a:extLst>
                  <a:ext uri="{FF2B5EF4-FFF2-40B4-BE49-F238E27FC236}">
                    <a16:creationId xmlns:a16="http://schemas.microsoft.com/office/drawing/2014/main" id="{35799112-375F-4109-AD98-8B4651956A91}"/>
                  </a:ext>
                </a:extLst>
              </p:cNvPr>
              <p:cNvSpPr>
                <a:spLocks noRot="1" noChangeAspect="1" noMove="1" noResize="1" noEditPoints="1" noAdjustHandles="1" noChangeArrowheads="1" noChangeShapeType="1" noTextEdit="1"/>
              </p:cNvSpPr>
              <p:nvPr/>
            </p:nvSpPr>
            <p:spPr>
              <a:xfrm>
                <a:off x="4037012" y="2819400"/>
                <a:ext cx="3505200" cy="1143000"/>
              </a:xfrm>
              <a:prstGeom prst="rect">
                <a:avLst/>
              </a:prstGeom>
              <a:blipFill>
                <a:blip r:embed="rId4"/>
                <a:stretch>
                  <a:fillRect/>
                </a:stretch>
              </a:blipFill>
              <a:ln w="31750">
                <a:solidFill>
                  <a:srgbClr val="FF0000"/>
                </a:solidFill>
              </a:ln>
            </p:spPr>
            <p:txBody>
              <a:bodyPr/>
              <a:lstStyle/>
              <a:p>
                <a:r>
                  <a:rPr lang="en-US">
                    <a:noFill/>
                  </a:rPr>
                  <a:t> </a:t>
                </a:r>
              </a:p>
            </p:txBody>
          </p:sp>
        </mc:Fallback>
      </mc:AlternateContent>
      <p:sp>
        <p:nvSpPr>
          <p:cNvPr id="4" name="Left Brace 3">
            <a:extLst>
              <a:ext uri="{FF2B5EF4-FFF2-40B4-BE49-F238E27FC236}">
                <a16:creationId xmlns:a16="http://schemas.microsoft.com/office/drawing/2014/main" id="{3D256CAA-5C02-42B7-B75C-AFFA2BDDBD28}"/>
              </a:ext>
            </a:extLst>
          </p:cNvPr>
          <p:cNvSpPr/>
          <p:nvPr/>
        </p:nvSpPr>
        <p:spPr>
          <a:xfrm rot="16200000">
            <a:off x="6482024" y="3047238"/>
            <a:ext cx="153924" cy="1219200"/>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03030"/>
              </a:solidFill>
              <a:effectLst/>
              <a:uLnTx/>
              <a:uFillTx/>
              <a:latin typeface="Cambria"/>
              <a:ea typeface="+mn-ea"/>
              <a:cs typeface="+mn-cs"/>
            </a:endParaRPr>
          </a:p>
        </p:txBody>
      </p:sp>
      <p:cxnSp>
        <p:nvCxnSpPr>
          <p:cNvPr id="7" name="Connector: Curved 6">
            <a:extLst>
              <a:ext uri="{FF2B5EF4-FFF2-40B4-BE49-F238E27FC236}">
                <a16:creationId xmlns:a16="http://schemas.microsoft.com/office/drawing/2014/main" id="{E0266260-A81A-439B-AB48-0021DEB4347B}"/>
              </a:ext>
            </a:extLst>
          </p:cNvPr>
          <p:cNvCxnSpPr>
            <a:cxnSpLocks/>
            <a:stCxn id="13" idx="3"/>
            <a:endCxn id="4" idx="1"/>
          </p:cNvCxnSpPr>
          <p:nvPr/>
        </p:nvCxnSpPr>
        <p:spPr>
          <a:xfrm rot="10800000">
            <a:off x="6558987" y="3733800"/>
            <a:ext cx="1611621" cy="461868"/>
          </a:xfrm>
          <a:prstGeom prst="curvedConnector4">
            <a:avLst>
              <a:gd name="adj1" fmla="val 47612"/>
              <a:gd name="adj2" fmla="val -677"/>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E4F33A9B-EA36-42A5-AC6B-F6D286F53611}"/>
              </a:ext>
            </a:extLst>
          </p:cNvPr>
          <p:cNvSpPr txBox="1"/>
          <p:nvPr/>
        </p:nvSpPr>
        <p:spPr>
          <a:xfrm flipH="1">
            <a:off x="8170607" y="3872502"/>
            <a:ext cx="1295399" cy="64633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National semibold" panose="02000503000000020004"/>
                <a:ea typeface="+mn-ea"/>
                <a:cs typeface="+mn-cs"/>
              </a:rPr>
              <a:t>Market risk premium</a:t>
            </a:r>
          </a:p>
        </p:txBody>
      </p:sp>
      <p:sp>
        <p:nvSpPr>
          <p:cNvPr id="17" name="Left Brace 16">
            <a:extLst>
              <a:ext uri="{FF2B5EF4-FFF2-40B4-BE49-F238E27FC236}">
                <a16:creationId xmlns:a16="http://schemas.microsoft.com/office/drawing/2014/main" id="{84969AF0-D323-4E4E-8D85-818384DC9E54}"/>
              </a:ext>
            </a:extLst>
          </p:cNvPr>
          <p:cNvSpPr/>
          <p:nvPr/>
        </p:nvSpPr>
        <p:spPr>
          <a:xfrm rot="16200000" flipH="1">
            <a:off x="6325939" y="2359275"/>
            <a:ext cx="153923" cy="1531375"/>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03030"/>
              </a:solidFill>
              <a:effectLst/>
              <a:uLnTx/>
              <a:uFillTx/>
              <a:latin typeface="Cambria"/>
              <a:ea typeface="+mn-ea"/>
              <a:cs typeface="+mn-cs"/>
            </a:endParaRPr>
          </a:p>
        </p:txBody>
      </p:sp>
      <p:cxnSp>
        <p:nvCxnSpPr>
          <p:cNvPr id="18" name="Connector: Curved 17">
            <a:extLst>
              <a:ext uri="{FF2B5EF4-FFF2-40B4-BE49-F238E27FC236}">
                <a16:creationId xmlns:a16="http://schemas.microsoft.com/office/drawing/2014/main" id="{58D2F7A7-3B33-4E20-9C17-8789613AFE1B}"/>
              </a:ext>
            </a:extLst>
          </p:cNvPr>
          <p:cNvCxnSpPr>
            <a:cxnSpLocks/>
            <a:stCxn id="21" idx="3"/>
          </p:cNvCxnSpPr>
          <p:nvPr/>
        </p:nvCxnSpPr>
        <p:spPr>
          <a:xfrm rot="10800000" flipV="1">
            <a:off x="6399213" y="2671464"/>
            <a:ext cx="1752599" cy="376535"/>
          </a:xfrm>
          <a:prstGeom prst="curvedConnector3">
            <a:avLst>
              <a:gd name="adj1" fmla="val 9913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D3DFED59-86D4-47BB-BC38-0B7819F82EC8}"/>
              </a:ext>
            </a:extLst>
          </p:cNvPr>
          <p:cNvSpPr txBox="1"/>
          <p:nvPr/>
        </p:nvSpPr>
        <p:spPr>
          <a:xfrm flipH="1">
            <a:off x="8151811" y="2209800"/>
            <a:ext cx="1447800"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srgbClr val="FF0000"/>
                </a:solidFill>
                <a:effectLst/>
                <a:uLnTx/>
                <a:uFillTx/>
                <a:latin typeface="National semibold" panose="02000503000000020004"/>
                <a:ea typeface="+mn-ea"/>
                <a:cs typeface="+mn-cs"/>
              </a:rPr>
              <a:t>Risk premium for asset </a:t>
            </a:r>
            <a:r>
              <a:rPr kumimoji="0" lang="en-US" sz="1800" b="1" i="1" u="none" strike="noStrike" kern="1200" cap="none" spc="0" normalizeH="0" baseline="0" noProof="0" err="1">
                <a:ln>
                  <a:noFill/>
                </a:ln>
                <a:solidFill>
                  <a:srgbClr val="FF0000"/>
                </a:solidFill>
                <a:effectLst/>
                <a:uLnTx/>
                <a:uFillTx/>
                <a:latin typeface="Times New Roman" panose="02020603050405020304" pitchFamily="18" charset="0"/>
                <a:ea typeface="+mn-ea"/>
                <a:cs typeface="Times New Roman" panose="02020603050405020304" pitchFamily="18" charset="0"/>
              </a:rPr>
              <a:t>i</a:t>
            </a:r>
            <a:endParaRPr kumimoji="0" lang="en-US" sz="1800" b="1" i="1" u="none" strike="noStrike" kern="1200" cap="none" spc="0" normalizeH="0" baseline="0" noProof="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Tree>
    <p:extLst>
      <p:ext uri="{BB962C8B-B14F-4D97-AF65-F5344CB8AC3E}">
        <p14:creationId xmlns:p14="http://schemas.microsoft.com/office/powerpoint/2010/main" val="1654019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13" grpId="0"/>
      <p:bldP spid="17" grpId="0" animBg="1"/>
      <p:bldP spid="2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03030"/>
              </a:solidFill>
              <a:effectLst/>
              <a:uLnTx/>
              <a:uFillTx/>
              <a:latin typeface="Cambria"/>
              <a:ea typeface="+mn-ea"/>
              <a:cs typeface="+mn-cs"/>
            </a:endParaRPr>
          </a:p>
        </p:txBody>
      </p:sp>
      <p:sp>
        <p:nvSpPr>
          <p:cNvPr id="9" name="Title 12">
            <a:extLst>
              <a:ext uri="{FF2B5EF4-FFF2-40B4-BE49-F238E27FC236}">
                <a16:creationId xmlns:a16="http://schemas.microsoft.com/office/drawing/2014/main" id="{745B273C-6FED-4863-9CB5-D93C31F4B423}"/>
              </a:ext>
            </a:extLst>
          </p:cNvPr>
          <p:cNvSpPr>
            <a:spLocks noGrp="1"/>
          </p:cNvSpPr>
          <p:nvPr>
            <p:ph type="title"/>
          </p:nvPr>
        </p:nvSpPr>
        <p:spPr>
          <a:xfrm>
            <a:off x="1598612" y="381000"/>
            <a:ext cx="9753600" cy="1219200"/>
          </a:xfrm>
        </p:spPr>
        <p:txBody>
          <a:bodyPr anchor="ctr">
            <a:normAutofit/>
          </a:bodyPr>
          <a:lstStyle/>
          <a:p>
            <a:r>
              <a:rPr lang="en-US" sz="4000" b="1">
                <a:latin typeface="National semibold" panose="02000503000000020004"/>
              </a:rPr>
              <a:t>Capital Asset Pricing Model (CAPM)</a:t>
            </a:r>
            <a:endParaRPr lang="en-US" sz="4000">
              <a:latin typeface="National semibold" panose="02000503000000020004"/>
            </a:endParaRPr>
          </a:p>
        </p:txBody>
      </p:sp>
      <mc:AlternateContent xmlns:mc="http://schemas.openxmlformats.org/markup-compatibility/2006" xmlns:a14="http://schemas.microsoft.com/office/drawing/2010/main">
        <mc:Choice Requires="a14">
          <p:sp>
            <p:nvSpPr>
              <p:cNvPr id="6" name="Rectangle 4">
                <a:extLst>
                  <a:ext uri="{FF2B5EF4-FFF2-40B4-BE49-F238E27FC236}">
                    <a16:creationId xmlns:a16="http://schemas.microsoft.com/office/drawing/2014/main" id="{7EF5D97F-D58F-4EE2-A6A9-449D6CE96E97}"/>
                  </a:ext>
                </a:extLst>
              </p:cNvPr>
              <p:cNvSpPr txBox="1">
                <a:spLocks noChangeArrowheads="1"/>
              </p:cNvSpPr>
              <p:nvPr/>
            </p:nvSpPr>
            <p:spPr>
              <a:xfrm>
                <a:off x="1598612" y="4648200"/>
                <a:ext cx="9906000" cy="1981200"/>
              </a:xfrm>
              <a:prstGeom prst="rect">
                <a:avLst/>
              </a:prstGeom>
            </p:spPr>
            <p:txBody>
              <a:bodyPr vert="horz" lIns="91440" tIns="45720" rIns="91440" bIns="45720" rtlCol="0">
                <a:noAutofit/>
              </a:bodyPr>
              <a:lst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a:lstStyle>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14:m>
                  <m:oMath xmlns:m="http://schemas.openxmlformats.org/officeDocument/2006/math">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𝜌</m:t>
                        </m:r>
                      </m:e>
                      <m: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𝑖</m:t>
                        </m:r>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𝑚</m:t>
                        </m:r>
                      </m:sub>
                    </m:s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Correlation between expected return on asset </a:t>
                </a:r>
                <a:r>
                  <a:rPr kumimoji="0" lang="en-US" sz="2400" b="0" i="1" u="none" strike="noStrike" kern="1200" cap="none" spc="0" normalizeH="0" baseline="0" noProof="0" err="1">
                    <a:ln>
                      <a:noFill/>
                    </a:ln>
                    <a:solidFill>
                      <a:srgbClr val="303030"/>
                    </a:solidFill>
                    <a:effectLst/>
                    <a:uLnTx/>
                    <a:uFillTx/>
                    <a:latin typeface="Times New Roman" panose="02020603050405020304" pitchFamily="18" charset="0"/>
                    <a:ea typeface="+mn-ea"/>
                    <a:cs typeface="Times New Roman" panose="02020603050405020304" pitchFamily="18" charset="0"/>
                  </a:rPr>
                  <a:t>i</a:t>
                </a:r>
                <a:r>
                  <a:rPr kumimoji="0" lang="en-US" sz="2400" b="0" i="1" u="none" strike="noStrike" kern="1200" cap="none" spc="0" normalizeH="0" baseline="0" noProof="0">
                    <a:ln>
                      <a:noFill/>
                    </a:ln>
                    <a:solidFill>
                      <a:srgbClr val="303030"/>
                    </a:solidFill>
                    <a:effectLst/>
                    <a:uLnTx/>
                    <a:uFillTx/>
                    <a:latin typeface="Times New Roman" panose="02020603050405020304" pitchFamily="18" charset="0"/>
                    <a:ea typeface="+mn-ea"/>
                    <a:cs typeface="Times New Roman" panose="02020603050405020304" pitchFamily="18" charset="0"/>
                  </a:rPr>
                  <a:t> </a:t>
                </a: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Times New Roman" panose="02020603050405020304" pitchFamily="18" charset="0"/>
                  </a:rPr>
                  <a:t>and expected return on market portfolio</a:t>
                </a:r>
                <a:endParaRPr kumimoji="0" lang="en-US" sz="2400" b="0" i="1" u="none" strike="noStrike" kern="1200" cap="none" spc="0" normalizeH="0" baseline="0" noProof="0">
                  <a:ln>
                    <a:noFill/>
                  </a:ln>
                  <a:solidFill>
                    <a:srgbClr val="303030"/>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14:m>
                  <m:oMath xmlns:m="http://schemas.openxmlformats.org/officeDocument/2006/math">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m:t>
                        </m:r>
                      </m:sub>
                    </m:s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Standard deviation of return on asset </a:t>
                </a:r>
                <a:r>
                  <a:rPr kumimoji="0" lang="en-US" sz="2400" b="0" i="1" u="none" strike="noStrike" kern="1200" cap="none" spc="0" normalizeH="0" baseline="0" noProof="0" err="1">
                    <a:ln>
                      <a:noFill/>
                    </a:ln>
                    <a:solidFill>
                      <a:srgbClr val="303030"/>
                    </a:solidFill>
                    <a:effectLst/>
                    <a:uLnTx/>
                    <a:uFillTx/>
                    <a:latin typeface="Times New Roman" panose="02020603050405020304" pitchFamily="18" charset="0"/>
                    <a:ea typeface="+mn-ea"/>
                    <a:cs typeface="Times New Roman" panose="02020603050405020304" pitchFamily="18" charset="0"/>
                  </a:rPr>
                  <a:t>i</a:t>
                </a:r>
                <a:endPar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endParaRP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14:m>
                  <m:oMath xmlns:m="http://schemas.openxmlformats.org/officeDocument/2006/math">
                    <m:sSub>
                      <m:sSub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𝑚</m:t>
                        </m:r>
                      </m:sub>
                    </m:s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rPr>
                      <m:t> </m:t>
                    </m:r>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Standard deviation of return on market portfolio</a:t>
                </a: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endPar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endParaRPr>
              </a:p>
            </p:txBody>
          </p:sp>
        </mc:Choice>
        <mc:Fallback xmlns="">
          <p:sp>
            <p:nvSpPr>
              <p:cNvPr id="6" name="Rectangle 4">
                <a:extLst>
                  <a:ext uri="{FF2B5EF4-FFF2-40B4-BE49-F238E27FC236}">
                    <a16:creationId xmlns:a16="http://schemas.microsoft.com/office/drawing/2014/main" id="{7EF5D97F-D58F-4EE2-A6A9-449D6CE96E97}"/>
                  </a:ext>
                </a:extLst>
              </p:cNvPr>
              <p:cNvSpPr txBox="1">
                <a:spLocks noRot="1" noChangeAspect="1" noMove="1" noResize="1" noEditPoints="1" noAdjustHandles="1" noChangeArrowheads="1" noChangeShapeType="1" noTextEdit="1"/>
              </p:cNvSpPr>
              <p:nvPr/>
            </p:nvSpPr>
            <p:spPr>
              <a:xfrm>
                <a:off x="1598612" y="4648200"/>
                <a:ext cx="9906000" cy="1981200"/>
              </a:xfrm>
              <a:prstGeom prst="rect">
                <a:avLst/>
              </a:prstGeom>
              <a:blipFill>
                <a:blip r:embed="rId3"/>
                <a:stretch>
                  <a:fillRect l="-923" t="-1846" r="-246" b="-147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5799112-375F-4109-AD98-8B4651956A91}"/>
                  </a:ext>
                </a:extLst>
              </p:cNvPr>
              <p:cNvSpPr/>
              <p:nvPr/>
            </p:nvSpPr>
            <p:spPr>
              <a:xfrm>
                <a:off x="4418012" y="1865314"/>
                <a:ext cx="3505200" cy="914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𝑓</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𝑚</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𝑓</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m:t>
                      </m:r>
                    </m:oMath>
                  </m:oMathPara>
                </a14:m>
                <a:endParaRPr kumimoji="0" lang="en-US" sz="2400" b="0" i="0" u="none" strike="noStrike" kern="1200" cap="none" spc="0" normalizeH="0" baseline="0" noProof="0">
                  <a:ln>
                    <a:noFill/>
                  </a:ln>
                  <a:solidFill>
                    <a:prstClr val="white"/>
                  </a:solidFill>
                  <a:effectLst/>
                  <a:uLnTx/>
                  <a:uFillTx/>
                  <a:latin typeface="Cambria"/>
                  <a:ea typeface="+mn-ea"/>
                  <a:cs typeface="+mn-cs"/>
                </a:endParaRPr>
              </a:p>
            </p:txBody>
          </p:sp>
        </mc:Choice>
        <mc:Fallback xmlns="">
          <p:sp>
            <p:nvSpPr>
              <p:cNvPr id="2" name="Rectangle 1">
                <a:extLst>
                  <a:ext uri="{FF2B5EF4-FFF2-40B4-BE49-F238E27FC236}">
                    <a16:creationId xmlns:a16="http://schemas.microsoft.com/office/drawing/2014/main" id="{35799112-375F-4109-AD98-8B4651956A91}"/>
                  </a:ext>
                </a:extLst>
              </p:cNvPr>
              <p:cNvSpPr>
                <a:spLocks noRot="1" noChangeAspect="1" noMove="1" noResize="1" noEditPoints="1" noAdjustHandles="1" noChangeArrowheads="1" noChangeShapeType="1" noTextEdit="1"/>
              </p:cNvSpPr>
              <p:nvPr/>
            </p:nvSpPr>
            <p:spPr>
              <a:xfrm>
                <a:off x="4418012" y="1865314"/>
                <a:ext cx="3505200" cy="914400"/>
              </a:xfrm>
              <a:prstGeom prst="rect">
                <a:avLst/>
              </a:prstGeom>
              <a:blipFill>
                <a:blip r:embed="rId4"/>
                <a:stretch>
                  <a:fillRect/>
                </a:stretch>
              </a:blipFill>
              <a:ln w="31750">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8BCEA13-E43E-4C04-A1D2-BC3DCD090A1D}"/>
                  </a:ext>
                </a:extLst>
              </p:cNvPr>
              <p:cNvSpPr/>
              <p:nvPr/>
            </p:nvSpPr>
            <p:spPr>
              <a:xfrm>
                <a:off x="4951412" y="3276600"/>
                <a:ext cx="2286000" cy="914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𝜌</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𝑖𝑚</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 </m:t>
                      </m:r>
                      <m:f>
                        <m:f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m:t>
                              </m:r>
                            </m:sub>
                          </m:sSub>
                        </m:num>
                        <m:den>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𝑚</m:t>
                              </m:r>
                            </m:sub>
                          </m:sSub>
                        </m:den>
                      </m:f>
                    </m:oMath>
                  </m:oMathPara>
                </a14:m>
                <a:endParaRPr kumimoji="0" lang="en-US" sz="2400" b="0" i="0" u="none" strike="noStrike" kern="1200" cap="none" spc="0" normalizeH="0" baseline="0" noProof="0">
                  <a:ln>
                    <a:noFill/>
                  </a:ln>
                  <a:solidFill>
                    <a:prstClr val="white"/>
                  </a:solidFill>
                  <a:effectLst/>
                  <a:uLnTx/>
                  <a:uFillTx/>
                  <a:latin typeface="Cambria"/>
                  <a:ea typeface="+mn-ea"/>
                  <a:cs typeface="+mn-cs"/>
                </a:endParaRPr>
              </a:p>
            </p:txBody>
          </p:sp>
        </mc:Choice>
        <mc:Fallback xmlns="">
          <p:sp>
            <p:nvSpPr>
              <p:cNvPr id="7" name="Rectangle 6">
                <a:extLst>
                  <a:ext uri="{FF2B5EF4-FFF2-40B4-BE49-F238E27FC236}">
                    <a16:creationId xmlns:a16="http://schemas.microsoft.com/office/drawing/2014/main" id="{48BCEA13-E43E-4C04-A1D2-BC3DCD090A1D}"/>
                  </a:ext>
                </a:extLst>
              </p:cNvPr>
              <p:cNvSpPr>
                <a:spLocks noRot="1" noChangeAspect="1" noMove="1" noResize="1" noEditPoints="1" noAdjustHandles="1" noChangeArrowheads="1" noChangeShapeType="1" noTextEdit="1"/>
              </p:cNvSpPr>
              <p:nvPr/>
            </p:nvSpPr>
            <p:spPr>
              <a:xfrm>
                <a:off x="4951412" y="3276600"/>
                <a:ext cx="2286000" cy="914400"/>
              </a:xfrm>
              <a:prstGeom prst="rect">
                <a:avLst/>
              </a:prstGeom>
              <a:blipFill>
                <a:blip r:embed="rId5"/>
                <a:stretch>
                  <a:fillRect/>
                </a:stretch>
              </a:blipFill>
              <a:ln w="31750">
                <a:solidFill>
                  <a:srgbClr val="FF0000"/>
                </a:solidFill>
              </a:ln>
            </p:spPr>
            <p:txBody>
              <a:bodyPr/>
              <a:lstStyle/>
              <a:p>
                <a:r>
                  <a:rPr lang="en-US">
                    <a:noFill/>
                  </a:rPr>
                  <a:t> </a:t>
                </a:r>
              </a:p>
            </p:txBody>
          </p:sp>
        </mc:Fallback>
      </mc:AlternateContent>
      <p:sp>
        <p:nvSpPr>
          <p:cNvPr id="3" name="TextBox 2">
            <a:extLst>
              <a:ext uri="{FF2B5EF4-FFF2-40B4-BE49-F238E27FC236}">
                <a16:creationId xmlns:a16="http://schemas.microsoft.com/office/drawing/2014/main" id="{A3802828-943C-4FC6-A88B-AE3B55A5BB41}"/>
              </a:ext>
            </a:extLst>
          </p:cNvPr>
          <p:cNvSpPr txBox="1"/>
          <p:nvPr/>
        </p:nvSpPr>
        <p:spPr>
          <a:xfrm>
            <a:off x="8685212" y="2971800"/>
            <a:ext cx="2590800" cy="14773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1" u="none" strike="noStrike" kern="1200" cap="none" spc="0" normalizeH="0" baseline="0" noProof="0">
                <a:ln>
                  <a:noFill/>
                </a:ln>
                <a:solidFill>
                  <a:srgbClr val="202124"/>
                </a:solidFill>
                <a:effectLst/>
                <a:uLnTx/>
                <a:uFillTx/>
                <a:latin typeface="Roboto" panose="02000000000000000000" pitchFamily="2" charset="0"/>
                <a:ea typeface="+mn-ea"/>
                <a:cs typeface="+mn-cs"/>
              </a:rPr>
              <a:t>Beta</a:t>
            </a:r>
            <a:r>
              <a:rPr kumimoji="0" lang="en-US" sz="1800" b="0" i="1" u="none" strike="noStrike" kern="1200" cap="none" spc="0" normalizeH="0" baseline="0" noProof="0">
                <a:ln>
                  <a:noFill/>
                </a:ln>
                <a:solidFill>
                  <a:srgbClr val="202124"/>
                </a:solidFill>
                <a:effectLst/>
                <a:uLnTx/>
                <a:uFillTx/>
                <a:latin typeface="Roboto" panose="02000000000000000000" pitchFamily="2" charset="0"/>
                <a:ea typeface="+mn-ea"/>
                <a:cs typeface="+mn-cs"/>
              </a:rPr>
              <a:t> is a measure of the volatility—or systematic risk—of an asset compared to the market as a whole</a:t>
            </a:r>
            <a:endParaRPr kumimoji="0" lang="en-US" sz="1800" b="0" i="1" u="none" strike="noStrike" kern="1200" cap="none" spc="0" normalizeH="0" baseline="0" noProof="0">
              <a:ln>
                <a:noFill/>
              </a:ln>
              <a:solidFill>
                <a:srgbClr val="303030"/>
              </a:solidFill>
              <a:effectLst/>
              <a:uLnTx/>
              <a:uFillTx/>
              <a:latin typeface="Cambria"/>
              <a:ea typeface="+mn-ea"/>
              <a:cs typeface="+mn-cs"/>
            </a:endParaRPr>
          </a:p>
        </p:txBody>
      </p:sp>
      <p:sp>
        <p:nvSpPr>
          <p:cNvPr id="4" name="Arrow: Right 3">
            <a:extLst>
              <a:ext uri="{FF2B5EF4-FFF2-40B4-BE49-F238E27FC236}">
                <a16:creationId xmlns:a16="http://schemas.microsoft.com/office/drawing/2014/main" id="{83F93A87-9163-4F68-9CED-823B59D23199}"/>
              </a:ext>
            </a:extLst>
          </p:cNvPr>
          <p:cNvSpPr/>
          <p:nvPr/>
        </p:nvSpPr>
        <p:spPr>
          <a:xfrm>
            <a:off x="7656512" y="3657600"/>
            <a:ext cx="6477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mbria"/>
              <a:ea typeface="+mn-ea"/>
              <a:cs typeface="+mn-cs"/>
            </a:endParaRPr>
          </a:p>
        </p:txBody>
      </p:sp>
    </p:spTree>
    <p:extLst>
      <p:ext uri="{BB962C8B-B14F-4D97-AF65-F5344CB8AC3E}">
        <p14:creationId xmlns:p14="http://schemas.microsoft.com/office/powerpoint/2010/main" val="20238974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3" grpId="0"/>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03030"/>
              </a:solidFill>
              <a:effectLst/>
              <a:uLnTx/>
              <a:uFillTx/>
              <a:latin typeface="Cambria"/>
              <a:ea typeface="+mn-ea"/>
              <a:cs typeface="+mn-cs"/>
            </a:endParaRPr>
          </a:p>
        </p:txBody>
      </p:sp>
      <p:sp>
        <p:nvSpPr>
          <p:cNvPr id="9" name="Title 12">
            <a:extLst>
              <a:ext uri="{FF2B5EF4-FFF2-40B4-BE49-F238E27FC236}">
                <a16:creationId xmlns:a16="http://schemas.microsoft.com/office/drawing/2014/main" id="{745B273C-6FED-4863-9CB5-D93C31F4B423}"/>
              </a:ext>
            </a:extLst>
          </p:cNvPr>
          <p:cNvSpPr>
            <a:spLocks noGrp="1"/>
          </p:cNvSpPr>
          <p:nvPr>
            <p:ph type="title"/>
          </p:nvPr>
        </p:nvSpPr>
        <p:spPr>
          <a:xfrm>
            <a:off x="1598612" y="381000"/>
            <a:ext cx="9753600" cy="1219200"/>
          </a:xfrm>
        </p:spPr>
        <p:txBody>
          <a:bodyPr anchor="ctr">
            <a:normAutofit/>
          </a:bodyPr>
          <a:lstStyle/>
          <a:p>
            <a:r>
              <a:rPr lang="en-US" sz="4000" b="1">
                <a:latin typeface="National semibold" panose="02000503000000020004"/>
              </a:rPr>
              <a:t>Another way to write the beta</a:t>
            </a:r>
            <a:endParaRPr lang="en-US" sz="4000">
              <a:latin typeface="National semibold" panose="02000503000000020004"/>
            </a:endParaRPr>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8BCEA13-E43E-4C04-A1D2-BC3DCD090A1D}"/>
                  </a:ext>
                </a:extLst>
              </p:cNvPr>
              <p:cNvSpPr/>
              <p:nvPr/>
            </p:nvSpPr>
            <p:spPr>
              <a:xfrm>
                <a:off x="2830780" y="3276599"/>
                <a:ext cx="6520743" cy="914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  </m:t>
                      </m:r>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𝜌</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𝑖𝑚</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 </m:t>
                      </m:r>
                      <m:f>
                        <m:f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m:t>
                              </m:r>
                            </m:sub>
                          </m:sSub>
                        </m:num>
                        <m:den>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𝑚</m:t>
                              </m:r>
                            </m:sub>
                          </m:sSub>
                        </m:den>
                      </m:f>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   =   </m:t>
                      </m:r>
                      <m:f>
                        <m:f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𝑖𝑚</m:t>
                              </m:r>
                            </m:sub>
                          </m:sSub>
                        </m:num>
                        <m:den>
                          <m:sSubSup>
                            <m:sSubSupPr>
                              <m:ctrlPr>
                                <a:rPr lang="en-US" sz="2400" i="1">
                                  <a:solidFill>
                                    <a:srgbClr val="303030"/>
                                  </a:solidFill>
                                  <a:latin typeface="Cambria Math" panose="02040503050406030204" pitchFamily="18" charset="0"/>
                                  <a:ea typeface="Cambria Math" panose="02040503050406030204" pitchFamily="18" charset="0"/>
                                </a:rPr>
                              </m:ctrlPr>
                            </m:sSubSupPr>
                            <m:e>
                              <m:r>
                                <a:rPr lang="en-US" sz="2400" i="1">
                                  <a:solidFill>
                                    <a:srgbClr val="303030"/>
                                  </a:solidFill>
                                  <a:latin typeface="Cambria Math" panose="02040503050406030204" pitchFamily="18" charset="0"/>
                                  <a:ea typeface="Cambria Math" panose="02040503050406030204" pitchFamily="18" charset="0"/>
                                </a:rPr>
                                <m:t>𝜎</m:t>
                              </m:r>
                            </m:e>
                            <m:sub>
                              <m:r>
                                <a:rPr lang="en-US" sz="2400" i="1">
                                  <a:solidFill>
                                    <a:srgbClr val="303030"/>
                                  </a:solidFill>
                                  <a:latin typeface="Cambria Math" panose="02040503050406030204" pitchFamily="18" charset="0"/>
                                  <a:ea typeface="Cambria Math" panose="02040503050406030204" pitchFamily="18" charset="0"/>
                                </a:rPr>
                                <m:t>𝑚</m:t>
                              </m:r>
                            </m:sub>
                            <m:sup>
                              <m:r>
                                <a:rPr lang="en-US" sz="2400" i="1">
                                  <a:solidFill>
                                    <a:srgbClr val="303030"/>
                                  </a:solidFill>
                                  <a:latin typeface="Cambria Math" panose="02040503050406030204" pitchFamily="18" charset="0"/>
                                  <a:ea typeface="Cambria Math" panose="02040503050406030204" pitchFamily="18" charset="0"/>
                                </a:rPr>
                                <m:t>2</m:t>
                              </m:r>
                            </m:sup>
                          </m:sSubSup>
                        </m:den>
                      </m:f>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   =   </m:t>
                      </m:r>
                      <m:f>
                        <m:f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fPr>
                        <m:num>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𝐶𝑂𝑉</m:t>
                          </m:r>
                          <m:d>
                            <m:d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dPr>
                            <m:e>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𝑚</m:t>
                                  </m:r>
                                </m:sub>
                              </m:sSub>
                            </m:e>
                          </m:d>
                        </m:num>
                        <m:den>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𝑉𝐴𝑅</m:t>
                          </m:r>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𝑚</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m:t>
                          </m:r>
                        </m:den>
                      </m:f>
                    </m:oMath>
                  </m:oMathPara>
                </a14:m>
                <a:endParaRPr kumimoji="0" lang="en-US" sz="2400" b="0" i="0" u="none" strike="noStrike" kern="1200" cap="none" spc="0" normalizeH="0" baseline="0" noProof="0">
                  <a:ln>
                    <a:noFill/>
                  </a:ln>
                  <a:solidFill>
                    <a:prstClr val="white"/>
                  </a:solidFill>
                  <a:effectLst/>
                  <a:uLnTx/>
                  <a:uFillTx/>
                  <a:latin typeface="Cambria"/>
                  <a:ea typeface="+mn-ea"/>
                  <a:cs typeface="+mn-cs"/>
                </a:endParaRPr>
              </a:p>
            </p:txBody>
          </p:sp>
        </mc:Choice>
        <mc:Fallback xmlns="">
          <p:sp>
            <p:nvSpPr>
              <p:cNvPr id="7" name="Rectangle 6">
                <a:extLst>
                  <a:ext uri="{FF2B5EF4-FFF2-40B4-BE49-F238E27FC236}">
                    <a16:creationId xmlns:a16="http://schemas.microsoft.com/office/drawing/2014/main" id="{48BCEA13-E43E-4C04-A1D2-BC3DCD090A1D}"/>
                  </a:ext>
                </a:extLst>
              </p:cNvPr>
              <p:cNvSpPr>
                <a:spLocks noRot="1" noChangeAspect="1" noMove="1" noResize="1" noEditPoints="1" noAdjustHandles="1" noChangeArrowheads="1" noChangeShapeType="1" noTextEdit="1"/>
              </p:cNvSpPr>
              <p:nvPr/>
            </p:nvSpPr>
            <p:spPr>
              <a:xfrm>
                <a:off x="2830780" y="3276599"/>
                <a:ext cx="6520743" cy="914400"/>
              </a:xfrm>
              <a:prstGeom prst="rect">
                <a:avLst/>
              </a:prstGeom>
              <a:blipFill>
                <a:blip r:embed="rId3"/>
                <a:stretch>
                  <a:fillRect/>
                </a:stretch>
              </a:blipFill>
              <a:ln w="3175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1827291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Rectangle 2"/>
          <p:cNvSpPr>
            <a:spLocks noChangeArrowheads="1"/>
          </p:cNvSpPr>
          <p:nvPr/>
        </p:nvSpPr>
        <p:spPr bwMode="auto">
          <a:xfrm>
            <a:off x="2208212" y="1865314"/>
            <a:ext cx="7772400" cy="4078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9" tIns="45714" rIns="91429" bIns="45714"/>
          <a:lstStyle/>
          <a:p>
            <a:pPr marL="342900" marR="0" lvl="0" indent="-34290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03030"/>
              </a:solidFill>
              <a:effectLst/>
              <a:uLnTx/>
              <a:uFillTx/>
              <a:latin typeface="Cambria"/>
              <a:ea typeface="+mn-ea"/>
              <a:cs typeface="+mn-cs"/>
            </a:endParaRPr>
          </a:p>
        </p:txBody>
      </p:sp>
      <p:sp>
        <p:nvSpPr>
          <p:cNvPr id="9" name="Title 12">
            <a:extLst>
              <a:ext uri="{FF2B5EF4-FFF2-40B4-BE49-F238E27FC236}">
                <a16:creationId xmlns:a16="http://schemas.microsoft.com/office/drawing/2014/main" id="{745B273C-6FED-4863-9CB5-D93C31F4B423}"/>
              </a:ext>
            </a:extLst>
          </p:cNvPr>
          <p:cNvSpPr>
            <a:spLocks noGrp="1"/>
          </p:cNvSpPr>
          <p:nvPr>
            <p:ph type="title"/>
          </p:nvPr>
        </p:nvSpPr>
        <p:spPr>
          <a:xfrm>
            <a:off x="1598612" y="381000"/>
            <a:ext cx="9753600" cy="1219200"/>
          </a:xfrm>
        </p:spPr>
        <p:txBody>
          <a:bodyPr anchor="ctr">
            <a:normAutofit/>
          </a:bodyPr>
          <a:lstStyle/>
          <a:p>
            <a:r>
              <a:rPr lang="en-US" sz="4000" b="1">
                <a:latin typeface="National semibold" panose="02000503000000020004"/>
              </a:rPr>
              <a:t>Key assumptions and insights for CAPM</a:t>
            </a:r>
            <a:endParaRPr lang="en-US" sz="4000">
              <a:latin typeface="National semibold" panose="02000503000000020004"/>
            </a:endParaRPr>
          </a:p>
        </p:txBody>
      </p:sp>
      <mc:AlternateContent xmlns:mc="http://schemas.openxmlformats.org/markup-compatibility/2006" xmlns:a14="http://schemas.microsoft.com/office/drawing/2010/main">
        <mc:Choice Requires="a14">
          <p:sp>
            <p:nvSpPr>
              <p:cNvPr id="6" name="Rectangle 4">
                <a:extLst>
                  <a:ext uri="{FF2B5EF4-FFF2-40B4-BE49-F238E27FC236}">
                    <a16:creationId xmlns:a16="http://schemas.microsoft.com/office/drawing/2014/main" id="{7EF5D97F-D58F-4EE2-A6A9-449D6CE96E97}"/>
                  </a:ext>
                </a:extLst>
              </p:cNvPr>
              <p:cNvSpPr txBox="1">
                <a:spLocks noChangeArrowheads="1"/>
              </p:cNvSpPr>
              <p:nvPr/>
            </p:nvSpPr>
            <p:spPr>
              <a:xfrm>
                <a:off x="1598612" y="3048000"/>
                <a:ext cx="9906000" cy="3581400"/>
              </a:xfrm>
              <a:prstGeom prst="rect">
                <a:avLst/>
              </a:prstGeom>
            </p:spPr>
            <p:txBody>
              <a:bodyPr vert="horz" lIns="91440" tIns="45720" rIns="91440" bIns="45720" rtlCol="0">
                <a:noAutofit/>
              </a:bodyPr>
              <a:lstStyle>
                <a:lvl1pPr marL="223838" indent="-223838" algn="l" defTabSz="914400" rtl="0" eaLnBrk="1" latinLnBrk="0" hangingPunct="1">
                  <a:lnSpc>
                    <a:spcPct val="90000"/>
                  </a:lnSpc>
                  <a:spcBef>
                    <a:spcPts val="1800"/>
                  </a:spcBef>
                  <a:buClr>
                    <a:schemeClr val="tx1">
                      <a:lumMod val="90000"/>
                      <a:lumOff val="10000"/>
                    </a:schemeClr>
                  </a:buClr>
                  <a:buSzPct val="80000"/>
                  <a:buFont typeface="Arial" pitchFamily="34" charset="0"/>
                  <a:buChar char="•"/>
                  <a:defRPr sz="2400" kern="1200">
                    <a:solidFill>
                      <a:schemeClr val="tx1"/>
                    </a:solidFill>
                    <a:latin typeface="+mn-lt"/>
                    <a:ea typeface="+mn-ea"/>
                    <a:cs typeface="+mn-cs"/>
                  </a:defRPr>
                </a:lvl1pPr>
                <a:lvl2pPr marL="511175" indent="-228600" algn="l" defTabSz="914400" rtl="0" eaLnBrk="1" latinLnBrk="0" hangingPunct="1">
                  <a:lnSpc>
                    <a:spcPct val="90000"/>
                  </a:lnSpc>
                  <a:spcBef>
                    <a:spcPts val="1000"/>
                  </a:spcBef>
                  <a:buClr>
                    <a:schemeClr val="tx1">
                      <a:lumMod val="90000"/>
                      <a:lumOff val="10000"/>
                    </a:schemeClr>
                  </a:buClr>
                  <a:buSzPct val="80000"/>
                  <a:buFont typeface="Arial" pitchFamily="34" charset="0"/>
                  <a:buChar char="•"/>
                  <a:defRPr sz="2000" kern="1200">
                    <a:solidFill>
                      <a:schemeClr val="tx1"/>
                    </a:solidFill>
                    <a:latin typeface="+mn-lt"/>
                    <a:ea typeface="+mn-ea"/>
                    <a:cs typeface="+mn-cs"/>
                  </a:defRPr>
                </a:lvl2pPr>
                <a:lvl3pPr marL="685800"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800" kern="1200">
                    <a:solidFill>
                      <a:schemeClr val="tx1"/>
                    </a:solidFill>
                    <a:latin typeface="+mn-lt"/>
                    <a:ea typeface="+mn-ea"/>
                    <a:cs typeface="+mn-cs"/>
                  </a:defRPr>
                </a:lvl3pPr>
                <a:lvl4pPr marL="860425" indent="-174625"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4pPr>
                <a:lvl5pPr marL="1033463" indent="-173038" algn="l" defTabSz="914400" rtl="0" eaLnBrk="1" latinLnBrk="0" hangingPunct="1">
                  <a:lnSpc>
                    <a:spcPct val="90000"/>
                  </a:lnSpc>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5pPr>
                <a:lvl6pPr marL="1207008"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6pPr>
                <a:lvl7pPr marL="1380744"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7pPr>
                <a:lvl8pPr marL="1554480"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8pPr>
                <a:lvl9pPr marL="1728216" indent="-173736" algn="l" defTabSz="914400" rtl="0" eaLnBrk="1" latinLnBrk="0" hangingPunct="1">
                  <a:spcBef>
                    <a:spcPts val="600"/>
                  </a:spcBef>
                  <a:buClr>
                    <a:schemeClr val="tx1">
                      <a:lumMod val="90000"/>
                      <a:lumOff val="10000"/>
                    </a:schemeClr>
                  </a:buClr>
                  <a:buSzPct val="80000"/>
                  <a:buFont typeface="Arial" pitchFamily="34" charset="0"/>
                  <a:buChar char="•"/>
                  <a:defRPr sz="1600" kern="1200">
                    <a:solidFill>
                      <a:schemeClr val="tx1"/>
                    </a:solidFill>
                    <a:latin typeface="+mn-lt"/>
                    <a:ea typeface="+mn-ea"/>
                    <a:cs typeface="+mn-cs"/>
                  </a:defRPr>
                </a:lvl9pPr>
              </a:lstStyle>
              <a:p>
                <a:pPr marL="223838" marR="0" lvl="0" indent="-223838"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Char char="•"/>
                  <a:tabLst/>
                  <a:defRPr/>
                </a:pP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Risk-averse shareholders seek to diversify their risk. </a:t>
                </a:r>
              </a:p>
              <a:p>
                <a:pPr marL="223838" marR="0" lvl="0" indent="-223838"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Char char="•"/>
                  <a:tabLst/>
                  <a:defRPr/>
                </a:pP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The expected return </a:t>
                </a:r>
                <a14:m>
                  <m:oMath xmlns:m="http://schemas.openxmlformats.org/officeDocument/2006/math">
                    <m:sSub>
                      <m:sSub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𝑟</m:t>
                        </m:r>
                      </m:e>
                      <m: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t>𝑖</m:t>
                        </m:r>
                      </m:sub>
                    </m:sSub>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of asset </a:t>
                </a:r>
                <a:r>
                  <a:rPr kumimoji="0" lang="en-US" sz="2400" b="0" i="1" u="none" strike="noStrike" kern="1200" cap="none" spc="0" normalizeH="0" baseline="0" noProof="0" err="1">
                    <a:ln>
                      <a:noFill/>
                    </a:ln>
                    <a:solidFill>
                      <a:srgbClr val="303030"/>
                    </a:solidFill>
                    <a:effectLst/>
                    <a:uLnTx/>
                    <a:uFillTx/>
                    <a:latin typeface="Times New Roman" panose="02020603050405020304" pitchFamily="18" charset="0"/>
                    <a:ea typeface="+mn-ea"/>
                    <a:cs typeface="Times New Roman" panose="02020603050405020304" pitchFamily="18" charset="0"/>
                  </a:rPr>
                  <a:t>i</a:t>
                </a: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is the expected return that investors demand in order to invest in that asset (to include the asset in the portfolio).</a:t>
                </a:r>
              </a:p>
              <a:p>
                <a:pPr marL="223838" marR="0" lvl="0" indent="-223838"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Char char="•"/>
                  <a:tabLst/>
                  <a:defRPr/>
                </a:pP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The only risk that will be rewarded with a premium is the systematic or </a:t>
                </a:r>
                <a:r>
                  <a:rPr kumimoji="0" lang="en-US" sz="2400" b="0" i="0" u="none" strike="noStrike" kern="1200" cap="none" spc="0" normalizeH="0" baseline="0" noProof="0" err="1">
                    <a:ln>
                      <a:noFill/>
                    </a:ln>
                    <a:solidFill>
                      <a:srgbClr val="303030"/>
                    </a:solidFill>
                    <a:effectLst/>
                    <a:uLnTx/>
                    <a:uFillTx/>
                    <a:latin typeface="National semibold" panose="02000503000000020004"/>
                    <a:ea typeface="+mn-ea"/>
                    <a:cs typeface="+mn-cs"/>
                  </a:rPr>
                  <a:t>nondiversifiable</a:t>
                </a: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risk (the risk that is also in the market portfolio).</a:t>
                </a:r>
              </a:p>
              <a:p>
                <a:pPr marL="223838" marR="0" lvl="0" indent="-223838"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Char char="•"/>
                  <a:tabLst/>
                  <a:defRPr/>
                </a:pP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The risk premium for asset </a:t>
                </a:r>
                <a:r>
                  <a:rPr kumimoji="0" lang="en-US" sz="2400" b="0" i="1" u="none" strike="noStrike" kern="1200" cap="none" spc="0" normalizeH="0" baseline="0" noProof="0" err="1">
                    <a:ln>
                      <a:noFill/>
                    </a:ln>
                    <a:solidFill>
                      <a:srgbClr val="303030"/>
                    </a:solidFill>
                    <a:effectLst/>
                    <a:uLnTx/>
                    <a:uFillTx/>
                    <a:latin typeface="Times New Roman" panose="02020603050405020304" pitchFamily="18" charset="0"/>
                    <a:ea typeface="+mn-ea"/>
                    <a:cs typeface="Times New Roman" panose="02020603050405020304" pitchFamily="18" charset="0"/>
                  </a:rPr>
                  <a:t>i</a:t>
                </a: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increases with (</a:t>
                </a:r>
                <a:r>
                  <a:rPr kumimoji="0" lang="en-US" sz="2400" b="0" i="0" u="none" strike="noStrike" kern="1200" cap="none" spc="0" normalizeH="0" baseline="0" noProof="0" err="1">
                    <a:ln>
                      <a:noFill/>
                    </a:ln>
                    <a:solidFill>
                      <a:srgbClr val="303030"/>
                    </a:solidFill>
                    <a:effectLst/>
                    <a:uLnTx/>
                    <a:uFillTx/>
                    <a:latin typeface="National semibold" panose="02000503000000020004"/>
                    <a:ea typeface="+mn-ea"/>
                    <a:cs typeface="+mn-cs"/>
                  </a:rPr>
                  <a:t>i</a:t>
                </a: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correlation with market return </a:t>
                </a:r>
                <a14:m>
                  <m:oMath xmlns:m="http://schemas.openxmlformats.org/officeDocument/2006/math">
                    <m:sSub>
                      <m:sSub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t>𝜌</m:t>
                        </m:r>
                      </m:e>
                      <m: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t>𝑖𝑚</m:t>
                        </m:r>
                      </m:sub>
                    </m:sSub>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and (ii) volatility of return relatively to market return </a:t>
                </a:r>
                <a14:m>
                  <m:oMath xmlns:m="http://schemas.openxmlformats.org/officeDocument/2006/math">
                    <m:f>
                      <m:f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t>𝑖</m:t>
                            </m:r>
                          </m:sub>
                        </m:sSub>
                      </m:num>
                      <m:den>
                        <m:sSub>
                          <m:sSubPr>
                            <m:ctrlP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Cambria Math" panose="02040503050406030204" pitchFamily="18" charset="0"/>
                                <a:cs typeface="+mn-cs"/>
                              </a:rPr>
                              <m:t>𝑚</m:t>
                            </m:r>
                          </m:sub>
                        </m:sSub>
                      </m:den>
                    </m:f>
                  </m:oMath>
                </a14:m>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a:t>
                </a:r>
              </a:p>
              <a:p>
                <a:pPr marL="0" marR="0" lvl="0" indent="0" algn="l" defTabSz="914400" rtl="0" eaLnBrk="1" fontAlgn="auto" latinLnBrk="0" hangingPunct="1">
                  <a:lnSpc>
                    <a:spcPct val="110000"/>
                  </a:lnSpc>
                  <a:spcBef>
                    <a:spcPts val="1800"/>
                  </a:spcBef>
                  <a:spcAft>
                    <a:spcPts val="0"/>
                  </a:spcAft>
                  <a:buClr>
                    <a:srgbClr val="303030">
                      <a:lumMod val="90000"/>
                      <a:lumOff val="10000"/>
                    </a:srgbClr>
                  </a:buClr>
                  <a:buSzPct val="80000"/>
                  <a:buFont typeface="Arial" pitchFamily="34" charset="0"/>
                  <a:buNone/>
                  <a:tabLst/>
                  <a:defRPr/>
                </a:pPr>
                <a:r>
                  <a:rPr kumimoji="0" lang="en-US" sz="2400" b="0" i="0" u="none" strike="noStrike" kern="1200" cap="none" spc="0" normalizeH="0" baseline="0" noProof="0">
                    <a:ln>
                      <a:noFill/>
                    </a:ln>
                    <a:solidFill>
                      <a:srgbClr val="303030"/>
                    </a:solidFill>
                    <a:effectLst/>
                    <a:uLnTx/>
                    <a:uFillTx/>
                    <a:latin typeface="National semibold" panose="02000503000000020004"/>
                    <a:ea typeface="+mn-ea"/>
                    <a:cs typeface="+mn-cs"/>
                  </a:rPr>
                  <a:t> </a:t>
                </a:r>
                <a:endParaRPr kumimoji="0" lang="en-US" sz="2400" b="0" i="1" u="none" strike="noStrike" kern="1200" cap="none" spc="0" normalizeH="0" baseline="0" noProof="0">
                  <a:ln>
                    <a:noFill/>
                  </a:ln>
                  <a:solidFill>
                    <a:srgbClr val="303030"/>
                  </a:solidFill>
                  <a:effectLst/>
                  <a:uLnTx/>
                  <a:uFillTx/>
                  <a:latin typeface="Cambria Math" panose="02040503050406030204" pitchFamily="18" charset="0"/>
                  <a:ea typeface="+mn-ea"/>
                  <a:cs typeface="+mn-cs"/>
                </a:endParaRPr>
              </a:p>
            </p:txBody>
          </p:sp>
        </mc:Choice>
        <mc:Fallback xmlns="">
          <p:sp>
            <p:nvSpPr>
              <p:cNvPr id="6" name="Rectangle 4">
                <a:extLst>
                  <a:ext uri="{FF2B5EF4-FFF2-40B4-BE49-F238E27FC236}">
                    <a16:creationId xmlns:a16="http://schemas.microsoft.com/office/drawing/2014/main" id="{7EF5D97F-D58F-4EE2-A6A9-449D6CE96E97}"/>
                  </a:ext>
                </a:extLst>
              </p:cNvPr>
              <p:cNvSpPr txBox="1">
                <a:spLocks noRot="1" noChangeAspect="1" noMove="1" noResize="1" noEditPoints="1" noAdjustHandles="1" noChangeArrowheads="1" noChangeShapeType="1" noTextEdit="1"/>
              </p:cNvSpPr>
              <p:nvPr/>
            </p:nvSpPr>
            <p:spPr>
              <a:xfrm>
                <a:off x="1598612" y="3048000"/>
                <a:ext cx="9906000" cy="3581400"/>
              </a:xfrm>
              <a:prstGeom prst="rect">
                <a:avLst/>
              </a:prstGeom>
              <a:blipFill>
                <a:blip r:embed="rId3"/>
                <a:stretch>
                  <a:fillRect l="-431" t="-850" r="-1046" b="-5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Rectangle 1">
                <a:extLst>
                  <a:ext uri="{FF2B5EF4-FFF2-40B4-BE49-F238E27FC236}">
                    <a16:creationId xmlns:a16="http://schemas.microsoft.com/office/drawing/2014/main" id="{35799112-375F-4109-AD98-8B4651956A91}"/>
                  </a:ext>
                </a:extLst>
              </p:cNvPr>
              <p:cNvSpPr/>
              <p:nvPr/>
            </p:nvSpPr>
            <p:spPr>
              <a:xfrm>
                <a:off x="2741612" y="1885157"/>
                <a:ext cx="3505200" cy="914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𝑖</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𝑓</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𝑚</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𝑟</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𝑓</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m:t>
                      </m:r>
                    </m:oMath>
                  </m:oMathPara>
                </a14:m>
                <a:endParaRPr kumimoji="0" lang="en-US" sz="2400" b="0" i="0" u="none" strike="noStrike" kern="1200" cap="none" spc="0" normalizeH="0" baseline="0" noProof="0">
                  <a:ln>
                    <a:noFill/>
                  </a:ln>
                  <a:solidFill>
                    <a:prstClr val="white"/>
                  </a:solidFill>
                  <a:effectLst/>
                  <a:uLnTx/>
                  <a:uFillTx/>
                  <a:latin typeface="Cambria"/>
                  <a:ea typeface="+mn-ea"/>
                  <a:cs typeface="+mn-cs"/>
                </a:endParaRPr>
              </a:p>
            </p:txBody>
          </p:sp>
        </mc:Choice>
        <mc:Fallback xmlns="">
          <p:sp>
            <p:nvSpPr>
              <p:cNvPr id="2" name="Rectangle 1">
                <a:extLst>
                  <a:ext uri="{FF2B5EF4-FFF2-40B4-BE49-F238E27FC236}">
                    <a16:creationId xmlns:a16="http://schemas.microsoft.com/office/drawing/2014/main" id="{35799112-375F-4109-AD98-8B4651956A91}"/>
                  </a:ext>
                </a:extLst>
              </p:cNvPr>
              <p:cNvSpPr>
                <a:spLocks noRot="1" noChangeAspect="1" noMove="1" noResize="1" noEditPoints="1" noAdjustHandles="1" noChangeArrowheads="1" noChangeShapeType="1" noTextEdit="1"/>
              </p:cNvSpPr>
              <p:nvPr/>
            </p:nvSpPr>
            <p:spPr>
              <a:xfrm>
                <a:off x="2741612" y="1885157"/>
                <a:ext cx="3505200" cy="914400"/>
              </a:xfrm>
              <a:prstGeom prst="rect">
                <a:avLst/>
              </a:prstGeom>
              <a:blipFill>
                <a:blip r:embed="rId4"/>
                <a:stretch>
                  <a:fillRect/>
                </a:stretch>
              </a:blipFill>
              <a:ln w="31750">
                <a:solidFill>
                  <a:srgbClr val="FF0000"/>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48BCEA13-E43E-4C04-A1D2-BC3DCD090A1D}"/>
                  </a:ext>
                </a:extLst>
              </p:cNvPr>
              <p:cNvSpPr/>
              <p:nvPr/>
            </p:nvSpPr>
            <p:spPr>
              <a:xfrm>
                <a:off x="7389812" y="1897626"/>
                <a:ext cx="2286000" cy="914400"/>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𝛽</m:t>
                          </m:r>
                        </m:e>
                        <m:sub>
                          <m:r>
                            <a:rPr kumimoji="0" lang="en-US" sz="2400" b="0" i="1" u="none" strike="noStrike" kern="1200" cap="none" spc="0" normalizeH="0" baseline="0" noProof="0" smtClean="0">
                              <a:ln>
                                <a:noFill/>
                              </a:ln>
                              <a:solidFill>
                                <a:srgbClr val="FF0000"/>
                              </a:solidFill>
                              <a:effectLst/>
                              <a:uLnTx/>
                              <a:uFillTx/>
                              <a:latin typeface="Cambria Math" panose="02040503050406030204" pitchFamily="18" charset="0"/>
                              <a:ea typeface="Cambria Math" panose="02040503050406030204" pitchFamily="18" charset="0"/>
                              <a:cs typeface="+mn-cs"/>
                            </a:rPr>
                            <m:t>𝑖</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mn-ea"/>
                          <a:cs typeface="+mn-cs"/>
                        </a:rPr>
                        <m:t>= </m:t>
                      </m:r>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𝜌</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𝑖𝑚</m:t>
                          </m:r>
                        </m:sub>
                      </m:s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 </m:t>
                      </m:r>
                      <m:f>
                        <m:f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fPr>
                        <m:num>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𝑖</m:t>
                              </m:r>
                            </m:sub>
                          </m:sSub>
                        </m:num>
                        <m:den>
                          <m:sSub>
                            <m:sSubPr>
                              <m:ctrlP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ctrlPr>
                            </m:sSubPr>
                            <m:e>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𝜎</m:t>
                              </m:r>
                            </m:e>
                            <m:sub>
                              <m:r>
                                <a:rPr kumimoji="0" lang="en-US" sz="2400" b="0" i="1" u="none" strike="noStrike" kern="1200" cap="none" spc="0" normalizeH="0" baseline="0" noProof="0" smtClean="0">
                                  <a:ln>
                                    <a:noFill/>
                                  </a:ln>
                                  <a:solidFill>
                                    <a:srgbClr val="303030"/>
                                  </a:solidFill>
                                  <a:effectLst/>
                                  <a:uLnTx/>
                                  <a:uFillTx/>
                                  <a:latin typeface="Cambria Math" panose="02040503050406030204" pitchFamily="18" charset="0"/>
                                  <a:ea typeface="Cambria Math" panose="02040503050406030204" pitchFamily="18" charset="0"/>
                                  <a:cs typeface="+mn-cs"/>
                                </a:rPr>
                                <m:t>𝑚</m:t>
                              </m:r>
                            </m:sub>
                          </m:sSub>
                        </m:den>
                      </m:f>
                    </m:oMath>
                  </m:oMathPara>
                </a14:m>
                <a:endParaRPr kumimoji="0" lang="en-US" sz="2400" b="0" i="0" u="none" strike="noStrike" kern="1200" cap="none" spc="0" normalizeH="0" baseline="0" noProof="0">
                  <a:ln>
                    <a:noFill/>
                  </a:ln>
                  <a:solidFill>
                    <a:prstClr val="white"/>
                  </a:solidFill>
                  <a:effectLst/>
                  <a:uLnTx/>
                  <a:uFillTx/>
                  <a:latin typeface="Cambria"/>
                  <a:ea typeface="+mn-ea"/>
                  <a:cs typeface="+mn-cs"/>
                </a:endParaRPr>
              </a:p>
            </p:txBody>
          </p:sp>
        </mc:Choice>
        <mc:Fallback xmlns="">
          <p:sp>
            <p:nvSpPr>
              <p:cNvPr id="7" name="Rectangle 6">
                <a:extLst>
                  <a:ext uri="{FF2B5EF4-FFF2-40B4-BE49-F238E27FC236}">
                    <a16:creationId xmlns:a16="http://schemas.microsoft.com/office/drawing/2014/main" id="{48BCEA13-E43E-4C04-A1D2-BC3DCD090A1D}"/>
                  </a:ext>
                </a:extLst>
              </p:cNvPr>
              <p:cNvSpPr>
                <a:spLocks noRot="1" noChangeAspect="1" noMove="1" noResize="1" noEditPoints="1" noAdjustHandles="1" noChangeArrowheads="1" noChangeShapeType="1" noTextEdit="1"/>
              </p:cNvSpPr>
              <p:nvPr/>
            </p:nvSpPr>
            <p:spPr>
              <a:xfrm>
                <a:off x="7389812" y="1897626"/>
                <a:ext cx="2286000" cy="914400"/>
              </a:xfrm>
              <a:prstGeom prst="rect">
                <a:avLst/>
              </a:prstGeom>
              <a:blipFill>
                <a:blip r:embed="rId5"/>
                <a:stretch>
                  <a:fillRect/>
                </a:stretch>
              </a:blipFill>
              <a:ln w="31750">
                <a:solidFill>
                  <a:srgbClr val="FF0000"/>
                </a:solidFill>
              </a:ln>
            </p:spPr>
            <p:txBody>
              <a:bodyPr/>
              <a:lstStyle/>
              <a:p>
                <a:r>
                  <a:rPr lang="en-US">
                    <a:noFill/>
                  </a:rPr>
                  <a:t> </a:t>
                </a:r>
              </a:p>
            </p:txBody>
          </p:sp>
        </mc:Fallback>
      </mc:AlternateContent>
    </p:spTree>
    <p:extLst>
      <p:ext uri="{BB962C8B-B14F-4D97-AF65-F5344CB8AC3E}">
        <p14:creationId xmlns:p14="http://schemas.microsoft.com/office/powerpoint/2010/main" val="768945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 name="Title 12"/>
          <p:cNvSpPr>
            <a:spLocks noGrp="1"/>
          </p:cNvSpPr>
          <p:nvPr>
            <p:ph type="title"/>
          </p:nvPr>
        </p:nvSpPr>
        <p:spPr>
          <a:xfrm>
            <a:off x="1133400" y="1581631"/>
            <a:ext cx="9762898" cy="3860799"/>
          </a:xfrm>
        </p:spPr>
        <p:txBody>
          <a:bodyPr anchor="ctr">
            <a:normAutofit/>
          </a:bodyPr>
          <a:lstStyle/>
          <a:p>
            <a:pPr algn="ctr"/>
            <a:r>
              <a:rPr lang="en-US" sz="4400" b="1">
                <a:latin typeface="National semibold" panose="02000503000000020004"/>
              </a:rPr>
              <a:t>Application with Python</a:t>
            </a:r>
            <a:br>
              <a:rPr lang="en-US" sz="4400" b="1">
                <a:latin typeface="National semibold" panose="02000503000000020004"/>
              </a:rPr>
            </a:br>
            <a:br>
              <a:rPr lang="en-US" sz="4400" b="1">
                <a:latin typeface="National semibold" panose="02000503000000020004"/>
              </a:rPr>
            </a:br>
            <a:r>
              <a:rPr lang="en-US" sz="4400">
                <a:latin typeface="National semibold" panose="02000503000000020004"/>
              </a:rPr>
              <a:t>Calculating the betas of cryptocurrencies</a:t>
            </a:r>
            <a:endParaRPr lang="en-US" sz="4400" b="1">
              <a:latin typeface="National semibold" panose="02000503000000020004"/>
            </a:endParaRPr>
          </a:p>
        </p:txBody>
      </p:sp>
    </p:spTree>
    <p:extLst>
      <p:ext uri="{BB962C8B-B14F-4D97-AF65-F5344CB8AC3E}">
        <p14:creationId xmlns:p14="http://schemas.microsoft.com/office/powerpoint/2010/main" val="3932585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ARTICULATE_PRESENTER_VERSION" val="6"/>
  <p:tag name="ARTICULATE_PROJECT_OPEN" val="0"/>
</p:tagLst>
</file>

<file path=ppt/theme/theme1.xml><?xml version="1.0" encoding="utf-8"?>
<a:theme xmlns:a="http://schemas.openxmlformats.org/drawingml/2006/main" name="Currency Symbols 16x9">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urrency symbols presentation (widescreen).potx" id="{0BEEB329-2C4D-4D02-9858-CA91ACE92AB1}" vid="{944DA297-E844-470D-A85C-00068074ACC2}"/>
    </a:ext>
  </a:extLst>
</a:theme>
</file>

<file path=ppt/theme/theme2.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Currency Symbols">
      <a:dk1>
        <a:srgbClr val="303030"/>
      </a:dk1>
      <a:lt1>
        <a:sysClr val="window" lastClr="FFFFFF"/>
      </a:lt1>
      <a:dk2>
        <a:srgbClr val="000000"/>
      </a:dk2>
      <a:lt2>
        <a:srgbClr val="E8DEC9"/>
      </a:lt2>
      <a:accent1>
        <a:srgbClr val="F7C547"/>
      </a:accent1>
      <a:accent2>
        <a:srgbClr val="AB3C33"/>
      </a:accent2>
      <a:accent3>
        <a:srgbClr val="506084"/>
      </a:accent3>
      <a:accent4>
        <a:srgbClr val="599EA5"/>
      </a:accent4>
      <a:accent5>
        <a:srgbClr val="758F21"/>
      </a:accent5>
      <a:accent6>
        <a:srgbClr val="894A27"/>
      </a:accent6>
      <a:hlink>
        <a:srgbClr val="506084"/>
      </a:hlink>
      <a:folHlink>
        <a:srgbClr val="828282"/>
      </a:folHlink>
    </a:clrScheme>
    <a:fontScheme name="Currency Symbols">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Currency symbols presentation (widescreen)</Template>
  <TotalTime>1</TotalTime>
  <Words>1023</Words>
  <Application>Microsoft Office PowerPoint</Application>
  <PresentationFormat>Custom</PresentationFormat>
  <Paragraphs>148</Paragraphs>
  <Slides>15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National semibold</vt:lpstr>
      <vt:lpstr>Arial</vt:lpstr>
      <vt:lpstr>Calibri</vt:lpstr>
      <vt:lpstr>Cambria</vt:lpstr>
      <vt:lpstr>Cambria Math</vt:lpstr>
      <vt:lpstr>Roboto</vt:lpstr>
      <vt:lpstr>Times New Roman</vt:lpstr>
      <vt:lpstr>Currency Symbols 16x9</vt:lpstr>
      <vt:lpstr>Introduction to  Decentralized Finance  </vt:lpstr>
      <vt:lpstr>Review of finance concepts</vt:lpstr>
      <vt:lpstr>Rate of return on a security</vt:lpstr>
      <vt:lpstr>Risk of a security</vt:lpstr>
      <vt:lpstr>Portfolio diversification  </vt:lpstr>
      <vt:lpstr>Theory of Portfolio Diversification  </vt:lpstr>
      <vt:lpstr>Example:  r ̅^A=0.07, r ̅^B=0.09, σ_A^ =0.05, σ_B^ =0.08, ρ_AB=0.3</vt:lpstr>
      <vt:lpstr>Risk-adjusted return of a portfolio</vt:lpstr>
      <vt:lpstr>Application with Python  Calculating the Sharpe ratio for cryptocurrencies</vt:lpstr>
      <vt:lpstr>The Market Portfolio</vt:lpstr>
      <vt:lpstr>Capital Asset Pricing Model (CAPM)</vt:lpstr>
      <vt:lpstr>Capital Asset Pricing Model (CAPM)</vt:lpstr>
      <vt:lpstr>Another way to write the beta</vt:lpstr>
      <vt:lpstr>Key assumptions and insights for CAPM</vt:lpstr>
      <vt:lpstr>Application with Python  Calculating the betas of cryptocurrencies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Layout</dc:title>
  <dc:creator>Vincenzo Quadrini</dc:creator>
  <cp:lastModifiedBy>Quadrini, Vincenzo</cp:lastModifiedBy>
  <cp:revision>1</cp:revision>
  <dcterms:created xsi:type="dcterms:W3CDTF">2020-10-28T19:26:18Z</dcterms:created>
  <dcterms:modified xsi:type="dcterms:W3CDTF">2026-05-15T00:16:44Z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