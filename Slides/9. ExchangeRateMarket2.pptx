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30.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notesSlides/notesSlide3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7"/>
  </p:notesMasterIdLst>
  <p:handoutMasterIdLst>
    <p:handoutMasterId r:id="rId48"/>
  </p:handoutMasterIdLst>
  <p:sldIdLst>
    <p:sldId id="417" r:id="rId3"/>
    <p:sldId id="557" r:id="rId4"/>
    <p:sldId id="558" r:id="rId5"/>
    <p:sldId id="560" r:id="rId6"/>
    <p:sldId id="599" r:id="rId7"/>
    <p:sldId id="506" r:id="rId8"/>
    <p:sldId id="594" r:id="rId9"/>
    <p:sldId id="595" r:id="rId10"/>
    <p:sldId id="596" r:id="rId11"/>
    <p:sldId id="597" r:id="rId12"/>
    <p:sldId id="598" r:id="rId13"/>
    <p:sldId id="601" r:id="rId14"/>
    <p:sldId id="602" r:id="rId15"/>
    <p:sldId id="603" r:id="rId16"/>
    <p:sldId id="604" r:id="rId17"/>
    <p:sldId id="605" r:id="rId18"/>
    <p:sldId id="606" r:id="rId19"/>
    <p:sldId id="609" r:id="rId20"/>
    <p:sldId id="610" r:id="rId21"/>
    <p:sldId id="611" r:id="rId22"/>
    <p:sldId id="612" r:id="rId23"/>
    <p:sldId id="613" r:id="rId24"/>
    <p:sldId id="614" r:id="rId25"/>
    <p:sldId id="615" r:id="rId26"/>
    <p:sldId id="616" r:id="rId27"/>
    <p:sldId id="617" r:id="rId28"/>
    <p:sldId id="637" r:id="rId29"/>
    <p:sldId id="618" r:id="rId30"/>
    <p:sldId id="619" r:id="rId31"/>
    <p:sldId id="620" r:id="rId32"/>
    <p:sldId id="638" r:id="rId33"/>
    <p:sldId id="621" r:id="rId34"/>
    <p:sldId id="622" r:id="rId35"/>
    <p:sldId id="625" r:id="rId36"/>
    <p:sldId id="626" r:id="rId37"/>
    <p:sldId id="627" r:id="rId38"/>
    <p:sldId id="628" r:id="rId39"/>
    <p:sldId id="629" r:id="rId40"/>
    <p:sldId id="630" r:id="rId41"/>
    <p:sldId id="632" r:id="rId42"/>
    <p:sldId id="633" r:id="rId43"/>
    <p:sldId id="634" r:id="rId44"/>
    <p:sldId id="635" r:id="rId45"/>
    <p:sldId id="636" r:id="rId46"/>
  </p:sldIdLst>
  <p:sldSz cx="12188825" cy="6858000"/>
  <p:notesSz cx="6858000" cy="914400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152">
          <p15:clr>
            <a:srgbClr val="A4A3A4"/>
          </p15:clr>
        </p15:guide>
        <p15:guide id="4" orient="horz" pos="1018">
          <p15:clr>
            <a:srgbClr val="A4A3A4"/>
          </p15:clr>
        </p15:guide>
        <p15:guide id="5" orient="horz" pos="3886">
          <p15:clr>
            <a:srgbClr val="A4A3A4"/>
          </p15:clr>
        </p15:guide>
        <p15:guide id="6" orient="horz" pos="2928">
          <p15:clr>
            <a:srgbClr val="A4A3A4"/>
          </p15:clr>
        </p15:guide>
        <p15:guide id="7" orient="horz" pos="3072">
          <p15:clr>
            <a:srgbClr val="A4A3A4"/>
          </p15:clr>
        </p15:guide>
        <p15:guide id="8" orient="horz" pos="407">
          <p15:clr>
            <a:srgbClr val="A4A3A4"/>
          </p15:clr>
        </p15:guide>
        <p15:guide id="9" pos="3839">
          <p15:clr>
            <a:srgbClr val="A4A3A4"/>
          </p15:clr>
        </p15:guide>
        <p15:guide id="10" pos="959">
          <p15:clr>
            <a:srgbClr val="A4A3A4"/>
          </p15:clr>
        </p15:guide>
        <p15:guide id="11" pos="7151">
          <p15:clr>
            <a:srgbClr val="A4A3A4"/>
          </p15:clr>
        </p15:guide>
        <p15:guide id="12" pos="671">
          <p15:clr>
            <a:srgbClr val="A4A3A4"/>
          </p15:clr>
        </p15:guide>
        <p15:guide id="13" pos="4991">
          <p15:clr>
            <a:srgbClr val="A4A3A4"/>
          </p15:clr>
        </p15:guide>
        <p15:guide id="14" pos="700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6E90FE"/>
    <a:srgbClr val="8086FC"/>
    <a:srgbClr val="6D6DFB"/>
    <a:srgbClr val="4E78F0"/>
    <a:srgbClr val="F0932C"/>
    <a:srgbClr val="92C610"/>
    <a:srgbClr val="9FD812"/>
    <a:srgbClr val="E05F2C"/>
    <a:srgbClr val="0ABE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60736A-CC67-4AEE-9D0E-D61D29D82210}" v="1" dt="2026-05-24T12:59:21.553"/>
  </p1510:revLst>
</p1510:revInfo>
</file>

<file path=ppt/tableStyles.xml><?xml version="1.0" encoding="utf-8"?>
<a:tblStyleLst xmlns:a="http://schemas.openxmlformats.org/drawingml/2006/main" def="{69CF1AB2-1976-4502-BF36-3FF5EA21886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68" autoAdjust="0"/>
    <p:restoredTop sz="94629" autoAdjust="0"/>
  </p:normalViewPr>
  <p:slideViewPr>
    <p:cSldViewPr showGuides="1">
      <p:cViewPr varScale="1">
        <p:scale>
          <a:sx n="93" d="100"/>
          <a:sy n="93" d="100"/>
        </p:scale>
        <p:origin x="77" y="125"/>
      </p:cViewPr>
      <p:guideLst>
        <p:guide orient="horz" pos="2160"/>
        <p:guide orient="horz" pos="4030"/>
        <p:guide orient="horz" pos="1152"/>
        <p:guide orient="horz" pos="1018"/>
        <p:guide orient="horz" pos="3886"/>
        <p:guide orient="horz" pos="2928"/>
        <p:guide orient="horz" pos="3072"/>
        <p:guide orient="horz" pos="407"/>
        <p:guide pos="3839"/>
        <p:guide pos="959"/>
        <p:guide pos="7151"/>
        <p:guide pos="671"/>
        <p:guide pos="4991"/>
        <p:guide pos="7007"/>
      </p:guideLst>
    </p:cSldViewPr>
  </p:slideViewPr>
  <p:outlineViewPr>
    <p:cViewPr>
      <p:scale>
        <a:sx n="33" d="100"/>
        <a:sy n="33" d="100"/>
      </p:scale>
      <p:origin x="0" y="0"/>
    </p:cViewPr>
  </p:outlineViewPr>
  <p:notesTextViewPr>
    <p:cViewPr>
      <p:scale>
        <a:sx n="1" d="1"/>
        <a:sy n="1" d="1"/>
      </p:scale>
      <p:origin x="0" y="0"/>
    </p:cViewPr>
  </p:notesTextViewPr>
  <p:notesViewPr>
    <p:cSldViewPr showGuides="1">
      <p:cViewPr varScale="1">
        <p:scale>
          <a:sx n="66" d="100"/>
          <a:sy n="66" d="100"/>
        </p:scale>
        <p:origin x="2850" y="9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handoutMaster" Target="handoutMasters/handoutMaster1.xml"/><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adrini, Vincenzo" userId="f61352d9-9198-4695-abd8-70fd6e64330a" providerId="ADAL" clId="{888D66D8-61BD-4B74-94E0-0078727E2FCE}"/>
    <pc:docChg chg="custSel delSld modSld">
      <pc:chgData name="Quadrini, Vincenzo" userId="f61352d9-9198-4695-abd8-70fd6e64330a" providerId="ADAL" clId="{888D66D8-61BD-4B74-94E0-0078727E2FCE}" dt="2026-05-24T13:00:08.445" v="4" actId="47"/>
      <pc:docMkLst>
        <pc:docMk/>
      </pc:docMkLst>
      <pc:sldChg chg="addSp delSp modSp mod">
        <pc:chgData name="Quadrini, Vincenzo" userId="f61352d9-9198-4695-abd8-70fd6e64330a" providerId="ADAL" clId="{888D66D8-61BD-4B74-94E0-0078727E2FCE}" dt="2026-05-24T12:59:37.395" v="3" actId="2711"/>
        <pc:sldMkLst>
          <pc:docMk/>
          <pc:sldMk cId="935251751" sldId="417"/>
        </pc:sldMkLst>
        <pc:spChg chg="del">
          <ac:chgData name="Quadrini, Vincenzo" userId="f61352d9-9198-4695-abd8-70fd6e64330a" providerId="ADAL" clId="{888D66D8-61BD-4B74-94E0-0078727E2FCE}" dt="2026-05-24T12:59:15.809" v="0" actId="478"/>
          <ac:spMkLst>
            <pc:docMk/>
            <pc:sldMk cId="935251751" sldId="417"/>
            <ac:spMk id="2" creationId="{00000000-0000-0000-0000-000000000000}"/>
          </ac:spMkLst>
        </pc:spChg>
        <pc:spChg chg="mod">
          <ac:chgData name="Quadrini, Vincenzo" userId="f61352d9-9198-4695-abd8-70fd6e64330a" providerId="ADAL" clId="{888D66D8-61BD-4B74-94E0-0078727E2FCE}" dt="2026-05-24T12:59:37.395" v="3" actId="2711"/>
          <ac:spMkLst>
            <pc:docMk/>
            <pc:sldMk cId="935251751" sldId="417"/>
            <ac:spMk id="3" creationId="{00000000-0000-0000-0000-000000000000}"/>
          </ac:spMkLst>
        </pc:spChg>
        <pc:spChg chg="add del mod">
          <ac:chgData name="Quadrini, Vincenzo" userId="f61352d9-9198-4695-abd8-70fd6e64330a" providerId="ADAL" clId="{888D66D8-61BD-4B74-94E0-0078727E2FCE}" dt="2026-05-24T12:59:20.429" v="1" actId="478"/>
          <ac:spMkLst>
            <pc:docMk/>
            <pc:sldMk cId="935251751" sldId="417"/>
            <ac:spMk id="5" creationId="{87E5AC41-1B1C-2462-4542-020F99B6028A}"/>
          </ac:spMkLst>
        </pc:spChg>
        <pc:spChg chg="add mod">
          <ac:chgData name="Quadrini, Vincenzo" userId="f61352d9-9198-4695-abd8-70fd6e64330a" providerId="ADAL" clId="{888D66D8-61BD-4B74-94E0-0078727E2FCE}" dt="2026-05-24T12:59:21.553" v="2"/>
          <ac:spMkLst>
            <pc:docMk/>
            <pc:sldMk cId="935251751" sldId="417"/>
            <ac:spMk id="6" creationId="{541A3BDC-D62A-BEE0-616D-05591ECC23D4}"/>
          </ac:spMkLst>
        </pc:spChg>
      </pc:sldChg>
      <pc:sldChg chg="del">
        <pc:chgData name="Quadrini, Vincenzo" userId="f61352d9-9198-4695-abd8-70fd6e64330a" providerId="ADAL" clId="{888D66D8-61BD-4B74-94E0-0078727E2FCE}" dt="2026-05-24T13:00:08.445" v="4" actId="47"/>
        <pc:sldMkLst>
          <pc:docMk/>
          <pc:sldMk cId="3932478480" sldId="561"/>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800" b="1" dirty="0">
                <a:latin typeface="National"/>
              </a:rPr>
              <a:t>International Reserves</a:t>
            </a:r>
            <a:endParaRPr lang="en-US" sz="2800" b="1" i="0" u="none" strike="noStrike" baseline="0" dirty="0">
              <a:effectLst/>
              <a:latin typeface="National"/>
            </a:endParaRPr>
          </a:p>
          <a:p>
            <a:pPr>
              <a:defRPr/>
            </a:pPr>
            <a:r>
              <a:rPr lang="en-US" sz="2000" b="0" i="1" u="none" strike="noStrike" baseline="0" dirty="0">
                <a:effectLst/>
                <a:latin typeface="National"/>
              </a:rPr>
              <a:t>(Billions of US Dollars, June 2024)</a:t>
            </a:r>
            <a:endParaRPr lang="en-US" sz="2800" b="0" i="1" dirty="0">
              <a:latin typeface="Nationa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cat>
            <c:strRef>
              <c:f>'International Reserves and For'!$M$2:$M$22</c:f>
              <c:strCache>
                <c:ptCount val="21"/>
                <c:pt idx="0">
                  <c:v>China: Mainland</c:v>
                </c:pt>
                <c:pt idx="1">
                  <c:v>Japan</c:v>
                </c:pt>
                <c:pt idx="2">
                  <c:v>Switzerland</c:v>
                </c:pt>
                <c:pt idx="3">
                  <c:v>Russian Federation</c:v>
                </c:pt>
                <c:pt idx="4">
                  <c:v>India</c:v>
                </c:pt>
                <c:pt idx="5">
                  <c:v>China: Hong Kong</c:v>
                </c:pt>
                <c:pt idx="6">
                  <c:v>Saudi Arabia</c:v>
                </c:pt>
                <c:pt idx="7">
                  <c:v>Korea, Rep. of</c:v>
                </c:pt>
                <c:pt idx="8">
                  <c:v>Brazil</c:v>
                </c:pt>
                <c:pt idx="9">
                  <c:v>Singapore</c:v>
                </c:pt>
                <c:pt idx="10">
                  <c:v>Germany</c:v>
                </c:pt>
                <c:pt idx="11">
                  <c:v>Thailand</c:v>
                </c:pt>
                <c:pt idx="12">
                  <c:v>France</c:v>
                </c:pt>
                <c:pt idx="13">
                  <c:v>Italy</c:v>
                </c:pt>
                <c:pt idx="14">
                  <c:v>United Kingdom</c:v>
                </c:pt>
                <c:pt idx="15">
                  <c:v>Mexico</c:v>
                </c:pt>
                <c:pt idx="16">
                  <c:v>Israel</c:v>
                </c:pt>
                <c:pt idx="17">
                  <c:v>Czech Rep.</c:v>
                </c:pt>
                <c:pt idx="18">
                  <c:v>Poland, Rep. of</c:v>
                </c:pt>
                <c:pt idx="19">
                  <c:v>United States</c:v>
                </c:pt>
                <c:pt idx="20">
                  <c:v>Indonesia</c:v>
                </c:pt>
              </c:strCache>
            </c:strRef>
          </c:cat>
          <c:val>
            <c:numRef>
              <c:f>'International Reserves and For'!$N$2:$N$22</c:f>
              <c:numCache>
                <c:formatCode>#,##0.00</c:formatCode>
                <c:ptCount val="21"/>
                <c:pt idx="0">
                  <c:v>3614.08</c:v>
                </c:pt>
                <c:pt idx="1">
                  <c:v>1272</c:v>
                </c:pt>
                <c:pt idx="2">
                  <c:v>886.13</c:v>
                </c:pt>
                <c:pt idx="3">
                  <c:v>655.13</c:v>
                </c:pt>
                <c:pt idx="4">
                  <c:v>593.5</c:v>
                </c:pt>
                <c:pt idx="5">
                  <c:v>467.46</c:v>
                </c:pt>
                <c:pt idx="6">
                  <c:v>455.18</c:v>
                </c:pt>
                <c:pt idx="7">
                  <c:v>412.21</c:v>
                </c:pt>
                <c:pt idx="8">
                  <c:v>371.67</c:v>
                </c:pt>
                <c:pt idx="9">
                  <c:v>357.83</c:v>
                </c:pt>
                <c:pt idx="10">
                  <c:v>351.35</c:v>
                </c:pt>
                <c:pt idx="11">
                  <c:v>269.82</c:v>
                </c:pt>
                <c:pt idx="12">
                  <c:v>265.60000000000002</c:v>
                </c:pt>
                <c:pt idx="13">
                  <c:v>243.68</c:v>
                </c:pt>
                <c:pt idx="14">
                  <c:v>225.88</c:v>
                </c:pt>
                <c:pt idx="15">
                  <c:v>224.87</c:v>
                </c:pt>
                <c:pt idx="16">
                  <c:v>221.54</c:v>
                </c:pt>
                <c:pt idx="17">
                  <c:v>212.9</c:v>
                </c:pt>
                <c:pt idx="18">
                  <c:v>209.99</c:v>
                </c:pt>
                <c:pt idx="19">
                  <c:v>147.11000000000001</c:v>
                </c:pt>
                <c:pt idx="20">
                  <c:v>140.18</c:v>
                </c:pt>
              </c:numCache>
            </c:numRef>
          </c:val>
          <c:extLst>
            <c:ext xmlns:c16="http://schemas.microsoft.com/office/drawing/2014/chart" uri="{C3380CC4-5D6E-409C-BE32-E72D297353CC}">
              <c16:uniqueId val="{00000000-AF74-4E48-A742-3B72CDF5808A}"/>
            </c:ext>
          </c:extLst>
        </c:ser>
        <c:dLbls>
          <c:showLegendKey val="0"/>
          <c:showVal val="0"/>
          <c:showCatName val="0"/>
          <c:showSerName val="0"/>
          <c:showPercent val="0"/>
          <c:showBubbleSize val="0"/>
        </c:dLbls>
        <c:gapWidth val="80"/>
        <c:overlap val="-62"/>
        <c:axId val="1700565472"/>
        <c:axId val="2015173808"/>
      </c:barChart>
      <c:catAx>
        <c:axId val="17005654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2015173808"/>
        <c:crosses val="autoZero"/>
        <c:auto val="1"/>
        <c:lblAlgn val="ctr"/>
        <c:lblOffset val="100"/>
        <c:noMultiLvlLbl val="0"/>
      </c:catAx>
      <c:valAx>
        <c:axId val="2015173808"/>
        <c:scaling>
          <c:orientation val="minMax"/>
        </c:scaling>
        <c:delete val="0"/>
        <c:axPos val="l"/>
        <c:majorGridlines>
          <c:spPr>
            <a:ln w="9525" cap="flat" cmpd="sng" algn="ctr">
              <a:no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1700565472"/>
        <c:crosses val="autoZero"/>
        <c:crossBetween val="between"/>
      </c:valAx>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400" b="1"/>
              <a:t>Inflation and Peso</a:t>
            </a:r>
            <a:r>
              <a:rPr lang="en-US" sz="2400" b="1" baseline="0"/>
              <a:t> </a:t>
            </a:r>
            <a:r>
              <a:rPr lang="en-US" sz="2400" b="1"/>
              <a:t>depreciation in Argentina</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6487003829725703E-2"/>
          <c:y val="0.16148260360216313"/>
          <c:w val="0.89642314889276997"/>
          <c:h val="0.80926295994531716"/>
        </c:manualLayout>
      </c:layout>
      <c:lineChart>
        <c:grouping val="standard"/>
        <c:varyColors val="0"/>
        <c:ser>
          <c:idx val="0"/>
          <c:order val="0"/>
          <c:tx>
            <c:strRef>
              <c:f>Data!$H$64</c:f>
              <c:strCache>
                <c:ptCount val="1"/>
                <c:pt idx="0">
                  <c:v>Inflation</c:v>
                </c:pt>
              </c:strCache>
            </c:strRef>
          </c:tx>
          <c:spPr>
            <a:ln w="28575" cap="rnd">
              <a:solidFill>
                <a:schemeClr val="accent1"/>
              </a:solidFill>
              <a:round/>
            </a:ln>
            <a:effectLst/>
          </c:spPr>
          <c:marker>
            <c:symbol val="none"/>
          </c:marker>
          <c:cat>
            <c:numRef>
              <c:f>Data!$G$65:$G$114</c:f>
              <c:numCache>
                <c:formatCode>General</c:formatCode>
                <c:ptCount val="50"/>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numCache>
            </c:numRef>
          </c:cat>
          <c:val>
            <c:numRef>
              <c:f>Data!$H$65:$H$114</c:f>
              <c:numCache>
                <c:formatCode>General</c:formatCode>
                <c:ptCount val="50"/>
                <c:pt idx="0">
                  <c:v>6.4678746393797439</c:v>
                </c:pt>
                <c:pt idx="1">
                  <c:v>31.271063882575334</c:v>
                </c:pt>
                <c:pt idx="2">
                  <c:v>64.244785918175495</c:v>
                </c:pt>
                <c:pt idx="3">
                  <c:v>65.535287366171275</c:v>
                </c:pt>
                <c:pt idx="4">
                  <c:v>30.630441371577234</c:v>
                </c:pt>
                <c:pt idx="5">
                  <c:v>197.69736454037627</c:v>
                </c:pt>
                <c:pt idx="6">
                  <c:v>438.32277972421832</c:v>
                </c:pt>
                <c:pt idx="7">
                  <c:v>159.42717770570755</c:v>
                </c:pt>
                <c:pt idx="8">
                  <c:v>161.37217200577425</c:v>
                </c:pt>
                <c:pt idx="9">
                  <c:v>147.37704403869438</c:v>
                </c:pt>
                <c:pt idx="10">
                  <c:v>95.790424611122631</c:v>
                </c:pt>
                <c:pt idx="11">
                  <c:v>105.27636637455987</c:v>
                </c:pt>
                <c:pt idx="12">
                  <c:v>194.53529967142396</c:v>
                </c:pt>
                <c:pt idx="13">
                  <c:v>380.15852852050818</c:v>
                </c:pt>
                <c:pt idx="14">
                  <c:v>611.19630388904261</c:v>
                </c:pt>
                <c:pt idx="15">
                  <c:v>607.44749782050587</c:v>
                </c:pt>
                <c:pt idx="16">
                  <c:v>77.29223668643229</c:v>
                </c:pt>
                <c:pt idx="17">
                  <c:v>127.53991806284537</c:v>
                </c:pt>
                <c:pt idx="18">
                  <c:v>381.24634441143417</c:v>
                </c:pt>
                <c:pt idx="19">
                  <c:v>3046.0911519966248</c:v>
                </c:pt>
                <c:pt idx="20">
                  <c:v>2078.3168180311436</c:v>
                </c:pt>
                <c:pt idx="21">
                  <c:v>140.50237866363182</c:v>
                </c:pt>
                <c:pt idx="22">
                  <c:v>16.071993535694546</c:v>
                </c:pt>
                <c:pt idx="23">
                  <c:v>-3.5610955757657763</c:v>
                </c:pt>
                <c:pt idx="24">
                  <c:v>2.8493397150930235</c:v>
                </c:pt>
                <c:pt idx="25">
                  <c:v>3.1651233901651921</c:v>
                </c:pt>
                <c:pt idx="26">
                  <c:v>-5.2375496590414627E-2</c:v>
                </c:pt>
                <c:pt idx="27">
                  <c:v>-0.46391313116428989</c:v>
                </c:pt>
                <c:pt idx="28">
                  <c:v>-1.7052796240008803</c:v>
                </c:pt>
                <c:pt idx="29">
                  <c:v>-1.8365583922066264</c:v>
                </c:pt>
                <c:pt idx="30">
                  <c:v>1.0372871007317457</c:v>
                </c:pt>
                <c:pt idx="31">
                  <c:v>-1.0957677183367878</c:v>
                </c:pt>
                <c:pt idx="32">
                  <c:v>30.555204053902969</c:v>
                </c:pt>
                <c:pt idx="33">
                  <c:v>10.495703021549602</c:v>
                </c:pt>
                <c:pt idx="34">
                  <c:v>18.363354249203255</c:v>
                </c:pt>
                <c:pt idx="35">
                  <c:v>10.317511198240581</c:v>
                </c:pt>
                <c:pt idx="36">
                  <c:v>13.741052485915233</c:v>
                </c:pt>
                <c:pt idx="37">
                  <c:v>14.939925024583459</c:v>
                </c:pt>
                <c:pt idx="38">
                  <c:v>23.171164981312415</c:v>
                </c:pt>
                <c:pt idx="39">
                  <c:v>15.377649370892115</c:v>
                </c:pt>
                <c:pt idx="40">
                  <c:v>20.915124272046981</c:v>
                </c:pt>
                <c:pt idx="41">
                  <c:v>23.703472183959335</c:v>
                </c:pt>
                <c:pt idx="42">
                  <c:v>22.31488067330487</c:v>
                </c:pt>
                <c:pt idx="43">
                  <c:v>23.948798416274641</c:v>
                </c:pt>
                <c:pt idx="44">
                  <c:v>40.282971631550623</c:v>
                </c:pt>
                <c:pt idx="45">
                  <c:v>26.579991602470685</c:v>
                </c:pt>
                <c:pt idx="46">
                  <c:v>41.119379988227905</c:v>
                </c:pt>
                <c:pt idx="47">
                  <c:v>26.007483145852902</c:v>
                </c:pt>
                <c:pt idx="48">
                  <c:v>40.702790688954536</c:v>
                </c:pt>
                <c:pt idx="49">
                  <c:v>51.508337518122147</c:v>
                </c:pt>
              </c:numCache>
            </c:numRef>
          </c:val>
          <c:smooth val="0"/>
          <c:extLst>
            <c:ext xmlns:c16="http://schemas.microsoft.com/office/drawing/2014/chart" uri="{C3380CC4-5D6E-409C-BE32-E72D297353CC}">
              <c16:uniqueId val="{00000000-5C08-49AC-A3FA-2C981CE3F764}"/>
            </c:ext>
          </c:extLst>
        </c:ser>
        <c:ser>
          <c:idx val="1"/>
          <c:order val="1"/>
          <c:tx>
            <c:strRef>
              <c:f>Data!$I$64</c:f>
              <c:strCache>
                <c:ptCount val="1"/>
                <c:pt idx="0">
                  <c:v>Peso depreciation</c:v>
                </c:pt>
              </c:strCache>
            </c:strRef>
          </c:tx>
          <c:spPr>
            <a:ln w="28575" cap="rnd">
              <a:noFill/>
              <a:round/>
            </a:ln>
            <a:effectLst/>
          </c:spPr>
          <c:marker>
            <c:symbol val="none"/>
          </c:marker>
          <c:cat>
            <c:numRef>
              <c:f>Data!$G$65:$G$114</c:f>
              <c:numCache>
                <c:formatCode>General</c:formatCode>
                <c:ptCount val="50"/>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numCache>
            </c:numRef>
          </c:cat>
          <c:val>
            <c:numRef>
              <c:f>Data!$I$65:$I$114</c:f>
              <c:numCache>
                <c:formatCode>General</c:formatCode>
                <c:ptCount val="50"/>
                <c:pt idx="0">
                  <c:v>8.3333333047619806</c:v>
                </c:pt>
                <c:pt idx="1">
                  <c:v>19.252747257824886</c:v>
                </c:pt>
                <c:pt idx="2">
                  <c:v>10.578695173736463</c:v>
                </c:pt>
                <c:pt idx="3">
                  <c:v>0</c:v>
                </c:pt>
                <c:pt idx="4">
                  <c:v>0</c:v>
                </c:pt>
                <c:pt idx="5">
                  <c:v>631.50000013629995</c:v>
                </c:pt>
                <c:pt idx="6">
                  <c:v>282.7295511553811</c:v>
                </c:pt>
                <c:pt idx="7">
                  <c:v>191.20133349207103</c:v>
                </c:pt>
                <c:pt idx="8">
                  <c:v>95.21220050712887</c:v>
                </c:pt>
                <c:pt idx="9">
                  <c:v>65.500052361265489</c:v>
                </c:pt>
                <c:pt idx="10">
                  <c:v>39.499228024186259</c:v>
                </c:pt>
                <c:pt idx="11">
                  <c:v>139.64682775499369</c:v>
                </c:pt>
                <c:pt idx="12">
                  <c:v>488.78829806742152</c:v>
                </c:pt>
                <c:pt idx="13">
                  <c:v>306.20865885999916</c:v>
                </c:pt>
                <c:pt idx="14">
                  <c:v>542.44434670008809</c:v>
                </c:pt>
                <c:pt idx="15">
                  <c:v>789.60363366054889</c:v>
                </c:pt>
                <c:pt idx="16">
                  <c:v>56.699495465615655</c:v>
                </c:pt>
                <c:pt idx="17">
                  <c:v>127.38349189405049</c:v>
                </c:pt>
                <c:pt idx="18">
                  <c:v>308.18033715768792</c:v>
                </c:pt>
                <c:pt idx="19">
                  <c:v>4736.7274501636366</c:v>
                </c:pt>
                <c:pt idx="20">
                  <c:v>1051.7681637514311</c:v>
                </c:pt>
                <c:pt idx="21">
                  <c:v>95.565169373323243</c:v>
                </c:pt>
                <c:pt idx="22">
                  <c:v>3.8893690125882507</c:v>
                </c:pt>
                <c:pt idx="23">
                  <c:v>0.83826139623301987</c:v>
                </c:pt>
                <c:pt idx="24">
                  <c:v>6.2565954944249214E-3</c:v>
                </c:pt>
                <c:pt idx="25">
                  <c:v>7.424028828590945E-2</c:v>
                </c:pt>
                <c:pt idx="26">
                  <c:v>-8.752188047012055E-3</c:v>
                </c:pt>
                <c:pt idx="27">
                  <c:v>-1.6255486226601779E-2</c:v>
                </c:pt>
                <c:pt idx="28">
                  <c:v>0</c:v>
                </c:pt>
                <c:pt idx="29">
                  <c:v>0</c:v>
                </c:pt>
                <c:pt idx="30">
                  <c:v>0</c:v>
                </c:pt>
                <c:pt idx="31">
                  <c:v>0</c:v>
                </c:pt>
                <c:pt idx="32">
                  <c:v>206.47890611972684</c:v>
                </c:pt>
                <c:pt idx="33">
                  <c:v>-5.3089740004374271</c:v>
                </c:pt>
                <c:pt idx="34">
                  <c:v>0.78161153784106485</c:v>
                </c:pt>
                <c:pt idx="35">
                  <c:v>-0.67195680910763222</c:v>
                </c:pt>
                <c:pt idx="36">
                  <c:v>5.1884849825893697</c:v>
                </c:pt>
                <c:pt idx="37">
                  <c:v>1.3533488991422038</c:v>
                </c:pt>
                <c:pt idx="38">
                  <c:v>1.5672226741947348</c:v>
                </c:pt>
                <c:pt idx="39">
                  <c:v>17.999766229140967</c:v>
                </c:pt>
                <c:pt idx="40">
                  <c:v>5.0184086995942234</c:v>
                </c:pt>
                <c:pt idx="41">
                  <c:v>5.4884040675768908</c:v>
                </c:pt>
                <c:pt idx="42">
                  <c:v>10.38394867279453</c:v>
                </c:pt>
                <c:pt idx="43">
                  <c:v>20.331312539233348</c:v>
                </c:pt>
                <c:pt idx="44">
                  <c:v>47.916364610246973</c:v>
                </c:pt>
                <c:pt idx="45">
                  <c:v>14.338946841463262</c:v>
                </c:pt>
                <c:pt idx="46">
                  <c:v>59.838389988164906</c:v>
                </c:pt>
                <c:pt idx="47">
                  <c:v>12.227337235953573</c:v>
                </c:pt>
                <c:pt idx="48">
                  <c:v>69.628019101275967</c:v>
                </c:pt>
                <c:pt idx="49">
                  <c:v>71.375354860103982</c:v>
                </c:pt>
              </c:numCache>
            </c:numRef>
          </c:val>
          <c:smooth val="0"/>
          <c:extLst>
            <c:ext xmlns:c16="http://schemas.microsoft.com/office/drawing/2014/chart" uri="{C3380CC4-5D6E-409C-BE32-E72D297353CC}">
              <c16:uniqueId val="{00000001-5C08-49AC-A3FA-2C981CE3F764}"/>
            </c:ext>
          </c:extLst>
        </c:ser>
        <c:dLbls>
          <c:showLegendKey val="0"/>
          <c:showVal val="0"/>
          <c:showCatName val="0"/>
          <c:showSerName val="0"/>
          <c:showPercent val="0"/>
          <c:showBubbleSize val="0"/>
        </c:dLbls>
        <c:smooth val="0"/>
        <c:axId val="126779216"/>
        <c:axId val="1979125392"/>
      </c:lineChart>
      <c:catAx>
        <c:axId val="126779216"/>
        <c:scaling>
          <c:orientation val="minMax"/>
        </c:scaling>
        <c:delete val="0"/>
        <c:axPos val="b"/>
        <c:numFmt formatCode="General" sourceLinked="1"/>
        <c:majorTickMark val="none"/>
        <c:minorTickMark val="none"/>
        <c:tickLblPos val="nextTo"/>
        <c:spPr>
          <a:noFill/>
          <a:ln w="19050" cap="flat" cmpd="sng" algn="ctr">
            <a:solidFill>
              <a:schemeClr val="tx1"/>
            </a:solidFill>
            <a:round/>
            <a:tailEnd type="triangle"/>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1979125392"/>
        <c:crosses val="autoZero"/>
        <c:auto val="1"/>
        <c:lblAlgn val="ctr"/>
        <c:lblOffset val="100"/>
        <c:tickLblSkip val="5"/>
        <c:tickMarkSkip val="10"/>
        <c:noMultiLvlLbl val="0"/>
      </c:catAx>
      <c:valAx>
        <c:axId val="1979125392"/>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w="19050">
            <a:solidFill>
              <a:schemeClr val="tx1"/>
            </a:solidFill>
            <a:tailEnd type="triangle"/>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1267792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400" b="1"/>
              <a:t>Inflation and Peso</a:t>
            </a:r>
            <a:r>
              <a:rPr lang="en-US" sz="2400" b="1" baseline="0"/>
              <a:t> </a:t>
            </a:r>
            <a:r>
              <a:rPr lang="en-US" sz="2400" b="1"/>
              <a:t>depreciation in Argentina</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6487003829725703E-2"/>
          <c:y val="0.16148260360216313"/>
          <c:w val="0.89642314889276997"/>
          <c:h val="0.80926295994531716"/>
        </c:manualLayout>
      </c:layout>
      <c:lineChart>
        <c:grouping val="standard"/>
        <c:varyColors val="0"/>
        <c:ser>
          <c:idx val="0"/>
          <c:order val="0"/>
          <c:tx>
            <c:strRef>
              <c:f>Data!$H$64</c:f>
              <c:strCache>
                <c:ptCount val="1"/>
                <c:pt idx="0">
                  <c:v>Inflation</c:v>
                </c:pt>
              </c:strCache>
            </c:strRef>
          </c:tx>
          <c:spPr>
            <a:ln w="28575" cap="rnd">
              <a:solidFill>
                <a:schemeClr val="accent1"/>
              </a:solidFill>
              <a:round/>
            </a:ln>
            <a:effectLst/>
          </c:spPr>
          <c:marker>
            <c:symbol val="none"/>
          </c:marker>
          <c:cat>
            <c:numRef>
              <c:f>Data!$G$65:$G$114</c:f>
              <c:numCache>
                <c:formatCode>General</c:formatCode>
                <c:ptCount val="50"/>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numCache>
            </c:numRef>
          </c:cat>
          <c:val>
            <c:numRef>
              <c:f>Data!$H$65:$H$114</c:f>
              <c:numCache>
                <c:formatCode>General</c:formatCode>
                <c:ptCount val="50"/>
                <c:pt idx="0">
                  <c:v>6.4678746393797439</c:v>
                </c:pt>
                <c:pt idx="1">
                  <c:v>31.271063882575334</c:v>
                </c:pt>
                <c:pt idx="2">
                  <c:v>64.244785918175495</c:v>
                </c:pt>
                <c:pt idx="3">
                  <c:v>65.535287366171275</c:v>
                </c:pt>
                <c:pt idx="4">
                  <c:v>30.630441371577234</c:v>
                </c:pt>
                <c:pt idx="5">
                  <c:v>197.69736454037627</c:v>
                </c:pt>
                <c:pt idx="6">
                  <c:v>438.32277972421832</c:v>
                </c:pt>
                <c:pt idx="7">
                  <c:v>159.42717770570755</c:v>
                </c:pt>
                <c:pt idx="8">
                  <c:v>161.37217200577425</c:v>
                </c:pt>
                <c:pt idx="9">
                  <c:v>147.37704403869438</c:v>
                </c:pt>
                <c:pt idx="10">
                  <c:v>95.790424611122631</c:v>
                </c:pt>
                <c:pt idx="11">
                  <c:v>105.27636637455987</c:v>
                </c:pt>
                <c:pt idx="12">
                  <c:v>194.53529967142396</c:v>
                </c:pt>
                <c:pt idx="13">
                  <c:v>380.15852852050818</c:v>
                </c:pt>
                <c:pt idx="14">
                  <c:v>611.19630388904261</c:v>
                </c:pt>
                <c:pt idx="15">
                  <c:v>607.44749782050587</c:v>
                </c:pt>
                <c:pt idx="16">
                  <c:v>77.29223668643229</c:v>
                </c:pt>
                <c:pt idx="17">
                  <c:v>127.53991806284537</c:v>
                </c:pt>
                <c:pt idx="18">
                  <c:v>381.24634441143417</c:v>
                </c:pt>
                <c:pt idx="19">
                  <c:v>3046.0911519966248</c:v>
                </c:pt>
                <c:pt idx="20">
                  <c:v>2078.3168180311436</c:v>
                </c:pt>
                <c:pt idx="21">
                  <c:v>140.50237866363182</c:v>
                </c:pt>
                <c:pt idx="22">
                  <c:v>16.071993535694546</c:v>
                </c:pt>
                <c:pt idx="23">
                  <c:v>-3.5610955757657763</c:v>
                </c:pt>
                <c:pt idx="24">
                  <c:v>2.8493397150930235</c:v>
                </c:pt>
                <c:pt idx="25">
                  <c:v>3.1651233901651921</c:v>
                </c:pt>
                <c:pt idx="26">
                  <c:v>-5.2375496590414627E-2</c:v>
                </c:pt>
                <c:pt idx="27">
                  <c:v>-0.46391313116428989</c:v>
                </c:pt>
                <c:pt idx="28">
                  <c:v>-1.7052796240008803</c:v>
                </c:pt>
                <c:pt idx="29">
                  <c:v>-1.8365583922066264</c:v>
                </c:pt>
                <c:pt idx="30">
                  <c:v>1.0372871007317457</c:v>
                </c:pt>
                <c:pt idx="31">
                  <c:v>-1.0957677183367878</c:v>
                </c:pt>
                <c:pt idx="32">
                  <c:v>30.555204053902969</c:v>
                </c:pt>
                <c:pt idx="33">
                  <c:v>10.495703021549602</c:v>
                </c:pt>
                <c:pt idx="34">
                  <c:v>18.363354249203255</c:v>
                </c:pt>
                <c:pt idx="35">
                  <c:v>10.317511198240581</c:v>
                </c:pt>
                <c:pt idx="36">
                  <c:v>13.741052485915233</c:v>
                </c:pt>
                <c:pt idx="37">
                  <c:v>14.939925024583459</c:v>
                </c:pt>
                <c:pt idx="38">
                  <c:v>23.171164981312415</c:v>
                </c:pt>
                <c:pt idx="39">
                  <c:v>15.377649370892115</c:v>
                </c:pt>
                <c:pt idx="40">
                  <c:v>20.915124272046981</c:v>
                </c:pt>
                <c:pt idx="41">
                  <c:v>23.703472183959335</c:v>
                </c:pt>
                <c:pt idx="42">
                  <c:v>22.31488067330487</c:v>
                </c:pt>
                <c:pt idx="43">
                  <c:v>23.948798416274641</c:v>
                </c:pt>
                <c:pt idx="44">
                  <c:v>40.282971631550623</c:v>
                </c:pt>
                <c:pt idx="45">
                  <c:v>26.579991602470685</c:v>
                </c:pt>
                <c:pt idx="46">
                  <c:v>41.119379988227905</c:v>
                </c:pt>
                <c:pt idx="47">
                  <c:v>26.007483145852902</c:v>
                </c:pt>
                <c:pt idx="48">
                  <c:v>40.702790688954536</c:v>
                </c:pt>
                <c:pt idx="49">
                  <c:v>51.508337518122147</c:v>
                </c:pt>
              </c:numCache>
            </c:numRef>
          </c:val>
          <c:smooth val="0"/>
          <c:extLst>
            <c:ext xmlns:c16="http://schemas.microsoft.com/office/drawing/2014/chart" uri="{C3380CC4-5D6E-409C-BE32-E72D297353CC}">
              <c16:uniqueId val="{00000000-30B9-4ABE-B140-925B0D8DFE05}"/>
            </c:ext>
          </c:extLst>
        </c:ser>
        <c:ser>
          <c:idx val="1"/>
          <c:order val="1"/>
          <c:tx>
            <c:strRef>
              <c:f>Data!$I$64</c:f>
              <c:strCache>
                <c:ptCount val="1"/>
                <c:pt idx="0">
                  <c:v>Peso depreciation</c:v>
                </c:pt>
              </c:strCache>
            </c:strRef>
          </c:tx>
          <c:spPr>
            <a:ln w="28575" cap="rnd">
              <a:solidFill>
                <a:schemeClr val="accent2"/>
              </a:solidFill>
              <a:round/>
            </a:ln>
            <a:effectLst/>
          </c:spPr>
          <c:marker>
            <c:symbol val="none"/>
          </c:marker>
          <c:cat>
            <c:numRef>
              <c:f>Data!$G$65:$G$114</c:f>
              <c:numCache>
                <c:formatCode>General</c:formatCode>
                <c:ptCount val="50"/>
                <c:pt idx="0">
                  <c:v>1970</c:v>
                </c:pt>
                <c:pt idx="1">
                  <c:v>1971</c:v>
                </c:pt>
                <c:pt idx="2">
                  <c:v>1972</c:v>
                </c:pt>
                <c:pt idx="3">
                  <c:v>1973</c:v>
                </c:pt>
                <c:pt idx="4">
                  <c:v>1974</c:v>
                </c:pt>
                <c:pt idx="5">
                  <c:v>1975</c:v>
                </c:pt>
                <c:pt idx="6">
                  <c:v>1976</c:v>
                </c:pt>
                <c:pt idx="7">
                  <c:v>1977</c:v>
                </c:pt>
                <c:pt idx="8">
                  <c:v>1978</c:v>
                </c:pt>
                <c:pt idx="9">
                  <c:v>1979</c:v>
                </c:pt>
                <c:pt idx="10">
                  <c:v>1980</c:v>
                </c:pt>
                <c:pt idx="11">
                  <c:v>1981</c:v>
                </c:pt>
                <c:pt idx="12">
                  <c:v>1982</c:v>
                </c:pt>
                <c:pt idx="13">
                  <c:v>1983</c:v>
                </c:pt>
                <c:pt idx="14">
                  <c:v>1984</c:v>
                </c:pt>
                <c:pt idx="15">
                  <c:v>1985</c:v>
                </c:pt>
                <c:pt idx="16">
                  <c:v>1986</c:v>
                </c:pt>
                <c:pt idx="17">
                  <c:v>1987</c:v>
                </c:pt>
                <c:pt idx="18">
                  <c:v>1988</c:v>
                </c:pt>
                <c:pt idx="19">
                  <c:v>1989</c:v>
                </c:pt>
                <c:pt idx="20">
                  <c:v>1990</c:v>
                </c:pt>
                <c:pt idx="21">
                  <c:v>1991</c:v>
                </c:pt>
                <c:pt idx="22">
                  <c:v>1992</c:v>
                </c:pt>
                <c:pt idx="23">
                  <c:v>1993</c:v>
                </c:pt>
                <c:pt idx="24">
                  <c:v>1994</c:v>
                </c:pt>
                <c:pt idx="25">
                  <c:v>1995</c:v>
                </c:pt>
                <c:pt idx="26">
                  <c:v>1996</c:v>
                </c:pt>
                <c:pt idx="27">
                  <c:v>1997</c:v>
                </c:pt>
                <c:pt idx="28">
                  <c:v>1998</c:v>
                </c:pt>
                <c:pt idx="29">
                  <c:v>1999</c:v>
                </c:pt>
                <c:pt idx="30">
                  <c:v>2000</c:v>
                </c:pt>
                <c:pt idx="31">
                  <c:v>2001</c:v>
                </c:pt>
                <c:pt idx="32">
                  <c:v>2002</c:v>
                </c:pt>
                <c:pt idx="33">
                  <c:v>2003</c:v>
                </c:pt>
                <c:pt idx="34">
                  <c:v>2004</c:v>
                </c:pt>
                <c:pt idx="35">
                  <c:v>2005</c:v>
                </c:pt>
                <c:pt idx="36">
                  <c:v>2006</c:v>
                </c:pt>
                <c:pt idx="37">
                  <c:v>2007</c:v>
                </c:pt>
                <c:pt idx="38">
                  <c:v>2008</c:v>
                </c:pt>
                <c:pt idx="39">
                  <c:v>2009</c:v>
                </c:pt>
                <c:pt idx="40">
                  <c:v>2010</c:v>
                </c:pt>
                <c:pt idx="41">
                  <c:v>2011</c:v>
                </c:pt>
                <c:pt idx="42">
                  <c:v>2012</c:v>
                </c:pt>
                <c:pt idx="43">
                  <c:v>2013</c:v>
                </c:pt>
                <c:pt idx="44">
                  <c:v>2014</c:v>
                </c:pt>
                <c:pt idx="45">
                  <c:v>2015</c:v>
                </c:pt>
                <c:pt idx="46">
                  <c:v>2016</c:v>
                </c:pt>
                <c:pt idx="47">
                  <c:v>2017</c:v>
                </c:pt>
                <c:pt idx="48">
                  <c:v>2018</c:v>
                </c:pt>
                <c:pt idx="49">
                  <c:v>2019</c:v>
                </c:pt>
              </c:numCache>
            </c:numRef>
          </c:cat>
          <c:val>
            <c:numRef>
              <c:f>Data!$I$65:$I$114</c:f>
              <c:numCache>
                <c:formatCode>General</c:formatCode>
                <c:ptCount val="50"/>
                <c:pt idx="0">
                  <c:v>8.3333333047619806</c:v>
                </c:pt>
                <c:pt idx="1">
                  <c:v>19.252747257824886</c:v>
                </c:pt>
                <c:pt idx="2">
                  <c:v>10.578695173736463</c:v>
                </c:pt>
                <c:pt idx="3">
                  <c:v>0</c:v>
                </c:pt>
                <c:pt idx="4">
                  <c:v>0</c:v>
                </c:pt>
                <c:pt idx="5">
                  <c:v>631.50000013629995</c:v>
                </c:pt>
                <c:pt idx="6">
                  <c:v>282.7295511553811</c:v>
                </c:pt>
                <c:pt idx="7">
                  <c:v>191.20133349207103</c:v>
                </c:pt>
                <c:pt idx="8">
                  <c:v>95.21220050712887</c:v>
                </c:pt>
                <c:pt idx="9">
                  <c:v>65.500052361265489</c:v>
                </c:pt>
                <c:pt idx="10">
                  <c:v>39.499228024186259</c:v>
                </c:pt>
                <c:pt idx="11">
                  <c:v>139.64682775499369</c:v>
                </c:pt>
                <c:pt idx="12">
                  <c:v>488.78829806742152</c:v>
                </c:pt>
                <c:pt idx="13">
                  <c:v>306.20865885999916</c:v>
                </c:pt>
                <c:pt idx="14">
                  <c:v>542.44434670008809</c:v>
                </c:pt>
                <c:pt idx="15">
                  <c:v>789.60363366054889</c:v>
                </c:pt>
                <c:pt idx="16">
                  <c:v>56.699495465615655</c:v>
                </c:pt>
                <c:pt idx="17">
                  <c:v>127.38349189405049</c:v>
                </c:pt>
                <c:pt idx="18">
                  <c:v>308.18033715768792</c:v>
                </c:pt>
                <c:pt idx="19">
                  <c:v>4736.7274501636366</c:v>
                </c:pt>
                <c:pt idx="20">
                  <c:v>1051.7681637514311</c:v>
                </c:pt>
                <c:pt idx="21">
                  <c:v>95.565169373323243</c:v>
                </c:pt>
                <c:pt idx="22">
                  <c:v>3.8893690125882507</c:v>
                </c:pt>
                <c:pt idx="23">
                  <c:v>0.83826139623301987</c:v>
                </c:pt>
                <c:pt idx="24">
                  <c:v>6.2565954944249214E-3</c:v>
                </c:pt>
                <c:pt idx="25">
                  <c:v>7.424028828590945E-2</c:v>
                </c:pt>
                <c:pt idx="26">
                  <c:v>-8.752188047012055E-3</c:v>
                </c:pt>
                <c:pt idx="27">
                  <c:v>-1.6255486226601779E-2</c:v>
                </c:pt>
                <c:pt idx="28">
                  <c:v>0</c:v>
                </c:pt>
                <c:pt idx="29">
                  <c:v>0</c:v>
                </c:pt>
                <c:pt idx="30">
                  <c:v>0</c:v>
                </c:pt>
                <c:pt idx="31">
                  <c:v>0</c:v>
                </c:pt>
                <c:pt idx="32">
                  <c:v>206.47890611972684</c:v>
                </c:pt>
                <c:pt idx="33">
                  <c:v>-5.3089740004374271</c:v>
                </c:pt>
                <c:pt idx="34">
                  <c:v>0.78161153784106485</c:v>
                </c:pt>
                <c:pt idx="35">
                  <c:v>-0.67195680910763222</c:v>
                </c:pt>
                <c:pt idx="36">
                  <c:v>5.1884849825893697</c:v>
                </c:pt>
                <c:pt idx="37">
                  <c:v>1.3533488991422038</c:v>
                </c:pt>
                <c:pt idx="38">
                  <c:v>1.5672226741947348</c:v>
                </c:pt>
                <c:pt idx="39">
                  <c:v>17.999766229140967</c:v>
                </c:pt>
                <c:pt idx="40">
                  <c:v>5.0184086995942234</c:v>
                </c:pt>
                <c:pt idx="41">
                  <c:v>5.4884040675768908</c:v>
                </c:pt>
                <c:pt idx="42">
                  <c:v>10.38394867279453</c:v>
                </c:pt>
                <c:pt idx="43">
                  <c:v>20.331312539233348</c:v>
                </c:pt>
                <c:pt idx="44">
                  <c:v>47.916364610246973</c:v>
                </c:pt>
                <c:pt idx="45">
                  <c:v>14.338946841463262</c:v>
                </c:pt>
                <c:pt idx="46">
                  <c:v>59.838389988164906</c:v>
                </c:pt>
                <c:pt idx="47">
                  <c:v>12.227337235953573</c:v>
                </c:pt>
                <c:pt idx="48">
                  <c:v>69.628019101275967</c:v>
                </c:pt>
                <c:pt idx="49">
                  <c:v>71.375354860103982</c:v>
                </c:pt>
              </c:numCache>
            </c:numRef>
          </c:val>
          <c:smooth val="0"/>
          <c:extLst>
            <c:ext xmlns:c16="http://schemas.microsoft.com/office/drawing/2014/chart" uri="{C3380CC4-5D6E-409C-BE32-E72D297353CC}">
              <c16:uniqueId val="{00000001-30B9-4ABE-B140-925B0D8DFE05}"/>
            </c:ext>
          </c:extLst>
        </c:ser>
        <c:dLbls>
          <c:showLegendKey val="0"/>
          <c:showVal val="0"/>
          <c:showCatName val="0"/>
          <c:showSerName val="0"/>
          <c:showPercent val="0"/>
          <c:showBubbleSize val="0"/>
        </c:dLbls>
        <c:smooth val="0"/>
        <c:axId val="126779216"/>
        <c:axId val="1979125392"/>
      </c:lineChart>
      <c:catAx>
        <c:axId val="126779216"/>
        <c:scaling>
          <c:orientation val="minMax"/>
        </c:scaling>
        <c:delete val="0"/>
        <c:axPos val="b"/>
        <c:numFmt formatCode="General" sourceLinked="1"/>
        <c:majorTickMark val="none"/>
        <c:minorTickMark val="none"/>
        <c:tickLblPos val="nextTo"/>
        <c:spPr>
          <a:noFill/>
          <a:ln w="19050" cap="flat" cmpd="sng" algn="ctr">
            <a:solidFill>
              <a:schemeClr val="tx1"/>
            </a:solidFill>
            <a:round/>
            <a:tailEnd type="triangle"/>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1979125392"/>
        <c:crosses val="autoZero"/>
        <c:auto val="1"/>
        <c:lblAlgn val="ctr"/>
        <c:lblOffset val="100"/>
        <c:tickLblSkip val="5"/>
        <c:tickMarkSkip val="10"/>
        <c:noMultiLvlLbl val="0"/>
      </c:catAx>
      <c:valAx>
        <c:axId val="1979125392"/>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w="19050">
            <a:solidFill>
              <a:schemeClr val="tx1"/>
            </a:solidFill>
            <a:tailEnd type="triangle"/>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1267792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2400" b="1"/>
              <a:t>Inflation and Peso</a:t>
            </a:r>
            <a:r>
              <a:rPr lang="en-US" sz="2400" b="1" baseline="0"/>
              <a:t> </a:t>
            </a:r>
            <a:r>
              <a:rPr lang="en-US" sz="2400" b="1"/>
              <a:t>depreciation in Argentina</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7.6487003829725703E-2"/>
          <c:y val="0.16148260360216313"/>
          <c:w val="0.89642314889276997"/>
          <c:h val="0.80926295994531716"/>
        </c:manualLayout>
      </c:layout>
      <c:lineChart>
        <c:grouping val="standard"/>
        <c:varyColors val="0"/>
        <c:ser>
          <c:idx val="0"/>
          <c:order val="0"/>
          <c:tx>
            <c:strRef>
              <c:f>Data!$H$64</c:f>
              <c:strCache>
                <c:ptCount val="1"/>
                <c:pt idx="0">
                  <c:v>Inflation</c:v>
                </c:pt>
              </c:strCache>
            </c:strRef>
          </c:tx>
          <c:spPr>
            <a:ln w="28575" cap="rnd">
              <a:solidFill>
                <a:schemeClr val="accent1"/>
              </a:solidFill>
              <a:round/>
            </a:ln>
            <a:effectLst/>
          </c:spPr>
          <c:marker>
            <c:symbol val="none"/>
          </c:marker>
          <c:cat>
            <c:numRef>
              <c:f>Data!$G$65:$G$93</c:f>
              <c:numCache>
                <c:formatCode>General</c:formatCod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numCache>
            </c:numRef>
          </c:cat>
          <c:val>
            <c:numRef>
              <c:f>Data!$H$65:$H$93</c:f>
              <c:numCache>
                <c:formatCode>General</c:formatCode>
                <c:ptCount val="29"/>
                <c:pt idx="0">
                  <c:v>140.50237866363182</c:v>
                </c:pt>
                <c:pt idx="1">
                  <c:v>16.071993535694546</c:v>
                </c:pt>
                <c:pt idx="2">
                  <c:v>-3.5610955757657763</c:v>
                </c:pt>
                <c:pt idx="3">
                  <c:v>2.8493397150930235</c:v>
                </c:pt>
                <c:pt idx="4">
                  <c:v>3.1651233901651921</c:v>
                </c:pt>
                <c:pt idx="5">
                  <c:v>-5.2375496590414627E-2</c:v>
                </c:pt>
                <c:pt idx="6">
                  <c:v>-0.46391313116428989</c:v>
                </c:pt>
                <c:pt idx="7">
                  <c:v>-1.7052796240008803</c:v>
                </c:pt>
                <c:pt idx="8">
                  <c:v>-1.8365583922066264</c:v>
                </c:pt>
                <c:pt idx="9">
                  <c:v>1.0372871007317457</c:v>
                </c:pt>
                <c:pt idx="10">
                  <c:v>-1.0957677183367878</c:v>
                </c:pt>
                <c:pt idx="11">
                  <c:v>30.555204053902969</c:v>
                </c:pt>
                <c:pt idx="12">
                  <c:v>10.495703021549602</c:v>
                </c:pt>
                <c:pt idx="13">
                  <c:v>18.363354249203255</c:v>
                </c:pt>
                <c:pt idx="14">
                  <c:v>10.317511198240581</c:v>
                </c:pt>
                <c:pt idx="15">
                  <c:v>13.741052485915233</c:v>
                </c:pt>
                <c:pt idx="16">
                  <c:v>14.939925024583459</c:v>
                </c:pt>
                <c:pt idx="17">
                  <c:v>23.171164981312415</c:v>
                </c:pt>
                <c:pt idx="18">
                  <c:v>15.377649370892115</c:v>
                </c:pt>
                <c:pt idx="19">
                  <c:v>20.915124272046981</c:v>
                </c:pt>
                <c:pt idx="20">
                  <c:v>23.703472183959335</c:v>
                </c:pt>
                <c:pt idx="21">
                  <c:v>22.31488067330487</c:v>
                </c:pt>
                <c:pt idx="22">
                  <c:v>23.948798416274641</c:v>
                </c:pt>
                <c:pt idx="23">
                  <c:v>40.282971631550623</c:v>
                </c:pt>
                <c:pt idx="24">
                  <c:v>26.579991602470685</c:v>
                </c:pt>
                <c:pt idx="25">
                  <c:v>41.119379988227905</c:v>
                </c:pt>
                <c:pt idx="26">
                  <c:v>26.007483145852902</c:v>
                </c:pt>
                <c:pt idx="27">
                  <c:v>40.702790688954536</c:v>
                </c:pt>
                <c:pt idx="28">
                  <c:v>51.508337518122147</c:v>
                </c:pt>
              </c:numCache>
            </c:numRef>
          </c:val>
          <c:smooth val="0"/>
          <c:extLst>
            <c:ext xmlns:c16="http://schemas.microsoft.com/office/drawing/2014/chart" uri="{C3380CC4-5D6E-409C-BE32-E72D297353CC}">
              <c16:uniqueId val="{00000000-30B9-4ABE-B140-925B0D8DFE05}"/>
            </c:ext>
          </c:extLst>
        </c:ser>
        <c:ser>
          <c:idx val="1"/>
          <c:order val="1"/>
          <c:tx>
            <c:strRef>
              <c:f>Data!$I$64</c:f>
              <c:strCache>
                <c:ptCount val="1"/>
                <c:pt idx="0">
                  <c:v>Peso depreciation</c:v>
                </c:pt>
              </c:strCache>
            </c:strRef>
          </c:tx>
          <c:spPr>
            <a:ln w="28575" cap="rnd">
              <a:solidFill>
                <a:schemeClr val="accent2"/>
              </a:solidFill>
              <a:round/>
            </a:ln>
            <a:effectLst/>
          </c:spPr>
          <c:marker>
            <c:symbol val="none"/>
          </c:marker>
          <c:cat>
            <c:numRef>
              <c:f>Data!$G$65:$G$93</c:f>
              <c:numCache>
                <c:formatCode>General</c:formatCode>
                <c:ptCount val="29"/>
                <c:pt idx="0">
                  <c:v>1991</c:v>
                </c:pt>
                <c:pt idx="1">
                  <c:v>1992</c:v>
                </c:pt>
                <c:pt idx="2">
                  <c:v>1993</c:v>
                </c:pt>
                <c:pt idx="3">
                  <c:v>1994</c:v>
                </c:pt>
                <c:pt idx="4">
                  <c:v>1995</c:v>
                </c:pt>
                <c:pt idx="5">
                  <c:v>1996</c:v>
                </c:pt>
                <c:pt idx="6">
                  <c:v>1997</c:v>
                </c:pt>
                <c:pt idx="7">
                  <c:v>1998</c:v>
                </c:pt>
                <c:pt idx="8">
                  <c:v>1999</c:v>
                </c:pt>
                <c:pt idx="9">
                  <c:v>2000</c:v>
                </c:pt>
                <c:pt idx="10">
                  <c:v>2001</c:v>
                </c:pt>
                <c:pt idx="11">
                  <c:v>2002</c:v>
                </c:pt>
                <c:pt idx="12">
                  <c:v>2003</c:v>
                </c:pt>
                <c:pt idx="13">
                  <c:v>2004</c:v>
                </c:pt>
                <c:pt idx="14">
                  <c:v>2005</c:v>
                </c:pt>
                <c:pt idx="15">
                  <c:v>2006</c:v>
                </c:pt>
                <c:pt idx="16">
                  <c:v>2007</c:v>
                </c:pt>
                <c:pt idx="17">
                  <c:v>2008</c:v>
                </c:pt>
                <c:pt idx="18">
                  <c:v>2009</c:v>
                </c:pt>
                <c:pt idx="19">
                  <c:v>2010</c:v>
                </c:pt>
                <c:pt idx="20">
                  <c:v>2011</c:v>
                </c:pt>
                <c:pt idx="21">
                  <c:v>2012</c:v>
                </c:pt>
                <c:pt idx="22">
                  <c:v>2013</c:v>
                </c:pt>
                <c:pt idx="23">
                  <c:v>2014</c:v>
                </c:pt>
                <c:pt idx="24">
                  <c:v>2015</c:v>
                </c:pt>
                <c:pt idx="25">
                  <c:v>2016</c:v>
                </c:pt>
                <c:pt idx="26">
                  <c:v>2017</c:v>
                </c:pt>
                <c:pt idx="27">
                  <c:v>2018</c:v>
                </c:pt>
                <c:pt idx="28">
                  <c:v>2019</c:v>
                </c:pt>
              </c:numCache>
            </c:numRef>
          </c:cat>
          <c:val>
            <c:numRef>
              <c:f>Data!$I$65:$I$93</c:f>
              <c:numCache>
                <c:formatCode>General</c:formatCode>
                <c:ptCount val="29"/>
                <c:pt idx="0">
                  <c:v>95.565169373323243</c:v>
                </c:pt>
                <c:pt idx="1">
                  <c:v>3.8893690125882507</c:v>
                </c:pt>
                <c:pt idx="2">
                  <c:v>0.83826139623301987</c:v>
                </c:pt>
                <c:pt idx="3">
                  <c:v>6.2565954944249214E-3</c:v>
                </c:pt>
                <c:pt idx="4">
                  <c:v>7.424028828590945E-2</c:v>
                </c:pt>
                <c:pt idx="5">
                  <c:v>-8.752188047012055E-3</c:v>
                </c:pt>
                <c:pt idx="6">
                  <c:v>-1.6255486226601779E-2</c:v>
                </c:pt>
                <c:pt idx="7">
                  <c:v>0</c:v>
                </c:pt>
                <c:pt idx="8">
                  <c:v>0</c:v>
                </c:pt>
                <c:pt idx="9">
                  <c:v>0</c:v>
                </c:pt>
                <c:pt idx="10">
                  <c:v>0</c:v>
                </c:pt>
                <c:pt idx="11">
                  <c:v>206.47890611972684</c:v>
                </c:pt>
                <c:pt idx="12">
                  <c:v>-5.3089740004374271</c:v>
                </c:pt>
                <c:pt idx="13">
                  <c:v>0.78161153784106485</c:v>
                </c:pt>
                <c:pt idx="14">
                  <c:v>-0.67195680910763222</c:v>
                </c:pt>
                <c:pt idx="15">
                  <c:v>5.1884849825893697</c:v>
                </c:pt>
                <c:pt idx="16">
                  <c:v>1.3533488991422038</c:v>
                </c:pt>
                <c:pt idx="17">
                  <c:v>1.5672226741947348</c:v>
                </c:pt>
                <c:pt idx="18">
                  <c:v>17.999766229140967</c:v>
                </c:pt>
                <c:pt idx="19">
                  <c:v>5.0184086995942234</c:v>
                </c:pt>
                <c:pt idx="20">
                  <c:v>5.4884040675768908</c:v>
                </c:pt>
                <c:pt idx="21">
                  <c:v>10.38394867279453</c:v>
                </c:pt>
                <c:pt idx="22">
                  <c:v>20.331312539233348</c:v>
                </c:pt>
                <c:pt idx="23">
                  <c:v>47.916364610246973</c:v>
                </c:pt>
                <c:pt idx="24">
                  <c:v>14.338946841463262</c:v>
                </c:pt>
                <c:pt idx="25">
                  <c:v>59.838389988164906</c:v>
                </c:pt>
                <c:pt idx="26">
                  <c:v>12.227337235953573</c:v>
                </c:pt>
                <c:pt idx="27">
                  <c:v>69.628019101275967</c:v>
                </c:pt>
                <c:pt idx="28">
                  <c:v>71.375354860103982</c:v>
                </c:pt>
              </c:numCache>
            </c:numRef>
          </c:val>
          <c:smooth val="0"/>
          <c:extLst>
            <c:ext xmlns:c16="http://schemas.microsoft.com/office/drawing/2014/chart" uri="{C3380CC4-5D6E-409C-BE32-E72D297353CC}">
              <c16:uniqueId val="{00000001-30B9-4ABE-B140-925B0D8DFE05}"/>
            </c:ext>
          </c:extLst>
        </c:ser>
        <c:dLbls>
          <c:showLegendKey val="0"/>
          <c:showVal val="0"/>
          <c:showCatName val="0"/>
          <c:showSerName val="0"/>
          <c:showPercent val="0"/>
          <c:showBubbleSize val="0"/>
        </c:dLbls>
        <c:smooth val="0"/>
        <c:axId val="126779216"/>
        <c:axId val="1979125392"/>
      </c:lineChart>
      <c:catAx>
        <c:axId val="126779216"/>
        <c:scaling>
          <c:orientation val="minMax"/>
        </c:scaling>
        <c:delete val="0"/>
        <c:axPos val="b"/>
        <c:numFmt formatCode="General" sourceLinked="1"/>
        <c:majorTickMark val="none"/>
        <c:minorTickMark val="none"/>
        <c:tickLblPos val="nextTo"/>
        <c:spPr>
          <a:noFill/>
          <a:ln w="19050" cap="flat" cmpd="sng" algn="ctr">
            <a:solidFill>
              <a:schemeClr val="tx1"/>
            </a:solidFill>
            <a:round/>
            <a:tailEnd type="triangle"/>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1979125392"/>
        <c:crosses val="autoZero"/>
        <c:auto val="1"/>
        <c:lblAlgn val="ctr"/>
        <c:lblOffset val="100"/>
        <c:tickLblSkip val="3"/>
        <c:tickMarkSkip val="10"/>
        <c:noMultiLvlLbl val="0"/>
      </c:catAx>
      <c:valAx>
        <c:axId val="1979125392"/>
        <c:scaling>
          <c:orientation val="minMax"/>
        </c:scaling>
        <c:delete val="0"/>
        <c:axPos val="l"/>
        <c:majorGridlines>
          <c:spPr>
            <a:ln w="9525" cap="flat" cmpd="sng" algn="ctr">
              <a:noFill/>
              <a:round/>
            </a:ln>
            <a:effectLst/>
          </c:spPr>
        </c:majorGridlines>
        <c:numFmt formatCode="General" sourceLinked="1"/>
        <c:majorTickMark val="none"/>
        <c:minorTickMark val="none"/>
        <c:tickLblPos val="nextTo"/>
        <c:spPr>
          <a:noFill/>
          <a:ln w="19050">
            <a:solidFill>
              <a:schemeClr val="tx1"/>
            </a:solidFill>
            <a:tailEnd type="triangle"/>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National"/>
                <a:ea typeface="+mn-ea"/>
                <a:cs typeface="+mn-cs"/>
              </a:defRPr>
            </a:pPr>
            <a:endParaRPr lang="en-US"/>
          </a:p>
        </c:txPr>
        <c:crossAx val="1267792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9AFDC-7658-4951-B0FF-52DFF2A93C0A}" type="datetimeFigureOut">
              <a:rPr lang="en-US" smtClean="0"/>
              <a:t>5/24/2026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8ED99B-9732-49FC-9C16-B56FEB1B1092}" type="slidenum">
              <a:rPr lang="en-US" smtClean="0"/>
              <a:t>‹#›</a:t>
            </a:fld>
            <a:endParaRPr lang="en-US"/>
          </a:p>
        </p:txBody>
      </p:sp>
    </p:spTree>
    <p:extLst>
      <p:ext uri="{BB962C8B-B14F-4D97-AF65-F5344CB8AC3E}">
        <p14:creationId xmlns:p14="http://schemas.microsoft.com/office/powerpoint/2010/main" val="131466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smtClean="0"/>
              <a:t>5/24/2026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lang="en-US" smtClean="0"/>
              <a:t>‹#›</a:t>
            </a:fld>
            <a:endParaRPr lang="en-US"/>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1</a:t>
            </a:fld>
            <a:endParaRPr lang="en-US"/>
          </a:p>
        </p:txBody>
      </p:sp>
    </p:spTree>
    <p:extLst>
      <p:ext uri="{BB962C8B-B14F-4D97-AF65-F5344CB8AC3E}">
        <p14:creationId xmlns:p14="http://schemas.microsoft.com/office/powerpoint/2010/main" val="3772768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2</a:t>
            </a:fld>
            <a:endParaRPr lang="en-US" sz="1300"/>
          </a:p>
        </p:txBody>
      </p:sp>
    </p:spTree>
    <p:extLst>
      <p:ext uri="{BB962C8B-B14F-4D97-AF65-F5344CB8AC3E}">
        <p14:creationId xmlns:p14="http://schemas.microsoft.com/office/powerpoint/2010/main" val="7475721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a:t>
            </a:fld>
            <a:endParaRPr lang="en-US" sz="1300"/>
          </a:p>
        </p:txBody>
      </p:sp>
    </p:spTree>
    <p:extLst>
      <p:ext uri="{BB962C8B-B14F-4D97-AF65-F5344CB8AC3E}">
        <p14:creationId xmlns:p14="http://schemas.microsoft.com/office/powerpoint/2010/main" val="2550119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4</a:t>
            </a:fld>
            <a:endParaRPr lang="en-US" sz="1300"/>
          </a:p>
        </p:txBody>
      </p:sp>
    </p:spTree>
    <p:extLst>
      <p:ext uri="{BB962C8B-B14F-4D97-AF65-F5344CB8AC3E}">
        <p14:creationId xmlns:p14="http://schemas.microsoft.com/office/powerpoint/2010/main" val="3135979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5</a:t>
            </a:fld>
            <a:endParaRPr lang="en-US" sz="1300"/>
          </a:p>
        </p:txBody>
      </p:sp>
    </p:spTree>
    <p:extLst>
      <p:ext uri="{BB962C8B-B14F-4D97-AF65-F5344CB8AC3E}">
        <p14:creationId xmlns:p14="http://schemas.microsoft.com/office/powerpoint/2010/main" val="42827106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12</a:t>
            </a:fld>
            <a:endParaRPr lang="en-US" sz="1300"/>
          </a:p>
        </p:txBody>
      </p:sp>
    </p:spTree>
    <p:extLst>
      <p:ext uri="{BB962C8B-B14F-4D97-AF65-F5344CB8AC3E}">
        <p14:creationId xmlns:p14="http://schemas.microsoft.com/office/powerpoint/2010/main" val="3426118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13</a:t>
            </a:fld>
            <a:endParaRPr lang="en-US" sz="1300"/>
          </a:p>
        </p:txBody>
      </p:sp>
    </p:spTree>
    <p:extLst>
      <p:ext uri="{BB962C8B-B14F-4D97-AF65-F5344CB8AC3E}">
        <p14:creationId xmlns:p14="http://schemas.microsoft.com/office/powerpoint/2010/main" val="3472845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A3CBD985-AC6E-4BA8-9498-3BA384523EE6}" type="slidenum">
              <a:rPr lang="en-US" sz="1300" smtClean="0"/>
              <a:pPr/>
              <a:t>14</a:t>
            </a:fld>
            <a:endParaRPr lang="en-US" sz="130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B4D34D0F-5B13-44A2-B0F0-400FFE5962AF}" type="slidenum">
              <a:rPr lang="en-US" sz="1300" smtClean="0"/>
              <a:pPr/>
              <a:t>15</a:t>
            </a:fld>
            <a:endParaRPr lang="en-US" sz="1300"/>
          </a:p>
        </p:txBody>
      </p:sp>
      <p:sp>
        <p:nvSpPr>
          <p:cNvPr id="124931" name="Rectangle 2"/>
          <p:cNvSpPr>
            <a:spLocks noGrp="1" noRot="1" noChangeAspect="1" noChangeArrowheads="1" noTextEdit="1"/>
          </p:cNvSpPr>
          <p:nvPr>
            <p:ph type="sldImg"/>
          </p:nvPr>
        </p:nvSpPr>
        <p:spPr>
          <a:ln/>
        </p:spPr>
      </p:sp>
      <p:sp>
        <p:nvSpPr>
          <p:cNvPr id="1249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16</a:t>
            </a:fld>
            <a:endParaRPr lang="en-US" sz="1300"/>
          </a:p>
        </p:txBody>
      </p:sp>
    </p:spTree>
    <p:extLst>
      <p:ext uri="{BB962C8B-B14F-4D97-AF65-F5344CB8AC3E}">
        <p14:creationId xmlns:p14="http://schemas.microsoft.com/office/powerpoint/2010/main" val="35524722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17</a:t>
            </a:fld>
            <a:endParaRPr lang="en-US" sz="1300"/>
          </a:p>
        </p:txBody>
      </p:sp>
    </p:spTree>
    <p:extLst>
      <p:ext uri="{BB962C8B-B14F-4D97-AF65-F5344CB8AC3E}">
        <p14:creationId xmlns:p14="http://schemas.microsoft.com/office/powerpoint/2010/main" val="33499920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18</a:t>
            </a:fld>
            <a:endParaRPr lang="en-US" sz="1300"/>
          </a:p>
        </p:txBody>
      </p:sp>
    </p:spTree>
    <p:extLst>
      <p:ext uri="{BB962C8B-B14F-4D97-AF65-F5344CB8AC3E}">
        <p14:creationId xmlns:p14="http://schemas.microsoft.com/office/powerpoint/2010/main" val="41982480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ln/>
        </p:spPr>
      </p:sp>
      <p:sp>
        <p:nvSpPr>
          <p:cNvPr id="1310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10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E4CE49FC-7958-4A5B-9D9C-1BF52FC442BC}" type="slidenum">
              <a:rPr lang="en-US" sz="1300" smtClean="0"/>
              <a:pPr/>
              <a:t>19</a:t>
            </a:fld>
            <a:endParaRPr lang="en-US" sz="1300"/>
          </a:p>
        </p:txBody>
      </p:sp>
    </p:spTree>
    <p:extLst>
      <p:ext uri="{BB962C8B-B14F-4D97-AF65-F5344CB8AC3E}">
        <p14:creationId xmlns:p14="http://schemas.microsoft.com/office/powerpoint/2010/main" val="26669743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ln/>
        </p:spPr>
      </p:sp>
      <p:sp>
        <p:nvSpPr>
          <p:cNvPr id="1310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10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E4CE49FC-7958-4A5B-9D9C-1BF52FC442BC}" type="slidenum">
              <a:rPr lang="en-US" sz="1300" smtClean="0"/>
              <a:pPr/>
              <a:t>20</a:t>
            </a:fld>
            <a:endParaRPr lang="en-US" sz="1300"/>
          </a:p>
        </p:txBody>
      </p:sp>
    </p:spTree>
    <p:extLst>
      <p:ext uri="{BB962C8B-B14F-4D97-AF65-F5344CB8AC3E}">
        <p14:creationId xmlns:p14="http://schemas.microsoft.com/office/powerpoint/2010/main" val="721327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21</a:t>
            </a:fld>
            <a:endParaRPr lang="en-US" sz="1300"/>
          </a:p>
        </p:txBody>
      </p:sp>
    </p:spTree>
    <p:extLst>
      <p:ext uri="{BB962C8B-B14F-4D97-AF65-F5344CB8AC3E}">
        <p14:creationId xmlns:p14="http://schemas.microsoft.com/office/powerpoint/2010/main" val="4209168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ln/>
        </p:spPr>
      </p:sp>
      <p:sp>
        <p:nvSpPr>
          <p:cNvPr id="1310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10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E4CE49FC-7958-4A5B-9D9C-1BF52FC442BC}" type="slidenum">
              <a:rPr lang="en-US" sz="1300" smtClean="0"/>
              <a:pPr/>
              <a:t>24</a:t>
            </a:fld>
            <a:endParaRPr lang="en-US" sz="1300"/>
          </a:p>
        </p:txBody>
      </p:sp>
    </p:spTree>
    <p:extLst>
      <p:ext uri="{BB962C8B-B14F-4D97-AF65-F5344CB8AC3E}">
        <p14:creationId xmlns:p14="http://schemas.microsoft.com/office/powerpoint/2010/main" val="36422060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Slide Image Placeholder 1"/>
          <p:cNvSpPr>
            <a:spLocks noGrp="1" noRot="1" noChangeAspect="1" noTextEdit="1"/>
          </p:cNvSpPr>
          <p:nvPr>
            <p:ph type="sldImg"/>
          </p:nvPr>
        </p:nvSpPr>
        <p:spPr>
          <a:ln/>
        </p:spPr>
      </p:sp>
      <p:sp>
        <p:nvSpPr>
          <p:cNvPr id="13107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107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E4CE49FC-7958-4A5B-9D9C-1BF52FC442BC}" type="slidenum">
              <a:rPr lang="en-US" sz="1300" smtClean="0"/>
              <a:pPr/>
              <a:t>25</a:t>
            </a:fld>
            <a:endParaRPr lang="en-US" sz="1300"/>
          </a:p>
        </p:txBody>
      </p:sp>
    </p:spTree>
    <p:extLst>
      <p:ext uri="{BB962C8B-B14F-4D97-AF65-F5344CB8AC3E}">
        <p14:creationId xmlns:p14="http://schemas.microsoft.com/office/powerpoint/2010/main" val="8531374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26</a:t>
            </a:fld>
            <a:endParaRPr lang="en-US" sz="1300"/>
          </a:p>
        </p:txBody>
      </p:sp>
    </p:spTree>
    <p:extLst>
      <p:ext uri="{BB962C8B-B14F-4D97-AF65-F5344CB8AC3E}">
        <p14:creationId xmlns:p14="http://schemas.microsoft.com/office/powerpoint/2010/main" val="21771697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27</a:t>
            </a:fld>
            <a:endParaRPr lang="en-US" sz="1300"/>
          </a:p>
        </p:txBody>
      </p:sp>
    </p:spTree>
    <p:extLst>
      <p:ext uri="{BB962C8B-B14F-4D97-AF65-F5344CB8AC3E}">
        <p14:creationId xmlns:p14="http://schemas.microsoft.com/office/powerpoint/2010/main" val="10944256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28</a:t>
            </a:fld>
            <a:endParaRPr lang="en-US" sz="1300"/>
          </a:p>
        </p:txBody>
      </p:sp>
    </p:spTree>
    <p:extLst>
      <p:ext uri="{BB962C8B-B14F-4D97-AF65-F5344CB8AC3E}">
        <p14:creationId xmlns:p14="http://schemas.microsoft.com/office/powerpoint/2010/main" val="13324939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a:ln/>
        </p:spPr>
      </p:sp>
      <p:sp>
        <p:nvSpPr>
          <p:cNvPr id="1392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92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7391B367-5FD8-4C18-90ED-D685A737B483}" type="slidenum">
              <a:rPr lang="en-US" sz="1300" smtClean="0"/>
              <a:pPr/>
              <a:t>29</a:t>
            </a:fld>
            <a:endParaRPr lang="en-US" sz="13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a:ln/>
        </p:spPr>
      </p:sp>
      <p:sp>
        <p:nvSpPr>
          <p:cNvPr id="1392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392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7391B367-5FD8-4C18-90ED-D685A737B483}" type="slidenum">
              <a:rPr lang="en-US" sz="1300" smtClean="0"/>
              <a:pPr/>
              <a:t>30</a:t>
            </a:fld>
            <a:endParaRPr lang="en-US" sz="1300"/>
          </a:p>
        </p:txBody>
      </p:sp>
    </p:spTree>
    <p:extLst>
      <p:ext uri="{BB962C8B-B14F-4D97-AF65-F5344CB8AC3E}">
        <p14:creationId xmlns:p14="http://schemas.microsoft.com/office/powerpoint/2010/main" val="227148847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32</a:t>
            </a:fld>
            <a:endParaRPr lang="en-US" sz="1300"/>
          </a:p>
        </p:txBody>
      </p:sp>
    </p:spTree>
    <p:extLst>
      <p:ext uri="{BB962C8B-B14F-4D97-AF65-F5344CB8AC3E}">
        <p14:creationId xmlns:p14="http://schemas.microsoft.com/office/powerpoint/2010/main" val="24379569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33</a:t>
            </a:fld>
            <a:endParaRPr lang="en-US" sz="1300"/>
          </a:p>
        </p:txBody>
      </p:sp>
    </p:spTree>
    <p:extLst>
      <p:ext uri="{BB962C8B-B14F-4D97-AF65-F5344CB8AC3E}">
        <p14:creationId xmlns:p14="http://schemas.microsoft.com/office/powerpoint/2010/main" val="8580472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34</a:t>
            </a:fld>
            <a:endParaRPr lang="en-US" sz="1300"/>
          </a:p>
        </p:txBody>
      </p:sp>
    </p:spTree>
    <p:extLst>
      <p:ext uri="{BB962C8B-B14F-4D97-AF65-F5344CB8AC3E}">
        <p14:creationId xmlns:p14="http://schemas.microsoft.com/office/powerpoint/2010/main" val="30179083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35</a:t>
            </a:fld>
            <a:endParaRPr lang="en-US" sz="1300"/>
          </a:p>
        </p:txBody>
      </p:sp>
    </p:spTree>
    <p:extLst>
      <p:ext uri="{BB962C8B-B14F-4D97-AF65-F5344CB8AC3E}">
        <p14:creationId xmlns:p14="http://schemas.microsoft.com/office/powerpoint/2010/main" val="15099368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36</a:t>
            </a:fld>
            <a:endParaRPr lang="en-US" sz="1300"/>
          </a:p>
        </p:txBody>
      </p:sp>
    </p:spTree>
    <p:extLst>
      <p:ext uri="{BB962C8B-B14F-4D97-AF65-F5344CB8AC3E}">
        <p14:creationId xmlns:p14="http://schemas.microsoft.com/office/powerpoint/2010/main" val="10887486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37</a:t>
            </a:fld>
            <a:endParaRPr lang="en-US" sz="1300"/>
          </a:p>
        </p:txBody>
      </p:sp>
    </p:spTree>
    <p:extLst>
      <p:ext uri="{BB962C8B-B14F-4D97-AF65-F5344CB8AC3E}">
        <p14:creationId xmlns:p14="http://schemas.microsoft.com/office/powerpoint/2010/main" val="10834164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38</a:t>
            </a:fld>
            <a:endParaRPr lang="en-US" sz="1300"/>
          </a:p>
        </p:txBody>
      </p:sp>
    </p:spTree>
    <p:extLst>
      <p:ext uri="{BB962C8B-B14F-4D97-AF65-F5344CB8AC3E}">
        <p14:creationId xmlns:p14="http://schemas.microsoft.com/office/powerpoint/2010/main" val="13938125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39</a:t>
            </a:fld>
            <a:endParaRPr lang="en-US" sz="1300"/>
          </a:p>
        </p:txBody>
      </p:sp>
    </p:spTree>
    <p:extLst>
      <p:ext uri="{BB962C8B-B14F-4D97-AF65-F5344CB8AC3E}">
        <p14:creationId xmlns:p14="http://schemas.microsoft.com/office/powerpoint/2010/main" val="38456398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40</a:t>
            </a:fld>
            <a:endParaRPr lang="en-US" sz="1300"/>
          </a:p>
        </p:txBody>
      </p:sp>
    </p:spTree>
    <p:extLst>
      <p:ext uri="{BB962C8B-B14F-4D97-AF65-F5344CB8AC3E}">
        <p14:creationId xmlns:p14="http://schemas.microsoft.com/office/powerpoint/2010/main" val="38456398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41</a:t>
            </a:fld>
            <a:endParaRPr lang="en-US" sz="1300"/>
          </a:p>
        </p:txBody>
      </p:sp>
    </p:spTree>
    <p:extLst>
      <p:ext uri="{BB962C8B-B14F-4D97-AF65-F5344CB8AC3E}">
        <p14:creationId xmlns:p14="http://schemas.microsoft.com/office/powerpoint/2010/main" val="24009106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42</a:t>
            </a:fld>
            <a:endParaRPr lang="en-US" sz="1300"/>
          </a:p>
        </p:txBody>
      </p:sp>
    </p:spTree>
    <p:extLst>
      <p:ext uri="{BB962C8B-B14F-4D97-AF65-F5344CB8AC3E}">
        <p14:creationId xmlns:p14="http://schemas.microsoft.com/office/powerpoint/2010/main" val="256212189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a:ln/>
        </p:spPr>
      </p:sp>
      <p:sp>
        <p:nvSpPr>
          <p:cNvPr id="168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68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pPr marL="0" marR="0" lvl="0" indent="0" algn="r" defTabSz="966788" rtl="0" eaLnBrk="0" fontAlgn="base" latinLnBrk="0" hangingPunct="0">
              <a:lnSpc>
                <a:spcPct val="100000"/>
              </a:lnSpc>
              <a:spcBef>
                <a:spcPct val="0"/>
              </a:spcBef>
              <a:spcAft>
                <a:spcPct val="0"/>
              </a:spcAft>
              <a:buClrTx/>
              <a:buSzTx/>
              <a:buFontTx/>
              <a:buNone/>
              <a:tabLst/>
              <a:defRPr/>
            </a:pPr>
            <a:fld id="{421E0881-F6F0-4D8E-ABFD-52DFD31B9561}" type="slidenum">
              <a:rPr kumimoji="0" lang="en-US" sz="1300" b="0" i="0" u="none" strike="noStrike" kern="1200" cap="none" spc="0" normalizeH="0" baseline="0" noProof="0" smtClean="0">
                <a:ln>
                  <a:noFill/>
                </a:ln>
                <a:solidFill>
                  <a:srgbClr val="000000"/>
                </a:solidFill>
                <a:effectLst/>
                <a:uLnTx/>
                <a:uFillTx/>
                <a:latin typeface="Arial" charset="0"/>
                <a:ea typeface="+mn-ea"/>
                <a:cs typeface="+mn-cs"/>
              </a:rPr>
              <a:pPr marL="0" marR="0" lvl="0" indent="0" algn="r" defTabSz="966788" rtl="0" eaLnBrk="0" fontAlgn="base" latinLnBrk="0" hangingPunct="0">
                <a:lnSpc>
                  <a:spcPct val="100000"/>
                </a:lnSpc>
                <a:spcBef>
                  <a:spcPct val="0"/>
                </a:spcBef>
                <a:spcAft>
                  <a:spcPct val="0"/>
                </a:spcAft>
                <a:buClrTx/>
                <a:buSzTx/>
                <a:buFontTx/>
                <a:buNone/>
                <a:tabLst/>
                <a:defRPr/>
              </a:pPr>
              <a:t>43</a:t>
            </a:fld>
            <a:endParaRPr kumimoji="0" lang="en-US" sz="1300" b="0" i="0" u="none" strike="noStrike" kern="1200" cap="none" spc="0" normalizeH="0" baseline="0" noProof="0">
              <a:ln>
                <a:noFill/>
              </a:ln>
              <a:solidFill>
                <a:srgbClr val="000000"/>
              </a:solidFill>
              <a:effectLst/>
              <a:uLnTx/>
              <a:uFillTx/>
              <a:latin typeface="Arial" charset="0"/>
              <a:ea typeface="+mn-ea"/>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fld id="{3C0C3E65-9ACB-475D-8C0B-49DB9D92C949}" type="slidenum">
              <a:rPr lang="en-US" sz="1300" smtClean="0"/>
              <a:pPr/>
              <a:t>44</a:t>
            </a:fld>
            <a:endParaRPr lang="en-US" sz="1300"/>
          </a:p>
        </p:txBody>
      </p:sp>
    </p:spTree>
    <p:extLst>
      <p:ext uri="{BB962C8B-B14F-4D97-AF65-F5344CB8AC3E}">
        <p14:creationId xmlns:p14="http://schemas.microsoft.com/office/powerpoint/2010/main" val="9458337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0824" y="1600200"/>
            <a:ext cx="5945188" cy="30480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hasCustomPrompt="1"/>
          </p:nvPr>
        </p:nvSpPr>
        <p:spPr>
          <a:xfrm>
            <a:off x="1520825" y="4898572"/>
            <a:ext cx="5945187" cy="1270453"/>
          </a:xfrm>
        </p:spPr>
        <p:txBody>
          <a:bodyPr>
            <a:noAutofit/>
          </a:bodyPr>
          <a:lstStyle>
            <a:lvl1pPr marL="0" indent="0" algn="l">
              <a:spcBef>
                <a:spcPts val="0"/>
              </a:spcBef>
              <a:buNone/>
              <a:defRPr sz="2800" cap="none" baseline="0">
                <a:solidFill>
                  <a:schemeClr val="accent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E</a:t>
            </a:r>
            <a:r>
              <a:rPr dirty="0"/>
              <a:t>dit Master subtitle style</a:t>
            </a:r>
          </a:p>
        </p:txBody>
      </p:sp>
      <p:cxnSp>
        <p:nvCxnSpPr>
          <p:cNvPr id="6" name="Straight Connector 5"/>
          <p:cNvCxnSpPr/>
          <p:nvPr/>
        </p:nvCxnSpPr>
        <p:spPr>
          <a:xfrm>
            <a:off x="1658936" y="4782971"/>
            <a:ext cx="56546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grpSp>
        <p:nvGrpSpPr>
          <p:cNvPr id="5" name="Group 4"/>
          <p:cNvGrpSpPr/>
          <p:nvPr userDrawn="1"/>
        </p:nvGrpSpPr>
        <p:grpSpPr>
          <a:xfrm>
            <a:off x="7923213" y="0"/>
            <a:ext cx="4265612" cy="6858000"/>
            <a:chOff x="7923213" y="0"/>
            <a:chExt cx="4265612" cy="685800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923213" y="0"/>
              <a:ext cx="4265612" cy="6858000"/>
            </a:xfrm>
            <a:prstGeom prst="rect">
              <a:avLst/>
            </a:prstGeom>
          </p:spPr>
        </p:pic>
        <p:sp>
          <p:nvSpPr>
            <p:cNvPr id="13" name="Rectangle 12"/>
            <p:cNvSpPr/>
            <p:nvPr/>
          </p:nvSpPr>
          <p:spPr>
            <a:xfrm>
              <a:off x="7923213" y="0"/>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3F41C87-7AD9-4845-A077-840E4A0F3F06}" type="datetimeFigureOut">
              <a:rPr lang="en-US"/>
              <a:t>5/24/2026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0" y="2237096"/>
            <a:ext cx="8229601" cy="2411103"/>
          </a:xfrm>
        </p:spPr>
        <p:txBody>
          <a:bodyPr anchor="b">
            <a:normAutofit/>
          </a:bodyPr>
          <a:lstStyle>
            <a:lvl1pPr algn="l">
              <a:lnSpc>
                <a:spcPct val="80000"/>
              </a:lnSpc>
              <a:defRPr sz="48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2" y="4876800"/>
            <a:ext cx="8229601" cy="1292225"/>
          </a:xfrm>
        </p:spPr>
        <p:txBody>
          <a:bodyPr anchor="t">
            <a:normAutofit/>
          </a:bodyPr>
          <a:lstStyle>
            <a:lvl1pPr marL="0" indent="0">
              <a:spcBef>
                <a:spcPts val="0"/>
              </a:spcBef>
              <a:buNone/>
              <a:defRPr sz="2800" cap="none" baseline="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grpSp>
        <p:nvGrpSpPr>
          <p:cNvPr id="7" name="Group 6"/>
          <p:cNvGrpSpPr/>
          <p:nvPr userDrawn="1"/>
        </p:nvGrpSpPr>
        <p:grpSpPr>
          <a:xfrm>
            <a:off x="11123611" y="0"/>
            <a:ext cx="1065214" cy="6868886"/>
            <a:chOff x="11123611" y="0"/>
            <a:chExt cx="1065214" cy="6868886"/>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1123611" y="0"/>
              <a:ext cx="1065213" cy="6858000"/>
            </a:xfrm>
            <a:prstGeom prst="rect">
              <a:avLst/>
            </a:prstGeom>
          </p:spPr>
        </p:pic>
        <p:sp>
          <p:nvSpPr>
            <p:cNvPr id="12" name="Rectangle 11"/>
            <p:cNvSpPr/>
            <p:nvPr/>
          </p:nvSpPr>
          <p:spPr>
            <a:xfrm>
              <a:off x="11123612" y="10886"/>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3F41C87-7AD9-4845-A077-840E4A0F3F06}" type="datetimeFigureOut">
              <a:rPr lang="en-US"/>
              <a:t>5/24/2026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9" name="Straight Connector 8"/>
          <p:cNvCxnSpPr/>
          <p:nvPr/>
        </p:nvCxnSpPr>
        <p:spPr>
          <a:xfrm>
            <a:off x="1658936" y="4782971"/>
            <a:ext cx="80168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sz="half" idx="1"/>
          </p:nvPr>
        </p:nvSpPr>
        <p:spPr>
          <a:xfrm>
            <a:off x="1488168" y="1984248"/>
            <a:ext cx="4800600"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551612" y="1984248"/>
            <a:ext cx="4800601"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03F41C87-7AD9-4845-A077-840E4A0F3F06}" type="datetimeFigureOut">
              <a:rPr lang="en-US"/>
              <a:t>5/24/2026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dirty="0"/>
          </a:p>
        </p:txBody>
      </p:sp>
      <p:sp>
        <p:nvSpPr>
          <p:cNvPr id="3" name="Text Placeholder 2"/>
          <p:cNvSpPr>
            <a:spLocks noGrp="1"/>
          </p:cNvSpPr>
          <p:nvPr>
            <p:ph type="body" idx="1"/>
          </p:nvPr>
        </p:nvSpPr>
        <p:spPr>
          <a:xfrm>
            <a:off x="15224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65516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16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03F41C87-7AD9-4845-A077-840E4A0F3F06}" type="datetimeFigureOut">
              <a:rPr lang="en-US"/>
              <a:t>5/24/2026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cxnSp>
        <p:nvCxnSpPr>
          <p:cNvPr id="10" name="Straight Connector 9"/>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dirty="0"/>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03F41C87-7AD9-4845-A077-840E4A0F3F06}" type="datetimeFigureOut">
              <a:rPr lang="en-US"/>
              <a:t>5/24/2026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cxnSp>
        <p:nvCxnSpPr>
          <p:cNvPr id="6" name="Straight Connector 5"/>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03F41C87-7AD9-4845-A077-840E4A0F3F06}" type="datetimeFigureOut">
              <a:rPr lang="en-US"/>
              <a:t>5/24/2026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7"/>
          </a:xfrm>
        </p:spPr>
        <p:txBody>
          <a:bodyPr anchor="b">
            <a:noAutofit/>
          </a:bodyPr>
          <a:lstStyle>
            <a:lvl1pPr algn="l">
              <a:lnSpc>
                <a:spcPct val="80000"/>
              </a:lnSpc>
              <a:defRPr sz="4000" b="0">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a:xfrm>
            <a:off x="6094414" y="685800"/>
            <a:ext cx="5257799"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spcBef>
                <a:spcPts val="18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03F41C87-7AD9-4845-A077-840E4A0F3F06}" type="datetimeFigureOut">
              <a:rPr lang="en-US"/>
              <a:t>5/24/2026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8"/>
          </a:xfrm>
        </p:spPr>
        <p:txBody>
          <a:bodyPr anchor="b">
            <a:normAutofit/>
          </a:bodyPr>
          <a:lstStyle>
            <a:lvl1pPr algn="l">
              <a:lnSpc>
                <a:spcPct val="80000"/>
              </a:lnSpc>
              <a:defRPr sz="4000" b="0" i="0" baseline="0">
                <a:solidFill>
                  <a:schemeClr val="accent1">
                    <a:lumMod val="50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6025925" y="-50118"/>
            <a:ext cx="6172198" cy="6857999"/>
          </a:xfrm>
          <a:solidFill>
            <a:schemeClr val="bg2"/>
          </a:solidFill>
          <a:effectLst>
            <a:outerShdw blurRad="152400" dist="50800" dir="10800000" algn="r" rotWithShape="0">
              <a:prstClr val="black">
                <a:alpha val="25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0" name="Straight Connector 9"/>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3F41C87-7AD9-4845-A077-840E4A0F3F06}" type="datetimeFigureOut">
              <a:rPr lang="en-US"/>
              <a:t>5/24/2026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23412" y="646112"/>
            <a:ext cx="1828801" cy="5522913"/>
          </a:xfrm>
        </p:spPr>
        <p:txBody>
          <a:bodyPr vert="eaVert"/>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2" y="646112"/>
            <a:ext cx="7620000" cy="5522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03F41C87-7AD9-4845-A077-840E4A0F3F06}" type="datetimeFigureOut">
              <a:rPr lang="en-US"/>
              <a:t>5/24/2026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9371012" y="762000"/>
            <a:ext cx="0" cy="533400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p:spPr>
        <p:txBody>
          <a:bodyPr/>
          <a:lstStyle/>
          <a:p>
            <a:r>
              <a:rPr lang="en-US"/>
              <a:t>Click to edit Master title style</a:t>
            </a:r>
          </a:p>
        </p:txBody>
      </p:sp>
      <p:sp>
        <p:nvSpPr>
          <p:cNvPr id="3" name="Subtitle 2"/>
          <p:cNvSpPr>
            <a:spLocks noGrp="1"/>
          </p:cNvSpPr>
          <p:nvPr>
            <p:ph type="subTitle" idx="1"/>
          </p:nvPr>
        </p:nvSpPr>
        <p:spPr>
          <a:xfrm>
            <a:off x="1828324" y="3886200"/>
            <a:ext cx="8532178"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DCE2F66E-3269-4086-BEB7-14C428FD6092}" type="slidenum">
              <a:rPr lang="en-US"/>
              <a:pPr>
                <a:defRPr/>
              </a:pPr>
              <a:t>‹#›</a:t>
            </a:fld>
            <a:endParaRPr lang="en-US"/>
          </a:p>
        </p:txBody>
      </p:sp>
    </p:spTree>
    <p:extLst>
      <p:ext uri="{BB962C8B-B14F-4D97-AF65-F5344CB8AC3E}">
        <p14:creationId xmlns:p14="http://schemas.microsoft.com/office/powerpoint/2010/main" val="338228852"/>
      </p:ext>
    </p:extLst>
  </p:cSld>
  <p:clrMapOvr>
    <a:masterClrMapping/>
  </p:clrMapOvr>
  <p:transition spd="slow">
    <p:strips dir="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ABF536B6-50C5-4221-B571-F36BC81D40C3}" type="slidenum">
              <a:rPr lang="en-US"/>
              <a:pPr>
                <a:defRPr/>
              </a:pPr>
              <a:t>‹#›</a:t>
            </a:fld>
            <a:endParaRPr lang="en-US"/>
          </a:p>
        </p:txBody>
      </p:sp>
    </p:spTree>
    <p:extLst>
      <p:ext uri="{BB962C8B-B14F-4D97-AF65-F5344CB8AC3E}">
        <p14:creationId xmlns:p14="http://schemas.microsoft.com/office/powerpoint/2010/main" val="1505988165"/>
      </p:ext>
    </p:extLst>
  </p:cSld>
  <p:clrMapOvr>
    <a:masterClrMapping/>
  </p:clrMapOvr>
  <p:transition spd="slow">
    <p:strips dir="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9C943CCB-EC1D-43DF-B7A7-8D7EDB9BC85A}" type="slidenum">
              <a:rPr lang="en-US"/>
              <a:pPr>
                <a:defRPr/>
              </a:pPr>
              <a:t>‹#›</a:t>
            </a:fld>
            <a:endParaRPr lang="en-US"/>
          </a:p>
        </p:txBody>
      </p:sp>
    </p:spTree>
    <p:extLst>
      <p:ext uri="{BB962C8B-B14F-4D97-AF65-F5344CB8AC3E}">
        <p14:creationId xmlns:p14="http://schemas.microsoft.com/office/powerpoint/2010/main" val="1612924304"/>
      </p:ext>
    </p:extLst>
  </p:cSld>
  <p:clrMapOvr>
    <a:masterClrMapping/>
  </p:clrMapOvr>
  <p:transition spd="slow">
    <p:strips dir="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162" y="1981200"/>
            <a:ext cx="507867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981200"/>
            <a:ext cx="5078677"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6DD51D42-511E-4C3C-BC68-C835BC8B7643}" type="slidenum">
              <a:rPr lang="en-US"/>
              <a:pPr>
                <a:defRPr/>
              </a:pPr>
              <a:t>‹#›</a:t>
            </a:fld>
            <a:endParaRPr lang="en-US"/>
          </a:p>
        </p:txBody>
      </p:sp>
    </p:spTree>
    <p:extLst>
      <p:ext uri="{BB962C8B-B14F-4D97-AF65-F5344CB8AC3E}">
        <p14:creationId xmlns:p14="http://schemas.microsoft.com/office/powerpoint/2010/main" val="2734593998"/>
      </p:ext>
    </p:extLst>
  </p:cSld>
  <p:clrMapOvr>
    <a:masterClrMapping/>
  </p:clrMapOvr>
  <p:transition spd="slow">
    <p:strips dir="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441" y="274638"/>
            <a:ext cx="10969943"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4" y="1535113"/>
            <a:ext cx="53876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174875"/>
            <a:ext cx="53876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pPr>
              <a:defRPr/>
            </a:pPr>
            <a:fld id="{CA9DAFE5-57B9-44A4-8C63-BDDE5B4F516D}" type="slidenum">
              <a:rPr lang="en-US"/>
              <a:pPr>
                <a:defRPr/>
              </a:pPr>
              <a:t>‹#›</a:t>
            </a:fld>
            <a:endParaRPr lang="en-US"/>
          </a:p>
        </p:txBody>
      </p:sp>
    </p:spTree>
    <p:extLst>
      <p:ext uri="{BB962C8B-B14F-4D97-AF65-F5344CB8AC3E}">
        <p14:creationId xmlns:p14="http://schemas.microsoft.com/office/powerpoint/2010/main" val="540505005"/>
      </p:ext>
    </p:extLst>
  </p:cSld>
  <p:clrMapOvr>
    <a:masterClrMapping/>
  </p:clrMapOvr>
  <p:transition spd="slow">
    <p:strips dir="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pPr>
              <a:defRPr/>
            </a:pPr>
            <a:fld id="{7B0F7AC0-7107-447F-B656-796F3588DFA4}" type="slidenum">
              <a:rPr lang="en-US"/>
              <a:pPr>
                <a:defRPr/>
              </a:pPr>
              <a:t>‹#›</a:t>
            </a:fld>
            <a:endParaRPr lang="en-US"/>
          </a:p>
        </p:txBody>
      </p:sp>
    </p:spTree>
    <p:extLst>
      <p:ext uri="{BB962C8B-B14F-4D97-AF65-F5344CB8AC3E}">
        <p14:creationId xmlns:p14="http://schemas.microsoft.com/office/powerpoint/2010/main" val="3905092187"/>
      </p:ext>
    </p:extLst>
  </p:cSld>
  <p:clrMapOvr>
    <a:masterClrMapping/>
  </p:clrMapOvr>
  <p:transition spd="slow">
    <p:strips dir="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pPr>
              <a:defRPr/>
            </a:pPr>
            <a:fld id="{A5F9322C-AE1B-493B-958A-FCD5CC843E58}" type="slidenum">
              <a:rPr lang="en-US"/>
              <a:pPr>
                <a:defRPr/>
              </a:pPr>
              <a:t>‹#›</a:t>
            </a:fld>
            <a:endParaRPr lang="en-US"/>
          </a:p>
        </p:txBody>
      </p:sp>
    </p:spTree>
    <p:extLst>
      <p:ext uri="{BB962C8B-B14F-4D97-AF65-F5344CB8AC3E}">
        <p14:creationId xmlns:p14="http://schemas.microsoft.com/office/powerpoint/2010/main" val="3550064554"/>
      </p:ext>
    </p:extLst>
  </p:cSld>
  <p:clrMapOvr>
    <a:masterClrMapping/>
  </p:clrMapOvr>
  <p:transition spd="slow">
    <p:strips dir="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2" y="273050"/>
            <a:ext cx="401003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5492" y="273051"/>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2" y="1435101"/>
            <a:ext cx="401003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0B12EAB4-AF61-490C-819D-D8482E679FEB}" type="slidenum">
              <a:rPr lang="en-US"/>
              <a:pPr>
                <a:defRPr/>
              </a:pPr>
              <a:t>‹#›</a:t>
            </a:fld>
            <a:endParaRPr lang="en-US"/>
          </a:p>
        </p:txBody>
      </p:sp>
    </p:spTree>
    <p:extLst>
      <p:ext uri="{BB962C8B-B14F-4D97-AF65-F5344CB8AC3E}">
        <p14:creationId xmlns:p14="http://schemas.microsoft.com/office/powerpoint/2010/main" val="2487507351"/>
      </p:ext>
    </p:extLst>
  </p:cSld>
  <p:clrMapOvr>
    <a:masterClrMapping/>
  </p:clrMapOvr>
  <p:transition spd="slow">
    <p:strips dir="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095"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pPr>
              <a:defRPr/>
            </a:pPr>
            <a:fld id="{DB1E4C11-9596-4A5A-BE7A-00DD1EFCA344}" type="slidenum">
              <a:rPr lang="en-US"/>
              <a:pPr>
                <a:defRPr/>
              </a:pPr>
              <a:t>‹#›</a:t>
            </a:fld>
            <a:endParaRPr lang="en-US"/>
          </a:p>
        </p:txBody>
      </p:sp>
    </p:spTree>
    <p:extLst>
      <p:ext uri="{BB962C8B-B14F-4D97-AF65-F5344CB8AC3E}">
        <p14:creationId xmlns:p14="http://schemas.microsoft.com/office/powerpoint/2010/main" val="3954611394"/>
      </p:ext>
    </p:extLst>
  </p:cSld>
  <p:clrMapOvr>
    <a:masterClrMapping/>
  </p:clrMapOvr>
  <p:transition spd="slow">
    <p:strips dir="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83E19464-D9B7-4E34-96C1-9D0773014CB8}" type="slidenum">
              <a:rPr lang="en-US"/>
              <a:pPr>
                <a:defRPr/>
              </a:pPr>
              <a:t>‹#›</a:t>
            </a:fld>
            <a:endParaRPr lang="en-US"/>
          </a:p>
        </p:txBody>
      </p:sp>
    </p:spTree>
    <p:extLst>
      <p:ext uri="{BB962C8B-B14F-4D97-AF65-F5344CB8AC3E}">
        <p14:creationId xmlns:p14="http://schemas.microsoft.com/office/powerpoint/2010/main" val="695295649"/>
      </p:ext>
    </p:extLst>
  </p:cSld>
  <p:clrMapOvr>
    <a:masterClrMapping/>
  </p:clrMapOvr>
  <p:transition spd="slow">
    <p:strips dir="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4538" y="609600"/>
            <a:ext cx="2590125"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162" y="609600"/>
            <a:ext cx="7567229"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368A83AC-D69E-4495-A2F1-035A65E7F740}" type="slidenum">
              <a:rPr lang="en-US"/>
              <a:pPr>
                <a:defRPr/>
              </a:pPr>
              <a:t>‹#›</a:t>
            </a:fld>
            <a:endParaRPr lang="en-US"/>
          </a:p>
        </p:txBody>
      </p:sp>
    </p:spTree>
    <p:extLst>
      <p:ext uri="{BB962C8B-B14F-4D97-AF65-F5344CB8AC3E}">
        <p14:creationId xmlns:p14="http://schemas.microsoft.com/office/powerpoint/2010/main" val="3892269662"/>
      </p:ext>
    </p:extLst>
  </p:cSld>
  <p:clrMapOvr>
    <a:masterClrMapping/>
  </p:clrMapOvr>
  <p:transition spd="slow">
    <p:strips dir="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15736" y="762000"/>
            <a:ext cx="10563648" cy="1143000"/>
          </a:xfrm>
        </p:spPr>
        <p:txBody>
          <a:bodyPr/>
          <a:lstStyle/>
          <a:p>
            <a:r>
              <a:rPr lang="en-US"/>
              <a:t>Click to edit Master title style</a:t>
            </a:r>
          </a:p>
        </p:txBody>
      </p:sp>
      <p:sp>
        <p:nvSpPr>
          <p:cNvPr id="3" name="Text Placeholder 2"/>
          <p:cNvSpPr>
            <a:spLocks noGrp="1"/>
          </p:cNvSpPr>
          <p:nvPr>
            <p:ph type="body" sz="half" idx="1"/>
          </p:nvPr>
        </p:nvSpPr>
        <p:spPr>
          <a:xfrm>
            <a:off x="1117310" y="2362201"/>
            <a:ext cx="5025775"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46231" y="2362201"/>
            <a:ext cx="5025774"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3250354" y="6248401"/>
            <a:ext cx="2839827" cy="474663"/>
          </a:xfrm>
        </p:spPr>
        <p:txBody>
          <a:bodyPr/>
          <a:lstStyle>
            <a:lvl1pPr>
              <a:defRPr/>
            </a:lvl1pPr>
          </a:lstStyle>
          <a:p>
            <a:pPr>
              <a:defRPr/>
            </a:pPr>
            <a:endParaRPr lang="en-US"/>
          </a:p>
        </p:txBody>
      </p:sp>
      <p:sp>
        <p:nvSpPr>
          <p:cNvPr id="6" name="Footer Placeholder 5"/>
          <p:cNvSpPr>
            <a:spLocks noGrp="1"/>
          </p:cNvSpPr>
          <p:nvPr>
            <p:ph type="ftr" sz="quarter" idx="11"/>
          </p:nvPr>
        </p:nvSpPr>
        <p:spPr>
          <a:xfrm>
            <a:off x="7719589" y="6248401"/>
            <a:ext cx="3861911" cy="474663"/>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112155" y="6242050"/>
            <a:ext cx="782963" cy="488950"/>
          </a:xfrm>
        </p:spPr>
        <p:txBody>
          <a:bodyPr/>
          <a:lstStyle>
            <a:lvl1pPr>
              <a:defRPr/>
            </a:lvl1pPr>
          </a:lstStyle>
          <a:p>
            <a:pPr>
              <a:defRPr/>
            </a:pPr>
            <a:fld id="{FFD0CEA0-750D-4D48-A329-E25E24EBCEC2}" type="slidenum">
              <a:rPr lang="en-US"/>
              <a:pPr>
                <a:defRPr/>
              </a:pPr>
              <a:t>‹#›</a:t>
            </a:fld>
            <a:endParaRPr lang="en-US"/>
          </a:p>
        </p:txBody>
      </p:sp>
    </p:spTree>
    <p:extLst>
      <p:ext uri="{BB962C8B-B14F-4D97-AF65-F5344CB8AC3E}">
        <p14:creationId xmlns:p14="http://schemas.microsoft.com/office/powerpoint/2010/main" val="1904033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829799" cy="12192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81200"/>
            <a:ext cx="9829799" cy="41878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0"/>
            <a:ext cx="5954834" cy="276228"/>
          </a:xfrm>
          <a:prstGeom prst="rect">
            <a:avLst/>
          </a:prstGeom>
        </p:spPr>
        <p:txBody>
          <a:bodyPr vert="horz" lIns="91440" tIns="45720" rIns="91440" bIns="45720" rtlCol="0" anchor="ctr"/>
          <a:lstStyle>
            <a:lvl1pPr algn="l">
              <a:defRPr sz="110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228011" y="6400800"/>
            <a:ext cx="1548659" cy="276228"/>
          </a:xfrm>
          <a:prstGeom prst="rect">
            <a:avLst/>
          </a:prstGeom>
        </p:spPr>
        <p:txBody>
          <a:bodyPr vert="horz" lIns="91440" tIns="45720" rIns="91440" bIns="45720" rtlCol="0" anchor="ctr"/>
          <a:lstStyle>
            <a:lvl1pPr algn="r">
              <a:defRPr sz="1100">
                <a:solidFill>
                  <a:schemeClr val="tx1"/>
                </a:solidFill>
              </a:defRPr>
            </a:lvl1pPr>
          </a:lstStyle>
          <a:p>
            <a:fld id="{03F41C87-7AD9-4845-A077-840E4A0F3F06}" type="datetimeFigureOut">
              <a:rPr lang="en-US" smtClean="0"/>
              <a:pPr/>
              <a:t>5/24/2026</a:t>
            </a:fld>
            <a:endParaRPr lang="en-US"/>
          </a:p>
        </p:txBody>
      </p:sp>
      <p:sp>
        <p:nvSpPr>
          <p:cNvPr id="6" name="Slide Number Placeholder 5"/>
          <p:cNvSpPr>
            <a:spLocks noGrp="1"/>
          </p:cNvSpPr>
          <p:nvPr>
            <p:ph type="sldNum" sz="quarter" idx="4"/>
          </p:nvPr>
        </p:nvSpPr>
        <p:spPr>
          <a:xfrm>
            <a:off x="10285411" y="6400800"/>
            <a:ext cx="1066802" cy="276228"/>
          </a:xfrm>
          <a:prstGeom prst="rect">
            <a:avLst/>
          </a:prstGeom>
        </p:spPr>
        <p:txBody>
          <a:bodyPr vert="horz" lIns="91440" tIns="45720" rIns="91440" bIns="45720" rtlCol="0" anchor="ctr"/>
          <a:lstStyle>
            <a:lvl1pPr algn="r">
              <a:defRPr sz="1100">
                <a:solidFill>
                  <a:schemeClr val="tx1"/>
                </a:solidFill>
              </a:defRPr>
            </a:lvl1pPr>
          </a:lstStyle>
          <a:p>
            <a:fld id="{2A013F82-EE5E-44EE-A61D-E31C6657F26F}" type="slidenum">
              <a:rPr lang="en-US" smtClean="0"/>
              <a:pPr/>
              <a:t>‹#›</a:t>
            </a:fld>
            <a:endParaRPr lang="en-US"/>
          </a:p>
        </p:txBody>
      </p:sp>
      <p:pic>
        <p:nvPicPr>
          <p:cNvPr id="9" name="Picture 8"/>
          <p:cNvPicPr>
            <a:picLocks noChangeAspect="1"/>
          </p:cNvPicPr>
          <p:nvPr/>
        </p:nvPicPr>
        <p:blipFill rotWithShape="1">
          <a:blip r:embed="rId13" cstate="print">
            <a:extLst>
              <a:ext uri="{28A0092B-C50C-407E-A947-70E740481C1C}">
                <a14:useLocalDpi xmlns:a14="http://schemas.microsoft.com/office/drawing/2010/main" val="0"/>
              </a:ext>
            </a:extLst>
          </a:blip>
          <a:srcRect/>
          <a:stretch/>
        </p:blipFill>
        <p:spPr>
          <a:xfrm>
            <a:off x="1" y="0"/>
            <a:ext cx="1065213" cy="6858000"/>
          </a:xfrm>
          <a:prstGeom prst="rect">
            <a:avLst/>
          </a:prstGeom>
        </p:spPr>
      </p:pic>
      <p:sp>
        <p:nvSpPr>
          <p:cNvPr id="10" name="Rectangle 9"/>
          <p:cNvSpPr/>
          <p:nvPr/>
        </p:nvSpPr>
        <p:spPr>
          <a:xfrm>
            <a:off x="1" y="0"/>
            <a:ext cx="1065213" cy="6858000"/>
          </a:xfrm>
          <a:prstGeom prst="rect">
            <a:avLst/>
          </a:prstGeom>
          <a:gradFill flip="none" rotWithShape="1">
            <a:gsLst>
              <a:gs pos="75000">
                <a:schemeClr val="tx2">
                  <a:alpha val="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03059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bwMode="auto">
          <a:xfrm>
            <a:off x="914162" y="609600"/>
            <a:ext cx="1036050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4" rIns="91429" bIns="45714" numCol="1" anchor="ctr" anchorCtr="0" compatLnSpc="1">
            <a:prstTxWarp prst="textNoShape">
              <a:avLst/>
            </a:prstTxWarp>
          </a:bodyPr>
          <a:lstStyle/>
          <a:p>
            <a:pPr lvl="0"/>
            <a:r>
              <a:rPr lang="en-US"/>
              <a:t>Click to edit Master title style</a:t>
            </a:r>
          </a:p>
        </p:txBody>
      </p:sp>
      <p:sp>
        <p:nvSpPr>
          <p:cNvPr id="10243" name="Rectangle 3"/>
          <p:cNvSpPr>
            <a:spLocks noGrp="1" noChangeArrowheads="1"/>
          </p:cNvSpPr>
          <p:nvPr>
            <p:ph type="body" idx="1"/>
          </p:nvPr>
        </p:nvSpPr>
        <p:spPr bwMode="auto">
          <a:xfrm>
            <a:off x="914162" y="1981200"/>
            <a:ext cx="10360501"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9" tIns="45714" rIns="91429" bIns="45714"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914162" y="6248400"/>
            <a:ext cx="2539339" cy="457200"/>
          </a:xfrm>
          <a:prstGeom prst="rect">
            <a:avLst/>
          </a:prstGeom>
          <a:noFill/>
          <a:ln w="9525">
            <a:noFill/>
            <a:miter lim="800000"/>
            <a:headEnd/>
            <a:tailEnd/>
          </a:ln>
          <a:effectLst/>
        </p:spPr>
        <p:txBody>
          <a:bodyPr vert="horz" wrap="square" lIns="91429" tIns="45714" rIns="91429" bIns="45714" numCol="1" anchor="t" anchorCtr="0" compatLnSpc="1">
            <a:prstTxWarp prst="textNoShape">
              <a:avLst/>
            </a:prstTxWarp>
          </a:bodyPr>
          <a:lstStyle>
            <a:lvl1pPr>
              <a:spcBef>
                <a:spcPct val="0"/>
              </a:spcBef>
              <a:buFontTx/>
              <a:buNone/>
              <a:defRPr sz="1400"/>
            </a:lvl1pPr>
          </a:lstStyle>
          <a:p>
            <a:pPr>
              <a:defRPr/>
            </a:pPr>
            <a:endParaRPr lang="en-US"/>
          </a:p>
        </p:txBody>
      </p:sp>
      <p:sp>
        <p:nvSpPr>
          <p:cNvPr id="1029" name="Rectangle 5"/>
          <p:cNvSpPr>
            <a:spLocks noGrp="1" noChangeArrowheads="1"/>
          </p:cNvSpPr>
          <p:nvPr>
            <p:ph type="ftr" sz="quarter" idx="3"/>
          </p:nvPr>
        </p:nvSpPr>
        <p:spPr bwMode="auto">
          <a:xfrm>
            <a:off x="4164515" y="6248400"/>
            <a:ext cx="3859795" cy="457200"/>
          </a:xfrm>
          <a:prstGeom prst="rect">
            <a:avLst/>
          </a:prstGeom>
          <a:noFill/>
          <a:ln w="9525">
            <a:noFill/>
            <a:miter lim="800000"/>
            <a:headEnd/>
            <a:tailEnd/>
          </a:ln>
          <a:effectLst/>
        </p:spPr>
        <p:txBody>
          <a:bodyPr vert="horz" wrap="square" lIns="91429" tIns="45714" rIns="91429" bIns="45714" numCol="1" anchor="t" anchorCtr="0" compatLnSpc="1">
            <a:prstTxWarp prst="textNoShape">
              <a:avLst/>
            </a:prstTxWarp>
          </a:bodyPr>
          <a:lstStyle>
            <a:lvl1pPr algn="ctr">
              <a:spcBef>
                <a:spcPct val="0"/>
              </a:spcBef>
              <a:buFontTx/>
              <a:buNone/>
              <a:defRPr sz="1400"/>
            </a:lvl1pPr>
          </a:lstStyle>
          <a:p>
            <a:pPr>
              <a:defRPr/>
            </a:pPr>
            <a:endParaRPr lang="en-US"/>
          </a:p>
        </p:txBody>
      </p:sp>
      <p:sp>
        <p:nvSpPr>
          <p:cNvPr id="1030" name="Rectangle 6"/>
          <p:cNvSpPr>
            <a:spLocks noGrp="1" noChangeArrowheads="1"/>
          </p:cNvSpPr>
          <p:nvPr>
            <p:ph type="sldNum" sz="quarter" idx="4"/>
          </p:nvPr>
        </p:nvSpPr>
        <p:spPr bwMode="auto">
          <a:xfrm>
            <a:off x="8735324" y="6248400"/>
            <a:ext cx="2539339" cy="457200"/>
          </a:xfrm>
          <a:prstGeom prst="rect">
            <a:avLst/>
          </a:prstGeom>
          <a:noFill/>
          <a:ln w="9525">
            <a:noFill/>
            <a:miter lim="800000"/>
            <a:headEnd/>
            <a:tailEnd/>
          </a:ln>
          <a:effectLst/>
        </p:spPr>
        <p:txBody>
          <a:bodyPr vert="horz" wrap="square" lIns="91429" tIns="45714" rIns="91429" bIns="45714" numCol="1" anchor="t" anchorCtr="0" compatLnSpc="1">
            <a:prstTxWarp prst="textNoShape">
              <a:avLst/>
            </a:prstTxWarp>
          </a:bodyPr>
          <a:lstStyle>
            <a:lvl1pPr algn="r">
              <a:spcBef>
                <a:spcPct val="0"/>
              </a:spcBef>
              <a:buFontTx/>
              <a:buNone/>
              <a:defRPr sz="1400"/>
            </a:lvl1pPr>
          </a:lstStyle>
          <a:p>
            <a:pPr>
              <a:defRPr/>
            </a:pPr>
            <a:fld id="{F620BED6-00FA-4AF5-87EA-A3576F9508B2}" type="slidenum">
              <a:rPr lang="en-US"/>
              <a:pPr>
                <a:defRPr/>
              </a:pPr>
              <a:t>‹#›</a:t>
            </a:fld>
            <a:endParaRPr lang="en-US"/>
          </a:p>
        </p:txBody>
      </p:sp>
    </p:spTree>
    <p:extLst>
      <p:ext uri="{BB962C8B-B14F-4D97-AF65-F5344CB8AC3E}">
        <p14:creationId xmlns:p14="http://schemas.microsoft.com/office/powerpoint/2010/main" val="41228102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spd="slow">
    <p:strips dir="ru"/>
  </p:transition>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eaLnBrk="0" fontAlgn="base" hangingPunct="0">
        <a:spcBef>
          <a:spcPct val="0"/>
        </a:spcBef>
        <a:spcAft>
          <a:spcPct val="0"/>
        </a:spcAft>
        <a:defRPr sz="4400">
          <a:solidFill>
            <a:schemeClr val="tx2"/>
          </a:solidFill>
          <a:latin typeface="Arial" charset="0"/>
        </a:defRPr>
      </a:lvl6pPr>
      <a:lvl7pPr marL="914400" algn="ctr" rtl="0" eaLnBrk="0" fontAlgn="base" hangingPunct="0">
        <a:spcBef>
          <a:spcPct val="0"/>
        </a:spcBef>
        <a:spcAft>
          <a:spcPct val="0"/>
        </a:spcAft>
        <a:defRPr sz="4400">
          <a:solidFill>
            <a:schemeClr val="tx2"/>
          </a:solidFill>
          <a:latin typeface="Arial" charset="0"/>
        </a:defRPr>
      </a:lvl7pPr>
      <a:lvl8pPr marL="1371600" algn="ctr" rtl="0" eaLnBrk="0" fontAlgn="base" hangingPunct="0">
        <a:spcBef>
          <a:spcPct val="0"/>
        </a:spcBef>
        <a:spcAft>
          <a:spcPct val="0"/>
        </a:spcAft>
        <a:defRPr sz="4400">
          <a:solidFill>
            <a:schemeClr val="tx2"/>
          </a:solidFill>
          <a:latin typeface="Arial" charset="0"/>
        </a:defRPr>
      </a:lvl8pPr>
      <a:lvl9pPr marL="1828800" algn="ctr" rtl="0" eaLnBrk="0" fontAlgn="base" hangingPunct="0">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hyperlink" Target="http://realfrance.wordpress.com/life-la-vie/understanding-the-currency" TargetMode="External"/><Relationship Id="rId5" Type="http://schemas.openxmlformats.org/officeDocument/2006/relationships/image" Target="../media/image12.jpg"/><Relationship Id="rId4" Type="http://schemas.openxmlformats.org/officeDocument/2006/relationships/hyperlink" Target="https://pensieroerealta.blogspot.com/2018/09/federazione-e-confederazione.html" TargetMode="Externa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sz="3200" dirty="0">
                <a:latin typeface="National semibold" panose="02000503000000020004"/>
              </a:rPr>
              <a:t>Exchange rate and trade balance</a:t>
            </a:r>
          </a:p>
        </p:txBody>
      </p:sp>
      <p:sp>
        <p:nvSpPr>
          <p:cNvPr id="6" name="Title 1">
            <a:extLst>
              <a:ext uri="{FF2B5EF4-FFF2-40B4-BE49-F238E27FC236}">
                <a16:creationId xmlns:a16="http://schemas.microsoft.com/office/drawing/2014/main" id="{541A3BDC-D62A-BEE0-616D-05591ECC23D4}"/>
              </a:ext>
            </a:extLst>
          </p:cNvPr>
          <p:cNvSpPr>
            <a:spLocks noGrp="1"/>
          </p:cNvSpPr>
          <p:nvPr>
            <p:ph type="ctrTitle"/>
          </p:nvPr>
        </p:nvSpPr>
        <p:spPr>
          <a:xfrm>
            <a:off x="1520823" y="1600200"/>
            <a:ext cx="6290765" cy="3048000"/>
          </a:xfrm>
        </p:spPr>
        <p:txBody>
          <a:bodyPr/>
          <a:lstStyle/>
          <a:p>
            <a:r>
              <a:rPr lang="en-US" sz="5400" b="1" dirty="0">
                <a:latin typeface="National semibold" panose="02000503000000020004"/>
              </a:rPr>
              <a:t>Introduction to </a:t>
            </a:r>
            <a:br>
              <a:rPr lang="en-US" sz="5400" b="1" dirty="0">
                <a:latin typeface="National semibold" panose="02000503000000020004"/>
              </a:rPr>
            </a:br>
            <a:r>
              <a:rPr lang="en-US" sz="5400" b="1" dirty="0">
                <a:latin typeface="National semibold" panose="02000503000000020004"/>
              </a:rPr>
              <a:t>Decentralized Finance </a:t>
            </a:r>
            <a:br>
              <a:rPr lang="en-US" sz="5400" b="1" dirty="0">
                <a:latin typeface="National semibold" panose="02000503000000020004"/>
              </a:rPr>
            </a:br>
            <a:endParaRPr lang="en-US" sz="4800" dirty="0"/>
          </a:p>
        </p:txBody>
      </p:sp>
    </p:spTree>
    <p:extLst>
      <p:ext uri="{BB962C8B-B14F-4D97-AF65-F5344CB8AC3E}">
        <p14:creationId xmlns:p14="http://schemas.microsoft.com/office/powerpoint/2010/main" val="935251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9" name="Title 12">
            <a:extLst>
              <a:ext uri="{FF2B5EF4-FFF2-40B4-BE49-F238E27FC236}">
                <a16:creationId xmlns:a16="http://schemas.microsoft.com/office/drawing/2014/main" id="{745B273C-6FED-4863-9CB5-D93C31F4B423}"/>
              </a:ext>
            </a:extLst>
          </p:cNvPr>
          <p:cNvSpPr>
            <a:spLocks noGrp="1"/>
          </p:cNvSpPr>
          <p:nvPr>
            <p:ph type="title"/>
          </p:nvPr>
        </p:nvSpPr>
        <p:spPr>
          <a:xfrm>
            <a:off x="1522413" y="381000"/>
            <a:ext cx="9829799" cy="1219200"/>
          </a:xfrm>
        </p:spPr>
        <p:txBody>
          <a:bodyPr anchor="ctr">
            <a:normAutofit/>
          </a:bodyPr>
          <a:lstStyle/>
          <a:p>
            <a:r>
              <a:rPr lang="en-US" sz="4000" b="1" dirty="0">
                <a:latin typeface="National semibold" panose="02000503000000020004"/>
              </a:rPr>
              <a:t>Real exchange rate and net exports</a:t>
            </a:r>
            <a:endParaRPr lang="en-US" sz="4000" i="1" dirty="0">
              <a:latin typeface="National semibold" panose="02000503000000020004"/>
            </a:endParaRPr>
          </a:p>
        </p:txBody>
      </p:sp>
      <p:sp>
        <p:nvSpPr>
          <p:cNvPr id="6" name="Rectangle 4">
            <a:extLst>
              <a:ext uri="{FF2B5EF4-FFF2-40B4-BE49-F238E27FC236}">
                <a16:creationId xmlns:a16="http://schemas.microsoft.com/office/drawing/2014/main" id="{7EF5D97F-D58F-4EE2-A6A9-449D6CE96E97}"/>
              </a:ext>
            </a:extLst>
          </p:cNvPr>
          <p:cNvSpPr txBox="1">
            <a:spLocks noChangeArrowheads="1"/>
          </p:cNvSpPr>
          <p:nvPr/>
        </p:nvSpPr>
        <p:spPr>
          <a:xfrm>
            <a:off x="1751012" y="2286000"/>
            <a:ext cx="9296400" cy="4267200"/>
          </a:xfrm>
          <a:prstGeom prst="rect">
            <a:avLst/>
          </a:prstGeom>
        </p:spPr>
        <p:txBody>
          <a:bodyPr vert="horz" lIns="91440" tIns="45720" rIns="91440" bIns="45720" rtlCol="0">
            <a:normAutofit/>
          </a:bodyPr>
          <a:lst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a:lstStyle>
          <a:p>
            <a:r>
              <a:rPr lang="en-US" dirty="0">
                <a:latin typeface="National semibold" panose="02000503000000020004"/>
              </a:rPr>
              <a:t>The real exchange rate (or </a:t>
            </a:r>
            <a:r>
              <a:rPr lang="en-US" b="1" u="sng" dirty="0">
                <a:latin typeface="National semibold" panose="02000503000000020004"/>
              </a:rPr>
              <a:t>terms of trade</a:t>
            </a:r>
            <a:r>
              <a:rPr lang="en-US" dirty="0">
                <a:latin typeface="National semibold" panose="02000503000000020004"/>
              </a:rPr>
              <a:t>) is the rate at which domestic goods and services are traded for goods and services produced abroad.</a:t>
            </a:r>
          </a:p>
          <a:p>
            <a:pPr marL="282575" lvl="1" indent="0">
              <a:buNone/>
            </a:pPr>
            <a:endParaRPr lang="en-US" dirty="0">
              <a:latin typeface="National semibold" panose="02000503000000020004"/>
            </a:endParaRPr>
          </a:p>
          <a:p>
            <a:pPr marL="282575" lvl="1" indent="0">
              <a:buNone/>
            </a:pPr>
            <a:endParaRPr lang="en-US" dirty="0">
              <a:latin typeface="National semibold" panose="02000503000000020004"/>
            </a:endParaRPr>
          </a:p>
          <a:p>
            <a:r>
              <a:rPr lang="en-US" dirty="0">
                <a:latin typeface="National semibold" panose="02000503000000020004"/>
              </a:rPr>
              <a:t>The real exchange rate impacts the quantities of goods and services that are exported and imported.</a:t>
            </a:r>
          </a:p>
          <a:p>
            <a:pPr marL="457200" lvl="3" indent="0">
              <a:buNone/>
            </a:pPr>
            <a:endParaRPr lang="en-US" dirty="0">
              <a:latin typeface="National semibold" panose="02000503000000020004"/>
            </a:endParaRPr>
          </a:p>
          <a:p>
            <a:pPr marL="457200" lvl="3" indent="0">
              <a:buNone/>
            </a:pPr>
            <a:endParaRPr lang="en-US" dirty="0">
              <a:latin typeface="National semibold" panose="02000503000000020004"/>
            </a:endParaRPr>
          </a:p>
          <a:p>
            <a:r>
              <a:rPr lang="en-US" dirty="0">
                <a:latin typeface="National semibold" panose="02000503000000020004"/>
              </a:rPr>
              <a:t>Changes in net exports affect the overall economic activity. </a:t>
            </a:r>
          </a:p>
          <a:p>
            <a:pPr marL="0" indent="0">
              <a:buFont typeface="Arial" pitchFamily="34" charset="0"/>
              <a:buNone/>
            </a:pPr>
            <a:endParaRPr lang="en-US" sz="2800" dirty="0">
              <a:latin typeface="National semibold" panose="02000503000000020004"/>
            </a:endParaRPr>
          </a:p>
        </p:txBody>
      </p:sp>
    </p:spTree>
    <p:extLst>
      <p:ext uri="{BB962C8B-B14F-4D97-AF65-F5344CB8AC3E}">
        <p14:creationId xmlns:p14="http://schemas.microsoft.com/office/powerpoint/2010/main" val="67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9" name="Title 12">
            <a:extLst>
              <a:ext uri="{FF2B5EF4-FFF2-40B4-BE49-F238E27FC236}">
                <a16:creationId xmlns:a16="http://schemas.microsoft.com/office/drawing/2014/main" id="{745B273C-6FED-4863-9CB5-D93C31F4B423}"/>
              </a:ext>
            </a:extLst>
          </p:cNvPr>
          <p:cNvSpPr>
            <a:spLocks noGrp="1"/>
          </p:cNvSpPr>
          <p:nvPr>
            <p:ph type="title"/>
          </p:nvPr>
        </p:nvSpPr>
        <p:spPr>
          <a:xfrm>
            <a:off x="1522413" y="381000"/>
            <a:ext cx="9829799" cy="1219200"/>
          </a:xfrm>
        </p:spPr>
        <p:txBody>
          <a:bodyPr anchor="ctr">
            <a:normAutofit/>
          </a:bodyPr>
          <a:lstStyle/>
          <a:p>
            <a:r>
              <a:rPr lang="en-US" sz="4000" b="1" dirty="0">
                <a:latin typeface="National semibold" panose="02000503000000020004"/>
              </a:rPr>
              <a:t>Real exchange rate and net exports</a:t>
            </a:r>
            <a:endParaRPr lang="en-US" sz="4000" i="1" dirty="0">
              <a:latin typeface="National semibold" panose="02000503000000020004"/>
            </a:endParaRPr>
          </a:p>
        </p:txBody>
      </p:sp>
      <p:sp>
        <p:nvSpPr>
          <p:cNvPr id="6" name="Rectangle 4">
            <a:extLst>
              <a:ext uri="{FF2B5EF4-FFF2-40B4-BE49-F238E27FC236}">
                <a16:creationId xmlns:a16="http://schemas.microsoft.com/office/drawing/2014/main" id="{7EF5D97F-D58F-4EE2-A6A9-449D6CE96E97}"/>
              </a:ext>
            </a:extLst>
          </p:cNvPr>
          <p:cNvSpPr txBox="1">
            <a:spLocks noChangeArrowheads="1"/>
          </p:cNvSpPr>
          <p:nvPr/>
        </p:nvSpPr>
        <p:spPr>
          <a:xfrm>
            <a:off x="1751012" y="2286000"/>
            <a:ext cx="9296400" cy="4267200"/>
          </a:xfrm>
          <a:prstGeom prst="rect">
            <a:avLst/>
          </a:prstGeom>
        </p:spPr>
        <p:txBody>
          <a:bodyPr vert="horz" lIns="91440" tIns="45720" rIns="91440" bIns="45720" rtlCol="0">
            <a:normAutofit/>
          </a:bodyPr>
          <a:lst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a:lstStyle>
          <a:p>
            <a:pPr marL="0" indent="0">
              <a:buNone/>
            </a:pPr>
            <a:r>
              <a:rPr lang="en-US" dirty="0">
                <a:latin typeface="National semibold" panose="02000503000000020004"/>
              </a:rPr>
              <a:t>A weaker domestic currency </a:t>
            </a:r>
          </a:p>
          <a:p>
            <a:r>
              <a:rPr lang="en-US" dirty="0">
                <a:latin typeface="National semibold" panose="02000503000000020004"/>
              </a:rPr>
              <a:t>facilitate the country’s exports of goods and services; </a:t>
            </a:r>
          </a:p>
          <a:p>
            <a:r>
              <a:rPr lang="en-US" dirty="0">
                <a:latin typeface="National semibold" panose="02000503000000020004"/>
              </a:rPr>
              <a:t>discourage the country’s imports of goods and services.</a:t>
            </a:r>
          </a:p>
          <a:p>
            <a:pPr marL="282575" lvl="1" indent="0">
              <a:buNone/>
            </a:pPr>
            <a:endParaRPr lang="en-US" dirty="0">
              <a:latin typeface="National semibold" panose="02000503000000020004"/>
            </a:endParaRPr>
          </a:p>
          <a:p>
            <a:pPr marL="0" indent="0">
              <a:buNone/>
            </a:pPr>
            <a:endParaRPr lang="en-US" dirty="0">
              <a:latin typeface="National semibold" panose="02000503000000020004"/>
            </a:endParaRPr>
          </a:p>
          <a:p>
            <a:pPr marL="0" indent="0">
              <a:buNone/>
            </a:pPr>
            <a:r>
              <a:rPr lang="en-US" dirty="0">
                <a:latin typeface="National semibold" panose="02000503000000020004"/>
              </a:rPr>
              <a:t>What happens to the “value” of net exports (difference between the value of exports and the value of imports)? </a:t>
            </a:r>
          </a:p>
          <a:p>
            <a:pPr marL="0" indent="0">
              <a:buFont typeface="Arial" pitchFamily="34" charset="0"/>
              <a:buNone/>
            </a:pPr>
            <a:endParaRPr lang="en-US" sz="2800" dirty="0">
              <a:latin typeface="National semibold" panose="02000503000000020004"/>
            </a:endParaRPr>
          </a:p>
        </p:txBody>
      </p:sp>
    </p:spTree>
    <p:extLst>
      <p:ext uri="{BB962C8B-B14F-4D97-AF65-F5344CB8AC3E}">
        <p14:creationId xmlns:p14="http://schemas.microsoft.com/office/powerpoint/2010/main" val="1104568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9" name="Title 12">
            <a:extLst>
              <a:ext uri="{FF2B5EF4-FFF2-40B4-BE49-F238E27FC236}">
                <a16:creationId xmlns:a16="http://schemas.microsoft.com/office/drawing/2014/main" id="{745B273C-6FED-4863-9CB5-D93C31F4B423}"/>
              </a:ext>
            </a:extLst>
          </p:cNvPr>
          <p:cNvSpPr>
            <a:spLocks noGrp="1"/>
          </p:cNvSpPr>
          <p:nvPr>
            <p:ph type="title"/>
          </p:nvPr>
        </p:nvSpPr>
        <p:spPr>
          <a:xfrm>
            <a:off x="1522413" y="381000"/>
            <a:ext cx="9829799" cy="1219200"/>
          </a:xfrm>
        </p:spPr>
        <p:txBody>
          <a:bodyPr anchor="ctr">
            <a:normAutofit/>
          </a:bodyPr>
          <a:lstStyle/>
          <a:p>
            <a:r>
              <a:rPr lang="en-US" sz="4000" b="1" dirty="0">
                <a:latin typeface="National semibold" panose="02000503000000020004"/>
              </a:rPr>
              <a:t>Net exports or trade balance</a:t>
            </a:r>
            <a:endParaRPr lang="en-US" sz="4000" i="1" dirty="0">
              <a:latin typeface="National semibold" panose="02000503000000020004"/>
            </a:endParaRPr>
          </a:p>
        </p:txBody>
      </p:sp>
      <p:sp>
        <p:nvSpPr>
          <p:cNvPr id="6" name="Rectangle 4">
            <a:extLst>
              <a:ext uri="{FF2B5EF4-FFF2-40B4-BE49-F238E27FC236}">
                <a16:creationId xmlns:a16="http://schemas.microsoft.com/office/drawing/2014/main" id="{7EF5D97F-D58F-4EE2-A6A9-449D6CE96E97}"/>
              </a:ext>
            </a:extLst>
          </p:cNvPr>
          <p:cNvSpPr txBox="1">
            <a:spLocks noChangeArrowheads="1"/>
          </p:cNvSpPr>
          <p:nvPr/>
        </p:nvSpPr>
        <p:spPr>
          <a:xfrm>
            <a:off x="1674812" y="4399312"/>
            <a:ext cx="9296400" cy="2017715"/>
          </a:xfrm>
          <a:prstGeom prst="rect">
            <a:avLst/>
          </a:prstGeom>
        </p:spPr>
        <p:txBody>
          <a:bodyPr vert="horz" lIns="91440" tIns="45720" rIns="91440" bIns="45720" rtlCol="0">
            <a:normAutofit fontScale="62500" lnSpcReduction="20000"/>
          </a:bodyPr>
          <a:lst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a:lstStyle>
          <a:p>
            <a:r>
              <a:rPr lang="en-US" i="1" dirty="0" err="1">
                <a:latin typeface="National semibold" panose="02000503000000020004"/>
              </a:rPr>
              <a:t>e</a:t>
            </a:r>
            <a:r>
              <a:rPr lang="en-US" i="1" baseline="-25000" dirty="0" err="1">
                <a:latin typeface="National semibold" panose="02000503000000020004"/>
              </a:rPr>
              <a:t>nom</a:t>
            </a:r>
            <a:r>
              <a:rPr lang="en-US" i="1" baseline="-25000" dirty="0">
                <a:latin typeface="National semibold" panose="02000503000000020004"/>
              </a:rPr>
              <a:t> </a:t>
            </a:r>
            <a:r>
              <a:rPr lang="en-US" dirty="0">
                <a:latin typeface="National semibold" panose="02000503000000020004"/>
              </a:rPr>
              <a:t> is the nominal exchange rate: Units of foreign currency needed to buy one unit of domestic currency</a:t>
            </a:r>
          </a:p>
          <a:p>
            <a:r>
              <a:rPr lang="en-US" dirty="0">
                <a:latin typeface="National semibold" panose="02000503000000020004"/>
              </a:rPr>
              <a:t>A depreciation of the domestic currency decreases </a:t>
            </a:r>
            <a:r>
              <a:rPr lang="en-US" i="1" dirty="0" err="1">
                <a:latin typeface="National semibold" panose="02000503000000020004"/>
              </a:rPr>
              <a:t>e</a:t>
            </a:r>
            <a:r>
              <a:rPr lang="en-US" i="1" baseline="-25000" dirty="0" err="1">
                <a:latin typeface="National semibold" panose="02000503000000020004"/>
              </a:rPr>
              <a:t>nom</a:t>
            </a:r>
            <a:r>
              <a:rPr lang="en-US" dirty="0">
                <a:latin typeface="National semibold" panose="02000503000000020004"/>
              </a:rPr>
              <a:t>.</a:t>
            </a:r>
          </a:p>
          <a:p>
            <a:r>
              <a:rPr lang="en-US" dirty="0">
                <a:latin typeface="National semibold" panose="02000503000000020004"/>
              </a:rPr>
              <a:t>The depreciation increases the quantities exported and decreases the quantities imported.</a:t>
            </a:r>
          </a:p>
          <a:p>
            <a:r>
              <a:rPr lang="en-US" dirty="0">
                <a:latin typeface="National semibold" panose="02000503000000020004"/>
              </a:rPr>
              <a:t>If the quantities and prices do not change much in the short-run</a:t>
            </a:r>
            <a:r>
              <a:rPr lang="en-US" i="1" dirty="0">
                <a:latin typeface="National semibold" panose="02000503000000020004"/>
              </a:rPr>
              <a:t>, </a:t>
            </a:r>
            <a:r>
              <a:rPr lang="en-US" dirty="0">
                <a:latin typeface="National semibold" panose="02000503000000020004"/>
              </a:rPr>
              <a:t>then the “value” of net exports will decline. </a:t>
            </a:r>
          </a:p>
          <a:p>
            <a:r>
              <a:rPr lang="en-US" dirty="0">
                <a:latin typeface="National semibold" panose="02000503000000020004"/>
              </a:rPr>
              <a:t>With enough time, though, quantities will respond more and in the long run the “value” of next exports increases.</a:t>
            </a:r>
          </a:p>
        </p:txBody>
      </p:sp>
      <mc:AlternateContent xmlns:mc="http://schemas.openxmlformats.org/markup-compatibility/2006" xmlns:a14="http://schemas.microsoft.com/office/drawing/2010/main">
        <mc:Choice Requires="a14">
          <p:sp>
            <p:nvSpPr>
              <p:cNvPr id="5" name="Object 4">
                <a:extLst>
                  <a:ext uri="{FF2B5EF4-FFF2-40B4-BE49-F238E27FC236}">
                    <a16:creationId xmlns:a16="http://schemas.microsoft.com/office/drawing/2014/main" id="{F758F6C8-48CC-4030-BB37-C4828FA3E9C7}"/>
                  </a:ext>
                </a:extLst>
              </p:cNvPr>
              <p:cNvSpPr txBox="1"/>
              <p:nvPr/>
            </p:nvSpPr>
            <p:spPr bwMode="auto">
              <a:xfrm>
                <a:off x="3122612" y="2010411"/>
                <a:ext cx="6592530" cy="2141120"/>
              </a:xfrm>
              <a:prstGeom prst="rect">
                <a:avLst/>
              </a:prstGeom>
              <a:solidFill>
                <a:schemeClr val="accent1">
                  <a:lumMod val="20000"/>
                  <a:lumOff val="80000"/>
                </a:schemeClr>
              </a:solidFill>
              <a:ln w="19050">
                <a:solidFill>
                  <a:srgbClr val="000000"/>
                </a:solidFill>
                <a:miter lim="800000"/>
                <a:headEnd/>
                <a:tailEnd/>
              </a:ln>
              <a:effectLst/>
            </p:spPr>
            <p:txBody>
              <a:bodyPr anchor="t">
                <a:noAutofit/>
              </a:bodyPr>
              <a:lstStyle/>
              <a:p>
                <a:pPr algn="ctr"/>
                <a:endParaRPr lang="en-US" sz="2800" i="1" dirty="0">
                  <a:latin typeface="Cambria Math" panose="02040503050406030204" pitchFamily="18" charset="0"/>
                </a:endParaRPr>
              </a:p>
              <a:p>
                <a:pPr algn="ctr"/>
                <a14:m>
                  <m:oMath xmlns:m="http://schemas.openxmlformats.org/officeDocument/2006/math">
                    <m:r>
                      <a:rPr lang="en-US" sz="2800" i="1">
                        <a:latin typeface="Cambria Math" panose="02040503050406030204" pitchFamily="18" charset="0"/>
                      </a:rPr>
                      <m:t>𝑁𝐸𝑋</m:t>
                    </m:r>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𝑄</m:t>
                        </m:r>
                      </m:e>
                      <m:sub>
                        <m:r>
                          <a:rPr lang="en-US" sz="2800" i="1">
                            <a:latin typeface="Cambria Math" panose="02040503050406030204" pitchFamily="18" charset="0"/>
                          </a:rPr>
                          <m:t>𝐸𝑋</m:t>
                        </m:r>
                      </m:sub>
                    </m:sSub>
                  </m:oMath>
                </a14:m>
                <a:r>
                  <a:rPr lang="en-US" sz="2800" i="1" dirty="0"/>
                  <a:t> </a:t>
                </a:r>
                <a14:m>
                  <m:oMath xmlns:m="http://schemas.openxmlformats.org/officeDocument/2006/math">
                    <m:r>
                      <a:rPr lang="en-US" sz="2800" i="1" dirty="0">
                        <a:latin typeface="Cambria Math" panose="02040503050406030204" pitchFamily="18" charset="0"/>
                        <a:ea typeface="Cambria Math" panose="02040503050406030204" pitchFamily="18" charset="0"/>
                      </a:rPr>
                      <m:t>∙</m:t>
                    </m:r>
                    <m:r>
                      <a:rPr lang="en-US" sz="2800" i="1" dirty="0">
                        <a:latin typeface="Cambria Math" panose="02040503050406030204" pitchFamily="18" charset="0"/>
                        <a:ea typeface="Cambria Math" panose="02040503050406030204" pitchFamily="18" charset="0"/>
                      </a:rPr>
                      <m:t>𝑃</m:t>
                    </m:r>
                    <m:r>
                      <a:rPr lang="en-US" sz="2800" i="1" dirty="0">
                        <a:latin typeface="Cambria Math" panose="02040503050406030204" pitchFamily="18" charset="0"/>
                        <a:ea typeface="Cambria Math" panose="02040503050406030204" pitchFamily="18" charset="0"/>
                      </a:rPr>
                      <m:t> −</m:t>
                    </m:r>
                    <m:sSub>
                      <m:sSubPr>
                        <m:ctrlPr>
                          <a:rPr lang="en-US" sz="2800" i="1" dirty="0">
                            <a:latin typeface="Cambria Math" panose="02040503050406030204" pitchFamily="18" charset="0"/>
                            <a:ea typeface="Cambria Math" panose="02040503050406030204" pitchFamily="18" charset="0"/>
                          </a:rPr>
                        </m:ctrlPr>
                      </m:sSubPr>
                      <m:e>
                        <m:r>
                          <a:rPr lang="en-US" sz="2800" i="1" dirty="0">
                            <a:latin typeface="Cambria Math" panose="02040503050406030204" pitchFamily="18" charset="0"/>
                            <a:ea typeface="Cambria Math" panose="02040503050406030204" pitchFamily="18" charset="0"/>
                          </a:rPr>
                          <m:t>𝑄</m:t>
                        </m:r>
                      </m:e>
                      <m:sub>
                        <m:r>
                          <a:rPr lang="en-US" sz="2800" i="1" dirty="0">
                            <a:latin typeface="Cambria Math" panose="02040503050406030204" pitchFamily="18" charset="0"/>
                            <a:ea typeface="Cambria Math" panose="02040503050406030204" pitchFamily="18" charset="0"/>
                          </a:rPr>
                          <m:t>𝐼𝑀</m:t>
                        </m:r>
                      </m:sub>
                    </m:sSub>
                    <m:r>
                      <a:rPr lang="en-US" sz="2800" i="1" dirty="0">
                        <a:latin typeface="Cambria Math" panose="02040503050406030204" pitchFamily="18" charset="0"/>
                        <a:ea typeface="Cambria Math" panose="02040503050406030204" pitchFamily="18" charset="0"/>
                      </a:rPr>
                      <m:t>∙</m:t>
                    </m:r>
                    <m:sSub>
                      <m:sSubPr>
                        <m:ctrlPr>
                          <a:rPr lang="en-US" sz="2800" i="1" dirty="0">
                            <a:latin typeface="Cambria Math" panose="02040503050406030204" pitchFamily="18" charset="0"/>
                            <a:ea typeface="Cambria Math" panose="02040503050406030204" pitchFamily="18" charset="0"/>
                          </a:rPr>
                        </m:ctrlPr>
                      </m:sSubPr>
                      <m:e>
                        <m:r>
                          <a:rPr lang="en-US" sz="2800" i="1" dirty="0">
                            <a:latin typeface="Cambria Math" panose="02040503050406030204" pitchFamily="18" charset="0"/>
                            <a:ea typeface="Cambria Math" panose="02040503050406030204" pitchFamily="18" charset="0"/>
                          </a:rPr>
                          <m:t>𝑃</m:t>
                        </m:r>
                      </m:e>
                      <m:sub>
                        <m:r>
                          <a:rPr lang="en-US" sz="2800" i="1" dirty="0">
                            <a:latin typeface="Cambria Math" panose="02040503050406030204" pitchFamily="18" charset="0"/>
                            <a:ea typeface="Cambria Math" panose="02040503050406030204" pitchFamily="18" charset="0"/>
                          </a:rPr>
                          <m:t>𝐹𝑜𝑟</m:t>
                        </m:r>
                      </m:sub>
                    </m:sSub>
                    <m:r>
                      <a:rPr lang="en-US" sz="2800" i="1" dirty="0">
                        <a:latin typeface="Cambria Math" panose="02040503050406030204" pitchFamily="18" charset="0"/>
                        <a:ea typeface="Cambria Math" panose="02040503050406030204" pitchFamily="18" charset="0"/>
                      </a:rPr>
                      <m:t> ∙ </m:t>
                    </m:r>
                    <m:d>
                      <m:dPr>
                        <m:ctrlPr>
                          <a:rPr lang="en-US" sz="2800" i="1" dirty="0">
                            <a:latin typeface="Cambria Math" panose="02040503050406030204" pitchFamily="18" charset="0"/>
                            <a:ea typeface="Cambria Math" panose="02040503050406030204" pitchFamily="18" charset="0"/>
                          </a:rPr>
                        </m:ctrlPr>
                      </m:dPr>
                      <m:e>
                        <m:f>
                          <m:fPr>
                            <m:ctrlPr>
                              <a:rPr lang="en-US" sz="2800" i="1" dirty="0">
                                <a:latin typeface="Cambria Math" panose="02040503050406030204" pitchFamily="18" charset="0"/>
                                <a:ea typeface="Cambria Math" panose="02040503050406030204" pitchFamily="18" charset="0"/>
                              </a:rPr>
                            </m:ctrlPr>
                          </m:fPr>
                          <m:num>
                            <m:r>
                              <a:rPr lang="en-US" sz="2800" i="1" dirty="0">
                                <a:latin typeface="Cambria Math" panose="02040503050406030204" pitchFamily="18" charset="0"/>
                                <a:ea typeface="Cambria Math" panose="02040503050406030204" pitchFamily="18" charset="0"/>
                              </a:rPr>
                              <m:t>1</m:t>
                            </m:r>
                          </m:num>
                          <m:den>
                            <m:sSub>
                              <m:sSubPr>
                                <m:ctrlPr>
                                  <a:rPr lang="en-US" sz="2800" i="1" dirty="0">
                                    <a:latin typeface="Cambria Math" panose="02040503050406030204" pitchFamily="18" charset="0"/>
                                    <a:ea typeface="Cambria Math" panose="02040503050406030204" pitchFamily="18" charset="0"/>
                                  </a:rPr>
                                </m:ctrlPr>
                              </m:sSubPr>
                              <m:e>
                                <m:r>
                                  <a:rPr lang="en-US" sz="2800" i="1" dirty="0">
                                    <a:latin typeface="Cambria Math" panose="02040503050406030204" pitchFamily="18" charset="0"/>
                                    <a:ea typeface="Cambria Math" panose="02040503050406030204" pitchFamily="18" charset="0"/>
                                  </a:rPr>
                                  <m:t>𝑒</m:t>
                                </m:r>
                              </m:e>
                              <m:sub>
                                <m:r>
                                  <a:rPr lang="en-US" sz="2800" i="1" dirty="0">
                                    <a:latin typeface="Cambria Math" panose="02040503050406030204" pitchFamily="18" charset="0"/>
                                    <a:ea typeface="Cambria Math" panose="02040503050406030204" pitchFamily="18" charset="0"/>
                                  </a:rPr>
                                  <m:t>𝑛𝑜𝑚</m:t>
                                </m:r>
                              </m:sub>
                            </m:sSub>
                          </m:den>
                        </m:f>
                      </m:e>
                    </m:d>
                  </m:oMath>
                </a14:m>
                <a:endParaRPr lang="en-US" sz="2800" dirty="0">
                  <a:latin typeface="National semibold" panose="02000503000000020004"/>
                </a:endParaRPr>
              </a:p>
            </p:txBody>
          </p:sp>
        </mc:Choice>
        <mc:Fallback xmlns="">
          <p:sp>
            <p:nvSpPr>
              <p:cNvPr id="5" name="Object 4">
                <a:extLst>
                  <a:ext uri="{FF2B5EF4-FFF2-40B4-BE49-F238E27FC236}">
                    <a16:creationId xmlns:a16="http://schemas.microsoft.com/office/drawing/2014/main" id="{F758F6C8-48CC-4030-BB37-C4828FA3E9C7}"/>
                  </a:ext>
                </a:extLst>
              </p:cNvPr>
              <p:cNvSpPr txBox="1">
                <a:spLocks noRot="1" noChangeAspect="1" noMove="1" noResize="1" noEditPoints="1" noAdjustHandles="1" noChangeArrowheads="1" noChangeShapeType="1" noTextEdit="1"/>
              </p:cNvSpPr>
              <p:nvPr/>
            </p:nvSpPr>
            <p:spPr bwMode="auto">
              <a:xfrm>
                <a:off x="3122612" y="2010411"/>
                <a:ext cx="6592530" cy="2141120"/>
              </a:xfrm>
              <a:prstGeom prst="rect">
                <a:avLst/>
              </a:prstGeom>
              <a:blipFill>
                <a:blip r:embed="rId3"/>
                <a:stretch>
                  <a:fillRect/>
                </a:stretch>
              </a:blipFill>
              <a:ln w="19050">
                <a:solidFill>
                  <a:srgbClr val="000000"/>
                </a:solidFill>
                <a:miter lim="800000"/>
                <a:headEnd/>
                <a:tailEnd/>
              </a:ln>
              <a:effectLst/>
            </p:spPr>
            <p:txBody>
              <a:bodyPr/>
              <a:lstStyle/>
              <a:p>
                <a:r>
                  <a:rPr lang="en-US">
                    <a:noFill/>
                  </a:rPr>
                  <a:t> </a:t>
                </a:r>
              </a:p>
            </p:txBody>
          </p:sp>
        </mc:Fallback>
      </mc:AlternateContent>
      <p:sp>
        <p:nvSpPr>
          <p:cNvPr id="2" name="Arrow: Up 1">
            <a:extLst>
              <a:ext uri="{FF2B5EF4-FFF2-40B4-BE49-F238E27FC236}">
                <a16:creationId xmlns:a16="http://schemas.microsoft.com/office/drawing/2014/main" id="{9E38BB30-F805-4ABF-8BDC-6161ADB21442}"/>
              </a:ext>
            </a:extLst>
          </p:cNvPr>
          <p:cNvSpPr/>
          <p:nvPr/>
        </p:nvSpPr>
        <p:spPr>
          <a:xfrm>
            <a:off x="8609012" y="2286000"/>
            <a:ext cx="228600" cy="991258"/>
          </a:xfrm>
          <a:prstGeom prst="up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Up 6">
            <a:extLst>
              <a:ext uri="{FF2B5EF4-FFF2-40B4-BE49-F238E27FC236}">
                <a16:creationId xmlns:a16="http://schemas.microsoft.com/office/drawing/2014/main" id="{66666D77-E945-4031-B904-742359B08114}"/>
              </a:ext>
            </a:extLst>
          </p:cNvPr>
          <p:cNvSpPr/>
          <p:nvPr/>
        </p:nvSpPr>
        <p:spPr>
          <a:xfrm>
            <a:off x="4951412" y="2285342"/>
            <a:ext cx="228600" cy="991258"/>
          </a:xfrm>
          <a:prstGeom prst="up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Up 9">
            <a:extLst>
              <a:ext uri="{FF2B5EF4-FFF2-40B4-BE49-F238E27FC236}">
                <a16:creationId xmlns:a16="http://schemas.microsoft.com/office/drawing/2014/main" id="{4A14A8E1-7417-4B87-A093-6117E0B8A249}"/>
              </a:ext>
            </a:extLst>
          </p:cNvPr>
          <p:cNvSpPr/>
          <p:nvPr/>
        </p:nvSpPr>
        <p:spPr>
          <a:xfrm rot="10800000">
            <a:off x="6528752" y="2245040"/>
            <a:ext cx="228600" cy="991258"/>
          </a:xfrm>
          <a:prstGeom prst="upArrow">
            <a:avLst/>
          </a:prstGeom>
          <a:solidFill>
            <a:srgbClr val="0070C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eft Brace 2">
            <a:extLst>
              <a:ext uri="{FF2B5EF4-FFF2-40B4-BE49-F238E27FC236}">
                <a16:creationId xmlns:a16="http://schemas.microsoft.com/office/drawing/2014/main" id="{DCB3C14C-0CE0-40C4-B54F-FA59D87C7B5B}"/>
              </a:ext>
            </a:extLst>
          </p:cNvPr>
          <p:cNvSpPr/>
          <p:nvPr/>
        </p:nvSpPr>
        <p:spPr>
          <a:xfrm rot="16200000">
            <a:off x="5188674" y="2824737"/>
            <a:ext cx="167296" cy="1083779"/>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Left Brace 10">
            <a:extLst>
              <a:ext uri="{FF2B5EF4-FFF2-40B4-BE49-F238E27FC236}">
                <a16:creationId xmlns:a16="http://schemas.microsoft.com/office/drawing/2014/main" id="{99672BF9-3BE8-4292-8BFA-AE3F8481751B}"/>
              </a:ext>
            </a:extLst>
          </p:cNvPr>
          <p:cNvSpPr/>
          <p:nvPr/>
        </p:nvSpPr>
        <p:spPr>
          <a:xfrm rot="16200000">
            <a:off x="7829719" y="1886574"/>
            <a:ext cx="115546" cy="289560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C2AC0FCE-859E-4E84-AC14-641256B87B44}"/>
              </a:ext>
            </a:extLst>
          </p:cNvPr>
          <p:cNvSpPr txBox="1"/>
          <p:nvPr/>
        </p:nvSpPr>
        <p:spPr>
          <a:xfrm>
            <a:off x="4771898" y="3505200"/>
            <a:ext cx="1019896" cy="646331"/>
          </a:xfrm>
          <a:prstGeom prst="rect">
            <a:avLst/>
          </a:prstGeom>
          <a:noFill/>
        </p:spPr>
        <p:txBody>
          <a:bodyPr wrap="none" rtlCol="0">
            <a:spAutoFit/>
          </a:bodyPr>
          <a:lstStyle/>
          <a:p>
            <a:pPr algn="ctr"/>
            <a:r>
              <a:rPr lang="en-US" dirty="0">
                <a:solidFill>
                  <a:srgbClr val="FF0000"/>
                </a:solidFill>
                <a:latin typeface="National semibold" panose="02000503000000020004"/>
              </a:rPr>
              <a:t>Value of </a:t>
            </a:r>
          </a:p>
          <a:p>
            <a:pPr algn="ctr"/>
            <a:r>
              <a:rPr lang="en-US" dirty="0">
                <a:solidFill>
                  <a:srgbClr val="FF0000"/>
                </a:solidFill>
                <a:latin typeface="National semibold" panose="02000503000000020004"/>
              </a:rPr>
              <a:t>exports</a:t>
            </a:r>
          </a:p>
        </p:txBody>
      </p:sp>
      <p:sp>
        <p:nvSpPr>
          <p:cNvPr id="12" name="TextBox 11">
            <a:extLst>
              <a:ext uri="{FF2B5EF4-FFF2-40B4-BE49-F238E27FC236}">
                <a16:creationId xmlns:a16="http://schemas.microsoft.com/office/drawing/2014/main" id="{0A83697F-EC4B-4BC1-B13D-22E56FC36ECB}"/>
              </a:ext>
            </a:extLst>
          </p:cNvPr>
          <p:cNvSpPr txBox="1"/>
          <p:nvPr/>
        </p:nvSpPr>
        <p:spPr>
          <a:xfrm>
            <a:off x="7388107" y="3455192"/>
            <a:ext cx="1019896" cy="646331"/>
          </a:xfrm>
          <a:prstGeom prst="rect">
            <a:avLst/>
          </a:prstGeom>
          <a:noFill/>
        </p:spPr>
        <p:txBody>
          <a:bodyPr wrap="none" rtlCol="0">
            <a:spAutoFit/>
          </a:bodyPr>
          <a:lstStyle/>
          <a:p>
            <a:pPr algn="ctr"/>
            <a:r>
              <a:rPr lang="en-US" dirty="0">
                <a:solidFill>
                  <a:srgbClr val="FF0000"/>
                </a:solidFill>
                <a:latin typeface="National semibold" panose="02000503000000020004"/>
              </a:rPr>
              <a:t>Value of </a:t>
            </a:r>
          </a:p>
          <a:p>
            <a:pPr algn="ctr"/>
            <a:r>
              <a:rPr lang="en-US" dirty="0">
                <a:solidFill>
                  <a:srgbClr val="FF0000"/>
                </a:solidFill>
                <a:latin typeface="National semibold" panose="02000503000000020004"/>
              </a:rPr>
              <a:t>imports</a:t>
            </a:r>
          </a:p>
        </p:txBody>
      </p:sp>
    </p:spTree>
    <p:extLst>
      <p:ext uri="{BB962C8B-B14F-4D97-AF65-F5344CB8AC3E}">
        <p14:creationId xmlns:p14="http://schemas.microsoft.com/office/powerpoint/2010/main" val="865058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2" grpId="0" animBg="1"/>
      <p:bldP spid="7" grpId="0" animBg="1"/>
      <p:bldP spid="10" grpId="0" animBg="1"/>
      <p:bldP spid="3" grpId="0" animBg="1"/>
      <p:bldP spid="11" grpId="0" animBg="1"/>
      <p:bldP spid="4"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9" name="Title 12">
            <a:extLst>
              <a:ext uri="{FF2B5EF4-FFF2-40B4-BE49-F238E27FC236}">
                <a16:creationId xmlns:a16="http://schemas.microsoft.com/office/drawing/2014/main" id="{745B273C-6FED-4863-9CB5-D93C31F4B423}"/>
              </a:ext>
            </a:extLst>
          </p:cNvPr>
          <p:cNvSpPr>
            <a:spLocks noGrp="1"/>
          </p:cNvSpPr>
          <p:nvPr>
            <p:ph type="title"/>
          </p:nvPr>
        </p:nvSpPr>
        <p:spPr>
          <a:xfrm>
            <a:off x="1522413" y="381000"/>
            <a:ext cx="9829799" cy="1219200"/>
          </a:xfrm>
        </p:spPr>
        <p:txBody>
          <a:bodyPr anchor="ctr">
            <a:normAutofit/>
          </a:bodyPr>
          <a:lstStyle/>
          <a:p>
            <a:r>
              <a:rPr lang="en-US" sz="4000" b="1" dirty="0">
                <a:latin typeface="National semibold" panose="02000503000000020004"/>
              </a:rPr>
              <a:t>The J-curve</a:t>
            </a:r>
            <a:r>
              <a:rPr lang="en-US" sz="4000" dirty="0">
                <a:latin typeface="National semibold" panose="02000503000000020004"/>
              </a:rPr>
              <a:t>: response of trade balance</a:t>
            </a:r>
            <a:endParaRPr lang="en-US" sz="4000" i="1" dirty="0">
              <a:latin typeface="National semibold" panose="02000503000000020004"/>
            </a:endParaRPr>
          </a:p>
        </p:txBody>
      </p:sp>
      <p:sp>
        <p:nvSpPr>
          <p:cNvPr id="6" name="Rectangle 4">
            <a:extLst>
              <a:ext uri="{FF2B5EF4-FFF2-40B4-BE49-F238E27FC236}">
                <a16:creationId xmlns:a16="http://schemas.microsoft.com/office/drawing/2014/main" id="{7EF5D97F-D58F-4EE2-A6A9-449D6CE96E97}"/>
              </a:ext>
            </a:extLst>
          </p:cNvPr>
          <p:cNvSpPr txBox="1">
            <a:spLocks noChangeArrowheads="1"/>
          </p:cNvSpPr>
          <p:nvPr/>
        </p:nvSpPr>
        <p:spPr>
          <a:xfrm>
            <a:off x="6780212" y="2057400"/>
            <a:ext cx="5181600" cy="4267200"/>
          </a:xfrm>
          <a:prstGeom prst="rect">
            <a:avLst/>
          </a:prstGeom>
        </p:spPr>
        <p:txBody>
          <a:bodyPr vert="horz" lIns="91440" tIns="45720" rIns="91440" bIns="45720" rtlCol="0">
            <a:normAutofit/>
          </a:bodyPr>
          <a:lst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a:lstStyle>
          <a:p>
            <a:pPr lvl="1"/>
            <a:r>
              <a:rPr lang="en-US" sz="2400" dirty="0">
                <a:latin typeface="National semibold" panose="02000503000000020004"/>
              </a:rPr>
              <a:t>In the short run it may be difficult to quickly change the </a:t>
            </a:r>
            <a:r>
              <a:rPr lang="en-US" sz="2400" u="sng" dirty="0">
                <a:latin typeface="National semibold" panose="02000503000000020004"/>
              </a:rPr>
              <a:t>quantities of goods</a:t>
            </a:r>
            <a:r>
              <a:rPr lang="en-US" sz="2400" dirty="0">
                <a:latin typeface="National semibold" panose="02000503000000020004"/>
              </a:rPr>
              <a:t> imported and exported.</a:t>
            </a:r>
          </a:p>
          <a:p>
            <a:pPr lvl="1"/>
            <a:endParaRPr lang="en-US" sz="2400" dirty="0">
              <a:latin typeface="National semibold" panose="02000503000000020004"/>
            </a:endParaRPr>
          </a:p>
          <a:p>
            <a:pPr lvl="1"/>
            <a:r>
              <a:rPr lang="en-US" sz="2400" dirty="0">
                <a:latin typeface="National semibold" panose="02000503000000020004"/>
              </a:rPr>
              <a:t>The country will then experience a trade larger deficit in the short run.</a:t>
            </a:r>
          </a:p>
          <a:p>
            <a:pPr lvl="1"/>
            <a:endParaRPr lang="en-US" sz="2400" dirty="0">
              <a:latin typeface="National semibold" panose="02000503000000020004"/>
            </a:endParaRPr>
          </a:p>
          <a:p>
            <a:pPr lvl="1"/>
            <a:r>
              <a:rPr lang="en-US" sz="2400" dirty="0">
                <a:latin typeface="National semibold" panose="02000503000000020004"/>
              </a:rPr>
              <a:t>In the long-run, however, </a:t>
            </a:r>
            <a:r>
              <a:rPr lang="en-US" sz="2400" u="sng" dirty="0">
                <a:latin typeface="National semibold" panose="02000503000000020004"/>
              </a:rPr>
              <a:t>quantities of goods</a:t>
            </a:r>
            <a:r>
              <a:rPr lang="en-US" sz="2400" dirty="0">
                <a:latin typeface="National semibold" panose="02000503000000020004"/>
              </a:rPr>
              <a:t> imported and exported adjust so that the trade balance improves.</a:t>
            </a:r>
          </a:p>
        </p:txBody>
      </p:sp>
      <p:cxnSp>
        <p:nvCxnSpPr>
          <p:cNvPr id="4" name="Straight Connector 3">
            <a:extLst>
              <a:ext uri="{FF2B5EF4-FFF2-40B4-BE49-F238E27FC236}">
                <a16:creationId xmlns:a16="http://schemas.microsoft.com/office/drawing/2014/main" id="{F8F72A3E-3E2B-4FF2-B4BD-7AA35177E835}"/>
              </a:ext>
            </a:extLst>
          </p:cNvPr>
          <p:cNvCxnSpPr>
            <a:cxnSpLocks/>
          </p:cNvCxnSpPr>
          <p:nvPr/>
        </p:nvCxnSpPr>
        <p:spPr>
          <a:xfrm>
            <a:off x="2281298" y="2362199"/>
            <a:ext cx="0" cy="3429001"/>
          </a:xfrm>
          <a:prstGeom prst="line">
            <a:avLst/>
          </a:prstGeom>
          <a:ln w="19050">
            <a:solidFill>
              <a:schemeClr val="tx2"/>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FF0EB95-225E-4883-A776-CD70A34F1135}"/>
              </a:ext>
            </a:extLst>
          </p:cNvPr>
          <p:cNvCxnSpPr>
            <a:cxnSpLocks/>
          </p:cNvCxnSpPr>
          <p:nvPr/>
        </p:nvCxnSpPr>
        <p:spPr>
          <a:xfrm flipH="1">
            <a:off x="2281298" y="5791200"/>
            <a:ext cx="4611937" cy="0"/>
          </a:xfrm>
          <a:prstGeom prst="line">
            <a:avLst/>
          </a:prstGeom>
          <a:ln w="19050">
            <a:solidFill>
              <a:schemeClr val="tx2"/>
            </a:solidFill>
            <a:headEnd type="triangl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24B1ECB-B963-4607-B1AD-F1B0AB19E129}"/>
              </a:ext>
            </a:extLst>
          </p:cNvPr>
          <p:cNvCxnSpPr>
            <a:cxnSpLocks/>
          </p:cNvCxnSpPr>
          <p:nvPr/>
        </p:nvCxnSpPr>
        <p:spPr>
          <a:xfrm flipH="1">
            <a:off x="2281298" y="4091356"/>
            <a:ext cx="4391271" cy="1"/>
          </a:xfrm>
          <a:prstGeom prst="line">
            <a:avLst/>
          </a:prstGeom>
          <a:ln w="6350">
            <a:solidFill>
              <a:schemeClr val="tx2"/>
            </a:solidFill>
          </a:ln>
        </p:spPr>
        <p:style>
          <a:lnRef idx="1">
            <a:schemeClr val="accent1"/>
          </a:lnRef>
          <a:fillRef idx="0">
            <a:schemeClr val="accent1"/>
          </a:fillRef>
          <a:effectRef idx="0">
            <a:schemeClr val="accent1"/>
          </a:effectRef>
          <a:fontRef idx="minor">
            <a:schemeClr val="tx1"/>
          </a:fontRef>
        </p:style>
      </p:cxnSp>
      <p:sp>
        <p:nvSpPr>
          <p:cNvPr id="19" name="Freeform: Shape 18">
            <a:extLst>
              <a:ext uri="{FF2B5EF4-FFF2-40B4-BE49-F238E27FC236}">
                <a16:creationId xmlns:a16="http://schemas.microsoft.com/office/drawing/2014/main" id="{DB15ECD0-F5EE-4C81-8621-CDE8BEFE3FAA}"/>
              </a:ext>
            </a:extLst>
          </p:cNvPr>
          <p:cNvSpPr/>
          <p:nvPr/>
        </p:nvSpPr>
        <p:spPr>
          <a:xfrm>
            <a:off x="2280321" y="2838448"/>
            <a:ext cx="3991708" cy="2263545"/>
          </a:xfrm>
          <a:custGeom>
            <a:avLst/>
            <a:gdLst>
              <a:gd name="connsiteX0" fmla="*/ 0 w 3991708"/>
              <a:gd name="connsiteY0" fmla="*/ 1705707 h 2263545"/>
              <a:gd name="connsiteX1" fmla="*/ 1266092 w 3991708"/>
              <a:gd name="connsiteY1" fmla="*/ 2162907 h 2263545"/>
              <a:gd name="connsiteX2" fmla="*/ 3991708 w 3991708"/>
              <a:gd name="connsiteY2" fmla="*/ 0 h 2263545"/>
            </a:gdLst>
            <a:ahLst/>
            <a:cxnLst>
              <a:cxn ang="0">
                <a:pos x="connsiteX0" y="connsiteY0"/>
              </a:cxn>
              <a:cxn ang="0">
                <a:pos x="connsiteX1" y="connsiteY1"/>
              </a:cxn>
              <a:cxn ang="0">
                <a:pos x="connsiteX2" y="connsiteY2"/>
              </a:cxn>
            </a:cxnLst>
            <a:rect l="l" t="t" r="r" b="b"/>
            <a:pathLst>
              <a:path w="3991708" h="2263545">
                <a:moveTo>
                  <a:pt x="0" y="1705707"/>
                </a:moveTo>
                <a:cubicBezTo>
                  <a:pt x="300403" y="2076449"/>
                  <a:pt x="600807" y="2447191"/>
                  <a:pt x="1266092" y="2162907"/>
                </a:cubicBezTo>
                <a:cubicBezTo>
                  <a:pt x="1931377" y="1878623"/>
                  <a:pt x="2961542" y="939311"/>
                  <a:pt x="3991708" y="0"/>
                </a:cubicBezTo>
              </a:path>
            </a:pathLst>
          </a:cu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D080497-CBC6-4A5E-92FD-923870AF343D}"/>
              </a:ext>
            </a:extLst>
          </p:cNvPr>
          <p:cNvSpPr txBox="1"/>
          <p:nvPr/>
        </p:nvSpPr>
        <p:spPr>
          <a:xfrm>
            <a:off x="6167498" y="5867400"/>
            <a:ext cx="649537" cy="369332"/>
          </a:xfrm>
          <a:prstGeom prst="rect">
            <a:avLst/>
          </a:prstGeom>
          <a:noFill/>
        </p:spPr>
        <p:txBody>
          <a:bodyPr wrap="none" rtlCol="0">
            <a:spAutoFit/>
          </a:bodyPr>
          <a:lstStyle/>
          <a:p>
            <a:r>
              <a:rPr lang="en-US" dirty="0">
                <a:latin typeface="National semibold" panose="02000503000000020004"/>
              </a:rPr>
              <a:t>Time</a:t>
            </a:r>
          </a:p>
        </p:txBody>
      </p:sp>
      <p:sp>
        <p:nvSpPr>
          <p:cNvPr id="22" name="TextBox 21">
            <a:extLst>
              <a:ext uri="{FF2B5EF4-FFF2-40B4-BE49-F238E27FC236}">
                <a16:creationId xmlns:a16="http://schemas.microsoft.com/office/drawing/2014/main" id="{E23FCD03-4D9C-480B-ADC3-721BE34D8661}"/>
              </a:ext>
            </a:extLst>
          </p:cNvPr>
          <p:cNvSpPr txBox="1"/>
          <p:nvPr/>
        </p:nvSpPr>
        <p:spPr>
          <a:xfrm>
            <a:off x="1182713" y="2383632"/>
            <a:ext cx="949299" cy="923330"/>
          </a:xfrm>
          <a:prstGeom prst="rect">
            <a:avLst/>
          </a:prstGeom>
          <a:noFill/>
        </p:spPr>
        <p:txBody>
          <a:bodyPr wrap="none" rtlCol="0">
            <a:spAutoFit/>
          </a:bodyPr>
          <a:lstStyle/>
          <a:p>
            <a:pPr algn="ctr"/>
            <a:r>
              <a:rPr lang="en-US" dirty="0">
                <a:latin typeface="National semibold" panose="02000503000000020004"/>
              </a:rPr>
              <a:t>Value of</a:t>
            </a:r>
          </a:p>
          <a:p>
            <a:pPr algn="ctr"/>
            <a:r>
              <a:rPr lang="en-US" dirty="0">
                <a:latin typeface="National semibold" panose="02000503000000020004"/>
              </a:rPr>
              <a:t>net </a:t>
            </a:r>
          </a:p>
          <a:p>
            <a:pPr algn="ctr"/>
            <a:r>
              <a:rPr lang="en-US" dirty="0">
                <a:latin typeface="National semibold" panose="02000503000000020004"/>
              </a:rPr>
              <a:t>exports</a:t>
            </a:r>
          </a:p>
        </p:txBody>
      </p:sp>
      <p:sp>
        <p:nvSpPr>
          <p:cNvPr id="23" name="TextBox 22">
            <a:extLst>
              <a:ext uri="{FF2B5EF4-FFF2-40B4-BE49-F238E27FC236}">
                <a16:creationId xmlns:a16="http://schemas.microsoft.com/office/drawing/2014/main" id="{DD6774F2-5E32-483B-A8FB-5D2506E3C02D}"/>
              </a:ext>
            </a:extLst>
          </p:cNvPr>
          <p:cNvSpPr txBox="1"/>
          <p:nvPr/>
        </p:nvSpPr>
        <p:spPr>
          <a:xfrm>
            <a:off x="1903412" y="3897868"/>
            <a:ext cx="301686" cy="369332"/>
          </a:xfrm>
          <a:prstGeom prst="rect">
            <a:avLst/>
          </a:prstGeom>
          <a:noFill/>
        </p:spPr>
        <p:txBody>
          <a:bodyPr wrap="none" rtlCol="0">
            <a:spAutoFit/>
          </a:bodyPr>
          <a:lstStyle/>
          <a:p>
            <a:pPr algn="ctr"/>
            <a:r>
              <a:rPr lang="en-US" dirty="0">
                <a:latin typeface="National semibold" panose="02000503000000020004"/>
              </a:rPr>
              <a:t>0</a:t>
            </a:r>
          </a:p>
        </p:txBody>
      </p:sp>
    </p:spTree>
    <p:extLst>
      <p:ext uri="{BB962C8B-B14F-4D97-AF65-F5344CB8AC3E}">
        <p14:creationId xmlns:p14="http://schemas.microsoft.com/office/powerpoint/2010/main" val="162770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3"/>
          <p:cNvSpPr>
            <a:spLocks noGrp="1" noChangeArrowheads="1"/>
          </p:cNvSpPr>
          <p:nvPr>
            <p:ph type="body" idx="4294967295"/>
          </p:nvPr>
        </p:nvSpPr>
        <p:spPr>
          <a:xfrm>
            <a:off x="1827212" y="1905000"/>
            <a:ext cx="8763000" cy="4410075"/>
          </a:xfrm>
        </p:spPr>
        <p:txBody>
          <a:bodyPr vert="horz" lIns="91440" tIns="45720" rIns="91440" bIns="45720" rtlCol="0">
            <a:normAutofit/>
          </a:bodyPr>
          <a:lstStyle/>
          <a:p>
            <a:pPr marL="457200" indent="-457200">
              <a:lnSpc>
                <a:spcPct val="90000"/>
              </a:lnSpc>
              <a:buFont typeface="+mj-lt"/>
              <a:buAutoNum type="arabicPeriod"/>
            </a:pPr>
            <a:r>
              <a:rPr lang="en-US" dirty="0">
                <a:latin typeface="National semibold" panose="02000503000000020004"/>
              </a:rPr>
              <a:t>Changes in output (income)</a:t>
            </a:r>
          </a:p>
          <a:p>
            <a:pPr lvl="1">
              <a:lnSpc>
                <a:spcPct val="90000"/>
              </a:lnSpc>
            </a:pPr>
            <a:r>
              <a:rPr lang="en-US" dirty="0">
                <a:latin typeface="National semibold" panose="02000503000000020004"/>
              </a:rPr>
              <a:t>A rise in </a:t>
            </a:r>
            <a:r>
              <a:rPr lang="en-US" i="1" u="sng" dirty="0">
                <a:latin typeface="National semibold" panose="02000503000000020004"/>
              </a:rPr>
              <a:t>domestic</a:t>
            </a:r>
            <a:r>
              <a:rPr lang="en-US" dirty="0">
                <a:latin typeface="National semibold" panose="02000503000000020004"/>
              </a:rPr>
              <a:t> income raises demand for goods and services, including imports, so net exports decline.</a:t>
            </a:r>
          </a:p>
          <a:p>
            <a:pPr lvl="1">
              <a:lnSpc>
                <a:spcPct val="90000"/>
              </a:lnSpc>
            </a:pPr>
            <a:r>
              <a:rPr lang="en-US" dirty="0">
                <a:latin typeface="National semibold" panose="02000503000000020004"/>
              </a:rPr>
              <a:t>To purchase more imports, people must sell the domestic currency to buy foreign currency. This depreciates the domestic currency.</a:t>
            </a:r>
          </a:p>
          <a:p>
            <a:pPr marL="457200" indent="-457200">
              <a:buFont typeface="+mj-lt"/>
              <a:buAutoNum type="arabicPeriod"/>
            </a:pPr>
            <a:endParaRPr lang="en-US" dirty="0">
              <a:latin typeface="National semibold" panose="02000503000000020004"/>
            </a:endParaRPr>
          </a:p>
          <a:p>
            <a:pPr marL="457200" indent="-457200">
              <a:buFont typeface="+mj-lt"/>
              <a:buAutoNum type="arabicPeriod"/>
            </a:pPr>
            <a:r>
              <a:rPr lang="en-US" dirty="0">
                <a:latin typeface="National semibold" panose="02000503000000020004"/>
              </a:rPr>
              <a:t>Changes in the real interest rate</a:t>
            </a:r>
          </a:p>
          <a:p>
            <a:pPr lvl="1">
              <a:lnSpc>
                <a:spcPct val="90000"/>
              </a:lnSpc>
            </a:pPr>
            <a:r>
              <a:rPr lang="en-US" dirty="0">
                <a:latin typeface="National semibold" panose="02000503000000020004"/>
              </a:rPr>
              <a:t>A rise in the </a:t>
            </a:r>
            <a:r>
              <a:rPr lang="en-US" i="1" u="sng" dirty="0">
                <a:latin typeface="National semibold" panose="02000503000000020004"/>
              </a:rPr>
              <a:t>domestic</a:t>
            </a:r>
            <a:r>
              <a:rPr lang="en-US" dirty="0">
                <a:latin typeface="National semibold" panose="02000503000000020004"/>
              </a:rPr>
              <a:t> real interest rate causes foreigners to buy our assets more, increasing the demand for our currency, which appreciates.</a:t>
            </a:r>
          </a:p>
          <a:p>
            <a:pPr lvl="1">
              <a:lnSpc>
                <a:spcPct val="90000"/>
              </a:lnSpc>
            </a:pPr>
            <a:r>
              <a:rPr lang="en-US" dirty="0">
                <a:latin typeface="National semibold" panose="02000503000000020004"/>
              </a:rPr>
              <a:t>The rise in the value of the domestic currency leads to a decline in net exports</a:t>
            </a:r>
          </a:p>
        </p:txBody>
      </p:sp>
      <p:sp>
        <p:nvSpPr>
          <p:cNvPr id="5" name="Title 12">
            <a:extLst>
              <a:ext uri="{FF2B5EF4-FFF2-40B4-BE49-F238E27FC236}">
                <a16:creationId xmlns:a16="http://schemas.microsoft.com/office/drawing/2014/main" id="{C6DD0D8B-ADCB-48FD-B5B8-8BB7733B1F90}"/>
              </a:ext>
            </a:extLst>
          </p:cNvPr>
          <p:cNvSpPr txBox="1">
            <a:spLocks/>
          </p:cNvSpPr>
          <p:nvPr/>
        </p:nvSpPr>
        <p:spPr>
          <a:xfrm>
            <a:off x="1522412" y="3048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b="1" dirty="0">
                <a:latin typeface="National semibold" panose="02000503000000020004"/>
              </a:rPr>
              <a:t>Macroeconomic determinants of exchange rate and net export demand</a:t>
            </a:r>
            <a:endParaRPr lang="en-US" sz="4000" i="1" dirty="0">
              <a:latin typeface="National semibold" panose="02000503000000020004"/>
            </a:endParaRPr>
          </a:p>
        </p:txBody>
      </p:sp>
    </p:spTree>
    <p:extLst>
      <p:ext uri="{BB962C8B-B14F-4D97-AF65-F5344CB8AC3E}">
        <p14:creationId xmlns:p14="http://schemas.microsoft.com/office/powerpoint/2010/main" val="2062622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5">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03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403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403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403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FF401B36-4163-4E01-8630-A436A8FDB0B7}"/>
              </a:ext>
            </a:extLst>
          </p:cNvPr>
          <p:cNvGraphicFramePr>
            <a:graphicFrameLocks noGrp="1"/>
          </p:cNvGraphicFramePr>
          <p:nvPr>
            <p:extLst>
              <p:ext uri="{D42A27DB-BD31-4B8C-83A1-F6EECF244321}">
                <p14:modId xmlns:p14="http://schemas.microsoft.com/office/powerpoint/2010/main" val="707003851"/>
              </p:ext>
            </p:extLst>
          </p:nvPr>
        </p:nvGraphicFramePr>
        <p:xfrm>
          <a:off x="2464328" y="2057402"/>
          <a:ext cx="8125884" cy="3809998"/>
        </p:xfrm>
        <a:graphic>
          <a:graphicData uri="http://schemas.openxmlformats.org/drawingml/2006/table">
            <a:tbl>
              <a:tblPr firstRow="1" bandRow="1">
                <a:tableStyleId>{69CF1AB2-1976-4502-BF36-3FF5EA218861}</a:tableStyleId>
              </a:tblPr>
              <a:tblGrid>
                <a:gridCol w="2708628">
                  <a:extLst>
                    <a:ext uri="{9D8B030D-6E8A-4147-A177-3AD203B41FA5}">
                      <a16:colId xmlns:a16="http://schemas.microsoft.com/office/drawing/2014/main" val="4145816056"/>
                    </a:ext>
                  </a:extLst>
                </a:gridCol>
                <a:gridCol w="2708628">
                  <a:extLst>
                    <a:ext uri="{9D8B030D-6E8A-4147-A177-3AD203B41FA5}">
                      <a16:colId xmlns:a16="http://schemas.microsoft.com/office/drawing/2014/main" val="324156540"/>
                    </a:ext>
                  </a:extLst>
                </a:gridCol>
                <a:gridCol w="2708628">
                  <a:extLst>
                    <a:ext uri="{9D8B030D-6E8A-4147-A177-3AD203B41FA5}">
                      <a16:colId xmlns:a16="http://schemas.microsoft.com/office/drawing/2014/main" val="4292372938"/>
                    </a:ext>
                  </a:extLst>
                </a:gridCol>
              </a:tblGrid>
              <a:tr h="949506">
                <a:tc>
                  <a:txBody>
                    <a:bodyPr/>
                    <a:lstStyle/>
                    <a:p>
                      <a:endParaRPr lang="en-US" dirty="0">
                        <a:latin typeface="National semibold"/>
                      </a:endParaRPr>
                    </a:p>
                  </a:txBody>
                  <a:tcPr anchor="ctr"/>
                </a:tc>
                <a:tc>
                  <a:txBody>
                    <a:bodyPr/>
                    <a:lstStyle/>
                    <a:p>
                      <a:pPr algn="ctr"/>
                      <a:r>
                        <a:rPr lang="en-US" dirty="0">
                          <a:latin typeface="National semibold"/>
                        </a:rPr>
                        <a:t>Effect on the value of the domestic currency</a:t>
                      </a:r>
                    </a:p>
                  </a:txBody>
                  <a:tcPr anchor="ctr"/>
                </a:tc>
                <a:tc>
                  <a:txBody>
                    <a:bodyPr/>
                    <a:lstStyle/>
                    <a:p>
                      <a:pPr algn="ctr"/>
                      <a:r>
                        <a:rPr lang="en-US" dirty="0">
                          <a:latin typeface="National semibold"/>
                        </a:rPr>
                        <a:t>Effect on net exports</a:t>
                      </a:r>
                    </a:p>
                  </a:txBody>
                  <a:tcPr anchor="ctr"/>
                </a:tc>
                <a:extLst>
                  <a:ext uri="{0D108BD9-81ED-4DB2-BD59-A6C34878D82A}">
                    <a16:rowId xmlns:a16="http://schemas.microsoft.com/office/drawing/2014/main" val="788404724"/>
                  </a:ext>
                </a:extLst>
              </a:tr>
              <a:tr h="715123">
                <a:tc>
                  <a:txBody>
                    <a:bodyPr/>
                    <a:lstStyle/>
                    <a:p>
                      <a:r>
                        <a:rPr lang="en-US" dirty="0">
                          <a:latin typeface="National semibold"/>
                        </a:rPr>
                        <a:t>Increase in domestic output/income, </a:t>
                      </a:r>
                      <a:r>
                        <a:rPr lang="en-US" i="1" dirty="0">
                          <a:latin typeface="National semibold"/>
                        </a:rPr>
                        <a:t>Y</a:t>
                      </a:r>
                    </a:p>
                  </a:txBody>
                  <a:tcPr anchor="ctr"/>
                </a:tc>
                <a:tc>
                  <a:txBody>
                    <a:bodyPr/>
                    <a:lstStyle/>
                    <a:p>
                      <a:pPr algn="ctr"/>
                      <a:r>
                        <a:rPr lang="en-US" dirty="0">
                          <a:latin typeface="National semibold"/>
                        </a:rPr>
                        <a:t>Fall</a:t>
                      </a:r>
                    </a:p>
                  </a:txBody>
                  <a:tcPr anchor="ctr"/>
                </a:tc>
                <a:tc>
                  <a:txBody>
                    <a:bodyPr/>
                    <a:lstStyle/>
                    <a:p>
                      <a:pPr algn="ctr"/>
                      <a:r>
                        <a:rPr lang="en-US" dirty="0">
                          <a:latin typeface="National semibold"/>
                        </a:rPr>
                        <a:t>Fall</a:t>
                      </a:r>
                    </a:p>
                  </a:txBody>
                  <a:tcPr anchor="ctr"/>
                </a:tc>
                <a:extLst>
                  <a:ext uri="{0D108BD9-81ED-4DB2-BD59-A6C34878D82A}">
                    <a16:rowId xmlns:a16="http://schemas.microsoft.com/office/drawing/2014/main" val="3249570779"/>
                  </a:ext>
                </a:extLst>
              </a:tr>
              <a:tr h="715123">
                <a:tc>
                  <a:txBody>
                    <a:bodyPr/>
                    <a:lstStyle/>
                    <a:p>
                      <a:r>
                        <a:rPr lang="en-US" dirty="0">
                          <a:latin typeface="National semibold"/>
                        </a:rPr>
                        <a:t>Increase in foreign output/income, </a:t>
                      </a:r>
                      <a:r>
                        <a:rPr lang="en-US" i="1" dirty="0" err="1">
                          <a:latin typeface="National semibold"/>
                        </a:rPr>
                        <a:t>Y</a:t>
                      </a:r>
                      <a:r>
                        <a:rPr lang="en-US" i="1" baseline="-25000" dirty="0" err="1">
                          <a:latin typeface="National semibold"/>
                        </a:rPr>
                        <a:t>For</a:t>
                      </a:r>
                      <a:endParaRPr lang="en-US" i="1" dirty="0">
                        <a:latin typeface="National semibold"/>
                      </a:endParaRPr>
                    </a:p>
                  </a:txBody>
                  <a:tcPr anchor="ctr"/>
                </a:tc>
                <a:tc>
                  <a:txBody>
                    <a:bodyPr/>
                    <a:lstStyle/>
                    <a:p>
                      <a:pPr algn="ctr"/>
                      <a:r>
                        <a:rPr lang="en-US" dirty="0">
                          <a:latin typeface="National semibold"/>
                        </a:rPr>
                        <a:t>Rise</a:t>
                      </a:r>
                    </a:p>
                  </a:txBody>
                  <a:tcPr anchor="ctr"/>
                </a:tc>
                <a:tc>
                  <a:txBody>
                    <a:bodyPr/>
                    <a:lstStyle/>
                    <a:p>
                      <a:pPr algn="ctr"/>
                      <a:r>
                        <a:rPr lang="en-US" dirty="0">
                          <a:latin typeface="National semibold"/>
                        </a:rPr>
                        <a:t>Rise</a:t>
                      </a:r>
                    </a:p>
                  </a:txBody>
                  <a:tcPr anchor="ctr"/>
                </a:tc>
                <a:extLst>
                  <a:ext uri="{0D108BD9-81ED-4DB2-BD59-A6C34878D82A}">
                    <a16:rowId xmlns:a16="http://schemas.microsoft.com/office/drawing/2014/main" val="682216069"/>
                  </a:ext>
                </a:extLst>
              </a:tr>
              <a:tr h="715123">
                <a:tc>
                  <a:txBody>
                    <a:bodyPr/>
                    <a:lstStyle/>
                    <a:p>
                      <a:r>
                        <a:rPr lang="en-US" dirty="0">
                          <a:latin typeface="National semibold"/>
                        </a:rPr>
                        <a:t>Increase in domestic real interest rate, </a:t>
                      </a:r>
                      <a:r>
                        <a:rPr lang="en-US" i="1" dirty="0">
                          <a:latin typeface="National semibold"/>
                        </a:rPr>
                        <a:t>r</a:t>
                      </a:r>
                    </a:p>
                  </a:txBody>
                  <a:tcPr anchor="ctr"/>
                </a:tc>
                <a:tc>
                  <a:txBody>
                    <a:bodyPr/>
                    <a:lstStyle/>
                    <a:p>
                      <a:pPr algn="ctr"/>
                      <a:r>
                        <a:rPr lang="en-US" dirty="0">
                          <a:latin typeface="National semibold"/>
                        </a:rPr>
                        <a:t>Rise</a:t>
                      </a:r>
                    </a:p>
                  </a:txBody>
                  <a:tcPr anchor="ctr"/>
                </a:tc>
                <a:tc>
                  <a:txBody>
                    <a:bodyPr/>
                    <a:lstStyle/>
                    <a:p>
                      <a:pPr algn="ctr"/>
                      <a:r>
                        <a:rPr lang="en-US" dirty="0">
                          <a:latin typeface="National semibold"/>
                        </a:rPr>
                        <a:t>Fall</a:t>
                      </a:r>
                    </a:p>
                  </a:txBody>
                  <a:tcPr anchor="ctr"/>
                </a:tc>
                <a:extLst>
                  <a:ext uri="{0D108BD9-81ED-4DB2-BD59-A6C34878D82A}">
                    <a16:rowId xmlns:a16="http://schemas.microsoft.com/office/drawing/2014/main" val="4272313479"/>
                  </a:ext>
                </a:extLst>
              </a:tr>
              <a:tr h="715123">
                <a:tc>
                  <a:txBody>
                    <a:bodyPr/>
                    <a:lstStyle/>
                    <a:p>
                      <a:r>
                        <a:rPr lang="en-US" dirty="0">
                          <a:latin typeface="National semibold"/>
                        </a:rPr>
                        <a:t>Increase in foreign real interest rate, </a:t>
                      </a:r>
                      <a:r>
                        <a:rPr lang="en-US" i="1" dirty="0" err="1">
                          <a:latin typeface="National semibold"/>
                        </a:rPr>
                        <a:t>r</a:t>
                      </a:r>
                      <a:r>
                        <a:rPr lang="en-US" i="1" baseline="-25000" dirty="0" err="1">
                          <a:latin typeface="National semibold"/>
                        </a:rPr>
                        <a:t>For</a:t>
                      </a:r>
                      <a:endParaRPr lang="en-US" i="1" dirty="0">
                        <a:latin typeface="National semibold"/>
                      </a:endParaRPr>
                    </a:p>
                  </a:txBody>
                  <a:tcPr anchor="ctr"/>
                </a:tc>
                <a:tc>
                  <a:txBody>
                    <a:bodyPr/>
                    <a:lstStyle/>
                    <a:p>
                      <a:pPr algn="ctr"/>
                      <a:r>
                        <a:rPr lang="en-US" dirty="0">
                          <a:latin typeface="National semibold"/>
                        </a:rPr>
                        <a:t>Fall</a:t>
                      </a:r>
                    </a:p>
                  </a:txBody>
                  <a:tcPr anchor="ctr"/>
                </a:tc>
                <a:tc>
                  <a:txBody>
                    <a:bodyPr/>
                    <a:lstStyle/>
                    <a:p>
                      <a:pPr algn="ctr"/>
                      <a:r>
                        <a:rPr lang="en-US" dirty="0">
                          <a:latin typeface="National semibold"/>
                        </a:rPr>
                        <a:t>Rise</a:t>
                      </a:r>
                    </a:p>
                  </a:txBody>
                  <a:tcPr anchor="ctr"/>
                </a:tc>
                <a:extLst>
                  <a:ext uri="{0D108BD9-81ED-4DB2-BD59-A6C34878D82A}">
                    <a16:rowId xmlns:a16="http://schemas.microsoft.com/office/drawing/2014/main" val="3883864865"/>
                  </a:ext>
                </a:extLst>
              </a:tr>
            </a:tbl>
          </a:graphicData>
        </a:graphic>
      </p:graphicFrame>
      <p:sp>
        <p:nvSpPr>
          <p:cNvPr id="3" name="Title 2">
            <a:extLst>
              <a:ext uri="{FF2B5EF4-FFF2-40B4-BE49-F238E27FC236}">
                <a16:creationId xmlns:a16="http://schemas.microsoft.com/office/drawing/2014/main" id="{95AF6FB0-60DA-41D2-9E44-DB233F9E2296}"/>
              </a:ext>
            </a:extLst>
          </p:cNvPr>
          <p:cNvSpPr>
            <a:spLocks noGrp="1"/>
          </p:cNvSpPr>
          <p:nvPr>
            <p:ph type="title"/>
          </p:nvPr>
        </p:nvSpPr>
        <p:spPr>
          <a:xfrm>
            <a:off x="1674812" y="476250"/>
            <a:ext cx="9829799" cy="1219200"/>
          </a:xfrm>
        </p:spPr>
        <p:txBody>
          <a:bodyPr anchor="ctr"/>
          <a:lstStyle/>
          <a:p>
            <a:r>
              <a:rPr lang="en-US" b="1" dirty="0">
                <a:latin typeface="National semibold" panose="02000503000000020004"/>
              </a:rPr>
              <a:t>Summary</a:t>
            </a:r>
          </a:p>
        </p:txBody>
      </p:sp>
    </p:spTree>
    <p:extLst>
      <p:ext uri="{BB962C8B-B14F-4D97-AF65-F5344CB8AC3E}">
        <p14:creationId xmlns:p14="http://schemas.microsoft.com/office/powerpoint/2010/main" val="619183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FF401B36-4163-4E01-8630-A436A8FDB0B7}"/>
              </a:ext>
            </a:extLst>
          </p:cNvPr>
          <p:cNvGraphicFramePr>
            <a:graphicFrameLocks noGrp="1"/>
          </p:cNvGraphicFramePr>
          <p:nvPr>
            <p:extLst>
              <p:ext uri="{D42A27DB-BD31-4B8C-83A1-F6EECF244321}">
                <p14:modId xmlns:p14="http://schemas.microsoft.com/office/powerpoint/2010/main" val="1658988580"/>
              </p:ext>
            </p:extLst>
          </p:nvPr>
        </p:nvGraphicFramePr>
        <p:xfrm>
          <a:off x="2464328" y="2057402"/>
          <a:ext cx="8125884" cy="3809998"/>
        </p:xfrm>
        <a:graphic>
          <a:graphicData uri="http://schemas.openxmlformats.org/drawingml/2006/table">
            <a:tbl>
              <a:tblPr firstRow="1" bandRow="1">
                <a:tableStyleId>{69CF1AB2-1976-4502-BF36-3FF5EA218861}</a:tableStyleId>
              </a:tblPr>
              <a:tblGrid>
                <a:gridCol w="2708628">
                  <a:extLst>
                    <a:ext uri="{9D8B030D-6E8A-4147-A177-3AD203B41FA5}">
                      <a16:colId xmlns:a16="http://schemas.microsoft.com/office/drawing/2014/main" val="4145816056"/>
                    </a:ext>
                  </a:extLst>
                </a:gridCol>
                <a:gridCol w="2708628">
                  <a:extLst>
                    <a:ext uri="{9D8B030D-6E8A-4147-A177-3AD203B41FA5}">
                      <a16:colId xmlns:a16="http://schemas.microsoft.com/office/drawing/2014/main" val="324156540"/>
                    </a:ext>
                  </a:extLst>
                </a:gridCol>
                <a:gridCol w="2708628">
                  <a:extLst>
                    <a:ext uri="{9D8B030D-6E8A-4147-A177-3AD203B41FA5}">
                      <a16:colId xmlns:a16="http://schemas.microsoft.com/office/drawing/2014/main" val="4292372938"/>
                    </a:ext>
                  </a:extLst>
                </a:gridCol>
              </a:tblGrid>
              <a:tr h="949506">
                <a:tc>
                  <a:txBody>
                    <a:bodyPr/>
                    <a:lstStyle/>
                    <a:p>
                      <a:endParaRPr lang="en-US" b="0" dirty="0">
                        <a:latin typeface="National semibold"/>
                      </a:endParaRPr>
                    </a:p>
                  </a:txBody>
                  <a:tcPr anchor="ctr"/>
                </a:tc>
                <a:tc>
                  <a:txBody>
                    <a:bodyPr/>
                    <a:lstStyle/>
                    <a:p>
                      <a:pPr algn="ctr"/>
                      <a:r>
                        <a:rPr lang="en-US" dirty="0">
                          <a:latin typeface="National semibold"/>
                        </a:rPr>
                        <a:t>Effect on the value of the domestic currency</a:t>
                      </a:r>
                    </a:p>
                  </a:txBody>
                  <a:tcPr anchor="ctr"/>
                </a:tc>
                <a:tc>
                  <a:txBody>
                    <a:bodyPr/>
                    <a:lstStyle/>
                    <a:p>
                      <a:pPr algn="ctr"/>
                      <a:r>
                        <a:rPr lang="en-US" dirty="0">
                          <a:latin typeface="National semibold"/>
                        </a:rPr>
                        <a:t>Effect on net exports</a:t>
                      </a:r>
                    </a:p>
                  </a:txBody>
                  <a:tcPr anchor="ctr"/>
                </a:tc>
                <a:extLst>
                  <a:ext uri="{0D108BD9-81ED-4DB2-BD59-A6C34878D82A}">
                    <a16:rowId xmlns:a16="http://schemas.microsoft.com/office/drawing/2014/main" val="788404724"/>
                  </a:ext>
                </a:extLst>
              </a:tr>
              <a:tr h="715123">
                <a:tc>
                  <a:txBody>
                    <a:bodyPr/>
                    <a:lstStyle/>
                    <a:p>
                      <a:r>
                        <a:rPr lang="en-US" b="0" dirty="0">
                          <a:solidFill>
                            <a:srgbClr val="FF0000"/>
                          </a:solidFill>
                          <a:latin typeface="National semibold"/>
                        </a:rPr>
                        <a:t>Increase in domestic output/income, </a:t>
                      </a:r>
                      <a:r>
                        <a:rPr lang="en-US" b="0" i="1" dirty="0">
                          <a:solidFill>
                            <a:srgbClr val="FF0000"/>
                          </a:solidFill>
                          <a:latin typeface="National semibold"/>
                        </a:rPr>
                        <a:t>Y</a:t>
                      </a:r>
                    </a:p>
                  </a:txBody>
                  <a:tcPr anchor="ctr"/>
                </a:tc>
                <a:tc>
                  <a:txBody>
                    <a:bodyPr/>
                    <a:lstStyle/>
                    <a:p>
                      <a:pPr algn="ctr"/>
                      <a:r>
                        <a:rPr lang="en-US" dirty="0">
                          <a:latin typeface="National semibold"/>
                        </a:rPr>
                        <a:t>Fall</a:t>
                      </a:r>
                    </a:p>
                  </a:txBody>
                  <a:tcPr anchor="ctr"/>
                </a:tc>
                <a:tc>
                  <a:txBody>
                    <a:bodyPr/>
                    <a:lstStyle/>
                    <a:p>
                      <a:pPr algn="ctr"/>
                      <a:r>
                        <a:rPr lang="en-US" dirty="0">
                          <a:latin typeface="National semibold"/>
                        </a:rPr>
                        <a:t>Fall</a:t>
                      </a:r>
                    </a:p>
                  </a:txBody>
                  <a:tcPr anchor="ctr"/>
                </a:tc>
                <a:extLst>
                  <a:ext uri="{0D108BD9-81ED-4DB2-BD59-A6C34878D82A}">
                    <a16:rowId xmlns:a16="http://schemas.microsoft.com/office/drawing/2014/main" val="3249570779"/>
                  </a:ext>
                </a:extLst>
              </a:tr>
              <a:tr h="715123">
                <a:tc>
                  <a:txBody>
                    <a:bodyPr/>
                    <a:lstStyle/>
                    <a:p>
                      <a:r>
                        <a:rPr lang="en-US" b="0" dirty="0">
                          <a:latin typeface="National semibold"/>
                        </a:rPr>
                        <a:t>Increase in foreign output/income, </a:t>
                      </a:r>
                      <a:r>
                        <a:rPr lang="en-US" b="0" i="1" dirty="0" err="1">
                          <a:latin typeface="National semibold"/>
                        </a:rPr>
                        <a:t>Y</a:t>
                      </a:r>
                      <a:r>
                        <a:rPr lang="en-US" b="0" i="1" baseline="-25000" dirty="0" err="1">
                          <a:latin typeface="National semibold"/>
                        </a:rPr>
                        <a:t>For</a:t>
                      </a:r>
                      <a:endParaRPr lang="en-US" b="0" i="1" dirty="0">
                        <a:latin typeface="National semibold"/>
                      </a:endParaRPr>
                    </a:p>
                  </a:txBody>
                  <a:tcPr anchor="ctr"/>
                </a:tc>
                <a:tc>
                  <a:txBody>
                    <a:bodyPr/>
                    <a:lstStyle/>
                    <a:p>
                      <a:pPr algn="ctr"/>
                      <a:r>
                        <a:rPr lang="en-US" dirty="0">
                          <a:latin typeface="National semibold"/>
                        </a:rPr>
                        <a:t>Rise</a:t>
                      </a:r>
                    </a:p>
                  </a:txBody>
                  <a:tcPr anchor="ctr"/>
                </a:tc>
                <a:tc>
                  <a:txBody>
                    <a:bodyPr/>
                    <a:lstStyle/>
                    <a:p>
                      <a:pPr algn="ctr"/>
                      <a:r>
                        <a:rPr lang="en-US" dirty="0">
                          <a:latin typeface="National semibold"/>
                        </a:rPr>
                        <a:t>Rise</a:t>
                      </a:r>
                    </a:p>
                  </a:txBody>
                  <a:tcPr anchor="ctr"/>
                </a:tc>
                <a:extLst>
                  <a:ext uri="{0D108BD9-81ED-4DB2-BD59-A6C34878D82A}">
                    <a16:rowId xmlns:a16="http://schemas.microsoft.com/office/drawing/2014/main" val="682216069"/>
                  </a:ext>
                </a:extLst>
              </a:tr>
              <a:tr h="715123">
                <a:tc>
                  <a:txBody>
                    <a:bodyPr/>
                    <a:lstStyle/>
                    <a:p>
                      <a:r>
                        <a:rPr lang="en-US" b="0" dirty="0">
                          <a:latin typeface="National semibold"/>
                        </a:rPr>
                        <a:t>Increase in domestic real interest rate, </a:t>
                      </a:r>
                      <a:r>
                        <a:rPr lang="en-US" b="0" i="1" dirty="0">
                          <a:latin typeface="National semibold"/>
                        </a:rPr>
                        <a:t>r</a:t>
                      </a:r>
                    </a:p>
                  </a:txBody>
                  <a:tcPr anchor="ctr"/>
                </a:tc>
                <a:tc>
                  <a:txBody>
                    <a:bodyPr/>
                    <a:lstStyle/>
                    <a:p>
                      <a:pPr algn="ctr"/>
                      <a:r>
                        <a:rPr lang="en-US" dirty="0">
                          <a:latin typeface="National semibold"/>
                        </a:rPr>
                        <a:t>Rise</a:t>
                      </a:r>
                    </a:p>
                  </a:txBody>
                  <a:tcPr anchor="ctr"/>
                </a:tc>
                <a:tc>
                  <a:txBody>
                    <a:bodyPr/>
                    <a:lstStyle/>
                    <a:p>
                      <a:pPr algn="ctr"/>
                      <a:r>
                        <a:rPr lang="en-US" dirty="0">
                          <a:latin typeface="National semibold"/>
                        </a:rPr>
                        <a:t>Fall</a:t>
                      </a:r>
                    </a:p>
                  </a:txBody>
                  <a:tcPr anchor="ctr"/>
                </a:tc>
                <a:extLst>
                  <a:ext uri="{0D108BD9-81ED-4DB2-BD59-A6C34878D82A}">
                    <a16:rowId xmlns:a16="http://schemas.microsoft.com/office/drawing/2014/main" val="4272313479"/>
                  </a:ext>
                </a:extLst>
              </a:tr>
              <a:tr h="715123">
                <a:tc>
                  <a:txBody>
                    <a:bodyPr/>
                    <a:lstStyle/>
                    <a:p>
                      <a:r>
                        <a:rPr lang="en-US" b="0" dirty="0">
                          <a:latin typeface="National semibold"/>
                        </a:rPr>
                        <a:t>Increase in foreign real interest rate, </a:t>
                      </a:r>
                      <a:r>
                        <a:rPr lang="en-US" b="0" i="1" dirty="0" err="1">
                          <a:latin typeface="National semibold"/>
                        </a:rPr>
                        <a:t>r</a:t>
                      </a:r>
                      <a:r>
                        <a:rPr lang="en-US" b="0" i="1" baseline="-25000" dirty="0" err="1">
                          <a:latin typeface="National semibold"/>
                        </a:rPr>
                        <a:t>For</a:t>
                      </a:r>
                      <a:endParaRPr lang="en-US" b="0" i="1" dirty="0">
                        <a:latin typeface="National semibold"/>
                      </a:endParaRPr>
                    </a:p>
                  </a:txBody>
                  <a:tcPr anchor="ctr"/>
                </a:tc>
                <a:tc>
                  <a:txBody>
                    <a:bodyPr/>
                    <a:lstStyle/>
                    <a:p>
                      <a:pPr algn="ctr"/>
                      <a:r>
                        <a:rPr lang="en-US" dirty="0">
                          <a:latin typeface="National semibold"/>
                        </a:rPr>
                        <a:t>Fall</a:t>
                      </a:r>
                    </a:p>
                  </a:txBody>
                  <a:tcPr anchor="ctr"/>
                </a:tc>
                <a:tc>
                  <a:txBody>
                    <a:bodyPr/>
                    <a:lstStyle/>
                    <a:p>
                      <a:pPr algn="ctr"/>
                      <a:r>
                        <a:rPr lang="en-US" dirty="0">
                          <a:latin typeface="National semibold"/>
                        </a:rPr>
                        <a:t>Rise</a:t>
                      </a:r>
                    </a:p>
                  </a:txBody>
                  <a:tcPr anchor="ctr"/>
                </a:tc>
                <a:extLst>
                  <a:ext uri="{0D108BD9-81ED-4DB2-BD59-A6C34878D82A}">
                    <a16:rowId xmlns:a16="http://schemas.microsoft.com/office/drawing/2014/main" val="3883864865"/>
                  </a:ext>
                </a:extLst>
              </a:tr>
            </a:tbl>
          </a:graphicData>
        </a:graphic>
      </p:graphicFrame>
      <p:sp>
        <p:nvSpPr>
          <p:cNvPr id="5" name="Oval 4">
            <a:extLst>
              <a:ext uri="{FF2B5EF4-FFF2-40B4-BE49-F238E27FC236}">
                <a16:creationId xmlns:a16="http://schemas.microsoft.com/office/drawing/2014/main" id="{EC823D03-9A4D-4BC7-BCB3-14E61508F0B3}"/>
              </a:ext>
            </a:extLst>
          </p:cNvPr>
          <p:cNvSpPr/>
          <p:nvPr/>
        </p:nvSpPr>
        <p:spPr>
          <a:xfrm>
            <a:off x="5942012" y="3089910"/>
            <a:ext cx="1143000" cy="533400"/>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1A24DA8-88B2-4A53-AC27-D61B7A03D9B8}"/>
              </a:ext>
            </a:extLst>
          </p:cNvPr>
          <p:cNvSpPr/>
          <p:nvPr/>
        </p:nvSpPr>
        <p:spPr>
          <a:xfrm>
            <a:off x="8685212" y="3089910"/>
            <a:ext cx="1143000" cy="533400"/>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2">
            <a:extLst>
              <a:ext uri="{FF2B5EF4-FFF2-40B4-BE49-F238E27FC236}">
                <a16:creationId xmlns:a16="http://schemas.microsoft.com/office/drawing/2014/main" id="{8CA449FF-76D9-4957-B436-D8ED02AACB51}"/>
              </a:ext>
            </a:extLst>
          </p:cNvPr>
          <p:cNvSpPr txBox="1">
            <a:spLocks/>
          </p:cNvSpPr>
          <p:nvPr/>
        </p:nvSpPr>
        <p:spPr>
          <a:xfrm>
            <a:off x="1674812" y="476250"/>
            <a:ext cx="9829799" cy="1219200"/>
          </a:xfrm>
          <a:prstGeom prst="rect">
            <a:avLst/>
          </a:prstGeom>
        </p:spPr>
        <p:txBody>
          <a:bodyPr anchor="ct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b="1">
                <a:latin typeface="National semibold" panose="02000503000000020004"/>
              </a:rPr>
              <a:t>Summary</a:t>
            </a:r>
            <a:endParaRPr lang="en-US" b="1" dirty="0">
              <a:latin typeface="National semibold" panose="02000503000000020004"/>
            </a:endParaRPr>
          </a:p>
        </p:txBody>
      </p:sp>
    </p:spTree>
    <p:extLst>
      <p:ext uri="{BB962C8B-B14F-4D97-AF65-F5344CB8AC3E}">
        <p14:creationId xmlns:p14="http://schemas.microsoft.com/office/powerpoint/2010/main" val="424903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FF401B36-4163-4E01-8630-A436A8FDB0B7}"/>
              </a:ext>
            </a:extLst>
          </p:cNvPr>
          <p:cNvGraphicFramePr>
            <a:graphicFrameLocks noGrp="1"/>
          </p:cNvGraphicFramePr>
          <p:nvPr>
            <p:extLst>
              <p:ext uri="{D42A27DB-BD31-4B8C-83A1-F6EECF244321}">
                <p14:modId xmlns:p14="http://schemas.microsoft.com/office/powerpoint/2010/main" val="3323758757"/>
              </p:ext>
            </p:extLst>
          </p:nvPr>
        </p:nvGraphicFramePr>
        <p:xfrm>
          <a:off x="2464328" y="2057402"/>
          <a:ext cx="8125884" cy="3809998"/>
        </p:xfrm>
        <a:graphic>
          <a:graphicData uri="http://schemas.openxmlformats.org/drawingml/2006/table">
            <a:tbl>
              <a:tblPr firstRow="1" bandRow="1">
                <a:tableStyleId>{69CF1AB2-1976-4502-BF36-3FF5EA218861}</a:tableStyleId>
              </a:tblPr>
              <a:tblGrid>
                <a:gridCol w="2708628">
                  <a:extLst>
                    <a:ext uri="{9D8B030D-6E8A-4147-A177-3AD203B41FA5}">
                      <a16:colId xmlns:a16="http://schemas.microsoft.com/office/drawing/2014/main" val="4145816056"/>
                    </a:ext>
                  </a:extLst>
                </a:gridCol>
                <a:gridCol w="2708628">
                  <a:extLst>
                    <a:ext uri="{9D8B030D-6E8A-4147-A177-3AD203B41FA5}">
                      <a16:colId xmlns:a16="http://schemas.microsoft.com/office/drawing/2014/main" val="324156540"/>
                    </a:ext>
                  </a:extLst>
                </a:gridCol>
                <a:gridCol w="2708628">
                  <a:extLst>
                    <a:ext uri="{9D8B030D-6E8A-4147-A177-3AD203B41FA5}">
                      <a16:colId xmlns:a16="http://schemas.microsoft.com/office/drawing/2014/main" val="4292372938"/>
                    </a:ext>
                  </a:extLst>
                </a:gridCol>
              </a:tblGrid>
              <a:tr h="949506">
                <a:tc>
                  <a:txBody>
                    <a:bodyPr/>
                    <a:lstStyle/>
                    <a:p>
                      <a:endParaRPr lang="en-US" b="0" dirty="0">
                        <a:latin typeface="National semibold"/>
                      </a:endParaRPr>
                    </a:p>
                  </a:txBody>
                  <a:tcPr anchor="ctr"/>
                </a:tc>
                <a:tc>
                  <a:txBody>
                    <a:bodyPr/>
                    <a:lstStyle/>
                    <a:p>
                      <a:pPr algn="ctr"/>
                      <a:r>
                        <a:rPr lang="en-US" dirty="0">
                          <a:latin typeface="National semibold"/>
                        </a:rPr>
                        <a:t>Effect on the value of the domestic currency</a:t>
                      </a:r>
                    </a:p>
                  </a:txBody>
                  <a:tcPr anchor="ctr"/>
                </a:tc>
                <a:tc>
                  <a:txBody>
                    <a:bodyPr/>
                    <a:lstStyle/>
                    <a:p>
                      <a:pPr algn="ctr"/>
                      <a:r>
                        <a:rPr lang="en-US" dirty="0">
                          <a:latin typeface="National semibold"/>
                        </a:rPr>
                        <a:t>Effect on net exports</a:t>
                      </a:r>
                    </a:p>
                  </a:txBody>
                  <a:tcPr anchor="ctr"/>
                </a:tc>
                <a:extLst>
                  <a:ext uri="{0D108BD9-81ED-4DB2-BD59-A6C34878D82A}">
                    <a16:rowId xmlns:a16="http://schemas.microsoft.com/office/drawing/2014/main" val="788404724"/>
                  </a:ext>
                </a:extLst>
              </a:tr>
              <a:tr h="715123">
                <a:tc>
                  <a:txBody>
                    <a:bodyPr/>
                    <a:lstStyle/>
                    <a:p>
                      <a:r>
                        <a:rPr lang="en-US" b="0" dirty="0">
                          <a:latin typeface="National semibold"/>
                        </a:rPr>
                        <a:t>Increase in domestic output/income, </a:t>
                      </a:r>
                      <a:r>
                        <a:rPr lang="en-US" b="0" i="1" dirty="0">
                          <a:latin typeface="National semibold"/>
                        </a:rPr>
                        <a:t>Y</a:t>
                      </a:r>
                    </a:p>
                  </a:txBody>
                  <a:tcPr anchor="ctr"/>
                </a:tc>
                <a:tc>
                  <a:txBody>
                    <a:bodyPr/>
                    <a:lstStyle/>
                    <a:p>
                      <a:pPr algn="ctr"/>
                      <a:r>
                        <a:rPr lang="en-US" dirty="0">
                          <a:latin typeface="National semibold"/>
                        </a:rPr>
                        <a:t>Fall</a:t>
                      </a:r>
                    </a:p>
                  </a:txBody>
                  <a:tcPr anchor="ctr"/>
                </a:tc>
                <a:tc>
                  <a:txBody>
                    <a:bodyPr/>
                    <a:lstStyle/>
                    <a:p>
                      <a:pPr algn="ctr"/>
                      <a:r>
                        <a:rPr lang="en-US" dirty="0">
                          <a:latin typeface="National semibold"/>
                        </a:rPr>
                        <a:t>Fall</a:t>
                      </a:r>
                    </a:p>
                  </a:txBody>
                  <a:tcPr anchor="ctr"/>
                </a:tc>
                <a:extLst>
                  <a:ext uri="{0D108BD9-81ED-4DB2-BD59-A6C34878D82A}">
                    <a16:rowId xmlns:a16="http://schemas.microsoft.com/office/drawing/2014/main" val="3249570779"/>
                  </a:ext>
                </a:extLst>
              </a:tr>
              <a:tr h="715123">
                <a:tc>
                  <a:txBody>
                    <a:bodyPr/>
                    <a:lstStyle/>
                    <a:p>
                      <a:r>
                        <a:rPr lang="en-US" b="0" dirty="0">
                          <a:solidFill>
                            <a:srgbClr val="FF0000"/>
                          </a:solidFill>
                          <a:latin typeface="National semibold"/>
                        </a:rPr>
                        <a:t>Increase in foreign output/income, </a:t>
                      </a:r>
                      <a:r>
                        <a:rPr lang="en-US" b="0" i="1" dirty="0" err="1">
                          <a:solidFill>
                            <a:srgbClr val="FF0000"/>
                          </a:solidFill>
                          <a:latin typeface="National semibold"/>
                        </a:rPr>
                        <a:t>Y</a:t>
                      </a:r>
                      <a:r>
                        <a:rPr lang="en-US" b="0" i="1" baseline="-25000" dirty="0" err="1">
                          <a:solidFill>
                            <a:srgbClr val="FF0000"/>
                          </a:solidFill>
                          <a:latin typeface="National semibold"/>
                        </a:rPr>
                        <a:t>For</a:t>
                      </a:r>
                      <a:endParaRPr lang="en-US" b="0" i="1" dirty="0">
                        <a:solidFill>
                          <a:srgbClr val="FF0000"/>
                        </a:solidFill>
                        <a:latin typeface="National semibold"/>
                      </a:endParaRPr>
                    </a:p>
                  </a:txBody>
                  <a:tcPr anchor="ctr"/>
                </a:tc>
                <a:tc>
                  <a:txBody>
                    <a:bodyPr/>
                    <a:lstStyle/>
                    <a:p>
                      <a:pPr algn="ctr"/>
                      <a:r>
                        <a:rPr lang="en-US" dirty="0">
                          <a:latin typeface="National semibold"/>
                        </a:rPr>
                        <a:t>Rise</a:t>
                      </a:r>
                    </a:p>
                  </a:txBody>
                  <a:tcPr anchor="ctr"/>
                </a:tc>
                <a:tc>
                  <a:txBody>
                    <a:bodyPr/>
                    <a:lstStyle/>
                    <a:p>
                      <a:pPr algn="ctr"/>
                      <a:r>
                        <a:rPr lang="en-US" dirty="0">
                          <a:latin typeface="National semibold"/>
                        </a:rPr>
                        <a:t>Rise</a:t>
                      </a:r>
                    </a:p>
                  </a:txBody>
                  <a:tcPr anchor="ctr"/>
                </a:tc>
                <a:extLst>
                  <a:ext uri="{0D108BD9-81ED-4DB2-BD59-A6C34878D82A}">
                    <a16:rowId xmlns:a16="http://schemas.microsoft.com/office/drawing/2014/main" val="682216069"/>
                  </a:ext>
                </a:extLst>
              </a:tr>
              <a:tr h="715123">
                <a:tc>
                  <a:txBody>
                    <a:bodyPr/>
                    <a:lstStyle/>
                    <a:p>
                      <a:r>
                        <a:rPr lang="en-US" b="0" dirty="0">
                          <a:latin typeface="National semibold"/>
                        </a:rPr>
                        <a:t>Increase in domestic real interest rate, </a:t>
                      </a:r>
                      <a:r>
                        <a:rPr lang="en-US" b="0" i="1" dirty="0">
                          <a:latin typeface="National semibold"/>
                        </a:rPr>
                        <a:t>r</a:t>
                      </a:r>
                    </a:p>
                  </a:txBody>
                  <a:tcPr anchor="ctr"/>
                </a:tc>
                <a:tc>
                  <a:txBody>
                    <a:bodyPr/>
                    <a:lstStyle/>
                    <a:p>
                      <a:pPr algn="ctr"/>
                      <a:r>
                        <a:rPr lang="en-US" dirty="0">
                          <a:latin typeface="National semibold"/>
                        </a:rPr>
                        <a:t>Rise</a:t>
                      </a:r>
                    </a:p>
                  </a:txBody>
                  <a:tcPr anchor="ctr"/>
                </a:tc>
                <a:tc>
                  <a:txBody>
                    <a:bodyPr/>
                    <a:lstStyle/>
                    <a:p>
                      <a:pPr algn="ctr"/>
                      <a:r>
                        <a:rPr lang="en-US" dirty="0">
                          <a:latin typeface="National semibold"/>
                        </a:rPr>
                        <a:t>Fall</a:t>
                      </a:r>
                    </a:p>
                  </a:txBody>
                  <a:tcPr anchor="ctr"/>
                </a:tc>
                <a:extLst>
                  <a:ext uri="{0D108BD9-81ED-4DB2-BD59-A6C34878D82A}">
                    <a16:rowId xmlns:a16="http://schemas.microsoft.com/office/drawing/2014/main" val="4272313479"/>
                  </a:ext>
                </a:extLst>
              </a:tr>
              <a:tr h="715123">
                <a:tc>
                  <a:txBody>
                    <a:bodyPr/>
                    <a:lstStyle/>
                    <a:p>
                      <a:r>
                        <a:rPr lang="en-US" b="0" dirty="0">
                          <a:latin typeface="National semibold"/>
                        </a:rPr>
                        <a:t>Increase in foreign real interest rate, </a:t>
                      </a:r>
                      <a:r>
                        <a:rPr lang="en-US" b="0" i="1" dirty="0" err="1">
                          <a:latin typeface="National semibold"/>
                        </a:rPr>
                        <a:t>r</a:t>
                      </a:r>
                      <a:r>
                        <a:rPr lang="en-US" b="0" i="1" baseline="-25000" dirty="0" err="1">
                          <a:latin typeface="National semibold"/>
                        </a:rPr>
                        <a:t>For</a:t>
                      </a:r>
                      <a:endParaRPr lang="en-US" b="0" i="1" dirty="0">
                        <a:latin typeface="National semibold"/>
                      </a:endParaRPr>
                    </a:p>
                  </a:txBody>
                  <a:tcPr anchor="ctr"/>
                </a:tc>
                <a:tc>
                  <a:txBody>
                    <a:bodyPr/>
                    <a:lstStyle/>
                    <a:p>
                      <a:pPr algn="ctr"/>
                      <a:r>
                        <a:rPr lang="en-US" dirty="0">
                          <a:latin typeface="National semibold"/>
                        </a:rPr>
                        <a:t>Fall</a:t>
                      </a:r>
                    </a:p>
                  </a:txBody>
                  <a:tcPr anchor="ctr"/>
                </a:tc>
                <a:tc>
                  <a:txBody>
                    <a:bodyPr/>
                    <a:lstStyle/>
                    <a:p>
                      <a:pPr algn="ctr"/>
                      <a:r>
                        <a:rPr lang="en-US" dirty="0">
                          <a:latin typeface="National semibold"/>
                        </a:rPr>
                        <a:t>Rise</a:t>
                      </a:r>
                    </a:p>
                  </a:txBody>
                  <a:tcPr anchor="ctr"/>
                </a:tc>
                <a:extLst>
                  <a:ext uri="{0D108BD9-81ED-4DB2-BD59-A6C34878D82A}">
                    <a16:rowId xmlns:a16="http://schemas.microsoft.com/office/drawing/2014/main" val="3883864865"/>
                  </a:ext>
                </a:extLst>
              </a:tr>
            </a:tbl>
          </a:graphicData>
        </a:graphic>
      </p:graphicFrame>
      <p:sp>
        <p:nvSpPr>
          <p:cNvPr id="5" name="Oval 4">
            <a:extLst>
              <a:ext uri="{FF2B5EF4-FFF2-40B4-BE49-F238E27FC236}">
                <a16:creationId xmlns:a16="http://schemas.microsoft.com/office/drawing/2014/main" id="{EC823D03-9A4D-4BC7-BCB3-14E61508F0B3}"/>
              </a:ext>
            </a:extLst>
          </p:cNvPr>
          <p:cNvSpPr/>
          <p:nvPr/>
        </p:nvSpPr>
        <p:spPr>
          <a:xfrm>
            <a:off x="5957252" y="3810000"/>
            <a:ext cx="1143000" cy="533400"/>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1A24DA8-88B2-4A53-AC27-D61B7A03D9B8}"/>
              </a:ext>
            </a:extLst>
          </p:cNvPr>
          <p:cNvSpPr/>
          <p:nvPr/>
        </p:nvSpPr>
        <p:spPr>
          <a:xfrm>
            <a:off x="8692832" y="3810000"/>
            <a:ext cx="1143000" cy="533400"/>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2">
            <a:extLst>
              <a:ext uri="{FF2B5EF4-FFF2-40B4-BE49-F238E27FC236}">
                <a16:creationId xmlns:a16="http://schemas.microsoft.com/office/drawing/2014/main" id="{F29CC11C-646C-4DC5-940B-C7B8F3CB38DC}"/>
              </a:ext>
            </a:extLst>
          </p:cNvPr>
          <p:cNvSpPr>
            <a:spLocks noGrp="1"/>
          </p:cNvSpPr>
          <p:nvPr>
            <p:ph type="title"/>
          </p:nvPr>
        </p:nvSpPr>
        <p:spPr>
          <a:xfrm>
            <a:off x="1674812" y="476250"/>
            <a:ext cx="9829799" cy="1219200"/>
          </a:xfrm>
        </p:spPr>
        <p:txBody>
          <a:bodyPr anchor="ctr"/>
          <a:lstStyle/>
          <a:p>
            <a:r>
              <a:rPr lang="en-US" b="1" dirty="0">
                <a:latin typeface="National semibold" panose="02000503000000020004"/>
              </a:rPr>
              <a:t>Summary</a:t>
            </a:r>
          </a:p>
        </p:txBody>
      </p:sp>
    </p:spTree>
    <p:extLst>
      <p:ext uri="{BB962C8B-B14F-4D97-AF65-F5344CB8AC3E}">
        <p14:creationId xmlns:p14="http://schemas.microsoft.com/office/powerpoint/2010/main" val="374669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FF401B36-4163-4E01-8630-A436A8FDB0B7}"/>
              </a:ext>
            </a:extLst>
          </p:cNvPr>
          <p:cNvGraphicFramePr>
            <a:graphicFrameLocks noGrp="1"/>
          </p:cNvGraphicFramePr>
          <p:nvPr>
            <p:extLst>
              <p:ext uri="{D42A27DB-BD31-4B8C-83A1-F6EECF244321}">
                <p14:modId xmlns:p14="http://schemas.microsoft.com/office/powerpoint/2010/main" val="2278239678"/>
              </p:ext>
            </p:extLst>
          </p:nvPr>
        </p:nvGraphicFramePr>
        <p:xfrm>
          <a:off x="2464328" y="2057402"/>
          <a:ext cx="8125884" cy="3809998"/>
        </p:xfrm>
        <a:graphic>
          <a:graphicData uri="http://schemas.openxmlformats.org/drawingml/2006/table">
            <a:tbl>
              <a:tblPr firstRow="1" bandRow="1">
                <a:tableStyleId>{69CF1AB2-1976-4502-BF36-3FF5EA218861}</a:tableStyleId>
              </a:tblPr>
              <a:tblGrid>
                <a:gridCol w="2708628">
                  <a:extLst>
                    <a:ext uri="{9D8B030D-6E8A-4147-A177-3AD203B41FA5}">
                      <a16:colId xmlns:a16="http://schemas.microsoft.com/office/drawing/2014/main" val="4145816056"/>
                    </a:ext>
                  </a:extLst>
                </a:gridCol>
                <a:gridCol w="2708628">
                  <a:extLst>
                    <a:ext uri="{9D8B030D-6E8A-4147-A177-3AD203B41FA5}">
                      <a16:colId xmlns:a16="http://schemas.microsoft.com/office/drawing/2014/main" val="324156540"/>
                    </a:ext>
                  </a:extLst>
                </a:gridCol>
                <a:gridCol w="2708628">
                  <a:extLst>
                    <a:ext uri="{9D8B030D-6E8A-4147-A177-3AD203B41FA5}">
                      <a16:colId xmlns:a16="http://schemas.microsoft.com/office/drawing/2014/main" val="4292372938"/>
                    </a:ext>
                  </a:extLst>
                </a:gridCol>
              </a:tblGrid>
              <a:tr h="949506">
                <a:tc>
                  <a:txBody>
                    <a:bodyPr/>
                    <a:lstStyle/>
                    <a:p>
                      <a:endParaRPr lang="en-US" b="0" dirty="0">
                        <a:latin typeface="National semibold"/>
                      </a:endParaRPr>
                    </a:p>
                  </a:txBody>
                  <a:tcPr anchor="ctr"/>
                </a:tc>
                <a:tc>
                  <a:txBody>
                    <a:bodyPr/>
                    <a:lstStyle/>
                    <a:p>
                      <a:pPr algn="ctr"/>
                      <a:r>
                        <a:rPr lang="en-US" dirty="0">
                          <a:latin typeface="National semibold"/>
                        </a:rPr>
                        <a:t>Effect on the value of the domestic currency</a:t>
                      </a:r>
                    </a:p>
                  </a:txBody>
                  <a:tcPr anchor="ctr"/>
                </a:tc>
                <a:tc>
                  <a:txBody>
                    <a:bodyPr/>
                    <a:lstStyle/>
                    <a:p>
                      <a:pPr algn="ctr"/>
                      <a:r>
                        <a:rPr lang="en-US" dirty="0">
                          <a:latin typeface="National semibold"/>
                        </a:rPr>
                        <a:t>Effect on net exports</a:t>
                      </a:r>
                    </a:p>
                  </a:txBody>
                  <a:tcPr anchor="ctr"/>
                </a:tc>
                <a:extLst>
                  <a:ext uri="{0D108BD9-81ED-4DB2-BD59-A6C34878D82A}">
                    <a16:rowId xmlns:a16="http://schemas.microsoft.com/office/drawing/2014/main" val="788404724"/>
                  </a:ext>
                </a:extLst>
              </a:tr>
              <a:tr h="715123">
                <a:tc>
                  <a:txBody>
                    <a:bodyPr/>
                    <a:lstStyle/>
                    <a:p>
                      <a:r>
                        <a:rPr lang="en-US" b="0" dirty="0">
                          <a:latin typeface="National semibold"/>
                        </a:rPr>
                        <a:t>Increase in domestic output/income, </a:t>
                      </a:r>
                      <a:r>
                        <a:rPr lang="en-US" b="0" i="1" dirty="0">
                          <a:latin typeface="National semibold"/>
                        </a:rPr>
                        <a:t>Y</a:t>
                      </a:r>
                    </a:p>
                  </a:txBody>
                  <a:tcPr anchor="ctr"/>
                </a:tc>
                <a:tc>
                  <a:txBody>
                    <a:bodyPr/>
                    <a:lstStyle/>
                    <a:p>
                      <a:pPr algn="ctr"/>
                      <a:r>
                        <a:rPr lang="en-US" dirty="0">
                          <a:latin typeface="National semibold"/>
                        </a:rPr>
                        <a:t>Fall</a:t>
                      </a:r>
                    </a:p>
                  </a:txBody>
                  <a:tcPr anchor="ctr"/>
                </a:tc>
                <a:tc>
                  <a:txBody>
                    <a:bodyPr/>
                    <a:lstStyle/>
                    <a:p>
                      <a:pPr algn="ctr"/>
                      <a:r>
                        <a:rPr lang="en-US" dirty="0">
                          <a:latin typeface="National semibold"/>
                        </a:rPr>
                        <a:t>Fall</a:t>
                      </a:r>
                    </a:p>
                  </a:txBody>
                  <a:tcPr anchor="ctr"/>
                </a:tc>
                <a:extLst>
                  <a:ext uri="{0D108BD9-81ED-4DB2-BD59-A6C34878D82A}">
                    <a16:rowId xmlns:a16="http://schemas.microsoft.com/office/drawing/2014/main" val="3249570779"/>
                  </a:ext>
                </a:extLst>
              </a:tr>
              <a:tr h="715123">
                <a:tc>
                  <a:txBody>
                    <a:bodyPr/>
                    <a:lstStyle/>
                    <a:p>
                      <a:r>
                        <a:rPr lang="en-US" b="0" dirty="0">
                          <a:latin typeface="National semibold"/>
                        </a:rPr>
                        <a:t>Increase in foreign output/income, </a:t>
                      </a:r>
                      <a:r>
                        <a:rPr lang="en-US" b="0" i="1" dirty="0" err="1">
                          <a:latin typeface="National semibold"/>
                        </a:rPr>
                        <a:t>Y</a:t>
                      </a:r>
                      <a:r>
                        <a:rPr lang="en-US" b="0" i="1" baseline="-25000" dirty="0" err="1">
                          <a:latin typeface="National semibold"/>
                        </a:rPr>
                        <a:t>For</a:t>
                      </a:r>
                      <a:endParaRPr lang="en-US" b="0" i="1" dirty="0">
                        <a:latin typeface="National semibold"/>
                      </a:endParaRPr>
                    </a:p>
                  </a:txBody>
                  <a:tcPr anchor="ctr"/>
                </a:tc>
                <a:tc>
                  <a:txBody>
                    <a:bodyPr/>
                    <a:lstStyle/>
                    <a:p>
                      <a:pPr algn="ctr"/>
                      <a:r>
                        <a:rPr lang="en-US" dirty="0">
                          <a:latin typeface="National semibold"/>
                        </a:rPr>
                        <a:t>Rise</a:t>
                      </a:r>
                    </a:p>
                  </a:txBody>
                  <a:tcPr anchor="ctr"/>
                </a:tc>
                <a:tc>
                  <a:txBody>
                    <a:bodyPr/>
                    <a:lstStyle/>
                    <a:p>
                      <a:pPr algn="ctr"/>
                      <a:r>
                        <a:rPr lang="en-US" dirty="0">
                          <a:latin typeface="National semibold"/>
                        </a:rPr>
                        <a:t>Rise</a:t>
                      </a:r>
                    </a:p>
                  </a:txBody>
                  <a:tcPr anchor="ctr"/>
                </a:tc>
                <a:extLst>
                  <a:ext uri="{0D108BD9-81ED-4DB2-BD59-A6C34878D82A}">
                    <a16:rowId xmlns:a16="http://schemas.microsoft.com/office/drawing/2014/main" val="682216069"/>
                  </a:ext>
                </a:extLst>
              </a:tr>
              <a:tr h="715123">
                <a:tc>
                  <a:txBody>
                    <a:bodyPr/>
                    <a:lstStyle/>
                    <a:p>
                      <a:r>
                        <a:rPr lang="en-US" b="0" dirty="0">
                          <a:solidFill>
                            <a:srgbClr val="FF0000"/>
                          </a:solidFill>
                          <a:latin typeface="National semibold"/>
                        </a:rPr>
                        <a:t>Increase in domestic real interest rate, </a:t>
                      </a:r>
                      <a:r>
                        <a:rPr lang="en-US" b="0" i="1" dirty="0">
                          <a:solidFill>
                            <a:srgbClr val="FF0000"/>
                          </a:solidFill>
                          <a:latin typeface="National semibold"/>
                        </a:rPr>
                        <a:t>r</a:t>
                      </a:r>
                    </a:p>
                  </a:txBody>
                  <a:tcPr anchor="ctr"/>
                </a:tc>
                <a:tc>
                  <a:txBody>
                    <a:bodyPr/>
                    <a:lstStyle/>
                    <a:p>
                      <a:pPr algn="ctr"/>
                      <a:r>
                        <a:rPr lang="en-US" dirty="0">
                          <a:latin typeface="National semibold"/>
                        </a:rPr>
                        <a:t>Rise</a:t>
                      </a:r>
                    </a:p>
                  </a:txBody>
                  <a:tcPr anchor="ctr"/>
                </a:tc>
                <a:tc>
                  <a:txBody>
                    <a:bodyPr/>
                    <a:lstStyle/>
                    <a:p>
                      <a:pPr algn="ctr"/>
                      <a:r>
                        <a:rPr lang="en-US" dirty="0">
                          <a:latin typeface="National semibold"/>
                        </a:rPr>
                        <a:t>Fall</a:t>
                      </a:r>
                    </a:p>
                  </a:txBody>
                  <a:tcPr anchor="ctr"/>
                </a:tc>
                <a:extLst>
                  <a:ext uri="{0D108BD9-81ED-4DB2-BD59-A6C34878D82A}">
                    <a16:rowId xmlns:a16="http://schemas.microsoft.com/office/drawing/2014/main" val="4272313479"/>
                  </a:ext>
                </a:extLst>
              </a:tr>
              <a:tr h="715123">
                <a:tc>
                  <a:txBody>
                    <a:bodyPr/>
                    <a:lstStyle/>
                    <a:p>
                      <a:r>
                        <a:rPr lang="en-US" b="0" dirty="0">
                          <a:latin typeface="National semibold"/>
                        </a:rPr>
                        <a:t>Increase in foreign real interest rate, </a:t>
                      </a:r>
                      <a:r>
                        <a:rPr lang="en-US" b="0" i="1" dirty="0" err="1">
                          <a:latin typeface="National semibold"/>
                        </a:rPr>
                        <a:t>r</a:t>
                      </a:r>
                      <a:r>
                        <a:rPr lang="en-US" b="0" i="1" baseline="-25000" dirty="0" err="1">
                          <a:latin typeface="National semibold"/>
                        </a:rPr>
                        <a:t>For</a:t>
                      </a:r>
                      <a:endParaRPr lang="en-US" b="0" i="1" dirty="0">
                        <a:latin typeface="National semibold"/>
                      </a:endParaRPr>
                    </a:p>
                  </a:txBody>
                  <a:tcPr anchor="ctr"/>
                </a:tc>
                <a:tc>
                  <a:txBody>
                    <a:bodyPr/>
                    <a:lstStyle/>
                    <a:p>
                      <a:pPr algn="ctr"/>
                      <a:r>
                        <a:rPr lang="en-US" dirty="0">
                          <a:latin typeface="National semibold"/>
                        </a:rPr>
                        <a:t>Fall</a:t>
                      </a:r>
                    </a:p>
                  </a:txBody>
                  <a:tcPr anchor="ctr"/>
                </a:tc>
                <a:tc>
                  <a:txBody>
                    <a:bodyPr/>
                    <a:lstStyle/>
                    <a:p>
                      <a:pPr algn="ctr"/>
                      <a:r>
                        <a:rPr lang="en-US" dirty="0">
                          <a:latin typeface="National semibold"/>
                        </a:rPr>
                        <a:t>Rise</a:t>
                      </a:r>
                    </a:p>
                  </a:txBody>
                  <a:tcPr anchor="ctr"/>
                </a:tc>
                <a:extLst>
                  <a:ext uri="{0D108BD9-81ED-4DB2-BD59-A6C34878D82A}">
                    <a16:rowId xmlns:a16="http://schemas.microsoft.com/office/drawing/2014/main" val="3883864865"/>
                  </a:ext>
                </a:extLst>
              </a:tr>
            </a:tbl>
          </a:graphicData>
        </a:graphic>
      </p:graphicFrame>
      <p:sp>
        <p:nvSpPr>
          <p:cNvPr id="5" name="Oval 4">
            <a:extLst>
              <a:ext uri="{FF2B5EF4-FFF2-40B4-BE49-F238E27FC236}">
                <a16:creationId xmlns:a16="http://schemas.microsoft.com/office/drawing/2014/main" id="{EC823D03-9A4D-4BC7-BCB3-14E61508F0B3}"/>
              </a:ext>
            </a:extLst>
          </p:cNvPr>
          <p:cNvSpPr/>
          <p:nvPr/>
        </p:nvSpPr>
        <p:spPr>
          <a:xfrm>
            <a:off x="5942012" y="4495800"/>
            <a:ext cx="1143000" cy="533400"/>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1A24DA8-88B2-4A53-AC27-D61B7A03D9B8}"/>
              </a:ext>
            </a:extLst>
          </p:cNvPr>
          <p:cNvSpPr/>
          <p:nvPr/>
        </p:nvSpPr>
        <p:spPr>
          <a:xfrm>
            <a:off x="8685212" y="4495800"/>
            <a:ext cx="1143000" cy="533400"/>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2">
            <a:extLst>
              <a:ext uri="{FF2B5EF4-FFF2-40B4-BE49-F238E27FC236}">
                <a16:creationId xmlns:a16="http://schemas.microsoft.com/office/drawing/2014/main" id="{79FB73E1-BC29-4A52-9765-588795853C75}"/>
              </a:ext>
            </a:extLst>
          </p:cNvPr>
          <p:cNvSpPr>
            <a:spLocks noGrp="1"/>
          </p:cNvSpPr>
          <p:nvPr>
            <p:ph type="title"/>
          </p:nvPr>
        </p:nvSpPr>
        <p:spPr>
          <a:xfrm>
            <a:off x="1674812" y="476250"/>
            <a:ext cx="9829799" cy="1219200"/>
          </a:xfrm>
        </p:spPr>
        <p:txBody>
          <a:bodyPr anchor="ctr"/>
          <a:lstStyle/>
          <a:p>
            <a:r>
              <a:rPr lang="en-US" b="1" dirty="0">
                <a:latin typeface="National semibold" panose="02000503000000020004"/>
              </a:rPr>
              <a:t>Summary</a:t>
            </a:r>
          </a:p>
        </p:txBody>
      </p:sp>
    </p:spTree>
    <p:extLst>
      <p:ext uri="{BB962C8B-B14F-4D97-AF65-F5344CB8AC3E}">
        <p14:creationId xmlns:p14="http://schemas.microsoft.com/office/powerpoint/2010/main" val="875248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FF401B36-4163-4E01-8630-A436A8FDB0B7}"/>
              </a:ext>
            </a:extLst>
          </p:cNvPr>
          <p:cNvGraphicFramePr>
            <a:graphicFrameLocks noGrp="1"/>
          </p:cNvGraphicFramePr>
          <p:nvPr>
            <p:extLst>
              <p:ext uri="{D42A27DB-BD31-4B8C-83A1-F6EECF244321}">
                <p14:modId xmlns:p14="http://schemas.microsoft.com/office/powerpoint/2010/main" val="854278458"/>
              </p:ext>
            </p:extLst>
          </p:nvPr>
        </p:nvGraphicFramePr>
        <p:xfrm>
          <a:off x="2464328" y="2057402"/>
          <a:ext cx="8125884" cy="3809998"/>
        </p:xfrm>
        <a:graphic>
          <a:graphicData uri="http://schemas.openxmlformats.org/drawingml/2006/table">
            <a:tbl>
              <a:tblPr firstRow="1" bandRow="1">
                <a:tableStyleId>{69CF1AB2-1976-4502-BF36-3FF5EA218861}</a:tableStyleId>
              </a:tblPr>
              <a:tblGrid>
                <a:gridCol w="2708628">
                  <a:extLst>
                    <a:ext uri="{9D8B030D-6E8A-4147-A177-3AD203B41FA5}">
                      <a16:colId xmlns:a16="http://schemas.microsoft.com/office/drawing/2014/main" val="4145816056"/>
                    </a:ext>
                  </a:extLst>
                </a:gridCol>
                <a:gridCol w="2708628">
                  <a:extLst>
                    <a:ext uri="{9D8B030D-6E8A-4147-A177-3AD203B41FA5}">
                      <a16:colId xmlns:a16="http://schemas.microsoft.com/office/drawing/2014/main" val="324156540"/>
                    </a:ext>
                  </a:extLst>
                </a:gridCol>
                <a:gridCol w="2708628">
                  <a:extLst>
                    <a:ext uri="{9D8B030D-6E8A-4147-A177-3AD203B41FA5}">
                      <a16:colId xmlns:a16="http://schemas.microsoft.com/office/drawing/2014/main" val="4292372938"/>
                    </a:ext>
                  </a:extLst>
                </a:gridCol>
              </a:tblGrid>
              <a:tr h="949506">
                <a:tc>
                  <a:txBody>
                    <a:bodyPr/>
                    <a:lstStyle/>
                    <a:p>
                      <a:endParaRPr lang="en-US" b="0" dirty="0">
                        <a:latin typeface="National semibold"/>
                      </a:endParaRPr>
                    </a:p>
                  </a:txBody>
                  <a:tcPr anchor="ctr"/>
                </a:tc>
                <a:tc>
                  <a:txBody>
                    <a:bodyPr/>
                    <a:lstStyle/>
                    <a:p>
                      <a:pPr algn="ctr"/>
                      <a:r>
                        <a:rPr lang="en-US" dirty="0">
                          <a:latin typeface="National semibold"/>
                        </a:rPr>
                        <a:t>Effect on the value of the domestic currency</a:t>
                      </a:r>
                    </a:p>
                  </a:txBody>
                  <a:tcPr anchor="ctr"/>
                </a:tc>
                <a:tc>
                  <a:txBody>
                    <a:bodyPr/>
                    <a:lstStyle/>
                    <a:p>
                      <a:pPr algn="ctr"/>
                      <a:r>
                        <a:rPr lang="en-US" dirty="0">
                          <a:latin typeface="National semibold"/>
                        </a:rPr>
                        <a:t>Effect on net exports</a:t>
                      </a:r>
                    </a:p>
                  </a:txBody>
                  <a:tcPr anchor="ctr"/>
                </a:tc>
                <a:extLst>
                  <a:ext uri="{0D108BD9-81ED-4DB2-BD59-A6C34878D82A}">
                    <a16:rowId xmlns:a16="http://schemas.microsoft.com/office/drawing/2014/main" val="788404724"/>
                  </a:ext>
                </a:extLst>
              </a:tr>
              <a:tr h="715123">
                <a:tc>
                  <a:txBody>
                    <a:bodyPr/>
                    <a:lstStyle/>
                    <a:p>
                      <a:r>
                        <a:rPr lang="en-US" b="0" dirty="0">
                          <a:latin typeface="National semibold"/>
                        </a:rPr>
                        <a:t>Increase in domestic output/income, </a:t>
                      </a:r>
                      <a:r>
                        <a:rPr lang="en-US" b="0" i="1" dirty="0">
                          <a:latin typeface="National semibold"/>
                        </a:rPr>
                        <a:t>Y</a:t>
                      </a:r>
                    </a:p>
                  </a:txBody>
                  <a:tcPr anchor="ctr"/>
                </a:tc>
                <a:tc>
                  <a:txBody>
                    <a:bodyPr/>
                    <a:lstStyle/>
                    <a:p>
                      <a:pPr algn="ctr"/>
                      <a:r>
                        <a:rPr lang="en-US" dirty="0">
                          <a:latin typeface="National semibold"/>
                        </a:rPr>
                        <a:t>Fall</a:t>
                      </a:r>
                    </a:p>
                  </a:txBody>
                  <a:tcPr anchor="ctr"/>
                </a:tc>
                <a:tc>
                  <a:txBody>
                    <a:bodyPr/>
                    <a:lstStyle/>
                    <a:p>
                      <a:pPr algn="ctr"/>
                      <a:r>
                        <a:rPr lang="en-US" dirty="0">
                          <a:latin typeface="National semibold"/>
                        </a:rPr>
                        <a:t>Fall</a:t>
                      </a:r>
                    </a:p>
                  </a:txBody>
                  <a:tcPr anchor="ctr"/>
                </a:tc>
                <a:extLst>
                  <a:ext uri="{0D108BD9-81ED-4DB2-BD59-A6C34878D82A}">
                    <a16:rowId xmlns:a16="http://schemas.microsoft.com/office/drawing/2014/main" val="3249570779"/>
                  </a:ext>
                </a:extLst>
              </a:tr>
              <a:tr h="715123">
                <a:tc>
                  <a:txBody>
                    <a:bodyPr/>
                    <a:lstStyle/>
                    <a:p>
                      <a:r>
                        <a:rPr lang="en-US" b="0" dirty="0">
                          <a:latin typeface="National semibold"/>
                        </a:rPr>
                        <a:t>Increase in foreign output/income, </a:t>
                      </a:r>
                      <a:r>
                        <a:rPr lang="en-US" b="0" i="1" dirty="0" err="1">
                          <a:latin typeface="National semibold"/>
                        </a:rPr>
                        <a:t>Y</a:t>
                      </a:r>
                      <a:r>
                        <a:rPr lang="en-US" b="0" i="1" baseline="-25000" dirty="0" err="1">
                          <a:latin typeface="National semibold"/>
                        </a:rPr>
                        <a:t>For</a:t>
                      </a:r>
                      <a:endParaRPr lang="en-US" b="0" i="1" dirty="0">
                        <a:latin typeface="National semibold"/>
                      </a:endParaRPr>
                    </a:p>
                  </a:txBody>
                  <a:tcPr anchor="ctr"/>
                </a:tc>
                <a:tc>
                  <a:txBody>
                    <a:bodyPr/>
                    <a:lstStyle/>
                    <a:p>
                      <a:pPr algn="ctr"/>
                      <a:r>
                        <a:rPr lang="en-US" dirty="0">
                          <a:latin typeface="National semibold"/>
                        </a:rPr>
                        <a:t>Rise</a:t>
                      </a:r>
                    </a:p>
                  </a:txBody>
                  <a:tcPr anchor="ctr"/>
                </a:tc>
                <a:tc>
                  <a:txBody>
                    <a:bodyPr/>
                    <a:lstStyle/>
                    <a:p>
                      <a:pPr algn="ctr"/>
                      <a:r>
                        <a:rPr lang="en-US" dirty="0">
                          <a:latin typeface="National semibold"/>
                        </a:rPr>
                        <a:t>Rise</a:t>
                      </a:r>
                    </a:p>
                  </a:txBody>
                  <a:tcPr anchor="ctr"/>
                </a:tc>
                <a:extLst>
                  <a:ext uri="{0D108BD9-81ED-4DB2-BD59-A6C34878D82A}">
                    <a16:rowId xmlns:a16="http://schemas.microsoft.com/office/drawing/2014/main" val="682216069"/>
                  </a:ext>
                </a:extLst>
              </a:tr>
              <a:tr h="715123">
                <a:tc>
                  <a:txBody>
                    <a:bodyPr/>
                    <a:lstStyle/>
                    <a:p>
                      <a:r>
                        <a:rPr lang="en-US" b="0" dirty="0">
                          <a:latin typeface="National semibold"/>
                        </a:rPr>
                        <a:t>Increase in domestic real interest rate, </a:t>
                      </a:r>
                      <a:r>
                        <a:rPr lang="en-US" b="0" i="1" dirty="0">
                          <a:latin typeface="National semibold"/>
                        </a:rPr>
                        <a:t>r</a:t>
                      </a:r>
                    </a:p>
                  </a:txBody>
                  <a:tcPr anchor="ctr"/>
                </a:tc>
                <a:tc>
                  <a:txBody>
                    <a:bodyPr/>
                    <a:lstStyle/>
                    <a:p>
                      <a:pPr algn="ctr"/>
                      <a:r>
                        <a:rPr lang="en-US" dirty="0">
                          <a:latin typeface="National semibold"/>
                        </a:rPr>
                        <a:t>Rise</a:t>
                      </a:r>
                    </a:p>
                  </a:txBody>
                  <a:tcPr anchor="ctr"/>
                </a:tc>
                <a:tc>
                  <a:txBody>
                    <a:bodyPr/>
                    <a:lstStyle/>
                    <a:p>
                      <a:pPr algn="ctr"/>
                      <a:r>
                        <a:rPr lang="en-US" dirty="0">
                          <a:latin typeface="National semibold"/>
                        </a:rPr>
                        <a:t>Fall</a:t>
                      </a:r>
                    </a:p>
                  </a:txBody>
                  <a:tcPr anchor="ctr"/>
                </a:tc>
                <a:extLst>
                  <a:ext uri="{0D108BD9-81ED-4DB2-BD59-A6C34878D82A}">
                    <a16:rowId xmlns:a16="http://schemas.microsoft.com/office/drawing/2014/main" val="4272313479"/>
                  </a:ext>
                </a:extLst>
              </a:tr>
              <a:tr h="715123">
                <a:tc>
                  <a:txBody>
                    <a:bodyPr/>
                    <a:lstStyle/>
                    <a:p>
                      <a:r>
                        <a:rPr lang="en-US" b="0" dirty="0">
                          <a:solidFill>
                            <a:srgbClr val="FF0000"/>
                          </a:solidFill>
                          <a:latin typeface="National semibold"/>
                        </a:rPr>
                        <a:t>Increase in foreign real interest rate, </a:t>
                      </a:r>
                      <a:r>
                        <a:rPr lang="en-US" b="0" i="1" dirty="0" err="1">
                          <a:solidFill>
                            <a:srgbClr val="FF0000"/>
                          </a:solidFill>
                          <a:latin typeface="National semibold"/>
                        </a:rPr>
                        <a:t>r</a:t>
                      </a:r>
                      <a:r>
                        <a:rPr lang="en-US" b="0" i="1" baseline="-25000" dirty="0" err="1">
                          <a:solidFill>
                            <a:srgbClr val="FF0000"/>
                          </a:solidFill>
                          <a:latin typeface="National semibold"/>
                        </a:rPr>
                        <a:t>For</a:t>
                      </a:r>
                      <a:endParaRPr lang="en-US" b="0" i="1" dirty="0">
                        <a:solidFill>
                          <a:srgbClr val="FF0000"/>
                        </a:solidFill>
                        <a:latin typeface="National semibold"/>
                      </a:endParaRPr>
                    </a:p>
                  </a:txBody>
                  <a:tcPr anchor="ctr"/>
                </a:tc>
                <a:tc>
                  <a:txBody>
                    <a:bodyPr/>
                    <a:lstStyle/>
                    <a:p>
                      <a:pPr algn="ctr"/>
                      <a:r>
                        <a:rPr lang="en-US" dirty="0">
                          <a:latin typeface="National semibold"/>
                        </a:rPr>
                        <a:t>Fall</a:t>
                      </a:r>
                    </a:p>
                  </a:txBody>
                  <a:tcPr anchor="ctr"/>
                </a:tc>
                <a:tc>
                  <a:txBody>
                    <a:bodyPr/>
                    <a:lstStyle/>
                    <a:p>
                      <a:pPr algn="ctr"/>
                      <a:r>
                        <a:rPr lang="en-US" dirty="0">
                          <a:latin typeface="National semibold"/>
                        </a:rPr>
                        <a:t>Rise</a:t>
                      </a:r>
                    </a:p>
                  </a:txBody>
                  <a:tcPr anchor="ctr"/>
                </a:tc>
                <a:extLst>
                  <a:ext uri="{0D108BD9-81ED-4DB2-BD59-A6C34878D82A}">
                    <a16:rowId xmlns:a16="http://schemas.microsoft.com/office/drawing/2014/main" val="3883864865"/>
                  </a:ext>
                </a:extLst>
              </a:tr>
            </a:tbl>
          </a:graphicData>
        </a:graphic>
      </p:graphicFrame>
      <p:sp>
        <p:nvSpPr>
          <p:cNvPr id="5" name="Oval 4">
            <a:extLst>
              <a:ext uri="{FF2B5EF4-FFF2-40B4-BE49-F238E27FC236}">
                <a16:creationId xmlns:a16="http://schemas.microsoft.com/office/drawing/2014/main" id="{EC823D03-9A4D-4BC7-BCB3-14E61508F0B3}"/>
              </a:ext>
            </a:extLst>
          </p:cNvPr>
          <p:cNvSpPr/>
          <p:nvPr/>
        </p:nvSpPr>
        <p:spPr>
          <a:xfrm>
            <a:off x="5949632" y="5215890"/>
            <a:ext cx="1143000" cy="533400"/>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A1A24DA8-88B2-4A53-AC27-D61B7A03D9B8}"/>
              </a:ext>
            </a:extLst>
          </p:cNvPr>
          <p:cNvSpPr/>
          <p:nvPr/>
        </p:nvSpPr>
        <p:spPr>
          <a:xfrm>
            <a:off x="8685212" y="5227320"/>
            <a:ext cx="1143000" cy="533400"/>
          </a:xfrm>
          <a:prstGeom prst="ellipse">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2">
            <a:extLst>
              <a:ext uri="{FF2B5EF4-FFF2-40B4-BE49-F238E27FC236}">
                <a16:creationId xmlns:a16="http://schemas.microsoft.com/office/drawing/2014/main" id="{E01187E4-24B3-4BC3-A878-E5326E596D65}"/>
              </a:ext>
            </a:extLst>
          </p:cNvPr>
          <p:cNvSpPr txBox="1">
            <a:spLocks/>
          </p:cNvSpPr>
          <p:nvPr/>
        </p:nvSpPr>
        <p:spPr>
          <a:xfrm>
            <a:off x="1674812" y="476250"/>
            <a:ext cx="9829799" cy="1219200"/>
          </a:xfrm>
          <a:prstGeom prst="rect">
            <a:avLst/>
          </a:prstGeom>
        </p:spPr>
        <p:txBody>
          <a:bodyPr anchor="ct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b="1">
                <a:latin typeface="National semibold" panose="02000503000000020004"/>
              </a:rPr>
              <a:t>Summary</a:t>
            </a:r>
            <a:endParaRPr lang="en-US" b="1" dirty="0">
              <a:latin typeface="National semibold" panose="02000503000000020004"/>
            </a:endParaRPr>
          </a:p>
        </p:txBody>
      </p:sp>
    </p:spTree>
    <p:extLst>
      <p:ext uri="{BB962C8B-B14F-4D97-AF65-F5344CB8AC3E}">
        <p14:creationId xmlns:p14="http://schemas.microsoft.com/office/powerpoint/2010/main" val="2578977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b="1" dirty="0">
                <a:latin typeface="National semibold" panose="02000503000000020004"/>
              </a:rPr>
              <a:t>The role of money supply</a:t>
            </a:r>
            <a:endParaRPr lang="en-US" sz="4000"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697805" y="1865314"/>
            <a:ext cx="8305800" cy="424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10000"/>
              </a:lnSpc>
            </a:pPr>
            <a:r>
              <a:rPr lang="en-US" sz="2400" dirty="0">
                <a:latin typeface="National semibold" panose="02000503000000020004"/>
                <a:cs typeface="Arial" charset="0"/>
              </a:rPr>
              <a:t>Purchasing Power Theory: </a:t>
            </a:r>
            <a:r>
              <a:rPr lang="en-US" sz="2400" dirty="0">
                <a:solidFill>
                  <a:srgbClr val="FF0000"/>
                </a:solidFill>
                <a:latin typeface="National semibold" panose="02000503000000020004"/>
                <a:cs typeface="Arial" charset="0"/>
              </a:rPr>
              <a:t>(</a:t>
            </a:r>
            <a:r>
              <a:rPr lang="en-US" sz="2400" i="1" dirty="0" err="1">
                <a:solidFill>
                  <a:srgbClr val="FF0000"/>
                </a:solidFill>
                <a:latin typeface="National semibold" panose="02000503000000020004"/>
                <a:cs typeface="Times New Roman" pitchFamily="18" charset="0"/>
              </a:rPr>
              <a:t>e</a:t>
            </a:r>
            <a:r>
              <a:rPr lang="en-US" sz="2400" i="1" baseline="-25000" dirty="0" err="1">
                <a:solidFill>
                  <a:srgbClr val="FF0000"/>
                </a:solidFill>
                <a:latin typeface="National semibold" panose="02000503000000020004"/>
                <a:cs typeface="Times New Roman" pitchFamily="18" charset="0"/>
              </a:rPr>
              <a:t>nom</a:t>
            </a:r>
            <a:r>
              <a:rPr lang="en-US" sz="2400" i="1" baseline="-25000" dirty="0">
                <a:solidFill>
                  <a:srgbClr val="FF0000"/>
                </a:solidFill>
                <a:latin typeface="National semibold" panose="02000503000000020004"/>
                <a:cs typeface="Times New Roman" pitchFamily="18" charset="0"/>
              </a:rPr>
              <a:t> </a:t>
            </a:r>
            <a:r>
              <a:rPr lang="en-US" sz="2400" i="1" dirty="0">
                <a:solidFill>
                  <a:srgbClr val="FF0000"/>
                </a:solidFill>
                <a:latin typeface="National semibold" panose="02000503000000020004"/>
                <a:cs typeface="Times New Roman" pitchFamily="18" charset="0"/>
              </a:rPr>
              <a:t>x P/ </a:t>
            </a:r>
            <a:r>
              <a:rPr lang="en-US" sz="2400" i="1" dirty="0" err="1">
                <a:solidFill>
                  <a:srgbClr val="FF0000"/>
                </a:solidFill>
                <a:latin typeface="National semibold" panose="02000503000000020004"/>
                <a:cs typeface="Times New Roman" pitchFamily="18" charset="0"/>
              </a:rPr>
              <a:t>P</a:t>
            </a:r>
            <a:r>
              <a:rPr lang="en-US" sz="2400" i="1" baseline="-25000" dirty="0" err="1">
                <a:solidFill>
                  <a:srgbClr val="FF0000"/>
                </a:solidFill>
                <a:latin typeface="National semibold" panose="02000503000000020004"/>
                <a:cs typeface="Times New Roman" pitchFamily="18" charset="0"/>
              </a:rPr>
              <a:t>For</a:t>
            </a:r>
            <a:r>
              <a:rPr lang="en-US" sz="2400" i="1" baseline="-25000" dirty="0">
                <a:solidFill>
                  <a:srgbClr val="FF0000"/>
                </a:solidFill>
                <a:latin typeface="National semibold" panose="02000503000000020004"/>
                <a:cs typeface="Times New Roman" pitchFamily="18" charset="0"/>
              </a:rPr>
              <a:t> </a:t>
            </a:r>
            <a:r>
              <a:rPr lang="en-US" sz="2400" i="1" dirty="0">
                <a:solidFill>
                  <a:srgbClr val="FF0000"/>
                </a:solidFill>
                <a:latin typeface="National semibold" panose="02000503000000020004"/>
                <a:cs typeface="Times New Roman" pitchFamily="18" charset="0"/>
              </a:rPr>
              <a:t>)= 1</a:t>
            </a:r>
            <a:endParaRPr lang="en-US" sz="2400" dirty="0">
              <a:latin typeface="National semibold" panose="02000503000000020004"/>
              <a:cs typeface="Arial" charset="0"/>
            </a:endParaRPr>
          </a:p>
          <a:p>
            <a:pPr marL="342900" indent="-342900">
              <a:lnSpc>
                <a:spcPct val="110000"/>
              </a:lnSpc>
            </a:pPr>
            <a:endParaRPr lang="en-US" sz="2400" dirty="0">
              <a:latin typeface="National semibold" panose="02000503000000020004"/>
              <a:cs typeface="Times New Roman" pitchFamily="18" charset="0"/>
            </a:endParaRPr>
          </a:p>
          <a:p>
            <a:pPr marL="342900" indent="-342900">
              <a:lnSpc>
                <a:spcPct val="110000"/>
              </a:lnSpc>
            </a:pPr>
            <a:r>
              <a:rPr lang="en-US" sz="2400" dirty="0">
                <a:latin typeface="National semibold" panose="02000503000000020004"/>
                <a:cs typeface="Times New Roman" pitchFamily="18" charset="0"/>
              </a:rPr>
              <a:t>In growth rates:</a:t>
            </a:r>
          </a:p>
          <a:p>
            <a:pPr marL="342900" indent="-342900">
              <a:lnSpc>
                <a:spcPct val="110000"/>
              </a:lnSpc>
            </a:pPr>
            <a:endParaRPr lang="en-US" sz="2400" dirty="0">
              <a:latin typeface="National semibold" panose="02000503000000020004"/>
              <a:cs typeface="Times New Roman" pitchFamily="18" charset="0"/>
            </a:endParaRPr>
          </a:p>
          <a:p>
            <a:pPr marL="342900" indent="-342900">
              <a:lnSpc>
                <a:spcPct val="110000"/>
              </a:lnSpc>
            </a:pPr>
            <a:r>
              <a:rPr lang="en-US" sz="2400" dirty="0">
                <a:latin typeface="National semibold" panose="02000503000000020004"/>
                <a:cs typeface="Times New Roman" pitchFamily="18" charset="0"/>
              </a:rPr>
              <a:t>		% change </a:t>
            </a:r>
            <a:r>
              <a:rPr lang="en-US" sz="2400" i="1" dirty="0" err="1">
                <a:solidFill>
                  <a:srgbClr val="FF0000"/>
                </a:solidFill>
                <a:latin typeface="National semibold" panose="02000503000000020004"/>
                <a:cs typeface="Times New Roman" pitchFamily="18" charset="0"/>
              </a:rPr>
              <a:t>e</a:t>
            </a:r>
            <a:r>
              <a:rPr lang="en-US" sz="2400" i="1" baseline="-25000" dirty="0" err="1">
                <a:solidFill>
                  <a:srgbClr val="FF0000"/>
                </a:solidFill>
                <a:latin typeface="National semibold" panose="02000503000000020004"/>
                <a:cs typeface="Times New Roman" pitchFamily="18" charset="0"/>
              </a:rPr>
              <a:t>nom</a:t>
            </a:r>
            <a:r>
              <a:rPr lang="en-US" sz="2400" baseline="-25000" dirty="0">
                <a:latin typeface="National semibold" panose="02000503000000020004"/>
                <a:cs typeface="Times New Roman" pitchFamily="18" charset="0"/>
              </a:rPr>
              <a:t>     </a:t>
            </a:r>
            <a:r>
              <a:rPr lang="en-US" sz="2400" dirty="0">
                <a:latin typeface="National semibold" panose="02000503000000020004"/>
                <a:cs typeface="Arial" charset="0"/>
              </a:rPr>
              <a:t>=   </a:t>
            </a:r>
            <a:r>
              <a:rPr lang="en-US" sz="2400" dirty="0">
                <a:latin typeface="National semibold" panose="02000503000000020004"/>
                <a:cs typeface="Times New Roman" pitchFamily="18" charset="0"/>
              </a:rPr>
              <a:t>% change </a:t>
            </a:r>
            <a:r>
              <a:rPr lang="en-US" sz="2400" i="1" dirty="0" err="1">
                <a:solidFill>
                  <a:srgbClr val="FF0000"/>
                </a:solidFill>
                <a:latin typeface="National semibold" panose="02000503000000020004"/>
                <a:cs typeface="Times New Roman" pitchFamily="18" charset="0"/>
              </a:rPr>
              <a:t>P</a:t>
            </a:r>
            <a:r>
              <a:rPr lang="en-US" sz="2400" i="1" baseline="-25000" dirty="0" err="1">
                <a:solidFill>
                  <a:srgbClr val="FF0000"/>
                </a:solidFill>
                <a:latin typeface="National semibold" panose="02000503000000020004"/>
                <a:cs typeface="Times New Roman" pitchFamily="18" charset="0"/>
              </a:rPr>
              <a:t>For</a:t>
            </a:r>
            <a:r>
              <a:rPr lang="en-US" sz="2400" baseline="-25000" dirty="0">
                <a:latin typeface="National semibold" panose="02000503000000020004"/>
                <a:cs typeface="Times New Roman" pitchFamily="18" charset="0"/>
              </a:rPr>
              <a:t>   </a:t>
            </a:r>
            <a:r>
              <a:rPr lang="en-US" sz="2400" dirty="0">
                <a:latin typeface="National semibold" panose="02000503000000020004"/>
                <a:cs typeface="Arial" charset="0"/>
              </a:rPr>
              <a:t> -   </a:t>
            </a:r>
            <a:r>
              <a:rPr lang="en-US" sz="2400" dirty="0">
                <a:latin typeface="National semibold" panose="02000503000000020004"/>
                <a:cs typeface="Times New Roman" pitchFamily="18" charset="0"/>
              </a:rPr>
              <a:t>% change </a:t>
            </a:r>
            <a:r>
              <a:rPr lang="en-US" sz="2400" i="1" dirty="0">
                <a:solidFill>
                  <a:srgbClr val="FF0000"/>
                </a:solidFill>
                <a:latin typeface="National semibold" panose="02000503000000020004"/>
                <a:cs typeface="Times New Roman" pitchFamily="18" charset="0"/>
              </a:rPr>
              <a:t>P</a:t>
            </a:r>
            <a:endParaRPr lang="en-US" sz="2400" dirty="0">
              <a:solidFill>
                <a:srgbClr val="FF0000"/>
              </a:solidFill>
              <a:latin typeface="National semibold" panose="02000503000000020004"/>
              <a:cs typeface="Arial" charset="0"/>
            </a:endParaRPr>
          </a:p>
          <a:p>
            <a:pPr marL="342900" indent="-342900">
              <a:lnSpc>
                <a:spcPct val="110000"/>
              </a:lnSpc>
            </a:pPr>
            <a:endParaRPr lang="en-US" sz="2400" dirty="0">
              <a:latin typeface="National semibold" panose="02000503000000020004"/>
              <a:cs typeface="Times New Roman" pitchFamily="18" charset="0"/>
            </a:endParaRPr>
          </a:p>
          <a:p>
            <a:pPr marL="342900" indent="-342900">
              <a:lnSpc>
                <a:spcPct val="110000"/>
              </a:lnSpc>
            </a:pPr>
            <a:endParaRPr lang="en-US" sz="2400" dirty="0">
              <a:latin typeface="National semibold" panose="02000503000000020004"/>
              <a:cs typeface="Arial" charset="0"/>
            </a:endParaRPr>
          </a:p>
          <a:p>
            <a:pPr marL="342900" indent="-342900">
              <a:lnSpc>
                <a:spcPct val="110000"/>
              </a:lnSpc>
            </a:pPr>
            <a:r>
              <a:rPr lang="en-US" sz="2400" dirty="0">
                <a:latin typeface="National semibold" panose="02000503000000020004"/>
                <a:cs typeface="Arial" charset="0"/>
              </a:rPr>
              <a:t>What determine the change in prices (inflation)?</a:t>
            </a:r>
          </a:p>
          <a:p>
            <a:pPr marL="342900" indent="-342900">
              <a:lnSpc>
                <a:spcPct val="110000"/>
              </a:lnSpc>
            </a:pPr>
            <a:endParaRPr lang="en-US" sz="2400" dirty="0">
              <a:latin typeface="National semibold" panose="02000503000000020004"/>
              <a:cs typeface="Arial" charset="0"/>
            </a:endParaRPr>
          </a:p>
          <a:p>
            <a:pPr marL="342900" indent="-342900">
              <a:lnSpc>
                <a:spcPct val="110000"/>
              </a:lnSpc>
            </a:pPr>
            <a:endParaRPr lang="en-US" sz="2400" dirty="0">
              <a:latin typeface="National semibold" panose="02000503000000020004"/>
              <a:cs typeface="Arial" charset="0"/>
            </a:endParaRPr>
          </a:p>
          <a:p>
            <a:pPr marL="342900" indent="-342900">
              <a:lnSpc>
                <a:spcPct val="110000"/>
              </a:lnSpc>
            </a:pPr>
            <a:r>
              <a:rPr lang="en-US" sz="2400" dirty="0">
                <a:latin typeface="National semibold" panose="02000503000000020004"/>
                <a:cs typeface="Arial" charset="0"/>
              </a:rPr>
              <a:t>We need to go back to the </a:t>
            </a:r>
            <a:r>
              <a:rPr lang="en-US" sz="2400" i="1" dirty="0">
                <a:latin typeface="National semibold" panose="02000503000000020004"/>
                <a:cs typeface="Arial" charset="0"/>
              </a:rPr>
              <a:t>Monetary Theory</a:t>
            </a:r>
            <a:r>
              <a:rPr lang="en-US" sz="2400" dirty="0">
                <a:latin typeface="National semibold" panose="02000503000000020004"/>
                <a:cs typeface="Arial" charset="0"/>
              </a:rPr>
              <a:t> </a:t>
            </a:r>
          </a:p>
          <a:p>
            <a:pPr marL="342900" indent="-342900">
              <a:lnSpc>
                <a:spcPct val="110000"/>
              </a:lnSpc>
            </a:pPr>
            <a:endParaRPr lang="en-US" sz="2400" dirty="0">
              <a:cs typeface="Arial" charset="0"/>
            </a:endParaRPr>
          </a:p>
        </p:txBody>
      </p:sp>
    </p:spTree>
    <p:extLst>
      <p:ext uri="{BB962C8B-B14F-4D97-AF65-F5344CB8AC3E}">
        <p14:creationId xmlns:p14="http://schemas.microsoft.com/office/powerpoint/2010/main" val="1821138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b="1" dirty="0">
                <a:latin typeface="National semibold" panose="02000503000000020004"/>
              </a:rPr>
              <a:t>The quantity theory of money</a:t>
            </a:r>
            <a:endParaRPr lang="en-US" sz="4000" i="1" dirty="0">
              <a:latin typeface="National semibold" panose="02000503000000020004"/>
            </a:endParaRPr>
          </a:p>
        </p:txBody>
      </p:sp>
      <mc:AlternateContent xmlns:mc="http://schemas.openxmlformats.org/markup-compatibility/2006" xmlns:a14="http://schemas.microsoft.com/office/drawing/2010/main">
        <mc:Choice Requires="a14">
          <p:sp>
            <p:nvSpPr>
              <p:cNvPr id="6" name="Object 4">
                <a:extLst>
                  <a:ext uri="{FF2B5EF4-FFF2-40B4-BE49-F238E27FC236}">
                    <a16:creationId xmlns:a16="http://schemas.microsoft.com/office/drawing/2014/main" id="{BDDAF33B-5761-42EA-B819-9EC2AB66613E}"/>
                  </a:ext>
                </a:extLst>
              </p:cNvPr>
              <p:cNvSpPr txBox="1"/>
              <p:nvPr/>
            </p:nvSpPr>
            <p:spPr bwMode="auto">
              <a:xfrm>
                <a:off x="4646612" y="2330450"/>
                <a:ext cx="2667000" cy="1174750"/>
              </a:xfrm>
              <a:prstGeom prst="rect">
                <a:avLst/>
              </a:prstGeom>
              <a:solidFill>
                <a:schemeClr val="accent1">
                  <a:lumMod val="20000"/>
                  <a:lumOff val="80000"/>
                </a:schemeClr>
              </a:solidFill>
              <a:ln w="19050">
                <a:solidFill>
                  <a:srgbClr val="000000"/>
                </a:solidFill>
                <a:miter lim="800000"/>
                <a:headEnd/>
                <a:tailEnd/>
              </a:ln>
              <a:effectLst/>
            </p:spPr>
            <p:txBody>
              <a:bodyPr anchor="ctr">
                <a:noAutofit/>
              </a:bodyPr>
              <a:lstStyle/>
              <a:p>
                <a:pPr algn="ct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rPr>
                        <m:t>𝑀</m:t>
                      </m:r>
                      <m:r>
                        <a:rPr lang="en-US" sz="2800" i="1">
                          <a:latin typeface="Cambria Math" panose="02040503050406030204" pitchFamily="18" charset="0"/>
                        </a:rPr>
                        <m:t>=</m:t>
                      </m:r>
                      <m:d>
                        <m:dPr>
                          <m:ctrlPr>
                            <a:rPr lang="en-US" sz="2800" i="1" dirty="0">
                              <a:latin typeface="Cambria Math" panose="02040503050406030204" pitchFamily="18" charset="0"/>
                              <a:ea typeface="Cambria Math" panose="02040503050406030204" pitchFamily="18" charset="0"/>
                            </a:rPr>
                          </m:ctrlPr>
                        </m:dPr>
                        <m:e>
                          <m:f>
                            <m:fPr>
                              <m:ctrlPr>
                                <a:rPr lang="en-US" sz="2800" i="1" dirty="0">
                                  <a:latin typeface="Cambria Math" panose="02040503050406030204" pitchFamily="18" charset="0"/>
                                  <a:ea typeface="Cambria Math" panose="02040503050406030204" pitchFamily="18" charset="0"/>
                                </a:rPr>
                              </m:ctrlPr>
                            </m:fPr>
                            <m:num>
                              <m:r>
                                <a:rPr lang="en-US" sz="2800" i="1" dirty="0">
                                  <a:latin typeface="Cambria Math" panose="02040503050406030204" pitchFamily="18" charset="0"/>
                                  <a:ea typeface="Cambria Math" panose="02040503050406030204" pitchFamily="18" charset="0"/>
                                </a:rPr>
                                <m:t>1</m:t>
                              </m:r>
                            </m:num>
                            <m:den>
                              <m:r>
                                <a:rPr lang="en-US" sz="2800" b="0" i="1" dirty="0" smtClean="0">
                                  <a:latin typeface="Cambria Math" panose="02040503050406030204" pitchFamily="18" charset="0"/>
                                  <a:ea typeface="Cambria Math" panose="02040503050406030204" pitchFamily="18" charset="0"/>
                                </a:rPr>
                                <m:t>𝑉</m:t>
                              </m:r>
                            </m:den>
                          </m:f>
                        </m:e>
                      </m:d>
                      <m:r>
                        <a:rPr lang="en-US" sz="2800" i="1" dirty="0">
                          <a:latin typeface="Cambria Math" panose="02040503050406030204" pitchFamily="18" charset="0"/>
                          <a:ea typeface="Cambria Math" panose="02040503050406030204" pitchFamily="18" charset="0"/>
                        </a:rPr>
                        <m:t>∙</m:t>
                      </m:r>
                      <m:r>
                        <a:rPr lang="en-US" sz="2800" i="1" dirty="0">
                          <a:latin typeface="Cambria Math" panose="02040503050406030204" pitchFamily="18" charset="0"/>
                          <a:ea typeface="Cambria Math" panose="02040503050406030204" pitchFamily="18" charset="0"/>
                        </a:rPr>
                        <m:t>𝑃</m:t>
                      </m:r>
                      <m:r>
                        <a:rPr lang="en-US" sz="2800" i="1" dirty="0">
                          <a:latin typeface="Cambria Math" panose="02040503050406030204" pitchFamily="18" charset="0"/>
                          <a:ea typeface="Cambria Math" panose="02040503050406030204" pitchFamily="18" charset="0"/>
                        </a:rPr>
                        <m:t>∙</m:t>
                      </m:r>
                      <m:r>
                        <a:rPr lang="en-US" sz="2800" b="0" i="1" dirty="0" smtClean="0">
                          <a:latin typeface="Cambria Math" panose="02040503050406030204" pitchFamily="18" charset="0"/>
                          <a:ea typeface="Cambria Math" panose="02040503050406030204" pitchFamily="18" charset="0"/>
                        </a:rPr>
                        <m:t>𝑌</m:t>
                      </m:r>
                    </m:oMath>
                  </m:oMathPara>
                </a14:m>
                <a:endParaRPr lang="en-US" sz="2800" dirty="0">
                  <a:latin typeface="National semibold" panose="02000503000000020004"/>
                </a:endParaRPr>
              </a:p>
            </p:txBody>
          </p:sp>
        </mc:Choice>
        <mc:Fallback xmlns="">
          <p:sp>
            <p:nvSpPr>
              <p:cNvPr id="6" name="Object 4">
                <a:extLst>
                  <a:ext uri="{FF2B5EF4-FFF2-40B4-BE49-F238E27FC236}">
                    <a16:creationId xmlns:a16="http://schemas.microsoft.com/office/drawing/2014/main" id="{BDDAF33B-5761-42EA-B819-9EC2AB66613E}"/>
                  </a:ext>
                </a:extLst>
              </p:cNvPr>
              <p:cNvSpPr txBox="1">
                <a:spLocks noRot="1" noChangeAspect="1" noMove="1" noResize="1" noEditPoints="1" noAdjustHandles="1" noChangeArrowheads="1" noChangeShapeType="1" noTextEdit="1"/>
              </p:cNvSpPr>
              <p:nvPr/>
            </p:nvSpPr>
            <p:spPr bwMode="auto">
              <a:xfrm>
                <a:off x="4646612" y="2330450"/>
                <a:ext cx="2667000" cy="1174750"/>
              </a:xfrm>
              <a:prstGeom prst="rect">
                <a:avLst/>
              </a:prstGeom>
              <a:blipFill>
                <a:blip r:embed="rId3"/>
                <a:stretch>
                  <a:fillRect/>
                </a:stretch>
              </a:blipFill>
              <a:ln w="19050">
                <a:solidFill>
                  <a:srgbClr val="000000"/>
                </a:solidFill>
                <a:miter lim="800000"/>
                <a:headEnd/>
                <a:tailEnd/>
              </a:ln>
              <a:effectLst/>
            </p:spPr>
            <p:txBody>
              <a:bodyPr/>
              <a:lstStyle/>
              <a:p>
                <a:r>
                  <a:rPr lang="en-US">
                    <a:noFill/>
                  </a:rPr>
                  <a:t> </a:t>
                </a:r>
              </a:p>
            </p:txBody>
          </p:sp>
        </mc:Fallback>
      </mc:AlternateContent>
      <p:sp>
        <p:nvSpPr>
          <p:cNvPr id="2" name="Object 3">
            <a:extLst>
              <a:ext uri="{FF2B5EF4-FFF2-40B4-BE49-F238E27FC236}">
                <a16:creationId xmlns:a16="http://schemas.microsoft.com/office/drawing/2014/main" id="{19124CDA-471A-4CB1-BD38-F1AB020E671D}"/>
              </a:ext>
            </a:extLst>
          </p:cNvPr>
          <p:cNvSpPr txBox="1"/>
          <p:nvPr/>
        </p:nvSpPr>
        <p:spPr bwMode="auto">
          <a:xfrm>
            <a:off x="4570413" y="4038600"/>
            <a:ext cx="3047999" cy="1343025"/>
          </a:xfrm>
          <a:prstGeom prst="rect">
            <a:avLst/>
          </a:prstGeom>
          <a:noFill/>
          <a:ln>
            <a:noFill/>
          </a:ln>
          <a:effectLst/>
        </p:spPr>
        <p:txBody>
          <a:bodyPr>
            <a:noAutofit/>
          </a:bodyPr>
          <a:lstStyle/>
          <a:p>
            <a:r>
              <a:rPr lang="en-US" sz="2000" i="1" dirty="0">
                <a:latin typeface="National semibold" panose="02000503000000020004"/>
              </a:rPr>
              <a:t>M</a:t>
            </a:r>
            <a:r>
              <a:rPr lang="en-US" sz="2000" dirty="0">
                <a:latin typeface="National semibold" panose="02000503000000020004"/>
              </a:rPr>
              <a:t> = Money in circulation</a:t>
            </a:r>
          </a:p>
          <a:p>
            <a:r>
              <a:rPr lang="en-US" sz="2000" i="1" dirty="0">
                <a:latin typeface="National semibold" panose="02000503000000020004"/>
              </a:rPr>
              <a:t>V</a:t>
            </a:r>
            <a:r>
              <a:rPr lang="en-US" sz="2000" dirty="0">
                <a:latin typeface="National semibold" panose="02000503000000020004"/>
              </a:rPr>
              <a:t>  = Velocity of money</a:t>
            </a:r>
          </a:p>
          <a:p>
            <a:r>
              <a:rPr lang="en-US" sz="2000" i="1" dirty="0">
                <a:latin typeface="National semibold" panose="02000503000000020004"/>
              </a:rPr>
              <a:t>P</a:t>
            </a:r>
            <a:r>
              <a:rPr lang="en-US" sz="2000" dirty="0">
                <a:latin typeface="National semibold" panose="02000503000000020004"/>
              </a:rPr>
              <a:t>  = Nominal price</a:t>
            </a:r>
          </a:p>
          <a:p>
            <a:r>
              <a:rPr lang="en-US" sz="2000" i="1" dirty="0">
                <a:latin typeface="National semibold" panose="02000503000000020004"/>
              </a:rPr>
              <a:t>Y</a:t>
            </a:r>
            <a:r>
              <a:rPr lang="en-US" sz="2000" dirty="0">
                <a:latin typeface="National semibold" panose="02000503000000020004"/>
              </a:rPr>
              <a:t>  = Production</a:t>
            </a:r>
          </a:p>
        </p:txBody>
      </p:sp>
      <p:cxnSp>
        <p:nvCxnSpPr>
          <p:cNvPr id="10" name="Straight Arrow Connector 9">
            <a:extLst>
              <a:ext uri="{FF2B5EF4-FFF2-40B4-BE49-F238E27FC236}">
                <a16:creationId xmlns:a16="http://schemas.microsoft.com/office/drawing/2014/main" id="{05FB22D6-B1A7-4746-A475-BE12BD63EFBD}"/>
              </a:ext>
            </a:extLst>
          </p:cNvPr>
          <p:cNvCxnSpPr>
            <a:cxnSpLocks/>
          </p:cNvCxnSpPr>
          <p:nvPr/>
        </p:nvCxnSpPr>
        <p:spPr>
          <a:xfrm flipV="1">
            <a:off x="4904708" y="2399562"/>
            <a:ext cx="0" cy="36576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5BBDD7B-3054-405C-97DF-F70F0A485007}"/>
              </a:ext>
            </a:extLst>
          </p:cNvPr>
          <p:cNvCxnSpPr>
            <a:cxnSpLocks/>
          </p:cNvCxnSpPr>
          <p:nvPr/>
        </p:nvCxnSpPr>
        <p:spPr>
          <a:xfrm flipV="1">
            <a:off x="6544238" y="2399070"/>
            <a:ext cx="0" cy="365760"/>
          </a:xfrm>
          <a:prstGeom prst="straightConnector1">
            <a:avLst/>
          </a:prstGeom>
          <a:ln w="349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9CDFCC28-612F-4C73-B886-D010DDC6CEC5}"/>
              </a:ext>
            </a:extLst>
          </p:cNvPr>
          <p:cNvSpPr/>
          <p:nvPr/>
        </p:nvSpPr>
        <p:spPr>
          <a:xfrm>
            <a:off x="5484812" y="2438400"/>
            <a:ext cx="685799" cy="9906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85F6824-6A2A-40B1-9FB5-7110091C28E5}"/>
              </a:ext>
            </a:extLst>
          </p:cNvPr>
          <p:cNvSpPr/>
          <p:nvPr/>
        </p:nvSpPr>
        <p:spPr>
          <a:xfrm>
            <a:off x="6359882" y="2667000"/>
            <a:ext cx="304798" cy="5334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F0A3935-48DB-46DB-A321-4B5DC6795F8D}"/>
              </a:ext>
            </a:extLst>
          </p:cNvPr>
          <p:cNvSpPr/>
          <p:nvPr/>
        </p:nvSpPr>
        <p:spPr>
          <a:xfrm>
            <a:off x="6856414" y="2667000"/>
            <a:ext cx="304798" cy="5334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0056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subTnLst>
                                    <p:set>
                                      <p:cBhvr override="childStyle">
                                        <p:cTn dur="1" fill="hold" display="0" masterRel="nextClick" afterEffect="1"/>
                                        <p:tgtEl>
                                          <p:spTgt spid="15"/>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subTnLst>
                                    <p:set>
                                      <p:cBhvr override="childStyle">
                                        <p:cTn dur="1" fill="hold" display="0" masterRel="nextClick" afterEffect="1"/>
                                        <p:tgtEl>
                                          <p:spTgt spid="17"/>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p:bldP spid="13" grpId="0" animBg="1"/>
      <p:bldP spid="15" grpId="0" animBg="1"/>
      <p:bldP spid="1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a:xfrm>
            <a:off x="2208212" y="1681162"/>
            <a:ext cx="7772400" cy="4795837"/>
          </a:xfrm>
        </p:spPr>
        <p:txBody>
          <a:bodyPr>
            <a:normAutofit fontScale="62500" lnSpcReduction="20000"/>
          </a:bodyPr>
          <a:lstStyle/>
          <a:p>
            <a:pPr marL="533400" indent="-533400" algn="ctr">
              <a:lnSpc>
                <a:spcPct val="80000"/>
              </a:lnSpc>
              <a:buNone/>
            </a:pPr>
            <a:endParaRPr lang="en-US" sz="1400" dirty="0"/>
          </a:p>
          <a:p>
            <a:pPr marL="533400" indent="-533400">
              <a:lnSpc>
                <a:spcPct val="80000"/>
              </a:lnSpc>
              <a:buFont typeface="Wingdings" pitchFamily="2" charset="2"/>
              <a:buAutoNum type="arabicPeriod"/>
            </a:pPr>
            <a:r>
              <a:rPr lang="en-US" sz="3200" b="1" u="sng" dirty="0">
                <a:latin typeface="National semibold" panose="02000503000000020004"/>
              </a:rPr>
              <a:t>Open market operations</a:t>
            </a:r>
            <a:endParaRPr lang="en-US" sz="2600" b="1" dirty="0">
              <a:latin typeface="National semibold" panose="02000503000000020004"/>
            </a:endParaRPr>
          </a:p>
          <a:p>
            <a:pPr marL="914400" lvl="1" indent="-457200">
              <a:lnSpc>
                <a:spcPct val="80000"/>
              </a:lnSpc>
            </a:pPr>
            <a:r>
              <a:rPr lang="en-US" sz="2900" dirty="0">
                <a:latin typeface="National semibold" panose="02000503000000020004"/>
              </a:rPr>
              <a:t>Purchases of security in the secondary market increase money in circulation. </a:t>
            </a:r>
            <a:endParaRPr lang="en-US" sz="2200" dirty="0">
              <a:latin typeface="National semibold" panose="02000503000000020004"/>
            </a:endParaRPr>
          </a:p>
          <a:p>
            <a:pPr marL="533400" indent="-533400">
              <a:lnSpc>
                <a:spcPct val="80000"/>
              </a:lnSpc>
              <a:buFont typeface="Wingdings" pitchFamily="2" charset="2"/>
              <a:buAutoNum type="arabicPeriod"/>
            </a:pPr>
            <a:r>
              <a:rPr lang="en-US" sz="3200" b="1" u="sng" dirty="0">
                <a:latin typeface="National semibold" panose="02000503000000020004"/>
              </a:rPr>
              <a:t>Discount window borrowing facility</a:t>
            </a:r>
            <a:endParaRPr lang="en-US" sz="2600" b="1" u="sng" dirty="0">
              <a:latin typeface="National semibold" panose="02000503000000020004"/>
            </a:endParaRPr>
          </a:p>
          <a:p>
            <a:pPr marL="914400" lvl="1" indent="-457200">
              <a:lnSpc>
                <a:spcPct val="80000"/>
              </a:lnSpc>
            </a:pPr>
            <a:r>
              <a:rPr lang="en-US" sz="2900" dirty="0">
                <a:latin typeface="National semibold" panose="02000503000000020004"/>
              </a:rPr>
              <a:t>The interest rate charged to banks when they borrow from the central bank: the “discount rate”.</a:t>
            </a:r>
          </a:p>
          <a:p>
            <a:pPr marL="533400" indent="-533400">
              <a:lnSpc>
                <a:spcPct val="80000"/>
              </a:lnSpc>
              <a:buFont typeface="Wingdings" pitchFamily="2" charset="2"/>
              <a:buAutoNum type="arabicPeriod"/>
            </a:pPr>
            <a:r>
              <a:rPr lang="en-US" sz="3200" b="1" u="sng" dirty="0">
                <a:latin typeface="National semibold" panose="02000503000000020004"/>
              </a:rPr>
              <a:t>Reserve requirements</a:t>
            </a:r>
            <a:endParaRPr lang="en-US" sz="2600" b="1" dirty="0">
              <a:latin typeface="National semibold" panose="02000503000000020004"/>
            </a:endParaRPr>
          </a:p>
          <a:p>
            <a:pPr marL="914400" lvl="1" indent="-457200">
              <a:lnSpc>
                <a:spcPct val="80000"/>
              </a:lnSpc>
            </a:pPr>
            <a:r>
              <a:rPr lang="en-US" sz="2900" dirty="0">
                <a:latin typeface="National semibold" panose="02000503000000020004"/>
              </a:rPr>
              <a:t>The fraction of deposits that banks can use to make loans.</a:t>
            </a:r>
            <a:endParaRPr lang="en-US" sz="2200" dirty="0">
              <a:latin typeface="National semibold" panose="02000503000000020004"/>
            </a:endParaRPr>
          </a:p>
          <a:p>
            <a:pPr marL="533400" indent="-533400">
              <a:lnSpc>
                <a:spcPct val="80000"/>
              </a:lnSpc>
              <a:buFont typeface="Wingdings" pitchFamily="2" charset="2"/>
              <a:buAutoNum type="arabicPeriod"/>
            </a:pPr>
            <a:r>
              <a:rPr lang="en-US" sz="3200" b="1" u="sng" dirty="0">
                <a:latin typeface="National semibold" panose="02000503000000020004"/>
              </a:rPr>
              <a:t>Interest paid on bank reserves</a:t>
            </a:r>
            <a:endParaRPr lang="en-US" sz="2600" b="1" dirty="0">
              <a:latin typeface="National semibold" panose="02000503000000020004"/>
            </a:endParaRPr>
          </a:p>
          <a:p>
            <a:pPr marL="914400" lvl="1" indent="-457200">
              <a:lnSpc>
                <a:spcPct val="80000"/>
              </a:lnSpc>
            </a:pPr>
            <a:r>
              <a:rPr lang="en-US" sz="2900" dirty="0">
                <a:latin typeface="National semibold" panose="02000503000000020004"/>
              </a:rPr>
              <a:t>The interest rate paid on bank reserves affects the money multiplier.</a:t>
            </a:r>
            <a:endParaRPr lang="en-US" sz="2200" dirty="0">
              <a:latin typeface="National semibold" panose="02000503000000020004"/>
            </a:endParaRPr>
          </a:p>
          <a:p>
            <a:pPr marL="533400" indent="-533400">
              <a:lnSpc>
                <a:spcPct val="80000"/>
              </a:lnSpc>
              <a:buFont typeface="Wingdings" pitchFamily="2" charset="2"/>
              <a:buAutoNum type="arabicPeriod"/>
            </a:pPr>
            <a:r>
              <a:rPr lang="en-US" sz="3200" b="1" u="sng">
                <a:solidFill>
                  <a:srgbClr val="FF0000"/>
                </a:solidFill>
                <a:latin typeface="National semibold" panose="02000503000000020004"/>
              </a:rPr>
              <a:t>Foreign currency </a:t>
            </a:r>
            <a:r>
              <a:rPr lang="en-US" sz="3200" b="1" u="sng" dirty="0">
                <a:solidFill>
                  <a:srgbClr val="FF0000"/>
                </a:solidFill>
                <a:latin typeface="National semibold" panose="02000503000000020004"/>
              </a:rPr>
              <a:t>operations</a:t>
            </a:r>
            <a:endParaRPr lang="en-US" sz="2600" b="1" dirty="0">
              <a:solidFill>
                <a:srgbClr val="FF0000"/>
              </a:solidFill>
              <a:latin typeface="National semibold" panose="02000503000000020004"/>
            </a:endParaRPr>
          </a:p>
          <a:p>
            <a:pPr marL="914400" lvl="1" indent="-457200">
              <a:lnSpc>
                <a:spcPct val="80000"/>
              </a:lnSpc>
            </a:pPr>
            <a:r>
              <a:rPr lang="en-US" sz="2900" dirty="0">
                <a:latin typeface="National semibold" panose="02000503000000020004"/>
              </a:rPr>
              <a:t>Purchases of currencies increase the foreign reserves of the country and increase the money supply.</a:t>
            </a:r>
          </a:p>
          <a:p>
            <a:pPr marL="914400" lvl="1" indent="-457200">
              <a:lnSpc>
                <a:spcPct val="80000"/>
              </a:lnSpc>
            </a:pPr>
            <a:r>
              <a:rPr lang="en-US" sz="2900" dirty="0">
                <a:latin typeface="National semibold" panose="02000503000000020004"/>
              </a:rPr>
              <a:t>Sales of foreign currencies decrease the foreign reserves of the country and decrease the money supply. </a:t>
            </a:r>
            <a:r>
              <a:rPr lang="en-US" sz="2200" dirty="0">
                <a:latin typeface="National semibold" panose="02000503000000020004"/>
              </a:rPr>
              <a:t> </a:t>
            </a:r>
          </a:p>
        </p:txBody>
      </p:sp>
      <p:sp>
        <p:nvSpPr>
          <p:cNvPr id="2" name="Title 12">
            <a:extLst>
              <a:ext uri="{FF2B5EF4-FFF2-40B4-BE49-F238E27FC236}">
                <a16:creationId xmlns:a16="http://schemas.microsoft.com/office/drawing/2014/main" id="{5087CF8E-34DA-46FE-B75A-495FA532D953}"/>
              </a:ext>
            </a:extLst>
          </p:cNvPr>
          <p:cNvSpPr txBox="1">
            <a:spLocks/>
          </p:cNvSpPr>
          <p:nvPr/>
        </p:nvSpPr>
        <p:spPr>
          <a:xfrm>
            <a:off x="1751012" y="381001"/>
            <a:ext cx="9601200"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dirty="0">
                <a:latin typeface="National semibold" panose="02000503000000020004"/>
              </a:rPr>
              <a:t>Monetary policy tools</a:t>
            </a:r>
          </a:p>
        </p:txBody>
      </p:sp>
    </p:spTree>
    <p:extLst>
      <p:ext uri="{BB962C8B-B14F-4D97-AF65-F5344CB8AC3E}">
        <p14:creationId xmlns:p14="http://schemas.microsoft.com/office/powerpoint/2010/main" val="156511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0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710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0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10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7107">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7107">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7107">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107">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7107">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710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5" name="Object 3"/>
          <p:cNvGraphicFramePr>
            <a:graphicFrameLocks noChangeAspect="1"/>
          </p:cNvGraphicFramePr>
          <p:nvPr/>
        </p:nvGraphicFramePr>
        <p:xfrm>
          <a:off x="2530475" y="1082675"/>
          <a:ext cx="7772400" cy="3730625"/>
        </p:xfrm>
        <a:graphic>
          <a:graphicData uri="http://schemas.openxmlformats.org/presentationml/2006/ole">
            <mc:AlternateContent xmlns:mc="http://schemas.openxmlformats.org/markup-compatibility/2006">
              <mc:Choice xmlns:v="urn:schemas-microsoft-com:vml" Requires="v">
                <p:oleObj name="Document" r:id="rId3" imgW="6601431" imgH="3166141" progId="Word.Document.8">
                  <p:embed/>
                </p:oleObj>
              </mc:Choice>
              <mc:Fallback>
                <p:oleObj name="Document" r:id="rId3" imgW="6601431" imgH="3166141" progId="Word.Document.8">
                  <p:embed/>
                  <p:pic>
                    <p:nvPicPr>
                      <p:cNvPr id="8195" name="Object 3"/>
                      <p:cNvPicPr>
                        <a:picLocks noChangeAspect="1" noChangeArrowheads="1"/>
                      </p:cNvPicPr>
                      <p:nvPr/>
                    </p:nvPicPr>
                    <p:blipFill>
                      <a:blip r:embed="rId4"/>
                      <a:srcRect/>
                      <a:stretch>
                        <a:fillRect/>
                      </a:stretch>
                    </p:blipFill>
                    <p:spPr bwMode="auto">
                      <a:xfrm>
                        <a:off x="2530475" y="1082675"/>
                        <a:ext cx="7772400" cy="3730625"/>
                      </a:xfrm>
                      <a:prstGeom prst="rect">
                        <a:avLst/>
                      </a:prstGeom>
                      <a:noFill/>
                      <a:ln>
                        <a:noFill/>
                      </a:ln>
                      <a:effectLst/>
                    </p:spPr>
                  </p:pic>
                </p:oleObj>
              </mc:Fallback>
            </mc:AlternateContent>
          </a:graphicData>
        </a:graphic>
      </p:graphicFrame>
      <p:sp>
        <p:nvSpPr>
          <p:cNvPr id="8196" name="Rectangle 4"/>
          <p:cNvSpPr>
            <a:spLocks noChangeArrowheads="1"/>
          </p:cNvSpPr>
          <p:nvPr/>
        </p:nvSpPr>
        <p:spPr bwMode="auto">
          <a:xfrm>
            <a:off x="2659358" y="5192713"/>
            <a:ext cx="7427934" cy="827087"/>
          </a:xfrm>
          <a:prstGeom prst="rect">
            <a:avLst/>
          </a:prstGeom>
          <a:solidFill>
            <a:schemeClr val="bg1"/>
          </a:solidFill>
          <a:ln w="9525">
            <a:solidFill>
              <a:schemeClr val="tx1"/>
            </a:solidFill>
            <a:miter lim="800000"/>
            <a:headEnd/>
            <a:tailEnd/>
          </a:ln>
        </p:spPr>
        <p:txBody>
          <a:bodyPr wrap="none" anchor="ctr"/>
          <a:lstStyle/>
          <a:p>
            <a:pPr algn="ctr">
              <a:buFontTx/>
              <a:buNone/>
            </a:pPr>
            <a:r>
              <a:rPr lang="en-US" b="1" dirty="0">
                <a:latin typeface="National semibold" panose="02000503000000020004"/>
              </a:rPr>
              <a:t>Monetary base = Currency of nonbank public + Bank reserves</a:t>
            </a:r>
            <a:endParaRPr lang="en-US" sz="1400" b="1" dirty="0">
              <a:latin typeface="National semibold" panose="02000503000000020004"/>
            </a:endParaRPr>
          </a:p>
        </p:txBody>
      </p:sp>
    </p:spTree>
    <p:extLst>
      <p:ext uri="{BB962C8B-B14F-4D97-AF65-F5344CB8AC3E}">
        <p14:creationId xmlns:p14="http://schemas.microsoft.com/office/powerpoint/2010/main" val="271323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9821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b="1" dirty="0">
                <a:latin typeface="National semibold" panose="02000503000000020004"/>
              </a:rPr>
              <a:t>Rational for policies toward the exchange rate</a:t>
            </a:r>
            <a:endParaRPr lang="en-US" sz="4000"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697804" y="1865314"/>
            <a:ext cx="9273407" cy="424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a:lnSpc>
                <a:spcPct val="120000"/>
              </a:lnSpc>
            </a:pPr>
            <a:endParaRPr lang="en-US" sz="2400" dirty="0">
              <a:latin typeface="National semibold" panose="02000503000000020004"/>
              <a:cs typeface="Arial" charset="0"/>
            </a:endParaRPr>
          </a:p>
          <a:p>
            <a:pPr marL="285750" indent="-285750">
              <a:lnSpc>
                <a:spcPct val="120000"/>
              </a:lnSpc>
              <a:buFont typeface="Arial" panose="020B0604020202020204" pitchFamily="34" charset="0"/>
              <a:buChar char="•"/>
            </a:pPr>
            <a:r>
              <a:rPr lang="en-US" sz="2400" dirty="0">
                <a:latin typeface="National semibold" panose="02000503000000020004"/>
              </a:rPr>
              <a:t>To reduce exchange rate fluctuations driven by speculation. </a:t>
            </a:r>
          </a:p>
          <a:p>
            <a:pPr marL="285750" indent="-285750">
              <a:lnSpc>
                <a:spcPct val="120000"/>
              </a:lnSpc>
              <a:buFont typeface="Arial" panose="020B0604020202020204" pitchFamily="34" charset="0"/>
              <a:buChar char="•"/>
            </a:pPr>
            <a:endParaRPr lang="en-US" sz="2400" dirty="0">
              <a:latin typeface="National semibold" panose="02000503000000020004"/>
            </a:endParaRPr>
          </a:p>
          <a:p>
            <a:pPr marL="285750" indent="-285750">
              <a:lnSpc>
                <a:spcPct val="120000"/>
              </a:lnSpc>
              <a:buFont typeface="Arial" panose="020B0604020202020204" pitchFamily="34" charset="0"/>
              <a:buChar char="•"/>
            </a:pPr>
            <a:endParaRPr lang="en-US" sz="2400" dirty="0">
              <a:latin typeface="National semibold" panose="02000503000000020004"/>
            </a:endParaRPr>
          </a:p>
          <a:p>
            <a:pPr marL="285750" indent="-285750">
              <a:lnSpc>
                <a:spcPct val="120000"/>
              </a:lnSpc>
              <a:buFont typeface="Arial" panose="020B0604020202020204" pitchFamily="34" charset="0"/>
              <a:buChar char="•"/>
            </a:pPr>
            <a:r>
              <a:rPr lang="en-US" sz="2400" dirty="0">
                <a:latin typeface="National semibold" panose="02000503000000020004"/>
              </a:rPr>
              <a:t>To prevent an appreciation of the domestic currency to favor exports.  </a:t>
            </a:r>
          </a:p>
          <a:p>
            <a:pPr lvl="1">
              <a:lnSpc>
                <a:spcPct val="120000"/>
              </a:lnSpc>
            </a:pPr>
            <a:endParaRPr lang="en-US" sz="2400" dirty="0">
              <a:latin typeface="National semibold" panose="02000503000000020004"/>
            </a:endParaRPr>
          </a:p>
          <a:p>
            <a:pPr marL="285750" indent="-285750">
              <a:lnSpc>
                <a:spcPct val="120000"/>
              </a:lnSpc>
              <a:buFont typeface="Arial" panose="020B0604020202020204" pitchFamily="34" charset="0"/>
              <a:buChar char="•"/>
            </a:pPr>
            <a:endParaRPr lang="en-US" sz="2400" dirty="0">
              <a:latin typeface="National semibold" panose="02000503000000020004"/>
            </a:endParaRPr>
          </a:p>
          <a:p>
            <a:pPr marL="285750" indent="-285750">
              <a:lnSpc>
                <a:spcPct val="120000"/>
              </a:lnSpc>
              <a:buFont typeface="Arial" panose="020B0604020202020204" pitchFamily="34" charset="0"/>
              <a:buChar char="•"/>
            </a:pPr>
            <a:r>
              <a:rPr lang="en-US" sz="2400" dirty="0">
                <a:latin typeface="National semibold" panose="02000503000000020004"/>
              </a:rPr>
              <a:t>To prevent a depreciation of the domestic currency to keep the price of imports low.</a:t>
            </a:r>
            <a:endParaRPr lang="en-US" sz="2000" dirty="0">
              <a:latin typeface="National semibold" panose="02000503000000020004"/>
            </a:endParaRPr>
          </a:p>
        </p:txBody>
      </p:sp>
    </p:spTree>
    <p:extLst>
      <p:ext uri="{BB962C8B-B14F-4D97-AF65-F5344CB8AC3E}">
        <p14:creationId xmlns:p14="http://schemas.microsoft.com/office/powerpoint/2010/main" val="3259198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b="1" dirty="0">
                <a:latin typeface="National semibold" panose="02000503000000020004"/>
              </a:rPr>
              <a:t>Policy regimes for the exchange rate</a:t>
            </a:r>
            <a:endParaRPr lang="en-US" sz="4000"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697804" y="1865314"/>
            <a:ext cx="9273407" cy="424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lnSpc>
                <a:spcPct val="120000"/>
              </a:lnSpc>
              <a:spcBef>
                <a:spcPct val="20000"/>
              </a:spcBef>
              <a:buClr>
                <a:schemeClr val="tx1"/>
              </a:buClr>
              <a:buSzPct val="75000"/>
              <a:buFont typeface="+mj-lt"/>
              <a:buAutoNum type="arabicPeriod"/>
            </a:pPr>
            <a:endParaRPr lang="en-US" sz="2400" u="sng" dirty="0">
              <a:solidFill>
                <a:srgbClr val="FF0000"/>
              </a:solidFill>
              <a:latin typeface="National semibold" panose="02000503000000020004"/>
            </a:endParaRPr>
          </a:p>
          <a:p>
            <a:pPr marL="457200" indent="-457200">
              <a:lnSpc>
                <a:spcPct val="120000"/>
              </a:lnSpc>
              <a:spcBef>
                <a:spcPct val="20000"/>
              </a:spcBef>
              <a:buClr>
                <a:schemeClr val="tx1"/>
              </a:buClr>
              <a:buSzPct val="75000"/>
              <a:buFont typeface="+mj-lt"/>
              <a:buAutoNum type="arabicPeriod"/>
            </a:pPr>
            <a:r>
              <a:rPr lang="en-US" sz="2400" b="1" u="sng" dirty="0">
                <a:latin typeface="National semibold" panose="02000503000000020004"/>
              </a:rPr>
              <a:t>Floating or flexible exchange rates</a:t>
            </a:r>
          </a:p>
          <a:p>
            <a:pPr marL="742950" lvl="1" indent="-285750">
              <a:lnSpc>
                <a:spcPct val="120000"/>
              </a:lnSpc>
              <a:spcBef>
                <a:spcPct val="20000"/>
              </a:spcBef>
              <a:buClr>
                <a:schemeClr val="tx1"/>
              </a:buClr>
              <a:buSzPct val="75000"/>
              <a:buFontTx/>
              <a:buChar char="–"/>
            </a:pPr>
            <a:r>
              <a:rPr lang="en-US" sz="2000" dirty="0">
                <a:latin typeface="National semibold" panose="02000503000000020004"/>
              </a:rPr>
              <a:t>Policy authorities do not intervene systematically in the market to affect the exchange rate. It could be a “</a:t>
            </a:r>
            <a:r>
              <a:rPr lang="en-US" sz="2000" u="sng" dirty="0">
                <a:latin typeface="National semibold" panose="02000503000000020004"/>
              </a:rPr>
              <a:t>clean float”</a:t>
            </a:r>
            <a:r>
              <a:rPr lang="en-US" sz="2000" dirty="0">
                <a:latin typeface="National semibold" panose="02000503000000020004"/>
              </a:rPr>
              <a:t> or a “</a:t>
            </a:r>
            <a:r>
              <a:rPr lang="en-US" sz="2000" u="sng" dirty="0">
                <a:latin typeface="National semibold" panose="02000503000000020004"/>
              </a:rPr>
              <a:t>managed float</a:t>
            </a:r>
            <a:r>
              <a:rPr lang="en-US" sz="2000" dirty="0">
                <a:latin typeface="National semibold" panose="02000503000000020004"/>
              </a:rPr>
              <a:t>”.</a:t>
            </a:r>
          </a:p>
          <a:p>
            <a:pPr marL="457200" indent="-457200">
              <a:lnSpc>
                <a:spcPct val="120000"/>
              </a:lnSpc>
              <a:spcBef>
                <a:spcPct val="20000"/>
              </a:spcBef>
              <a:buClr>
                <a:schemeClr val="tx1"/>
              </a:buClr>
              <a:buSzPct val="75000"/>
              <a:buFont typeface="+mj-lt"/>
              <a:buAutoNum type="arabicPeriod"/>
            </a:pPr>
            <a:endParaRPr lang="en-US" sz="2400" u="sng" dirty="0">
              <a:solidFill>
                <a:srgbClr val="FF0000"/>
              </a:solidFill>
              <a:latin typeface="National semibold" panose="02000503000000020004"/>
            </a:endParaRPr>
          </a:p>
          <a:p>
            <a:pPr marL="457200" indent="-457200">
              <a:lnSpc>
                <a:spcPct val="120000"/>
              </a:lnSpc>
              <a:spcBef>
                <a:spcPct val="20000"/>
              </a:spcBef>
              <a:buClr>
                <a:schemeClr val="tx1"/>
              </a:buClr>
              <a:buSzPct val="75000"/>
              <a:buFont typeface="+mj-lt"/>
              <a:buAutoNum type="arabicPeriod"/>
            </a:pPr>
            <a:r>
              <a:rPr lang="en-US" sz="2400" b="1" u="sng" dirty="0">
                <a:latin typeface="National semibold" panose="02000503000000020004"/>
              </a:rPr>
              <a:t>Fixed exchange rates</a:t>
            </a:r>
          </a:p>
          <a:p>
            <a:pPr marL="742950" lvl="1" indent="-285750">
              <a:lnSpc>
                <a:spcPct val="120000"/>
              </a:lnSpc>
              <a:spcBef>
                <a:spcPct val="20000"/>
              </a:spcBef>
              <a:buClr>
                <a:schemeClr val="tx1"/>
              </a:buClr>
              <a:buSzPct val="75000"/>
              <a:buFontTx/>
              <a:buChar char="–"/>
            </a:pPr>
            <a:r>
              <a:rPr lang="en-US" sz="2000" dirty="0">
                <a:latin typeface="National semibold" panose="02000503000000020004"/>
              </a:rPr>
              <a:t>Policy authorities stand ready to purchase or sell foreign currency in order to balance the demand and supply at the targeted (fixed) exchange rate. It could be an “extreme peg” or “within a band”.</a:t>
            </a:r>
          </a:p>
        </p:txBody>
      </p:sp>
    </p:spTree>
    <p:extLst>
      <p:ext uri="{BB962C8B-B14F-4D97-AF65-F5344CB8AC3E}">
        <p14:creationId xmlns:p14="http://schemas.microsoft.com/office/powerpoint/2010/main" val="4173840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dirty="0">
                <a:latin typeface="National semibold" panose="02000503000000020004"/>
              </a:rPr>
              <a:t>How to intervene in the foreign exchange</a:t>
            </a:r>
            <a:endParaRPr lang="en-US" sz="4000"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370012" y="2076449"/>
            <a:ext cx="10058400" cy="424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990600" lvl="1" indent="-533400">
              <a:lnSpc>
                <a:spcPct val="120000"/>
              </a:lnSpc>
              <a:buFontTx/>
              <a:buAutoNum type="arabicPeriod"/>
            </a:pPr>
            <a:r>
              <a:rPr lang="en-US" sz="2400" dirty="0">
                <a:latin typeface="National semibold" panose="02000503000000020004"/>
              </a:rPr>
              <a:t>Buying and selling foreign currency.</a:t>
            </a:r>
          </a:p>
          <a:p>
            <a:pPr marL="990600" lvl="1" indent="-533400">
              <a:lnSpc>
                <a:spcPct val="120000"/>
              </a:lnSpc>
              <a:buFontTx/>
              <a:buAutoNum type="arabicPeriod"/>
            </a:pPr>
            <a:endParaRPr lang="en-US" sz="2400" dirty="0">
              <a:latin typeface="National semibold" panose="02000503000000020004"/>
            </a:endParaRPr>
          </a:p>
          <a:p>
            <a:pPr marL="990600" lvl="1" indent="-533400">
              <a:lnSpc>
                <a:spcPct val="120000"/>
              </a:lnSpc>
              <a:buFontTx/>
              <a:buAutoNum type="arabicPeriod"/>
            </a:pPr>
            <a:r>
              <a:rPr lang="en-US" sz="2400" dirty="0">
                <a:latin typeface="National semibold" panose="02000503000000020004"/>
              </a:rPr>
              <a:t>Exchange controls restricting private demand and supply of currency.</a:t>
            </a:r>
          </a:p>
          <a:p>
            <a:pPr marL="990600" lvl="1" indent="-533400">
              <a:lnSpc>
                <a:spcPct val="120000"/>
              </a:lnSpc>
              <a:buFontTx/>
              <a:buAutoNum type="arabicPeriod"/>
            </a:pPr>
            <a:endParaRPr lang="en-US" sz="2400" dirty="0">
              <a:latin typeface="National semibold" panose="02000503000000020004"/>
            </a:endParaRPr>
          </a:p>
          <a:p>
            <a:pPr marL="990600" lvl="1" indent="-533400">
              <a:lnSpc>
                <a:spcPct val="120000"/>
              </a:lnSpc>
              <a:buFontTx/>
              <a:buAutoNum type="arabicPeriod"/>
            </a:pPr>
            <a:r>
              <a:rPr lang="en-US" sz="2400" dirty="0">
                <a:latin typeface="National semibold" panose="02000503000000020004"/>
              </a:rPr>
              <a:t>Changing the domestic interest rate to affect short-term capital flows.</a:t>
            </a:r>
          </a:p>
          <a:p>
            <a:pPr marL="990600" lvl="1" indent="-533400">
              <a:lnSpc>
                <a:spcPct val="120000"/>
              </a:lnSpc>
              <a:buFontTx/>
              <a:buAutoNum type="arabicPeriod"/>
            </a:pPr>
            <a:endParaRPr lang="en-US" sz="2400" dirty="0">
              <a:latin typeface="National semibold" panose="02000503000000020004"/>
            </a:endParaRPr>
          </a:p>
          <a:p>
            <a:pPr marL="990600" lvl="1" indent="-533400">
              <a:lnSpc>
                <a:spcPct val="120000"/>
              </a:lnSpc>
              <a:buFontTx/>
              <a:buAutoNum type="arabicPeriod"/>
            </a:pPr>
            <a:r>
              <a:rPr lang="en-US" sz="2400" dirty="0">
                <a:latin typeface="National semibold" panose="02000503000000020004"/>
              </a:rPr>
              <a:t>Macroeconomic policies that solve fundamental problems undermining exchange rate stability.</a:t>
            </a:r>
          </a:p>
          <a:p>
            <a:pPr>
              <a:lnSpc>
                <a:spcPct val="120000"/>
              </a:lnSpc>
              <a:spcBef>
                <a:spcPct val="20000"/>
              </a:spcBef>
              <a:buClr>
                <a:schemeClr val="tx1"/>
              </a:buClr>
              <a:buSzPct val="75000"/>
            </a:pPr>
            <a:endParaRPr lang="en-US" sz="2400" u="sng" dirty="0">
              <a:solidFill>
                <a:srgbClr val="FF0000"/>
              </a:solidFill>
              <a:latin typeface="National semibold" panose="02000503000000020004"/>
            </a:endParaRPr>
          </a:p>
        </p:txBody>
      </p:sp>
    </p:spTree>
    <p:extLst>
      <p:ext uri="{BB962C8B-B14F-4D97-AF65-F5344CB8AC3E}">
        <p14:creationId xmlns:p14="http://schemas.microsoft.com/office/powerpoint/2010/main" val="2493347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1" name="Rectangle 3"/>
          <p:cNvSpPr>
            <a:spLocks noChangeArrowheads="1"/>
          </p:cNvSpPr>
          <p:nvPr/>
        </p:nvSpPr>
        <p:spPr bwMode="auto">
          <a:xfrm>
            <a:off x="912818" y="76200"/>
            <a:ext cx="10363194" cy="1219200"/>
          </a:xfrm>
          <a:prstGeom prst="rect">
            <a:avLst/>
          </a:prstGeom>
          <a:noFill/>
          <a:ln>
            <a:noFill/>
          </a:ln>
        </p:spPr>
        <p:txBody>
          <a:bodyPr/>
          <a:lstStyle/>
          <a:p>
            <a:pPr marL="342900" indent="-342900" algn="ctr"/>
            <a:r>
              <a:rPr lang="en-US" sz="3200" b="1" dirty="0">
                <a:latin typeface="National semibold" panose="02000503000000020004"/>
              </a:rPr>
              <a:t>Defending a fixed exchange rate from depreciation </a:t>
            </a:r>
          </a:p>
          <a:p>
            <a:pPr marL="342900" indent="-342900" algn="ctr"/>
            <a:r>
              <a:rPr lang="en-US" sz="3200" b="1" dirty="0">
                <a:solidFill>
                  <a:srgbClr val="FF0000"/>
                </a:solidFill>
                <a:latin typeface="National semibold" panose="02000503000000020004"/>
              </a:rPr>
              <a:t>(extreme peg Peso/Dollar)</a:t>
            </a:r>
            <a:endParaRPr lang="en-US" sz="2400" dirty="0">
              <a:solidFill>
                <a:srgbClr val="FF0000"/>
              </a:solidFill>
              <a:latin typeface="National semibold" panose="02000503000000020004"/>
            </a:endParaRPr>
          </a:p>
        </p:txBody>
      </p:sp>
      <p:sp>
        <p:nvSpPr>
          <p:cNvPr id="53252" name="Line 4"/>
          <p:cNvSpPr>
            <a:spLocks noChangeShapeType="1"/>
          </p:cNvSpPr>
          <p:nvPr/>
        </p:nvSpPr>
        <p:spPr bwMode="auto">
          <a:xfrm flipV="1">
            <a:off x="4481512" y="1828800"/>
            <a:ext cx="0" cy="3810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53" name="Line 5"/>
          <p:cNvSpPr>
            <a:spLocks noChangeShapeType="1"/>
          </p:cNvSpPr>
          <p:nvPr/>
        </p:nvSpPr>
        <p:spPr bwMode="auto">
          <a:xfrm>
            <a:off x="4329112" y="5562600"/>
            <a:ext cx="3962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54" name="Text Box 6"/>
          <p:cNvSpPr txBox="1">
            <a:spLocks noChangeArrowheads="1"/>
          </p:cNvSpPr>
          <p:nvPr/>
        </p:nvSpPr>
        <p:spPr bwMode="auto">
          <a:xfrm>
            <a:off x="7123112" y="5589588"/>
            <a:ext cx="1257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Billions of </a:t>
            </a:r>
            <a:r>
              <a:rPr lang="en-US" sz="1800" dirty="0">
                <a:latin typeface="Times New Roman" pitchFamily="18" charset="0"/>
                <a:cs typeface="Times New Roman" pitchFamily="18" charset="0"/>
              </a:rPr>
              <a:t>$</a:t>
            </a:r>
            <a:endParaRPr lang="en-US" sz="1400" dirty="0">
              <a:latin typeface="Times New Roman" pitchFamily="18" charset="0"/>
            </a:endParaRPr>
          </a:p>
        </p:txBody>
      </p:sp>
      <p:sp>
        <p:nvSpPr>
          <p:cNvPr id="53255" name="Text Box 7"/>
          <p:cNvSpPr txBox="1">
            <a:spLocks noChangeArrowheads="1"/>
          </p:cNvSpPr>
          <p:nvPr/>
        </p:nvSpPr>
        <p:spPr bwMode="auto">
          <a:xfrm>
            <a:off x="4052887" y="36576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25</a:t>
            </a:r>
          </a:p>
        </p:txBody>
      </p:sp>
      <p:sp>
        <p:nvSpPr>
          <p:cNvPr id="53257" name="Text Box 9"/>
          <p:cNvSpPr txBox="1">
            <a:spLocks noChangeArrowheads="1"/>
          </p:cNvSpPr>
          <p:nvPr/>
        </p:nvSpPr>
        <p:spPr bwMode="auto">
          <a:xfrm>
            <a:off x="5380037" y="35163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sz="1400">
              <a:latin typeface="Times New Roman" pitchFamily="18" charset="0"/>
            </a:endParaRPr>
          </a:p>
        </p:txBody>
      </p:sp>
      <p:sp>
        <p:nvSpPr>
          <p:cNvPr id="53258" name="Line 10"/>
          <p:cNvSpPr>
            <a:spLocks noChangeShapeType="1"/>
          </p:cNvSpPr>
          <p:nvPr/>
        </p:nvSpPr>
        <p:spPr bwMode="auto">
          <a:xfrm>
            <a:off x="5103812" y="2679700"/>
            <a:ext cx="19812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9" name="Text Box 11"/>
          <p:cNvSpPr txBox="1">
            <a:spLocks noChangeArrowheads="1"/>
          </p:cNvSpPr>
          <p:nvPr/>
        </p:nvSpPr>
        <p:spPr bwMode="auto">
          <a:xfrm>
            <a:off x="3732212" y="1828800"/>
            <a:ext cx="6731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a:latin typeface="Times New Roman" pitchFamily="18" charset="0"/>
                <a:cs typeface="Times New Roman" pitchFamily="18" charset="0"/>
              </a:rPr>
              <a:t>Peso </a:t>
            </a:r>
          </a:p>
          <a:p>
            <a:pPr eaLnBrk="1" hangingPunct="1">
              <a:spcBef>
                <a:spcPct val="0"/>
              </a:spcBef>
              <a:buFontTx/>
              <a:buNone/>
            </a:pPr>
            <a:r>
              <a:rPr lang="en-US" sz="1800">
                <a:latin typeface="Times New Roman" pitchFamily="18" charset="0"/>
                <a:cs typeface="Times New Roman" pitchFamily="18" charset="0"/>
              </a:rPr>
              <a:t>per $</a:t>
            </a:r>
            <a:endParaRPr lang="en-US" sz="1800">
              <a:latin typeface="Times New Roman" pitchFamily="18" charset="0"/>
            </a:endParaRPr>
          </a:p>
        </p:txBody>
      </p:sp>
      <p:sp>
        <p:nvSpPr>
          <p:cNvPr id="53260" name="Line 12"/>
          <p:cNvSpPr>
            <a:spLocks noChangeShapeType="1"/>
          </p:cNvSpPr>
          <p:nvPr/>
        </p:nvSpPr>
        <p:spPr bwMode="auto">
          <a:xfrm flipH="1">
            <a:off x="5027612" y="2667000"/>
            <a:ext cx="20574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1" name="Text Box 13"/>
          <p:cNvSpPr txBox="1">
            <a:spLocks noChangeArrowheads="1"/>
          </p:cNvSpPr>
          <p:nvPr/>
        </p:nvSpPr>
        <p:spPr bwMode="auto">
          <a:xfrm>
            <a:off x="7065962" y="24384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a:latin typeface="Times New Roman" pitchFamily="18" charset="0"/>
                <a:cs typeface="Times New Roman" pitchFamily="18" charset="0"/>
              </a:rPr>
              <a:t>S</a:t>
            </a:r>
            <a:r>
              <a:rPr lang="en-US" sz="1800" baseline="-25000">
                <a:latin typeface="Times New Roman" pitchFamily="18" charset="0"/>
                <a:cs typeface="Times New Roman" pitchFamily="18" charset="0"/>
              </a:rPr>
              <a:t>$</a:t>
            </a:r>
          </a:p>
        </p:txBody>
      </p:sp>
      <p:sp>
        <p:nvSpPr>
          <p:cNvPr id="53262" name="Text Box 14"/>
          <p:cNvSpPr txBox="1">
            <a:spLocks noChangeArrowheads="1"/>
          </p:cNvSpPr>
          <p:nvPr/>
        </p:nvSpPr>
        <p:spPr bwMode="auto">
          <a:xfrm>
            <a:off x="7072312" y="4800601"/>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a:latin typeface="Times New Roman" pitchFamily="18" charset="0"/>
                <a:cs typeface="Times New Roman" pitchFamily="18" charset="0"/>
              </a:rPr>
              <a:t>D</a:t>
            </a:r>
            <a:r>
              <a:rPr lang="en-US" sz="1800" baseline="-25000">
                <a:latin typeface="Times New Roman" pitchFamily="18" charset="0"/>
                <a:cs typeface="Times New Roman" pitchFamily="18" charset="0"/>
              </a:rPr>
              <a:t>$</a:t>
            </a:r>
          </a:p>
        </p:txBody>
      </p:sp>
      <p:sp>
        <p:nvSpPr>
          <p:cNvPr id="53263" name="Line 15"/>
          <p:cNvSpPr>
            <a:spLocks noChangeShapeType="1"/>
          </p:cNvSpPr>
          <p:nvPr/>
        </p:nvSpPr>
        <p:spPr bwMode="auto">
          <a:xfrm>
            <a:off x="6066472" y="3810000"/>
            <a:ext cx="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3264" name="Line 16"/>
          <p:cNvSpPr>
            <a:spLocks noChangeShapeType="1"/>
          </p:cNvSpPr>
          <p:nvPr/>
        </p:nvSpPr>
        <p:spPr bwMode="auto">
          <a:xfrm flipH="1">
            <a:off x="4481512" y="3797300"/>
            <a:ext cx="1600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3265" name="Text Box 17"/>
          <p:cNvSpPr txBox="1">
            <a:spLocks noChangeArrowheads="1"/>
          </p:cNvSpPr>
          <p:nvPr/>
        </p:nvSpPr>
        <p:spPr bwMode="auto">
          <a:xfrm>
            <a:off x="5897562" y="56388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20</a:t>
            </a:r>
          </a:p>
        </p:txBody>
      </p:sp>
      <p:sp>
        <p:nvSpPr>
          <p:cNvPr id="374802" name="Line 18"/>
          <p:cNvSpPr>
            <a:spLocks noChangeShapeType="1"/>
          </p:cNvSpPr>
          <p:nvPr/>
        </p:nvSpPr>
        <p:spPr bwMode="auto">
          <a:xfrm>
            <a:off x="5802312" y="2667000"/>
            <a:ext cx="19812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4803" name="Line 19"/>
          <p:cNvSpPr>
            <a:spLocks noChangeShapeType="1"/>
          </p:cNvSpPr>
          <p:nvPr/>
        </p:nvSpPr>
        <p:spPr bwMode="auto">
          <a:xfrm flipH="1">
            <a:off x="6767512" y="3810000"/>
            <a:ext cx="0" cy="17653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74804" name="Line 20"/>
          <p:cNvSpPr>
            <a:spLocks noChangeShapeType="1"/>
          </p:cNvSpPr>
          <p:nvPr/>
        </p:nvSpPr>
        <p:spPr bwMode="auto">
          <a:xfrm flipH="1">
            <a:off x="6069012" y="3797300"/>
            <a:ext cx="698500"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74805" name="Text Box 21"/>
          <p:cNvSpPr txBox="1">
            <a:spLocks noChangeArrowheads="1"/>
          </p:cNvSpPr>
          <p:nvPr/>
        </p:nvSpPr>
        <p:spPr bwMode="auto">
          <a:xfrm>
            <a:off x="6583362" y="56388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solidFill>
                  <a:srgbClr val="FF0000"/>
                </a:solidFill>
                <a:latin typeface="Times New Roman" pitchFamily="18" charset="0"/>
              </a:rPr>
              <a:t>23</a:t>
            </a:r>
          </a:p>
        </p:txBody>
      </p:sp>
      <p:sp>
        <p:nvSpPr>
          <p:cNvPr id="45" name="Line 20">
            <a:extLst>
              <a:ext uri="{FF2B5EF4-FFF2-40B4-BE49-F238E27FC236}">
                <a16:creationId xmlns:a16="http://schemas.microsoft.com/office/drawing/2014/main" id="{43ACB8EF-2459-4366-86BF-08088E8C179A}"/>
              </a:ext>
            </a:extLst>
          </p:cNvPr>
          <p:cNvSpPr>
            <a:spLocks noChangeShapeType="1"/>
          </p:cNvSpPr>
          <p:nvPr/>
        </p:nvSpPr>
        <p:spPr bwMode="auto">
          <a:xfrm flipH="1">
            <a:off x="4494212" y="3398521"/>
            <a:ext cx="1920240"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 name="Right Brace 1">
            <a:extLst>
              <a:ext uri="{FF2B5EF4-FFF2-40B4-BE49-F238E27FC236}">
                <a16:creationId xmlns:a16="http://schemas.microsoft.com/office/drawing/2014/main" id="{2106ACA6-B8C0-4517-BA84-AE4DCF8CA660}"/>
              </a:ext>
            </a:extLst>
          </p:cNvPr>
          <p:cNvSpPr/>
          <p:nvPr/>
        </p:nvSpPr>
        <p:spPr>
          <a:xfrm rot="5400000">
            <a:off x="6367550" y="5706463"/>
            <a:ext cx="86624" cy="71329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 Box 6">
            <a:extLst>
              <a:ext uri="{FF2B5EF4-FFF2-40B4-BE49-F238E27FC236}">
                <a16:creationId xmlns:a16="http://schemas.microsoft.com/office/drawing/2014/main" id="{C198B714-E3E5-469E-9919-F5F4DECA7D8C}"/>
              </a:ext>
            </a:extLst>
          </p:cNvPr>
          <p:cNvSpPr txBox="1">
            <a:spLocks noChangeArrowheads="1"/>
          </p:cNvSpPr>
          <p:nvPr/>
        </p:nvSpPr>
        <p:spPr bwMode="auto">
          <a:xfrm>
            <a:off x="5597886" y="6075878"/>
            <a:ext cx="165632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1400" dirty="0">
                <a:solidFill>
                  <a:srgbClr val="FF0000"/>
                </a:solidFill>
                <a:latin typeface="Times New Roman" pitchFamily="18" charset="0"/>
              </a:rPr>
              <a:t>Banco of Mexico</a:t>
            </a:r>
          </a:p>
          <a:p>
            <a:pPr algn="ctr" eaLnBrk="1" hangingPunct="1">
              <a:spcBef>
                <a:spcPct val="0"/>
              </a:spcBef>
              <a:buFontTx/>
              <a:buNone/>
            </a:pPr>
            <a:r>
              <a:rPr lang="en-US" sz="1400" dirty="0">
                <a:solidFill>
                  <a:srgbClr val="FF0000"/>
                </a:solidFill>
                <a:latin typeface="Times New Roman" pitchFamily="18" charset="0"/>
              </a:rPr>
              <a:t>must sell </a:t>
            </a:r>
          </a:p>
          <a:p>
            <a:pPr algn="ctr" eaLnBrk="1" hangingPunct="1">
              <a:spcBef>
                <a:spcPct val="0"/>
              </a:spcBef>
              <a:buFontTx/>
              <a:buNone/>
            </a:pPr>
            <a:r>
              <a:rPr lang="en-US" sz="1400" dirty="0">
                <a:solidFill>
                  <a:srgbClr val="FF0000"/>
                </a:solidFill>
                <a:latin typeface="Times New Roman" pitchFamily="18" charset="0"/>
              </a:rPr>
              <a:t>3 Billions $</a:t>
            </a:r>
          </a:p>
        </p:txBody>
      </p:sp>
      <p:sp>
        <p:nvSpPr>
          <p:cNvPr id="48" name="Line 12">
            <a:extLst>
              <a:ext uri="{FF2B5EF4-FFF2-40B4-BE49-F238E27FC236}">
                <a16:creationId xmlns:a16="http://schemas.microsoft.com/office/drawing/2014/main" id="{26697F40-965D-4515-AC40-AB3703A02BFB}"/>
              </a:ext>
            </a:extLst>
          </p:cNvPr>
          <p:cNvSpPr>
            <a:spLocks noChangeShapeType="1"/>
          </p:cNvSpPr>
          <p:nvPr/>
        </p:nvSpPr>
        <p:spPr bwMode="auto">
          <a:xfrm flipH="1">
            <a:off x="5736272" y="2659380"/>
            <a:ext cx="20574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4" name="Straight Arrow Connector 3">
            <a:extLst>
              <a:ext uri="{FF2B5EF4-FFF2-40B4-BE49-F238E27FC236}">
                <a16:creationId xmlns:a16="http://schemas.microsoft.com/office/drawing/2014/main" id="{42A8BCB2-D392-4035-BF66-66CF54149D5C}"/>
              </a:ext>
            </a:extLst>
          </p:cNvPr>
          <p:cNvCxnSpPr>
            <a:cxnSpLocks/>
          </p:cNvCxnSpPr>
          <p:nvPr/>
        </p:nvCxnSpPr>
        <p:spPr>
          <a:xfrm>
            <a:off x="6856412" y="3048000"/>
            <a:ext cx="45720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67DFECB-F065-499E-A583-358540902001}"/>
              </a:ext>
            </a:extLst>
          </p:cNvPr>
          <p:cNvCxnSpPr>
            <a:cxnSpLocks/>
          </p:cNvCxnSpPr>
          <p:nvPr/>
        </p:nvCxnSpPr>
        <p:spPr>
          <a:xfrm>
            <a:off x="5561012" y="4495800"/>
            <a:ext cx="45720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5" name="Text Box 31">
            <a:extLst>
              <a:ext uri="{FF2B5EF4-FFF2-40B4-BE49-F238E27FC236}">
                <a16:creationId xmlns:a16="http://schemas.microsoft.com/office/drawing/2014/main" id="{E2CA976F-4461-4510-91EF-FC1569059FC5}"/>
              </a:ext>
            </a:extLst>
          </p:cNvPr>
          <p:cNvSpPr txBox="1">
            <a:spLocks noChangeArrowheads="1"/>
          </p:cNvSpPr>
          <p:nvPr/>
        </p:nvSpPr>
        <p:spPr bwMode="auto">
          <a:xfrm>
            <a:off x="7770812" y="2438400"/>
            <a:ext cx="25876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a:solidFill>
                  <a:srgbClr val="FF0000"/>
                </a:solidFill>
                <a:latin typeface="National semibold" panose="02000503000000020004"/>
                <a:cs typeface="Times New Roman" pitchFamily="18" charset="0"/>
              </a:rPr>
              <a:t>S</a:t>
            </a:r>
            <a:r>
              <a:rPr lang="en-US" sz="1800" baseline="-25000" dirty="0">
                <a:solidFill>
                  <a:srgbClr val="FF0000"/>
                </a:solidFill>
                <a:latin typeface="Times New Roman" pitchFamily="18" charset="0"/>
                <a:cs typeface="Times New Roman" pitchFamily="18" charset="0"/>
              </a:rPr>
              <a:t>$</a:t>
            </a:r>
            <a:r>
              <a:rPr lang="en-US" sz="1800" dirty="0">
                <a:solidFill>
                  <a:srgbClr val="FF0000"/>
                </a:solidFill>
                <a:latin typeface="National semibold" panose="02000503000000020004"/>
                <a:cs typeface="Times New Roman" pitchFamily="18" charset="0"/>
              </a:rPr>
              <a:t> after intervention</a:t>
            </a:r>
            <a:r>
              <a:rPr lang="en-US" sz="1800" dirty="0">
                <a:latin typeface="Times New Roman" pitchFamily="18" charset="0"/>
                <a:cs typeface="Times New Roman" pitchFamily="18" charset="0"/>
              </a:rPr>
              <a:t> </a:t>
            </a:r>
            <a:endParaRPr lang="en-US" sz="1800" baseline="-25000" dirty="0">
              <a:latin typeface="Times New Roman" pitchFamily="18" charset="0"/>
              <a:cs typeface="Times New Roman" pitchFamily="18" charset="0"/>
            </a:endParaRPr>
          </a:p>
        </p:txBody>
      </p:sp>
    </p:spTree>
    <p:extLst>
      <p:ext uri="{BB962C8B-B14F-4D97-AF65-F5344CB8AC3E}">
        <p14:creationId xmlns:p14="http://schemas.microsoft.com/office/powerpoint/2010/main" val="456992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2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325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255"/>
                                        </p:tgtEl>
                                        <p:attrNameLst>
                                          <p:attrName>style.visibility</p:attrName>
                                        </p:attrNameLst>
                                      </p:cBhvr>
                                      <p:to>
                                        <p:strVal val="visible"/>
                                      </p:to>
                                    </p:set>
                                  </p:childTnLst>
                                </p:cTn>
                              </p:par>
                              <p:par>
                                <p:cTn id="13" presetID="1" presetClass="entr" presetSubtype="0" fill="hold" grpId="0" nodeType="withEffect" nodePh="1">
                                  <p:stCondLst>
                                    <p:cond delay="0"/>
                                  </p:stCondLst>
                                  <p:endCondLst>
                                    <p:cond evt="begin" delay="0">
                                      <p:tn val="13"/>
                                    </p:cond>
                                  </p:endCondLst>
                                  <p:childTnLst>
                                    <p:set>
                                      <p:cBhvr>
                                        <p:cTn id="14" dur="1" fill="hold">
                                          <p:stCondLst>
                                            <p:cond delay="0"/>
                                          </p:stCondLst>
                                        </p:cTn>
                                        <p:tgtEl>
                                          <p:spTgt spid="532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2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2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2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326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2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26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26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326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480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5"/>
                                        </p:tgtEl>
                                        <p:attrNameLst>
                                          <p:attrName>style.visibility</p:attrName>
                                        </p:attrNameLst>
                                      </p:cBhvr>
                                      <p:to>
                                        <p:strVal val="visible"/>
                                      </p:to>
                                    </p:set>
                                  </p:childTnLst>
                                  <p:subTnLst>
                                    <p:set>
                                      <p:cBhvr override="childStyle">
                                        <p:cTn dur="1" fill="hold" display="0" masterRel="nextClick" afterEffect="1"/>
                                        <p:tgtEl>
                                          <p:spTgt spid="45"/>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480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7480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7480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5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animBg="1"/>
      <p:bldP spid="53253" grpId="0" animBg="1"/>
      <p:bldP spid="53254" grpId="0"/>
      <p:bldP spid="53255" grpId="0"/>
      <p:bldP spid="53257" grpId="0"/>
      <p:bldP spid="53258" grpId="0" animBg="1"/>
      <p:bldP spid="53259" grpId="0"/>
      <p:bldP spid="53260" grpId="0" animBg="1"/>
      <p:bldP spid="53261" grpId="0"/>
      <p:bldP spid="53262" grpId="0"/>
      <p:bldP spid="53263" grpId="0" animBg="1"/>
      <p:bldP spid="53264" grpId="0" animBg="1"/>
      <p:bldP spid="53265" grpId="0"/>
      <p:bldP spid="374802" grpId="0" animBg="1"/>
      <p:bldP spid="374803" grpId="0" animBg="1"/>
      <p:bldP spid="374804" grpId="0" animBg="1"/>
      <p:bldP spid="374805" grpId="0"/>
      <p:bldP spid="45" grpId="0" animBg="1"/>
      <p:bldP spid="2" grpId="0" animBg="1"/>
      <p:bldP spid="47" grpId="0"/>
      <p:bldP spid="48" grpId="0" animBg="1"/>
      <p:bldP spid="55" grpId="0"/>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3251" name="Rectangle 3"/>
          <p:cNvSpPr>
            <a:spLocks noChangeArrowheads="1"/>
          </p:cNvSpPr>
          <p:nvPr/>
        </p:nvSpPr>
        <p:spPr bwMode="auto">
          <a:xfrm>
            <a:off x="912818" y="76200"/>
            <a:ext cx="10363194" cy="1219200"/>
          </a:xfrm>
          <a:prstGeom prst="rect">
            <a:avLst/>
          </a:prstGeom>
          <a:noFill/>
          <a:ln>
            <a:noFill/>
          </a:ln>
        </p:spPr>
        <p:txBody>
          <a:bodyPr/>
          <a:lstStyle/>
          <a:p>
            <a:pPr marL="342900" indent="-342900" algn="ctr"/>
            <a:r>
              <a:rPr lang="en-US" sz="3200" b="1" dirty="0">
                <a:latin typeface="National semibold"/>
              </a:rPr>
              <a:t>Defending a fixed exchange rate from depreciation </a:t>
            </a:r>
          </a:p>
          <a:p>
            <a:pPr marL="342900" indent="-342900" algn="ctr"/>
            <a:r>
              <a:rPr lang="en-US" sz="3200" b="1" dirty="0">
                <a:solidFill>
                  <a:srgbClr val="FF0000"/>
                </a:solidFill>
                <a:latin typeface="National semibold"/>
              </a:rPr>
              <a:t>(peg Peso/Dollar within a band)</a:t>
            </a:r>
            <a:endParaRPr lang="en-US" sz="2400" dirty="0">
              <a:solidFill>
                <a:srgbClr val="FF0000"/>
              </a:solidFill>
              <a:latin typeface="National semibold"/>
            </a:endParaRPr>
          </a:p>
        </p:txBody>
      </p:sp>
      <p:sp>
        <p:nvSpPr>
          <p:cNvPr id="2" name="Right Brace 1">
            <a:extLst>
              <a:ext uri="{FF2B5EF4-FFF2-40B4-BE49-F238E27FC236}">
                <a16:creationId xmlns:a16="http://schemas.microsoft.com/office/drawing/2014/main" id="{2106ACA6-B8C0-4517-BA84-AE4DCF8CA660}"/>
              </a:ext>
            </a:extLst>
          </p:cNvPr>
          <p:cNvSpPr/>
          <p:nvPr/>
        </p:nvSpPr>
        <p:spPr>
          <a:xfrm rot="5400000">
            <a:off x="6236247" y="5743767"/>
            <a:ext cx="86623" cy="42119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 Box 6">
            <a:extLst>
              <a:ext uri="{FF2B5EF4-FFF2-40B4-BE49-F238E27FC236}">
                <a16:creationId xmlns:a16="http://schemas.microsoft.com/office/drawing/2014/main" id="{C198B714-E3E5-469E-9919-F5F4DECA7D8C}"/>
              </a:ext>
            </a:extLst>
          </p:cNvPr>
          <p:cNvSpPr txBox="1">
            <a:spLocks noChangeArrowheads="1"/>
          </p:cNvSpPr>
          <p:nvPr/>
        </p:nvSpPr>
        <p:spPr bwMode="auto">
          <a:xfrm>
            <a:off x="5484812" y="5999678"/>
            <a:ext cx="165632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1400" dirty="0">
                <a:solidFill>
                  <a:srgbClr val="FF0000"/>
                </a:solidFill>
                <a:latin typeface="Times New Roman" pitchFamily="18" charset="0"/>
              </a:rPr>
              <a:t>Banco of Mexico</a:t>
            </a:r>
          </a:p>
          <a:p>
            <a:pPr algn="ctr" eaLnBrk="1" hangingPunct="1">
              <a:spcBef>
                <a:spcPct val="0"/>
              </a:spcBef>
              <a:buFontTx/>
              <a:buNone/>
            </a:pPr>
            <a:r>
              <a:rPr lang="en-US" sz="1400" dirty="0">
                <a:solidFill>
                  <a:srgbClr val="FF0000"/>
                </a:solidFill>
                <a:latin typeface="Times New Roman" pitchFamily="18" charset="0"/>
              </a:rPr>
              <a:t>must sell </a:t>
            </a:r>
          </a:p>
          <a:p>
            <a:pPr algn="ctr" eaLnBrk="1" hangingPunct="1">
              <a:spcBef>
                <a:spcPct val="0"/>
              </a:spcBef>
              <a:buFontTx/>
              <a:buNone/>
            </a:pPr>
            <a:r>
              <a:rPr lang="en-US" sz="1400" dirty="0">
                <a:solidFill>
                  <a:srgbClr val="FF0000"/>
                </a:solidFill>
                <a:latin typeface="Times New Roman" pitchFamily="18" charset="0"/>
              </a:rPr>
              <a:t>2 Billions $</a:t>
            </a:r>
          </a:p>
        </p:txBody>
      </p:sp>
      <p:sp>
        <p:nvSpPr>
          <p:cNvPr id="26" name="Rectangle 2" descr="25%">
            <a:extLst>
              <a:ext uri="{FF2B5EF4-FFF2-40B4-BE49-F238E27FC236}">
                <a16:creationId xmlns:a16="http://schemas.microsoft.com/office/drawing/2014/main" id="{2DC12A54-D484-4CB6-990B-02C4893B5040}"/>
              </a:ext>
            </a:extLst>
          </p:cNvPr>
          <p:cNvSpPr>
            <a:spLocks noChangeArrowheads="1"/>
          </p:cNvSpPr>
          <p:nvPr/>
        </p:nvSpPr>
        <p:spPr bwMode="auto">
          <a:xfrm>
            <a:off x="3998912" y="3149600"/>
            <a:ext cx="3810000" cy="1143000"/>
          </a:xfrm>
          <a:prstGeom prst="rect">
            <a:avLst/>
          </a:prstGeom>
          <a:pattFill prst="pct25">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spcBef>
                <a:spcPct val="0"/>
              </a:spcBef>
              <a:buFontTx/>
              <a:buNone/>
            </a:pPr>
            <a:endParaRPr lang="en-US" sz="2400">
              <a:latin typeface="Times New Roman" pitchFamily="18" charset="0"/>
            </a:endParaRPr>
          </a:p>
        </p:txBody>
      </p:sp>
      <p:sp>
        <p:nvSpPr>
          <p:cNvPr id="27" name="Line 22">
            <a:extLst>
              <a:ext uri="{FF2B5EF4-FFF2-40B4-BE49-F238E27FC236}">
                <a16:creationId xmlns:a16="http://schemas.microsoft.com/office/drawing/2014/main" id="{7A7D9AED-3B93-42FE-B749-0142382477C7}"/>
              </a:ext>
            </a:extLst>
          </p:cNvPr>
          <p:cNvSpPr>
            <a:spLocks noChangeShapeType="1"/>
          </p:cNvSpPr>
          <p:nvPr/>
        </p:nvSpPr>
        <p:spPr bwMode="auto">
          <a:xfrm flipV="1">
            <a:off x="3998912" y="1752600"/>
            <a:ext cx="0" cy="3810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Line 23">
            <a:extLst>
              <a:ext uri="{FF2B5EF4-FFF2-40B4-BE49-F238E27FC236}">
                <a16:creationId xmlns:a16="http://schemas.microsoft.com/office/drawing/2014/main" id="{BCB1103E-9200-48AE-BF36-7ED4F7F663EB}"/>
              </a:ext>
            </a:extLst>
          </p:cNvPr>
          <p:cNvSpPr>
            <a:spLocks noChangeShapeType="1"/>
          </p:cNvSpPr>
          <p:nvPr/>
        </p:nvSpPr>
        <p:spPr bwMode="auto">
          <a:xfrm>
            <a:off x="3846512" y="5486400"/>
            <a:ext cx="3962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 name="Text Box 24">
            <a:extLst>
              <a:ext uri="{FF2B5EF4-FFF2-40B4-BE49-F238E27FC236}">
                <a16:creationId xmlns:a16="http://schemas.microsoft.com/office/drawing/2014/main" id="{BB14AC00-EA64-4AF9-A471-D85FB84DE0AE}"/>
              </a:ext>
            </a:extLst>
          </p:cNvPr>
          <p:cNvSpPr txBox="1">
            <a:spLocks noChangeArrowheads="1"/>
          </p:cNvSpPr>
          <p:nvPr/>
        </p:nvSpPr>
        <p:spPr bwMode="auto">
          <a:xfrm>
            <a:off x="6970712" y="5513388"/>
            <a:ext cx="1257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Billions of </a:t>
            </a:r>
            <a:r>
              <a:rPr lang="en-US" sz="1800">
                <a:latin typeface="Times New Roman" pitchFamily="18" charset="0"/>
                <a:cs typeface="Times New Roman" pitchFamily="18" charset="0"/>
              </a:rPr>
              <a:t>$</a:t>
            </a:r>
            <a:endParaRPr lang="en-US" sz="1400">
              <a:latin typeface="Times New Roman" pitchFamily="18" charset="0"/>
            </a:endParaRPr>
          </a:p>
        </p:txBody>
      </p:sp>
      <p:sp>
        <p:nvSpPr>
          <p:cNvPr id="30" name="Text Box 25">
            <a:extLst>
              <a:ext uri="{FF2B5EF4-FFF2-40B4-BE49-F238E27FC236}">
                <a16:creationId xmlns:a16="http://schemas.microsoft.com/office/drawing/2014/main" id="{3CC29741-D463-4338-8781-2275E6E72A64}"/>
              </a:ext>
            </a:extLst>
          </p:cNvPr>
          <p:cNvSpPr txBox="1">
            <a:spLocks noChangeArrowheads="1"/>
          </p:cNvSpPr>
          <p:nvPr/>
        </p:nvSpPr>
        <p:spPr bwMode="auto">
          <a:xfrm>
            <a:off x="3570287" y="35814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25</a:t>
            </a:r>
          </a:p>
        </p:txBody>
      </p:sp>
      <p:sp>
        <p:nvSpPr>
          <p:cNvPr id="32" name="Text Box 27">
            <a:extLst>
              <a:ext uri="{FF2B5EF4-FFF2-40B4-BE49-F238E27FC236}">
                <a16:creationId xmlns:a16="http://schemas.microsoft.com/office/drawing/2014/main" id="{C5C420AF-580D-459C-83AA-8C38A7D9F78E}"/>
              </a:ext>
            </a:extLst>
          </p:cNvPr>
          <p:cNvSpPr txBox="1">
            <a:spLocks noChangeArrowheads="1"/>
          </p:cNvSpPr>
          <p:nvPr/>
        </p:nvSpPr>
        <p:spPr bwMode="auto">
          <a:xfrm>
            <a:off x="4897437" y="34401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sz="1400">
              <a:latin typeface="Times New Roman" pitchFamily="18" charset="0"/>
            </a:endParaRPr>
          </a:p>
        </p:txBody>
      </p:sp>
      <p:sp>
        <p:nvSpPr>
          <p:cNvPr id="33" name="Line 28">
            <a:extLst>
              <a:ext uri="{FF2B5EF4-FFF2-40B4-BE49-F238E27FC236}">
                <a16:creationId xmlns:a16="http://schemas.microsoft.com/office/drawing/2014/main" id="{2B2A67C5-0A07-4335-9C78-CD207397D9F8}"/>
              </a:ext>
            </a:extLst>
          </p:cNvPr>
          <p:cNvSpPr>
            <a:spLocks noChangeShapeType="1"/>
          </p:cNvSpPr>
          <p:nvPr/>
        </p:nvSpPr>
        <p:spPr bwMode="auto">
          <a:xfrm>
            <a:off x="4621212" y="2603500"/>
            <a:ext cx="19812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29">
            <a:extLst>
              <a:ext uri="{FF2B5EF4-FFF2-40B4-BE49-F238E27FC236}">
                <a16:creationId xmlns:a16="http://schemas.microsoft.com/office/drawing/2014/main" id="{12DA347F-A711-46A7-A983-59520795E6E4}"/>
              </a:ext>
            </a:extLst>
          </p:cNvPr>
          <p:cNvSpPr>
            <a:spLocks noChangeShapeType="1"/>
          </p:cNvSpPr>
          <p:nvPr/>
        </p:nvSpPr>
        <p:spPr bwMode="auto">
          <a:xfrm flipH="1">
            <a:off x="4545012" y="2590800"/>
            <a:ext cx="20574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Text Box 30">
            <a:extLst>
              <a:ext uri="{FF2B5EF4-FFF2-40B4-BE49-F238E27FC236}">
                <a16:creationId xmlns:a16="http://schemas.microsoft.com/office/drawing/2014/main" id="{9A530AEE-795F-42E6-B72F-66A9322F8231}"/>
              </a:ext>
            </a:extLst>
          </p:cNvPr>
          <p:cNvSpPr txBox="1">
            <a:spLocks noChangeArrowheads="1"/>
          </p:cNvSpPr>
          <p:nvPr/>
        </p:nvSpPr>
        <p:spPr bwMode="auto">
          <a:xfrm>
            <a:off x="6583362" y="23622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a:latin typeface="Times New Roman" pitchFamily="18" charset="0"/>
                <a:cs typeface="Times New Roman" pitchFamily="18" charset="0"/>
              </a:rPr>
              <a:t>S</a:t>
            </a:r>
            <a:r>
              <a:rPr lang="en-US" sz="1800" baseline="-25000">
                <a:latin typeface="Times New Roman" pitchFamily="18" charset="0"/>
                <a:cs typeface="Times New Roman" pitchFamily="18" charset="0"/>
              </a:rPr>
              <a:t>$</a:t>
            </a:r>
          </a:p>
        </p:txBody>
      </p:sp>
      <p:sp>
        <p:nvSpPr>
          <p:cNvPr id="36" name="Text Box 31">
            <a:extLst>
              <a:ext uri="{FF2B5EF4-FFF2-40B4-BE49-F238E27FC236}">
                <a16:creationId xmlns:a16="http://schemas.microsoft.com/office/drawing/2014/main" id="{1C6C9F93-1518-498E-91AA-D7AAC2055CD0}"/>
              </a:ext>
            </a:extLst>
          </p:cNvPr>
          <p:cNvSpPr txBox="1">
            <a:spLocks noChangeArrowheads="1"/>
          </p:cNvSpPr>
          <p:nvPr/>
        </p:nvSpPr>
        <p:spPr bwMode="auto">
          <a:xfrm>
            <a:off x="6589712" y="4724401"/>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a:latin typeface="Times New Roman" pitchFamily="18" charset="0"/>
                <a:cs typeface="Times New Roman" pitchFamily="18" charset="0"/>
              </a:rPr>
              <a:t>D</a:t>
            </a:r>
            <a:r>
              <a:rPr lang="en-US" sz="1800" baseline="-25000">
                <a:latin typeface="Times New Roman" pitchFamily="18" charset="0"/>
                <a:cs typeface="Times New Roman" pitchFamily="18" charset="0"/>
              </a:rPr>
              <a:t>$</a:t>
            </a:r>
          </a:p>
        </p:txBody>
      </p:sp>
      <p:sp>
        <p:nvSpPr>
          <p:cNvPr id="37" name="Line 32">
            <a:extLst>
              <a:ext uri="{FF2B5EF4-FFF2-40B4-BE49-F238E27FC236}">
                <a16:creationId xmlns:a16="http://schemas.microsoft.com/office/drawing/2014/main" id="{977EC05D-0CF6-4C3F-8B1B-C7B80A26574A}"/>
              </a:ext>
            </a:extLst>
          </p:cNvPr>
          <p:cNvSpPr>
            <a:spLocks noChangeShapeType="1"/>
          </p:cNvSpPr>
          <p:nvPr/>
        </p:nvSpPr>
        <p:spPr bwMode="auto">
          <a:xfrm>
            <a:off x="5584118" y="3733800"/>
            <a:ext cx="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33">
            <a:extLst>
              <a:ext uri="{FF2B5EF4-FFF2-40B4-BE49-F238E27FC236}">
                <a16:creationId xmlns:a16="http://schemas.microsoft.com/office/drawing/2014/main" id="{4C6E66FE-ED50-4046-B884-AC9E8C746EEA}"/>
              </a:ext>
            </a:extLst>
          </p:cNvPr>
          <p:cNvSpPr>
            <a:spLocks noChangeShapeType="1"/>
          </p:cNvSpPr>
          <p:nvPr/>
        </p:nvSpPr>
        <p:spPr bwMode="auto">
          <a:xfrm flipH="1">
            <a:off x="3998912" y="3721100"/>
            <a:ext cx="1600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Text Box 34">
            <a:extLst>
              <a:ext uri="{FF2B5EF4-FFF2-40B4-BE49-F238E27FC236}">
                <a16:creationId xmlns:a16="http://schemas.microsoft.com/office/drawing/2014/main" id="{7F8102B8-DFD1-4412-A59C-884BDE633270}"/>
              </a:ext>
            </a:extLst>
          </p:cNvPr>
          <p:cNvSpPr txBox="1">
            <a:spLocks noChangeArrowheads="1"/>
          </p:cNvSpPr>
          <p:nvPr/>
        </p:nvSpPr>
        <p:spPr bwMode="auto">
          <a:xfrm>
            <a:off x="5414962" y="55626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20</a:t>
            </a:r>
          </a:p>
        </p:txBody>
      </p:sp>
      <p:sp>
        <p:nvSpPr>
          <p:cNvPr id="40" name="Line 35">
            <a:extLst>
              <a:ext uri="{FF2B5EF4-FFF2-40B4-BE49-F238E27FC236}">
                <a16:creationId xmlns:a16="http://schemas.microsoft.com/office/drawing/2014/main" id="{CE70431F-1840-4253-9896-33F43748F553}"/>
              </a:ext>
            </a:extLst>
          </p:cNvPr>
          <p:cNvSpPr>
            <a:spLocks noChangeShapeType="1"/>
          </p:cNvSpPr>
          <p:nvPr/>
        </p:nvSpPr>
        <p:spPr bwMode="auto">
          <a:xfrm flipH="1">
            <a:off x="3998912" y="3136900"/>
            <a:ext cx="38481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36">
            <a:extLst>
              <a:ext uri="{FF2B5EF4-FFF2-40B4-BE49-F238E27FC236}">
                <a16:creationId xmlns:a16="http://schemas.microsoft.com/office/drawing/2014/main" id="{2E85F757-F133-4014-B56E-26B089C876EB}"/>
              </a:ext>
            </a:extLst>
          </p:cNvPr>
          <p:cNvSpPr>
            <a:spLocks noChangeShapeType="1"/>
          </p:cNvSpPr>
          <p:nvPr/>
        </p:nvSpPr>
        <p:spPr bwMode="auto">
          <a:xfrm flipH="1">
            <a:off x="3998912" y="4279900"/>
            <a:ext cx="38481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37">
            <a:extLst>
              <a:ext uri="{FF2B5EF4-FFF2-40B4-BE49-F238E27FC236}">
                <a16:creationId xmlns:a16="http://schemas.microsoft.com/office/drawing/2014/main" id="{0A41C2AC-CBB0-45C0-8DEF-C50E223E4364}"/>
              </a:ext>
            </a:extLst>
          </p:cNvPr>
          <p:cNvSpPr>
            <a:spLocks noChangeShapeType="1"/>
          </p:cNvSpPr>
          <p:nvPr/>
        </p:nvSpPr>
        <p:spPr bwMode="auto">
          <a:xfrm>
            <a:off x="5942012" y="2514600"/>
            <a:ext cx="19812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Text Box 38">
            <a:extLst>
              <a:ext uri="{FF2B5EF4-FFF2-40B4-BE49-F238E27FC236}">
                <a16:creationId xmlns:a16="http://schemas.microsoft.com/office/drawing/2014/main" id="{66E675F5-78B4-462E-9666-67EFEB9157A7}"/>
              </a:ext>
            </a:extLst>
          </p:cNvPr>
          <p:cNvSpPr txBox="1">
            <a:spLocks noChangeArrowheads="1"/>
          </p:cNvSpPr>
          <p:nvPr/>
        </p:nvSpPr>
        <p:spPr bwMode="auto">
          <a:xfrm>
            <a:off x="3211512" y="1752600"/>
            <a:ext cx="6731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a:latin typeface="Times New Roman" pitchFamily="18" charset="0"/>
                <a:cs typeface="Times New Roman" pitchFamily="18" charset="0"/>
              </a:rPr>
              <a:t>Peso </a:t>
            </a:r>
          </a:p>
          <a:p>
            <a:pPr eaLnBrk="1" hangingPunct="1">
              <a:spcBef>
                <a:spcPct val="0"/>
              </a:spcBef>
              <a:buFontTx/>
              <a:buNone/>
            </a:pPr>
            <a:r>
              <a:rPr lang="en-US" sz="1800" dirty="0">
                <a:latin typeface="Times New Roman" pitchFamily="18" charset="0"/>
                <a:cs typeface="Times New Roman" pitchFamily="18" charset="0"/>
              </a:rPr>
              <a:t>per $</a:t>
            </a:r>
            <a:endParaRPr lang="en-US" sz="1800" dirty="0">
              <a:latin typeface="Times New Roman" pitchFamily="18" charset="0"/>
            </a:endParaRPr>
          </a:p>
        </p:txBody>
      </p:sp>
      <p:sp>
        <p:nvSpPr>
          <p:cNvPr id="44" name="Text Box 39">
            <a:extLst>
              <a:ext uri="{FF2B5EF4-FFF2-40B4-BE49-F238E27FC236}">
                <a16:creationId xmlns:a16="http://schemas.microsoft.com/office/drawing/2014/main" id="{E276EC5C-52B3-4F9B-9D08-641E6EC6FF1A}"/>
              </a:ext>
            </a:extLst>
          </p:cNvPr>
          <p:cNvSpPr txBox="1">
            <a:spLocks noChangeArrowheads="1"/>
          </p:cNvSpPr>
          <p:nvPr/>
        </p:nvSpPr>
        <p:spPr bwMode="auto">
          <a:xfrm>
            <a:off x="3570287" y="29972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26</a:t>
            </a:r>
          </a:p>
        </p:txBody>
      </p:sp>
      <p:sp>
        <p:nvSpPr>
          <p:cNvPr id="46" name="Text Box 40">
            <a:extLst>
              <a:ext uri="{FF2B5EF4-FFF2-40B4-BE49-F238E27FC236}">
                <a16:creationId xmlns:a16="http://schemas.microsoft.com/office/drawing/2014/main" id="{2FC0813C-107D-4875-88C6-5446E2E087EE}"/>
              </a:ext>
            </a:extLst>
          </p:cNvPr>
          <p:cNvSpPr txBox="1">
            <a:spLocks noChangeArrowheads="1"/>
          </p:cNvSpPr>
          <p:nvPr/>
        </p:nvSpPr>
        <p:spPr bwMode="auto">
          <a:xfrm>
            <a:off x="3570287" y="41275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24</a:t>
            </a:r>
          </a:p>
        </p:txBody>
      </p:sp>
      <p:sp>
        <p:nvSpPr>
          <p:cNvPr id="49" name="Text Box 41">
            <a:extLst>
              <a:ext uri="{FF2B5EF4-FFF2-40B4-BE49-F238E27FC236}">
                <a16:creationId xmlns:a16="http://schemas.microsoft.com/office/drawing/2014/main" id="{E392BE5C-AF81-4291-AEF8-CB97EFF50C30}"/>
              </a:ext>
            </a:extLst>
          </p:cNvPr>
          <p:cNvSpPr txBox="1">
            <a:spLocks noChangeArrowheads="1"/>
          </p:cNvSpPr>
          <p:nvPr/>
        </p:nvSpPr>
        <p:spPr bwMode="auto">
          <a:xfrm>
            <a:off x="6310312" y="55626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solidFill>
                  <a:srgbClr val="FF0000"/>
                </a:solidFill>
                <a:latin typeface="Times New Roman" pitchFamily="18" charset="0"/>
              </a:rPr>
              <a:t>24</a:t>
            </a:r>
          </a:p>
        </p:txBody>
      </p:sp>
      <p:sp>
        <p:nvSpPr>
          <p:cNvPr id="50" name="Line 42">
            <a:extLst>
              <a:ext uri="{FF2B5EF4-FFF2-40B4-BE49-F238E27FC236}">
                <a16:creationId xmlns:a16="http://schemas.microsoft.com/office/drawing/2014/main" id="{36CC7B29-65D4-45F0-9F0B-CCB75867841E}"/>
              </a:ext>
            </a:extLst>
          </p:cNvPr>
          <p:cNvSpPr>
            <a:spLocks noChangeShapeType="1"/>
          </p:cNvSpPr>
          <p:nvPr/>
        </p:nvSpPr>
        <p:spPr bwMode="auto">
          <a:xfrm flipH="1">
            <a:off x="6475412" y="3124200"/>
            <a:ext cx="0" cy="23749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43">
            <a:extLst>
              <a:ext uri="{FF2B5EF4-FFF2-40B4-BE49-F238E27FC236}">
                <a16:creationId xmlns:a16="http://schemas.microsoft.com/office/drawing/2014/main" id="{EDC98193-B03E-4BA7-A43C-AD47DF519AFC}"/>
              </a:ext>
            </a:extLst>
          </p:cNvPr>
          <p:cNvSpPr>
            <a:spLocks noChangeShapeType="1"/>
          </p:cNvSpPr>
          <p:nvPr/>
        </p:nvSpPr>
        <p:spPr bwMode="auto">
          <a:xfrm flipH="1">
            <a:off x="6107112" y="3124200"/>
            <a:ext cx="0" cy="23749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Text Box 44">
            <a:extLst>
              <a:ext uri="{FF2B5EF4-FFF2-40B4-BE49-F238E27FC236}">
                <a16:creationId xmlns:a16="http://schemas.microsoft.com/office/drawing/2014/main" id="{352A2574-4C11-46B3-85E6-53C7867D0043}"/>
              </a:ext>
            </a:extLst>
          </p:cNvPr>
          <p:cNvSpPr txBox="1">
            <a:spLocks noChangeArrowheads="1"/>
          </p:cNvSpPr>
          <p:nvPr/>
        </p:nvSpPr>
        <p:spPr bwMode="auto">
          <a:xfrm>
            <a:off x="5910262" y="55626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solidFill>
                  <a:srgbClr val="FF0000"/>
                </a:solidFill>
                <a:latin typeface="Times New Roman" pitchFamily="18" charset="0"/>
              </a:rPr>
              <a:t>22</a:t>
            </a:r>
          </a:p>
        </p:txBody>
      </p:sp>
      <p:sp>
        <p:nvSpPr>
          <p:cNvPr id="3" name="Line 35">
            <a:extLst>
              <a:ext uri="{FF2B5EF4-FFF2-40B4-BE49-F238E27FC236}">
                <a16:creationId xmlns:a16="http://schemas.microsoft.com/office/drawing/2014/main" id="{19EBAFEA-C45C-4014-9FA2-6724A0618BBF}"/>
              </a:ext>
            </a:extLst>
          </p:cNvPr>
          <p:cNvSpPr>
            <a:spLocks noChangeShapeType="1"/>
          </p:cNvSpPr>
          <p:nvPr/>
        </p:nvSpPr>
        <p:spPr bwMode="auto">
          <a:xfrm flipH="1" flipV="1">
            <a:off x="3998912" y="2926080"/>
            <a:ext cx="2273299"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cxnSp>
        <p:nvCxnSpPr>
          <p:cNvPr id="55" name="Straight Arrow Connector 54">
            <a:extLst>
              <a:ext uri="{FF2B5EF4-FFF2-40B4-BE49-F238E27FC236}">
                <a16:creationId xmlns:a16="http://schemas.microsoft.com/office/drawing/2014/main" id="{EE83FF2D-56EB-4BB2-8ADE-5B7241F3575D}"/>
              </a:ext>
            </a:extLst>
          </p:cNvPr>
          <p:cNvCxnSpPr>
            <a:cxnSpLocks/>
          </p:cNvCxnSpPr>
          <p:nvPr/>
        </p:nvCxnSpPr>
        <p:spPr>
          <a:xfrm>
            <a:off x="6399212" y="2895600"/>
            <a:ext cx="27432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A04630AE-71D1-4552-A7B1-38E6777D2EA0}"/>
              </a:ext>
            </a:extLst>
          </p:cNvPr>
          <p:cNvCxnSpPr>
            <a:cxnSpLocks/>
          </p:cNvCxnSpPr>
          <p:nvPr/>
        </p:nvCxnSpPr>
        <p:spPr>
          <a:xfrm>
            <a:off x="4951412" y="4495800"/>
            <a:ext cx="27432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Line 29">
            <a:extLst>
              <a:ext uri="{FF2B5EF4-FFF2-40B4-BE49-F238E27FC236}">
                <a16:creationId xmlns:a16="http://schemas.microsoft.com/office/drawing/2014/main" id="{F0061B6A-7524-42F3-8520-3789AF2C56FF}"/>
              </a:ext>
            </a:extLst>
          </p:cNvPr>
          <p:cNvSpPr>
            <a:spLocks noChangeShapeType="1"/>
          </p:cNvSpPr>
          <p:nvPr/>
        </p:nvSpPr>
        <p:spPr bwMode="auto">
          <a:xfrm flipH="1">
            <a:off x="4928798" y="2590800"/>
            <a:ext cx="20574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9" name="Text Box 31">
            <a:extLst>
              <a:ext uri="{FF2B5EF4-FFF2-40B4-BE49-F238E27FC236}">
                <a16:creationId xmlns:a16="http://schemas.microsoft.com/office/drawing/2014/main" id="{80425037-C8C3-4F5F-867F-54970E236E9D}"/>
              </a:ext>
            </a:extLst>
          </p:cNvPr>
          <p:cNvSpPr txBox="1">
            <a:spLocks noChangeArrowheads="1"/>
          </p:cNvSpPr>
          <p:nvPr/>
        </p:nvSpPr>
        <p:spPr bwMode="auto">
          <a:xfrm>
            <a:off x="6932612" y="2373868"/>
            <a:ext cx="25876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a:solidFill>
                  <a:srgbClr val="FF0000"/>
                </a:solidFill>
                <a:latin typeface="National semibold" panose="02000503000000020004"/>
                <a:cs typeface="Times New Roman" pitchFamily="18" charset="0"/>
              </a:rPr>
              <a:t>S</a:t>
            </a:r>
            <a:r>
              <a:rPr lang="en-US" sz="1800" baseline="-25000" dirty="0">
                <a:solidFill>
                  <a:srgbClr val="FF0000"/>
                </a:solidFill>
                <a:latin typeface="Times New Roman" pitchFamily="18" charset="0"/>
                <a:cs typeface="Times New Roman" pitchFamily="18" charset="0"/>
              </a:rPr>
              <a:t>$</a:t>
            </a:r>
            <a:r>
              <a:rPr lang="en-US" sz="1800" dirty="0">
                <a:solidFill>
                  <a:srgbClr val="FF0000"/>
                </a:solidFill>
                <a:latin typeface="National semibold" panose="02000503000000020004"/>
                <a:cs typeface="Times New Roman" pitchFamily="18" charset="0"/>
              </a:rPr>
              <a:t> after intervention</a:t>
            </a:r>
            <a:r>
              <a:rPr lang="en-US" sz="1800" dirty="0">
                <a:latin typeface="Times New Roman" pitchFamily="18" charset="0"/>
                <a:cs typeface="Times New Roman" pitchFamily="18" charset="0"/>
              </a:rPr>
              <a:t> </a:t>
            </a:r>
            <a:endParaRPr lang="en-US" sz="1800" baseline="-25000" dirty="0">
              <a:latin typeface="Times New Roman" pitchFamily="18" charset="0"/>
              <a:cs typeface="Times New Roman" pitchFamily="18" charset="0"/>
            </a:endParaRPr>
          </a:p>
        </p:txBody>
      </p:sp>
      <p:sp>
        <p:nvSpPr>
          <p:cNvPr id="45" name="Line 37">
            <a:extLst>
              <a:ext uri="{FF2B5EF4-FFF2-40B4-BE49-F238E27FC236}">
                <a16:creationId xmlns:a16="http://schemas.microsoft.com/office/drawing/2014/main" id="{0642E681-A23A-422D-B278-6FEF23F0CB3B}"/>
              </a:ext>
            </a:extLst>
          </p:cNvPr>
          <p:cNvSpPr>
            <a:spLocks noChangeShapeType="1"/>
          </p:cNvSpPr>
          <p:nvPr/>
        </p:nvSpPr>
        <p:spPr bwMode="auto">
          <a:xfrm>
            <a:off x="5027612" y="2667000"/>
            <a:ext cx="19812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864113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
                                        </p:tgtEl>
                                        <p:attrNameLst>
                                          <p:attrName>style.visibility</p:attrName>
                                        </p:attrNameLst>
                                      </p:cBhvr>
                                      <p:to>
                                        <p:strVal val="visible"/>
                                      </p:to>
                                    </p:set>
                                  </p:childTnLst>
                                  <p:subTnLst>
                                    <p:set>
                                      <p:cBhvr override="childStyle">
                                        <p:cTn dur="1" fill="hold" display="0" masterRel="nextClick" afterEffect="1"/>
                                        <p:tgtEl>
                                          <p:spTgt spid="45"/>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499"/>
                                          </p:stCondLst>
                                        </p:cTn>
                                        <p:tgtEl>
                                          <p:spTgt spid="5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5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499"/>
                                          </p:stCondLst>
                                        </p:cTn>
                                        <p:tgtEl>
                                          <p:spTgt spid="4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7" grpId="0"/>
      <p:bldP spid="42" grpId="0" animBg="1"/>
      <p:bldP spid="49" grpId="0" autoUpdateAnimBg="0"/>
      <p:bldP spid="50" grpId="0" animBg="1"/>
      <p:bldP spid="51" grpId="0" animBg="1"/>
      <p:bldP spid="53" grpId="0" autoUpdateAnimBg="0"/>
      <p:bldP spid="3" grpId="0" animBg="1"/>
      <p:bldP spid="5" grpId="0" animBg="1"/>
      <p:bldP spid="59" grpId="0"/>
      <p:bldP spid="4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dirty="0">
                <a:latin typeface="National semibold" panose="02000503000000020004"/>
              </a:rPr>
              <a:t>Where does the monetary authority get the foreign currency to intervene?</a:t>
            </a:r>
            <a:endParaRPr lang="en-US" sz="4000"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751012" y="2076449"/>
            <a:ext cx="9982200" cy="424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buFont typeface="Arial" panose="020B0604020202020204" pitchFamily="34" charset="0"/>
              <a:buChar char="•"/>
            </a:pPr>
            <a:endParaRPr lang="en-US" sz="2400" dirty="0">
              <a:latin typeface="National semibold" panose="02000503000000020004"/>
            </a:endParaRPr>
          </a:p>
          <a:p>
            <a:pPr marL="342900" indent="-342900">
              <a:lnSpc>
                <a:spcPct val="120000"/>
              </a:lnSpc>
              <a:buFont typeface="Arial" panose="020B0604020202020204" pitchFamily="34" charset="0"/>
              <a:buChar char="•"/>
            </a:pPr>
            <a:r>
              <a:rPr lang="en-US" sz="2400" dirty="0">
                <a:latin typeface="National semibold" panose="02000503000000020004"/>
              </a:rPr>
              <a:t>The monetary authority owns assets in foreign currencies (</a:t>
            </a:r>
            <a:r>
              <a:rPr lang="en-US" sz="2400" dirty="0">
                <a:solidFill>
                  <a:srgbClr val="FF0000"/>
                </a:solidFill>
                <a:latin typeface="National semibold" panose="02000503000000020004"/>
              </a:rPr>
              <a:t>foreign reserves</a:t>
            </a:r>
            <a:r>
              <a:rPr lang="en-US" sz="2400" dirty="0">
                <a:latin typeface="National semibold" panose="02000503000000020004"/>
              </a:rPr>
              <a:t>).</a:t>
            </a:r>
          </a:p>
          <a:p>
            <a:pPr marL="990600" lvl="1" indent="-533400">
              <a:lnSpc>
                <a:spcPct val="120000"/>
              </a:lnSpc>
            </a:pPr>
            <a:endParaRPr lang="en-US" sz="2400" dirty="0">
              <a:latin typeface="National semibold" panose="02000503000000020004"/>
            </a:endParaRPr>
          </a:p>
          <a:p>
            <a:pPr marL="990600" lvl="1" indent="-533400">
              <a:lnSpc>
                <a:spcPct val="120000"/>
              </a:lnSpc>
            </a:pPr>
            <a:endParaRPr lang="en-US" sz="2400" dirty="0">
              <a:latin typeface="National semibold" panose="02000503000000020004"/>
            </a:endParaRPr>
          </a:p>
          <a:p>
            <a:pPr marL="990600" lvl="1" indent="-533400">
              <a:lnSpc>
                <a:spcPct val="120000"/>
              </a:lnSpc>
            </a:pPr>
            <a:endParaRPr lang="en-US" sz="2400" dirty="0">
              <a:latin typeface="National semibold" panose="02000503000000020004"/>
            </a:endParaRPr>
          </a:p>
          <a:p>
            <a:pPr marL="342900" indent="-342900">
              <a:lnSpc>
                <a:spcPct val="120000"/>
              </a:lnSpc>
              <a:buFont typeface="Arial" panose="020B0604020202020204" pitchFamily="34" charset="0"/>
              <a:buChar char="•"/>
            </a:pPr>
            <a:r>
              <a:rPr lang="en-US" sz="2400" dirty="0">
                <a:latin typeface="National semibold" panose="02000503000000020004"/>
              </a:rPr>
              <a:t>If countries are short of foreign reserves, they can borrow from other countries or international institutions.</a:t>
            </a:r>
          </a:p>
          <a:p>
            <a:pPr>
              <a:lnSpc>
                <a:spcPct val="120000"/>
              </a:lnSpc>
              <a:spcBef>
                <a:spcPct val="20000"/>
              </a:spcBef>
              <a:buClr>
                <a:schemeClr val="tx1"/>
              </a:buClr>
              <a:buSzPct val="75000"/>
            </a:pPr>
            <a:endParaRPr lang="en-US" sz="2400" u="sng" dirty="0">
              <a:solidFill>
                <a:srgbClr val="FF0000"/>
              </a:solidFill>
              <a:latin typeface="National semibold" panose="02000503000000020004"/>
            </a:endParaRPr>
          </a:p>
        </p:txBody>
      </p:sp>
    </p:spTree>
    <p:extLst>
      <p:ext uri="{BB962C8B-B14F-4D97-AF65-F5344CB8AC3E}">
        <p14:creationId xmlns:p14="http://schemas.microsoft.com/office/powerpoint/2010/main" val="2825410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830805" y="2685871"/>
            <a:ext cx="2333396"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buFontTx/>
              <a:buNone/>
            </a:pPr>
            <a:r>
              <a:rPr lang="en-US" sz="3600" b="1" dirty="0">
                <a:solidFill>
                  <a:srgbClr val="000099"/>
                </a:solidFill>
                <a:latin typeface="National semibold" panose="02000503000000020004"/>
              </a:rPr>
              <a:t>Who owns </a:t>
            </a:r>
          </a:p>
          <a:p>
            <a:pPr algn="ctr">
              <a:buFontTx/>
              <a:buNone/>
            </a:pPr>
            <a:r>
              <a:rPr lang="en-US" sz="3600" b="1" dirty="0">
                <a:solidFill>
                  <a:srgbClr val="000099"/>
                </a:solidFill>
                <a:latin typeface="National semibold" panose="02000503000000020004"/>
              </a:rPr>
              <a:t>foreign</a:t>
            </a:r>
          </a:p>
          <a:p>
            <a:pPr algn="ctr">
              <a:buFontTx/>
              <a:buNone/>
            </a:pPr>
            <a:r>
              <a:rPr lang="en-US" sz="3600" b="1" dirty="0">
                <a:solidFill>
                  <a:srgbClr val="000099"/>
                </a:solidFill>
                <a:latin typeface="National semibold" panose="02000503000000020004"/>
              </a:rPr>
              <a:t>reserves?</a:t>
            </a:r>
          </a:p>
        </p:txBody>
      </p:sp>
      <p:graphicFrame>
        <p:nvGraphicFramePr>
          <p:cNvPr id="5" name="Chart 4">
            <a:extLst>
              <a:ext uri="{FF2B5EF4-FFF2-40B4-BE49-F238E27FC236}">
                <a16:creationId xmlns:a16="http://schemas.microsoft.com/office/drawing/2014/main" id="{4F689BAE-821C-1119-CDD0-4E6F839B82B8}"/>
              </a:ext>
            </a:extLst>
          </p:cNvPr>
          <p:cNvGraphicFramePr>
            <a:graphicFrameLocks noGrp="1"/>
          </p:cNvGraphicFramePr>
          <p:nvPr>
            <p:extLst>
              <p:ext uri="{D42A27DB-BD31-4B8C-83A1-F6EECF244321}">
                <p14:modId xmlns:p14="http://schemas.microsoft.com/office/powerpoint/2010/main" val="2449060483"/>
              </p:ext>
            </p:extLst>
          </p:nvPr>
        </p:nvGraphicFramePr>
        <p:xfrm>
          <a:off x="3427412" y="289442"/>
          <a:ext cx="8735827" cy="626375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391179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379412" y="2895600"/>
            <a:ext cx="280076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a:buFontTx/>
              <a:buNone/>
            </a:pPr>
            <a:r>
              <a:rPr lang="en-US" sz="3600" b="1" dirty="0">
                <a:solidFill>
                  <a:srgbClr val="000099"/>
                </a:solidFill>
              </a:rPr>
              <a:t>In what </a:t>
            </a:r>
          </a:p>
          <a:p>
            <a:pPr algn="ctr">
              <a:buFontTx/>
              <a:buNone/>
            </a:pPr>
            <a:r>
              <a:rPr lang="en-US" sz="3600" b="1" dirty="0">
                <a:solidFill>
                  <a:srgbClr val="000099"/>
                </a:solidFill>
              </a:rPr>
              <a:t>currencies?</a:t>
            </a:r>
          </a:p>
        </p:txBody>
      </p:sp>
      <p:pic>
        <p:nvPicPr>
          <p:cNvPr id="4" name="Picture 3">
            <a:extLst>
              <a:ext uri="{FF2B5EF4-FFF2-40B4-BE49-F238E27FC236}">
                <a16:creationId xmlns:a16="http://schemas.microsoft.com/office/drawing/2014/main" id="{880DDE27-3D63-F2E3-7573-E1934F34FA2B}"/>
              </a:ext>
            </a:extLst>
          </p:cNvPr>
          <p:cNvPicPr>
            <a:picLocks noChangeAspect="1"/>
          </p:cNvPicPr>
          <p:nvPr/>
        </p:nvPicPr>
        <p:blipFill>
          <a:blip r:embed="rId2"/>
          <a:stretch>
            <a:fillRect/>
          </a:stretch>
        </p:blipFill>
        <p:spPr>
          <a:xfrm>
            <a:off x="3474549" y="66205"/>
            <a:ext cx="8221222" cy="6725589"/>
          </a:xfrm>
          <a:prstGeom prst="rect">
            <a:avLst/>
          </a:prstGeom>
        </p:spPr>
      </p:pic>
    </p:spTree>
    <p:extLst>
      <p:ext uri="{BB962C8B-B14F-4D97-AF65-F5344CB8AC3E}">
        <p14:creationId xmlns:p14="http://schemas.microsoft.com/office/powerpoint/2010/main" val="3793975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ChangeArrowheads="1"/>
          </p:cNvSpPr>
          <p:nvPr/>
        </p:nvSpPr>
        <p:spPr bwMode="auto">
          <a:xfrm>
            <a:off x="912818" y="76200"/>
            <a:ext cx="10363194" cy="1219200"/>
          </a:xfrm>
          <a:prstGeom prst="rect">
            <a:avLst/>
          </a:prstGeom>
          <a:noFill/>
          <a:ln>
            <a:noFill/>
          </a:ln>
        </p:spPr>
        <p:txBody>
          <a:bodyPr/>
          <a:lstStyle/>
          <a:p>
            <a:pPr marL="342900" indent="-342900" algn="ctr"/>
            <a:r>
              <a:rPr lang="en-US" sz="3200" b="1" dirty="0">
                <a:latin typeface="National semibold" panose="02000503000000020004"/>
              </a:rPr>
              <a:t>Defending a fixed exchange rate from appreciation </a:t>
            </a:r>
          </a:p>
          <a:p>
            <a:pPr marL="342900" indent="-342900" algn="ctr"/>
            <a:r>
              <a:rPr lang="en-US" sz="3200" b="1" dirty="0">
                <a:solidFill>
                  <a:srgbClr val="FF0000"/>
                </a:solidFill>
                <a:latin typeface="National semibold" panose="02000503000000020004"/>
              </a:rPr>
              <a:t>(extreme peg Peso/Dollar)</a:t>
            </a:r>
            <a:endParaRPr lang="en-US" sz="2400" dirty="0">
              <a:solidFill>
                <a:srgbClr val="FF0000"/>
              </a:solidFill>
              <a:latin typeface="National semibold" panose="02000503000000020004"/>
            </a:endParaRPr>
          </a:p>
        </p:txBody>
      </p:sp>
      <p:sp>
        <p:nvSpPr>
          <p:cNvPr id="53252" name="Line 4"/>
          <p:cNvSpPr>
            <a:spLocks noChangeShapeType="1"/>
          </p:cNvSpPr>
          <p:nvPr/>
        </p:nvSpPr>
        <p:spPr bwMode="auto">
          <a:xfrm flipV="1">
            <a:off x="4481512" y="1828800"/>
            <a:ext cx="0" cy="3810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53" name="Line 5"/>
          <p:cNvSpPr>
            <a:spLocks noChangeShapeType="1"/>
          </p:cNvSpPr>
          <p:nvPr/>
        </p:nvSpPr>
        <p:spPr bwMode="auto">
          <a:xfrm>
            <a:off x="4329112" y="5562600"/>
            <a:ext cx="3962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3254" name="Text Box 6"/>
          <p:cNvSpPr txBox="1">
            <a:spLocks noChangeArrowheads="1"/>
          </p:cNvSpPr>
          <p:nvPr/>
        </p:nvSpPr>
        <p:spPr bwMode="auto">
          <a:xfrm>
            <a:off x="7123112" y="5589588"/>
            <a:ext cx="1257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Billions of </a:t>
            </a:r>
            <a:r>
              <a:rPr lang="en-US" sz="1800" dirty="0">
                <a:latin typeface="Times New Roman" pitchFamily="18" charset="0"/>
                <a:cs typeface="Times New Roman" pitchFamily="18" charset="0"/>
              </a:rPr>
              <a:t>$</a:t>
            </a:r>
            <a:endParaRPr lang="en-US" sz="1400" dirty="0">
              <a:latin typeface="Times New Roman" pitchFamily="18" charset="0"/>
            </a:endParaRPr>
          </a:p>
        </p:txBody>
      </p:sp>
      <p:sp>
        <p:nvSpPr>
          <p:cNvPr id="53255" name="Text Box 7"/>
          <p:cNvSpPr txBox="1">
            <a:spLocks noChangeArrowheads="1"/>
          </p:cNvSpPr>
          <p:nvPr/>
        </p:nvSpPr>
        <p:spPr bwMode="auto">
          <a:xfrm>
            <a:off x="4052887" y="36576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25</a:t>
            </a:r>
          </a:p>
        </p:txBody>
      </p:sp>
      <p:sp>
        <p:nvSpPr>
          <p:cNvPr id="53257" name="Text Box 9"/>
          <p:cNvSpPr txBox="1">
            <a:spLocks noChangeArrowheads="1"/>
          </p:cNvSpPr>
          <p:nvPr/>
        </p:nvSpPr>
        <p:spPr bwMode="auto">
          <a:xfrm>
            <a:off x="5380037" y="35163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sz="1400">
              <a:latin typeface="Times New Roman" pitchFamily="18" charset="0"/>
            </a:endParaRPr>
          </a:p>
        </p:txBody>
      </p:sp>
      <p:sp>
        <p:nvSpPr>
          <p:cNvPr id="53258" name="Line 10"/>
          <p:cNvSpPr>
            <a:spLocks noChangeShapeType="1"/>
          </p:cNvSpPr>
          <p:nvPr/>
        </p:nvSpPr>
        <p:spPr bwMode="auto">
          <a:xfrm>
            <a:off x="5103812" y="2679700"/>
            <a:ext cx="19812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59" name="Text Box 11"/>
          <p:cNvSpPr txBox="1">
            <a:spLocks noChangeArrowheads="1"/>
          </p:cNvSpPr>
          <p:nvPr/>
        </p:nvSpPr>
        <p:spPr bwMode="auto">
          <a:xfrm>
            <a:off x="3732212" y="1828800"/>
            <a:ext cx="6731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a:latin typeface="Times New Roman" pitchFamily="18" charset="0"/>
                <a:cs typeface="Times New Roman" pitchFamily="18" charset="0"/>
              </a:rPr>
              <a:t>Peso </a:t>
            </a:r>
          </a:p>
          <a:p>
            <a:pPr eaLnBrk="1" hangingPunct="1">
              <a:spcBef>
                <a:spcPct val="0"/>
              </a:spcBef>
              <a:buFontTx/>
              <a:buNone/>
            </a:pPr>
            <a:r>
              <a:rPr lang="en-US" sz="1800">
                <a:latin typeface="Times New Roman" pitchFamily="18" charset="0"/>
                <a:cs typeface="Times New Roman" pitchFamily="18" charset="0"/>
              </a:rPr>
              <a:t>per $</a:t>
            </a:r>
            <a:endParaRPr lang="en-US" sz="1800">
              <a:latin typeface="Times New Roman" pitchFamily="18" charset="0"/>
            </a:endParaRPr>
          </a:p>
        </p:txBody>
      </p:sp>
      <p:sp>
        <p:nvSpPr>
          <p:cNvPr id="53260" name="Line 12"/>
          <p:cNvSpPr>
            <a:spLocks noChangeShapeType="1"/>
          </p:cNvSpPr>
          <p:nvPr/>
        </p:nvSpPr>
        <p:spPr bwMode="auto">
          <a:xfrm flipH="1">
            <a:off x="5027612" y="2667000"/>
            <a:ext cx="20574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3261" name="Text Box 13"/>
          <p:cNvSpPr txBox="1">
            <a:spLocks noChangeArrowheads="1"/>
          </p:cNvSpPr>
          <p:nvPr/>
        </p:nvSpPr>
        <p:spPr bwMode="auto">
          <a:xfrm>
            <a:off x="7065962" y="24384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a:latin typeface="Times New Roman" pitchFamily="18" charset="0"/>
                <a:cs typeface="Times New Roman" pitchFamily="18" charset="0"/>
              </a:rPr>
              <a:t>S</a:t>
            </a:r>
            <a:r>
              <a:rPr lang="en-US" sz="1800" baseline="-25000">
                <a:latin typeface="Times New Roman" pitchFamily="18" charset="0"/>
                <a:cs typeface="Times New Roman" pitchFamily="18" charset="0"/>
              </a:rPr>
              <a:t>$</a:t>
            </a:r>
          </a:p>
        </p:txBody>
      </p:sp>
      <p:sp>
        <p:nvSpPr>
          <p:cNvPr id="53262" name="Text Box 14"/>
          <p:cNvSpPr txBox="1">
            <a:spLocks noChangeArrowheads="1"/>
          </p:cNvSpPr>
          <p:nvPr/>
        </p:nvSpPr>
        <p:spPr bwMode="auto">
          <a:xfrm>
            <a:off x="7072312" y="4800601"/>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a:latin typeface="Times New Roman" pitchFamily="18" charset="0"/>
                <a:cs typeface="Times New Roman" pitchFamily="18" charset="0"/>
              </a:rPr>
              <a:t>D</a:t>
            </a:r>
            <a:r>
              <a:rPr lang="en-US" sz="1800" baseline="-25000">
                <a:latin typeface="Times New Roman" pitchFamily="18" charset="0"/>
                <a:cs typeface="Times New Roman" pitchFamily="18" charset="0"/>
              </a:rPr>
              <a:t>$</a:t>
            </a:r>
          </a:p>
        </p:txBody>
      </p:sp>
      <p:sp>
        <p:nvSpPr>
          <p:cNvPr id="53263" name="Line 15"/>
          <p:cNvSpPr>
            <a:spLocks noChangeShapeType="1"/>
          </p:cNvSpPr>
          <p:nvPr/>
        </p:nvSpPr>
        <p:spPr bwMode="auto">
          <a:xfrm>
            <a:off x="6066472" y="3810000"/>
            <a:ext cx="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3264" name="Line 16"/>
          <p:cNvSpPr>
            <a:spLocks noChangeShapeType="1"/>
          </p:cNvSpPr>
          <p:nvPr/>
        </p:nvSpPr>
        <p:spPr bwMode="auto">
          <a:xfrm flipH="1">
            <a:off x="4481512" y="3797300"/>
            <a:ext cx="1600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3265" name="Text Box 17"/>
          <p:cNvSpPr txBox="1">
            <a:spLocks noChangeArrowheads="1"/>
          </p:cNvSpPr>
          <p:nvPr/>
        </p:nvSpPr>
        <p:spPr bwMode="auto">
          <a:xfrm>
            <a:off x="5897562" y="56388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20</a:t>
            </a:r>
          </a:p>
        </p:txBody>
      </p:sp>
      <p:sp>
        <p:nvSpPr>
          <p:cNvPr id="374802" name="Line 18"/>
          <p:cNvSpPr>
            <a:spLocks noChangeShapeType="1"/>
          </p:cNvSpPr>
          <p:nvPr/>
        </p:nvSpPr>
        <p:spPr bwMode="auto">
          <a:xfrm>
            <a:off x="4799012" y="3124200"/>
            <a:ext cx="19812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74803" name="Line 19"/>
          <p:cNvSpPr>
            <a:spLocks noChangeShapeType="1"/>
          </p:cNvSpPr>
          <p:nvPr/>
        </p:nvSpPr>
        <p:spPr bwMode="auto">
          <a:xfrm flipH="1">
            <a:off x="5391027" y="3812321"/>
            <a:ext cx="0" cy="1754187"/>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74804" name="Line 20"/>
          <p:cNvSpPr>
            <a:spLocks noChangeShapeType="1"/>
          </p:cNvSpPr>
          <p:nvPr/>
        </p:nvSpPr>
        <p:spPr bwMode="auto">
          <a:xfrm flipH="1">
            <a:off x="4494212" y="3797299"/>
            <a:ext cx="1572258" cy="1"/>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74805" name="Text Box 21"/>
          <p:cNvSpPr txBox="1">
            <a:spLocks noChangeArrowheads="1"/>
          </p:cNvSpPr>
          <p:nvPr/>
        </p:nvSpPr>
        <p:spPr bwMode="auto">
          <a:xfrm>
            <a:off x="5199062" y="5637312"/>
            <a:ext cx="3642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solidFill>
                  <a:srgbClr val="FF0000"/>
                </a:solidFill>
                <a:latin typeface="Times New Roman" pitchFamily="18" charset="0"/>
              </a:rPr>
              <a:t>17</a:t>
            </a:r>
          </a:p>
        </p:txBody>
      </p:sp>
      <p:sp>
        <p:nvSpPr>
          <p:cNvPr id="45" name="Line 20">
            <a:extLst>
              <a:ext uri="{FF2B5EF4-FFF2-40B4-BE49-F238E27FC236}">
                <a16:creationId xmlns:a16="http://schemas.microsoft.com/office/drawing/2014/main" id="{43ACB8EF-2459-4366-86BF-08088E8C179A}"/>
              </a:ext>
            </a:extLst>
          </p:cNvPr>
          <p:cNvSpPr>
            <a:spLocks noChangeShapeType="1"/>
          </p:cNvSpPr>
          <p:nvPr/>
        </p:nvSpPr>
        <p:spPr bwMode="auto">
          <a:xfrm flipH="1" flipV="1">
            <a:off x="4490648" y="4182207"/>
            <a:ext cx="1203959"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dirty="0"/>
          </a:p>
        </p:txBody>
      </p:sp>
      <p:sp>
        <p:nvSpPr>
          <p:cNvPr id="2" name="Right Brace 1">
            <a:extLst>
              <a:ext uri="{FF2B5EF4-FFF2-40B4-BE49-F238E27FC236}">
                <a16:creationId xmlns:a16="http://schemas.microsoft.com/office/drawing/2014/main" id="{2106ACA6-B8C0-4517-BA84-AE4DCF8CA660}"/>
              </a:ext>
            </a:extLst>
          </p:cNvPr>
          <p:cNvSpPr/>
          <p:nvPr/>
        </p:nvSpPr>
        <p:spPr>
          <a:xfrm rot="5400000" flipV="1">
            <a:off x="5647274" y="5676363"/>
            <a:ext cx="139702" cy="67417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 Box 6">
            <a:extLst>
              <a:ext uri="{FF2B5EF4-FFF2-40B4-BE49-F238E27FC236}">
                <a16:creationId xmlns:a16="http://schemas.microsoft.com/office/drawing/2014/main" id="{C198B714-E3E5-469E-9919-F5F4DECA7D8C}"/>
              </a:ext>
            </a:extLst>
          </p:cNvPr>
          <p:cNvSpPr txBox="1">
            <a:spLocks noChangeArrowheads="1"/>
          </p:cNvSpPr>
          <p:nvPr/>
        </p:nvSpPr>
        <p:spPr bwMode="auto">
          <a:xfrm>
            <a:off x="4892796" y="6075878"/>
            <a:ext cx="165632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1400" dirty="0">
                <a:solidFill>
                  <a:srgbClr val="FF0000"/>
                </a:solidFill>
                <a:latin typeface="Times New Roman" pitchFamily="18" charset="0"/>
              </a:rPr>
              <a:t>Banco of Mexico</a:t>
            </a:r>
          </a:p>
          <a:p>
            <a:pPr algn="ctr" eaLnBrk="1" hangingPunct="1">
              <a:spcBef>
                <a:spcPct val="0"/>
              </a:spcBef>
              <a:buFontTx/>
              <a:buNone/>
            </a:pPr>
            <a:r>
              <a:rPr lang="en-US" sz="1400" dirty="0">
                <a:solidFill>
                  <a:srgbClr val="FF0000"/>
                </a:solidFill>
                <a:latin typeface="Times New Roman" pitchFamily="18" charset="0"/>
              </a:rPr>
              <a:t>must purchase </a:t>
            </a:r>
          </a:p>
          <a:p>
            <a:pPr algn="ctr" eaLnBrk="1" hangingPunct="1">
              <a:spcBef>
                <a:spcPct val="0"/>
              </a:spcBef>
              <a:buFontTx/>
              <a:buNone/>
            </a:pPr>
            <a:r>
              <a:rPr lang="en-US" sz="1400" dirty="0">
                <a:solidFill>
                  <a:srgbClr val="FF0000"/>
                </a:solidFill>
                <a:latin typeface="Times New Roman" pitchFamily="18" charset="0"/>
              </a:rPr>
              <a:t>3 Billions $</a:t>
            </a:r>
          </a:p>
        </p:txBody>
      </p:sp>
      <p:cxnSp>
        <p:nvCxnSpPr>
          <p:cNvPr id="4" name="Straight Arrow Connector 3">
            <a:extLst>
              <a:ext uri="{FF2B5EF4-FFF2-40B4-BE49-F238E27FC236}">
                <a16:creationId xmlns:a16="http://schemas.microsoft.com/office/drawing/2014/main" id="{42A8BCB2-D392-4035-BF66-66CF54149D5C}"/>
              </a:ext>
            </a:extLst>
          </p:cNvPr>
          <p:cNvCxnSpPr>
            <a:cxnSpLocks/>
          </p:cNvCxnSpPr>
          <p:nvPr/>
        </p:nvCxnSpPr>
        <p:spPr>
          <a:xfrm>
            <a:off x="5180012" y="3429000"/>
            <a:ext cx="45720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67DFECB-F065-499E-A583-358540902001}"/>
              </a:ext>
            </a:extLst>
          </p:cNvPr>
          <p:cNvCxnSpPr>
            <a:cxnSpLocks/>
          </p:cNvCxnSpPr>
          <p:nvPr/>
        </p:nvCxnSpPr>
        <p:spPr>
          <a:xfrm>
            <a:off x="6246812" y="4648200"/>
            <a:ext cx="45720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9355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2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2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325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3255"/>
                                        </p:tgtEl>
                                        <p:attrNameLst>
                                          <p:attrName>style.visibility</p:attrName>
                                        </p:attrNameLst>
                                      </p:cBhvr>
                                      <p:to>
                                        <p:strVal val="visible"/>
                                      </p:to>
                                    </p:set>
                                  </p:childTnLst>
                                </p:cTn>
                              </p:par>
                              <p:par>
                                <p:cTn id="13" presetID="1" presetClass="entr" presetSubtype="0" fill="hold" grpId="0" nodeType="withEffect" nodePh="1">
                                  <p:stCondLst>
                                    <p:cond delay="0"/>
                                  </p:stCondLst>
                                  <p:endCondLst>
                                    <p:cond evt="begin" delay="0">
                                      <p:tn val="13"/>
                                    </p:cond>
                                  </p:endCondLst>
                                  <p:childTnLst>
                                    <p:set>
                                      <p:cBhvr>
                                        <p:cTn id="14" dur="1" fill="hold">
                                          <p:stCondLst>
                                            <p:cond delay="0"/>
                                          </p:stCondLst>
                                        </p:cTn>
                                        <p:tgtEl>
                                          <p:spTgt spid="532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25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32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32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326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326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326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326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326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7480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5"/>
                                        </p:tgtEl>
                                        <p:attrNameLst>
                                          <p:attrName>style.visibility</p:attrName>
                                        </p:attrNameLst>
                                      </p:cBhvr>
                                      <p:to>
                                        <p:strVal val="visible"/>
                                      </p:to>
                                    </p:set>
                                  </p:childTnLst>
                                  <p:subTnLst>
                                    <p:set>
                                      <p:cBhvr override="childStyle">
                                        <p:cTn dur="1" fill="hold" display="0" masterRel="nextClick" afterEffect="1"/>
                                        <p:tgtEl>
                                          <p:spTgt spid="45"/>
                                        </p:tgtEl>
                                        <p:attrNameLst>
                                          <p:attrName>style.visibility</p:attrName>
                                        </p:attrNameLst>
                                      </p:cBhvr>
                                      <p:to>
                                        <p:strVal val="hidden"/>
                                      </p:to>
                                    </p:set>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7480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7480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7480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2" grpId="0" animBg="1"/>
      <p:bldP spid="53253" grpId="0" animBg="1"/>
      <p:bldP spid="53254" grpId="0"/>
      <p:bldP spid="53255" grpId="0"/>
      <p:bldP spid="53257" grpId="0"/>
      <p:bldP spid="53258" grpId="0" animBg="1"/>
      <p:bldP spid="53259" grpId="0"/>
      <p:bldP spid="53260" grpId="0" animBg="1"/>
      <p:bldP spid="53261" grpId="0"/>
      <p:bldP spid="53262" grpId="0"/>
      <p:bldP spid="53263" grpId="0" animBg="1"/>
      <p:bldP spid="53264" grpId="0" animBg="1"/>
      <p:bldP spid="53265" grpId="0"/>
      <p:bldP spid="374802" grpId="0" animBg="1"/>
      <p:bldP spid="374803" grpId="0" animBg="1"/>
      <p:bldP spid="374804" grpId="0" animBg="1"/>
      <p:bldP spid="374805" grpId="0"/>
      <p:bldP spid="45" grpId="0" animBg="1"/>
      <p:bldP spid="2" grpId="0" animBg="1"/>
      <p:bldP spid="4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ChangeArrowheads="1"/>
          </p:cNvSpPr>
          <p:nvPr/>
        </p:nvSpPr>
        <p:spPr bwMode="auto">
          <a:xfrm>
            <a:off x="912818" y="76200"/>
            <a:ext cx="10363194" cy="1219200"/>
          </a:xfrm>
          <a:prstGeom prst="rect">
            <a:avLst/>
          </a:prstGeom>
          <a:noFill/>
          <a:ln>
            <a:noFill/>
          </a:ln>
        </p:spPr>
        <p:txBody>
          <a:bodyPr/>
          <a:lstStyle/>
          <a:p>
            <a:pPr marL="342900" indent="-342900" algn="ctr"/>
            <a:r>
              <a:rPr lang="en-US" sz="3200" b="1" dirty="0">
                <a:latin typeface="National semibold"/>
              </a:rPr>
              <a:t>Defending a fixed exchange rate from appreciation </a:t>
            </a:r>
          </a:p>
          <a:p>
            <a:pPr marL="342900" indent="-342900" algn="ctr"/>
            <a:r>
              <a:rPr lang="en-US" sz="3200" b="1" dirty="0">
                <a:solidFill>
                  <a:srgbClr val="FF0000"/>
                </a:solidFill>
                <a:latin typeface="National semibold"/>
              </a:rPr>
              <a:t>(peg Peso/Dollar within a band)</a:t>
            </a:r>
            <a:endParaRPr lang="en-US" sz="2400" dirty="0">
              <a:solidFill>
                <a:srgbClr val="FF0000"/>
              </a:solidFill>
              <a:latin typeface="National semibold"/>
            </a:endParaRPr>
          </a:p>
        </p:txBody>
      </p:sp>
      <p:sp>
        <p:nvSpPr>
          <p:cNvPr id="2" name="Right Brace 1">
            <a:extLst>
              <a:ext uri="{FF2B5EF4-FFF2-40B4-BE49-F238E27FC236}">
                <a16:creationId xmlns:a16="http://schemas.microsoft.com/office/drawing/2014/main" id="{2106ACA6-B8C0-4517-BA84-AE4DCF8CA660}"/>
              </a:ext>
            </a:extLst>
          </p:cNvPr>
          <p:cNvSpPr/>
          <p:nvPr/>
        </p:nvSpPr>
        <p:spPr>
          <a:xfrm rot="5400000">
            <a:off x="4756120" y="5681693"/>
            <a:ext cx="132279" cy="50369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7" name="Text Box 6">
            <a:extLst>
              <a:ext uri="{FF2B5EF4-FFF2-40B4-BE49-F238E27FC236}">
                <a16:creationId xmlns:a16="http://schemas.microsoft.com/office/drawing/2014/main" id="{C198B714-E3E5-469E-9919-F5F4DECA7D8C}"/>
              </a:ext>
            </a:extLst>
          </p:cNvPr>
          <p:cNvSpPr txBox="1">
            <a:spLocks noChangeArrowheads="1"/>
          </p:cNvSpPr>
          <p:nvPr/>
        </p:nvSpPr>
        <p:spPr bwMode="auto">
          <a:xfrm>
            <a:off x="4007516" y="5999678"/>
            <a:ext cx="1656326"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1400" dirty="0">
                <a:solidFill>
                  <a:srgbClr val="FF0000"/>
                </a:solidFill>
                <a:latin typeface="Times New Roman" pitchFamily="18" charset="0"/>
              </a:rPr>
              <a:t>Banco of Mexico</a:t>
            </a:r>
          </a:p>
          <a:p>
            <a:pPr algn="ctr" eaLnBrk="1" hangingPunct="1">
              <a:spcBef>
                <a:spcPct val="0"/>
              </a:spcBef>
              <a:buFontTx/>
              <a:buNone/>
            </a:pPr>
            <a:r>
              <a:rPr lang="en-US" sz="1400" dirty="0">
                <a:solidFill>
                  <a:srgbClr val="FF0000"/>
                </a:solidFill>
                <a:latin typeface="Times New Roman" pitchFamily="18" charset="0"/>
              </a:rPr>
              <a:t>must purchase </a:t>
            </a:r>
          </a:p>
          <a:p>
            <a:pPr algn="ctr" eaLnBrk="1" hangingPunct="1">
              <a:spcBef>
                <a:spcPct val="0"/>
              </a:spcBef>
              <a:buFontTx/>
              <a:buNone/>
            </a:pPr>
            <a:r>
              <a:rPr lang="en-US" sz="1400" dirty="0">
                <a:solidFill>
                  <a:srgbClr val="FF0000"/>
                </a:solidFill>
                <a:latin typeface="Times New Roman" pitchFamily="18" charset="0"/>
              </a:rPr>
              <a:t>2 Billions $</a:t>
            </a:r>
          </a:p>
        </p:txBody>
      </p:sp>
      <p:sp>
        <p:nvSpPr>
          <p:cNvPr id="26" name="Rectangle 2" descr="25%">
            <a:extLst>
              <a:ext uri="{FF2B5EF4-FFF2-40B4-BE49-F238E27FC236}">
                <a16:creationId xmlns:a16="http://schemas.microsoft.com/office/drawing/2014/main" id="{2DC12A54-D484-4CB6-990B-02C4893B5040}"/>
              </a:ext>
            </a:extLst>
          </p:cNvPr>
          <p:cNvSpPr>
            <a:spLocks noChangeArrowheads="1"/>
          </p:cNvSpPr>
          <p:nvPr/>
        </p:nvSpPr>
        <p:spPr bwMode="auto">
          <a:xfrm>
            <a:off x="3998912" y="3149600"/>
            <a:ext cx="3810000" cy="1143000"/>
          </a:xfrm>
          <a:prstGeom prst="rect">
            <a:avLst/>
          </a:prstGeom>
          <a:pattFill prst="pct25">
            <a:fgClr>
              <a:schemeClr val="accent1"/>
            </a:fgClr>
            <a:bgClr>
              <a:schemeClr val="bg1"/>
            </a:bgClr>
          </a:patt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1" hangingPunct="1">
              <a:spcBef>
                <a:spcPct val="0"/>
              </a:spcBef>
              <a:buFontTx/>
              <a:buNone/>
            </a:pPr>
            <a:endParaRPr lang="en-US" sz="2400">
              <a:latin typeface="Times New Roman" pitchFamily="18" charset="0"/>
            </a:endParaRPr>
          </a:p>
        </p:txBody>
      </p:sp>
      <p:sp>
        <p:nvSpPr>
          <p:cNvPr id="27" name="Line 22">
            <a:extLst>
              <a:ext uri="{FF2B5EF4-FFF2-40B4-BE49-F238E27FC236}">
                <a16:creationId xmlns:a16="http://schemas.microsoft.com/office/drawing/2014/main" id="{7A7D9AED-3B93-42FE-B749-0142382477C7}"/>
              </a:ext>
            </a:extLst>
          </p:cNvPr>
          <p:cNvSpPr>
            <a:spLocks noChangeShapeType="1"/>
          </p:cNvSpPr>
          <p:nvPr/>
        </p:nvSpPr>
        <p:spPr bwMode="auto">
          <a:xfrm flipV="1">
            <a:off x="3998912" y="1752600"/>
            <a:ext cx="0" cy="3810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 name="Line 23">
            <a:extLst>
              <a:ext uri="{FF2B5EF4-FFF2-40B4-BE49-F238E27FC236}">
                <a16:creationId xmlns:a16="http://schemas.microsoft.com/office/drawing/2014/main" id="{BCB1103E-9200-48AE-BF36-7ED4F7F663EB}"/>
              </a:ext>
            </a:extLst>
          </p:cNvPr>
          <p:cNvSpPr>
            <a:spLocks noChangeShapeType="1"/>
          </p:cNvSpPr>
          <p:nvPr/>
        </p:nvSpPr>
        <p:spPr bwMode="auto">
          <a:xfrm>
            <a:off x="3846512" y="5486400"/>
            <a:ext cx="3962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9" name="Text Box 24">
            <a:extLst>
              <a:ext uri="{FF2B5EF4-FFF2-40B4-BE49-F238E27FC236}">
                <a16:creationId xmlns:a16="http://schemas.microsoft.com/office/drawing/2014/main" id="{BB14AC00-EA64-4AF9-A471-D85FB84DE0AE}"/>
              </a:ext>
            </a:extLst>
          </p:cNvPr>
          <p:cNvSpPr txBox="1">
            <a:spLocks noChangeArrowheads="1"/>
          </p:cNvSpPr>
          <p:nvPr/>
        </p:nvSpPr>
        <p:spPr bwMode="auto">
          <a:xfrm>
            <a:off x="6970712" y="5513388"/>
            <a:ext cx="1257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Billions of </a:t>
            </a:r>
            <a:r>
              <a:rPr lang="en-US" sz="1800">
                <a:latin typeface="Times New Roman" pitchFamily="18" charset="0"/>
                <a:cs typeface="Times New Roman" pitchFamily="18" charset="0"/>
              </a:rPr>
              <a:t>$</a:t>
            </a:r>
            <a:endParaRPr lang="en-US" sz="1400">
              <a:latin typeface="Times New Roman" pitchFamily="18" charset="0"/>
            </a:endParaRPr>
          </a:p>
        </p:txBody>
      </p:sp>
      <p:sp>
        <p:nvSpPr>
          <p:cNvPr id="30" name="Text Box 25">
            <a:extLst>
              <a:ext uri="{FF2B5EF4-FFF2-40B4-BE49-F238E27FC236}">
                <a16:creationId xmlns:a16="http://schemas.microsoft.com/office/drawing/2014/main" id="{3CC29741-D463-4338-8781-2275E6E72A64}"/>
              </a:ext>
            </a:extLst>
          </p:cNvPr>
          <p:cNvSpPr txBox="1">
            <a:spLocks noChangeArrowheads="1"/>
          </p:cNvSpPr>
          <p:nvPr/>
        </p:nvSpPr>
        <p:spPr bwMode="auto">
          <a:xfrm>
            <a:off x="3570287" y="35814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25</a:t>
            </a:r>
          </a:p>
        </p:txBody>
      </p:sp>
      <p:sp>
        <p:nvSpPr>
          <p:cNvPr id="32" name="Text Box 27">
            <a:extLst>
              <a:ext uri="{FF2B5EF4-FFF2-40B4-BE49-F238E27FC236}">
                <a16:creationId xmlns:a16="http://schemas.microsoft.com/office/drawing/2014/main" id="{C5C420AF-580D-459C-83AA-8C38A7D9F78E}"/>
              </a:ext>
            </a:extLst>
          </p:cNvPr>
          <p:cNvSpPr txBox="1">
            <a:spLocks noChangeArrowheads="1"/>
          </p:cNvSpPr>
          <p:nvPr/>
        </p:nvSpPr>
        <p:spPr bwMode="auto">
          <a:xfrm>
            <a:off x="4897437" y="34401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sz="1400">
              <a:latin typeface="Times New Roman" pitchFamily="18" charset="0"/>
            </a:endParaRPr>
          </a:p>
        </p:txBody>
      </p:sp>
      <p:sp>
        <p:nvSpPr>
          <p:cNvPr id="33" name="Line 28">
            <a:extLst>
              <a:ext uri="{FF2B5EF4-FFF2-40B4-BE49-F238E27FC236}">
                <a16:creationId xmlns:a16="http://schemas.microsoft.com/office/drawing/2014/main" id="{2B2A67C5-0A07-4335-9C78-CD207397D9F8}"/>
              </a:ext>
            </a:extLst>
          </p:cNvPr>
          <p:cNvSpPr>
            <a:spLocks noChangeShapeType="1"/>
          </p:cNvSpPr>
          <p:nvPr/>
        </p:nvSpPr>
        <p:spPr bwMode="auto">
          <a:xfrm>
            <a:off x="4621212" y="2603500"/>
            <a:ext cx="19812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29">
            <a:extLst>
              <a:ext uri="{FF2B5EF4-FFF2-40B4-BE49-F238E27FC236}">
                <a16:creationId xmlns:a16="http://schemas.microsoft.com/office/drawing/2014/main" id="{12DA347F-A711-46A7-A983-59520795E6E4}"/>
              </a:ext>
            </a:extLst>
          </p:cNvPr>
          <p:cNvSpPr>
            <a:spLocks noChangeShapeType="1"/>
          </p:cNvSpPr>
          <p:nvPr/>
        </p:nvSpPr>
        <p:spPr bwMode="auto">
          <a:xfrm flipH="1">
            <a:off x="4545012" y="2590800"/>
            <a:ext cx="20574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5" name="Text Box 30">
            <a:extLst>
              <a:ext uri="{FF2B5EF4-FFF2-40B4-BE49-F238E27FC236}">
                <a16:creationId xmlns:a16="http://schemas.microsoft.com/office/drawing/2014/main" id="{9A530AEE-795F-42E6-B72F-66A9322F8231}"/>
              </a:ext>
            </a:extLst>
          </p:cNvPr>
          <p:cNvSpPr txBox="1">
            <a:spLocks noChangeArrowheads="1"/>
          </p:cNvSpPr>
          <p:nvPr/>
        </p:nvSpPr>
        <p:spPr bwMode="auto">
          <a:xfrm>
            <a:off x="6583362" y="2362201"/>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a:latin typeface="Times New Roman" pitchFamily="18" charset="0"/>
                <a:cs typeface="Times New Roman" pitchFamily="18" charset="0"/>
              </a:rPr>
              <a:t>S</a:t>
            </a:r>
            <a:r>
              <a:rPr lang="en-US" sz="1800" baseline="-25000">
                <a:latin typeface="Times New Roman" pitchFamily="18" charset="0"/>
                <a:cs typeface="Times New Roman" pitchFamily="18" charset="0"/>
              </a:rPr>
              <a:t>$</a:t>
            </a:r>
          </a:p>
        </p:txBody>
      </p:sp>
      <p:sp>
        <p:nvSpPr>
          <p:cNvPr id="36" name="Text Box 31">
            <a:extLst>
              <a:ext uri="{FF2B5EF4-FFF2-40B4-BE49-F238E27FC236}">
                <a16:creationId xmlns:a16="http://schemas.microsoft.com/office/drawing/2014/main" id="{1C6C9F93-1518-498E-91AA-D7AAC2055CD0}"/>
              </a:ext>
            </a:extLst>
          </p:cNvPr>
          <p:cNvSpPr txBox="1">
            <a:spLocks noChangeArrowheads="1"/>
          </p:cNvSpPr>
          <p:nvPr/>
        </p:nvSpPr>
        <p:spPr bwMode="auto">
          <a:xfrm>
            <a:off x="6589712" y="4724401"/>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a:latin typeface="Times New Roman" pitchFamily="18" charset="0"/>
                <a:cs typeface="Times New Roman" pitchFamily="18" charset="0"/>
              </a:rPr>
              <a:t>D</a:t>
            </a:r>
            <a:r>
              <a:rPr lang="en-US" sz="1800" baseline="-25000" dirty="0">
                <a:latin typeface="Times New Roman" pitchFamily="18" charset="0"/>
                <a:cs typeface="Times New Roman" pitchFamily="18" charset="0"/>
              </a:rPr>
              <a:t>$</a:t>
            </a:r>
          </a:p>
        </p:txBody>
      </p:sp>
      <p:sp>
        <p:nvSpPr>
          <p:cNvPr id="37" name="Line 32">
            <a:extLst>
              <a:ext uri="{FF2B5EF4-FFF2-40B4-BE49-F238E27FC236}">
                <a16:creationId xmlns:a16="http://schemas.microsoft.com/office/drawing/2014/main" id="{977EC05D-0CF6-4C3F-8B1B-C7B80A26574A}"/>
              </a:ext>
            </a:extLst>
          </p:cNvPr>
          <p:cNvSpPr>
            <a:spLocks noChangeShapeType="1"/>
          </p:cNvSpPr>
          <p:nvPr/>
        </p:nvSpPr>
        <p:spPr bwMode="auto">
          <a:xfrm>
            <a:off x="5584118" y="3733800"/>
            <a:ext cx="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8" name="Line 33">
            <a:extLst>
              <a:ext uri="{FF2B5EF4-FFF2-40B4-BE49-F238E27FC236}">
                <a16:creationId xmlns:a16="http://schemas.microsoft.com/office/drawing/2014/main" id="{4C6E66FE-ED50-4046-B884-AC9E8C746EEA}"/>
              </a:ext>
            </a:extLst>
          </p:cNvPr>
          <p:cNvSpPr>
            <a:spLocks noChangeShapeType="1"/>
          </p:cNvSpPr>
          <p:nvPr/>
        </p:nvSpPr>
        <p:spPr bwMode="auto">
          <a:xfrm flipH="1">
            <a:off x="3998912" y="3721100"/>
            <a:ext cx="16002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9" name="Text Box 34">
            <a:extLst>
              <a:ext uri="{FF2B5EF4-FFF2-40B4-BE49-F238E27FC236}">
                <a16:creationId xmlns:a16="http://schemas.microsoft.com/office/drawing/2014/main" id="{7F8102B8-DFD1-4412-A59C-884BDE633270}"/>
              </a:ext>
            </a:extLst>
          </p:cNvPr>
          <p:cNvSpPr txBox="1">
            <a:spLocks noChangeArrowheads="1"/>
          </p:cNvSpPr>
          <p:nvPr/>
        </p:nvSpPr>
        <p:spPr bwMode="auto">
          <a:xfrm>
            <a:off x="5414962" y="55626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20</a:t>
            </a:r>
          </a:p>
        </p:txBody>
      </p:sp>
      <p:sp>
        <p:nvSpPr>
          <p:cNvPr id="40" name="Line 35">
            <a:extLst>
              <a:ext uri="{FF2B5EF4-FFF2-40B4-BE49-F238E27FC236}">
                <a16:creationId xmlns:a16="http://schemas.microsoft.com/office/drawing/2014/main" id="{CE70431F-1840-4253-9896-33F43748F553}"/>
              </a:ext>
            </a:extLst>
          </p:cNvPr>
          <p:cNvSpPr>
            <a:spLocks noChangeShapeType="1"/>
          </p:cNvSpPr>
          <p:nvPr/>
        </p:nvSpPr>
        <p:spPr bwMode="auto">
          <a:xfrm flipH="1">
            <a:off x="3998912" y="3136900"/>
            <a:ext cx="38481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1" name="Line 36">
            <a:extLst>
              <a:ext uri="{FF2B5EF4-FFF2-40B4-BE49-F238E27FC236}">
                <a16:creationId xmlns:a16="http://schemas.microsoft.com/office/drawing/2014/main" id="{2E85F757-F133-4014-B56E-26B089C876EB}"/>
              </a:ext>
            </a:extLst>
          </p:cNvPr>
          <p:cNvSpPr>
            <a:spLocks noChangeShapeType="1"/>
          </p:cNvSpPr>
          <p:nvPr/>
        </p:nvSpPr>
        <p:spPr bwMode="auto">
          <a:xfrm flipH="1">
            <a:off x="3998912" y="4279900"/>
            <a:ext cx="38481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2" name="Line 37">
            <a:extLst>
              <a:ext uri="{FF2B5EF4-FFF2-40B4-BE49-F238E27FC236}">
                <a16:creationId xmlns:a16="http://schemas.microsoft.com/office/drawing/2014/main" id="{0A41C2AC-CBB0-45C0-8DEF-C50E223E4364}"/>
              </a:ext>
            </a:extLst>
          </p:cNvPr>
          <p:cNvSpPr>
            <a:spLocks noChangeShapeType="1"/>
          </p:cNvSpPr>
          <p:nvPr/>
        </p:nvSpPr>
        <p:spPr bwMode="auto">
          <a:xfrm>
            <a:off x="4098464" y="3755511"/>
            <a:ext cx="1460252" cy="1647265"/>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3" name="Text Box 38">
            <a:extLst>
              <a:ext uri="{FF2B5EF4-FFF2-40B4-BE49-F238E27FC236}">
                <a16:creationId xmlns:a16="http://schemas.microsoft.com/office/drawing/2014/main" id="{66E675F5-78B4-462E-9666-67EFEB9157A7}"/>
              </a:ext>
            </a:extLst>
          </p:cNvPr>
          <p:cNvSpPr txBox="1">
            <a:spLocks noChangeArrowheads="1"/>
          </p:cNvSpPr>
          <p:nvPr/>
        </p:nvSpPr>
        <p:spPr bwMode="auto">
          <a:xfrm>
            <a:off x="3211512" y="1752600"/>
            <a:ext cx="6731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a:latin typeface="Times New Roman" pitchFamily="18" charset="0"/>
                <a:cs typeface="Times New Roman" pitchFamily="18" charset="0"/>
              </a:rPr>
              <a:t>Peso </a:t>
            </a:r>
          </a:p>
          <a:p>
            <a:pPr eaLnBrk="1" hangingPunct="1">
              <a:spcBef>
                <a:spcPct val="0"/>
              </a:spcBef>
              <a:buFontTx/>
              <a:buNone/>
            </a:pPr>
            <a:r>
              <a:rPr lang="en-US" sz="1800" dirty="0">
                <a:latin typeface="Times New Roman" pitchFamily="18" charset="0"/>
                <a:cs typeface="Times New Roman" pitchFamily="18" charset="0"/>
              </a:rPr>
              <a:t>per $</a:t>
            </a:r>
            <a:endParaRPr lang="en-US" sz="1800" dirty="0">
              <a:latin typeface="Times New Roman" pitchFamily="18" charset="0"/>
            </a:endParaRPr>
          </a:p>
        </p:txBody>
      </p:sp>
      <p:sp>
        <p:nvSpPr>
          <p:cNvPr id="44" name="Text Box 39">
            <a:extLst>
              <a:ext uri="{FF2B5EF4-FFF2-40B4-BE49-F238E27FC236}">
                <a16:creationId xmlns:a16="http://schemas.microsoft.com/office/drawing/2014/main" id="{E276EC5C-52B3-4F9B-9D08-641E6EC6FF1A}"/>
              </a:ext>
            </a:extLst>
          </p:cNvPr>
          <p:cNvSpPr txBox="1">
            <a:spLocks noChangeArrowheads="1"/>
          </p:cNvSpPr>
          <p:nvPr/>
        </p:nvSpPr>
        <p:spPr bwMode="auto">
          <a:xfrm>
            <a:off x="3570287" y="29972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26</a:t>
            </a:r>
          </a:p>
        </p:txBody>
      </p:sp>
      <p:sp>
        <p:nvSpPr>
          <p:cNvPr id="46" name="Text Box 40">
            <a:extLst>
              <a:ext uri="{FF2B5EF4-FFF2-40B4-BE49-F238E27FC236}">
                <a16:creationId xmlns:a16="http://schemas.microsoft.com/office/drawing/2014/main" id="{2FC0813C-107D-4875-88C6-5446E2E087EE}"/>
              </a:ext>
            </a:extLst>
          </p:cNvPr>
          <p:cNvSpPr txBox="1">
            <a:spLocks noChangeArrowheads="1"/>
          </p:cNvSpPr>
          <p:nvPr/>
        </p:nvSpPr>
        <p:spPr bwMode="auto">
          <a:xfrm>
            <a:off x="3570287" y="41275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24</a:t>
            </a:r>
          </a:p>
        </p:txBody>
      </p:sp>
      <p:sp>
        <p:nvSpPr>
          <p:cNvPr id="49" name="Text Box 41">
            <a:extLst>
              <a:ext uri="{FF2B5EF4-FFF2-40B4-BE49-F238E27FC236}">
                <a16:creationId xmlns:a16="http://schemas.microsoft.com/office/drawing/2014/main" id="{E392BE5C-AF81-4291-AEF8-CB97EFF50C30}"/>
              </a:ext>
            </a:extLst>
          </p:cNvPr>
          <p:cNvSpPr txBox="1">
            <a:spLocks noChangeArrowheads="1"/>
          </p:cNvSpPr>
          <p:nvPr/>
        </p:nvSpPr>
        <p:spPr bwMode="auto">
          <a:xfrm>
            <a:off x="4894262" y="5561112"/>
            <a:ext cx="3642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solidFill>
                  <a:srgbClr val="FF0000"/>
                </a:solidFill>
                <a:latin typeface="Times New Roman" pitchFamily="18" charset="0"/>
              </a:rPr>
              <a:t>18</a:t>
            </a:r>
          </a:p>
        </p:txBody>
      </p:sp>
      <p:sp>
        <p:nvSpPr>
          <p:cNvPr id="50" name="Line 42">
            <a:extLst>
              <a:ext uri="{FF2B5EF4-FFF2-40B4-BE49-F238E27FC236}">
                <a16:creationId xmlns:a16="http://schemas.microsoft.com/office/drawing/2014/main" id="{36CC7B29-65D4-45F0-9F0B-CCB75867841E}"/>
              </a:ext>
            </a:extLst>
          </p:cNvPr>
          <p:cNvSpPr>
            <a:spLocks noChangeShapeType="1"/>
          </p:cNvSpPr>
          <p:nvPr/>
        </p:nvSpPr>
        <p:spPr bwMode="auto">
          <a:xfrm>
            <a:off x="5078166" y="4295822"/>
            <a:ext cx="1064" cy="1195903"/>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 name="Line 43">
            <a:extLst>
              <a:ext uri="{FF2B5EF4-FFF2-40B4-BE49-F238E27FC236}">
                <a16:creationId xmlns:a16="http://schemas.microsoft.com/office/drawing/2014/main" id="{EDC98193-B03E-4BA7-A43C-AD47DF519AFC}"/>
              </a:ext>
            </a:extLst>
          </p:cNvPr>
          <p:cNvSpPr>
            <a:spLocks noChangeShapeType="1"/>
          </p:cNvSpPr>
          <p:nvPr/>
        </p:nvSpPr>
        <p:spPr bwMode="auto">
          <a:xfrm>
            <a:off x="4559760" y="4288450"/>
            <a:ext cx="10652" cy="1195902"/>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3" name="Text Box 44">
            <a:extLst>
              <a:ext uri="{FF2B5EF4-FFF2-40B4-BE49-F238E27FC236}">
                <a16:creationId xmlns:a16="http://schemas.microsoft.com/office/drawing/2014/main" id="{352A2574-4C11-46B3-85E6-53C7867D0043}"/>
              </a:ext>
            </a:extLst>
          </p:cNvPr>
          <p:cNvSpPr txBox="1">
            <a:spLocks noChangeArrowheads="1"/>
          </p:cNvSpPr>
          <p:nvPr/>
        </p:nvSpPr>
        <p:spPr bwMode="auto">
          <a:xfrm>
            <a:off x="4400192" y="5561112"/>
            <a:ext cx="3642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solidFill>
                  <a:srgbClr val="FF0000"/>
                </a:solidFill>
                <a:latin typeface="Times New Roman" pitchFamily="18" charset="0"/>
              </a:rPr>
              <a:t>16</a:t>
            </a:r>
          </a:p>
        </p:txBody>
      </p:sp>
      <p:sp>
        <p:nvSpPr>
          <p:cNvPr id="3" name="Line 35">
            <a:extLst>
              <a:ext uri="{FF2B5EF4-FFF2-40B4-BE49-F238E27FC236}">
                <a16:creationId xmlns:a16="http://schemas.microsoft.com/office/drawing/2014/main" id="{19EBAFEA-C45C-4014-9FA2-6724A0618BBF}"/>
              </a:ext>
            </a:extLst>
          </p:cNvPr>
          <p:cNvSpPr>
            <a:spLocks noChangeShapeType="1"/>
          </p:cNvSpPr>
          <p:nvPr/>
        </p:nvSpPr>
        <p:spPr bwMode="auto">
          <a:xfrm flipH="1">
            <a:off x="3998911" y="4574049"/>
            <a:ext cx="800097" cy="12699"/>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cxnSp>
        <p:nvCxnSpPr>
          <p:cNvPr id="55" name="Straight Arrow Connector 54">
            <a:extLst>
              <a:ext uri="{FF2B5EF4-FFF2-40B4-BE49-F238E27FC236}">
                <a16:creationId xmlns:a16="http://schemas.microsoft.com/office/drawing/2014/main" id="{EE83FF2D-56EB-4BB2-8ADE-5B7241F3575D}"/>
              </a:ext>
            </a:extLst>
          </p:cNvPr>
          <p:cNvCxnSpPr>
            <a:cxnSpLocks/>
          </p:cNvCxnSpPr>
          <p:nvPr/>
        </p:nvCxnSpPr>
        <p:spPr>
          <a:xfrm>
            <a:off x="4372292" y="3962400"/>
            <a:ext cx="27432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A04630AE-71D1-4552-A7B1-38E6777D2EA0}"/>
              </a:ext>
            </a:extLst>
          </p:cNvPr>
          <p:cNvCxnSpPr>
            <a:cxnSpLocks/>
          </p:cNvCxnSpPr>
          <p:nvPr/>
        </p:nvCxnSpPr>
        <p:spPr>
          <a:xfrm>
            <a:off x="5180012" y="4800600"/>
            <a:ext cx="27432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Line 29">
            <a:extLst>
              <a:ext uri="{FF2B5EF4-FFF2-40B4-BE49-F238E27FC236}">
                <a16:creationId xmlns:a16="http://schemas.microsoft.com/office/drawing/2014/main" id="{F0061B6A-7524-42F3-8520-3789AF2C56FF}"/>
              </a:ext>
            </a:extLst>
          </p:cNvPr>
          <p:cNvSpPr>
            <a:spLocks noChangeShapeType="1"/>
          </p:cNvSpPr>
          <p:nvPr/>
        </p:nvSpPr>
        <p:spPr bwMode="auto">
          <a:xfrm>
            <a:off x="4151313" y="3220525"/>
            <a:ext cx="1866899" cy="2113475"/>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 name="Line 35">
            <a:extLst>
              <a:ext uri="{FF2B5EF4-FFF2-40B4-BE49-F238E27FC236}">
                <a16:creationId xmlns:a16="http://schemas.microsoft.com/office/drawing/2014/main" id="{1C437E33-0248-4B04-846E-DD7F0C360BA9}"/>
              </a:ext>
            </a:extLst>
          </p:cNvPr>
          <p:cNvSpPr>
            <a:spLocks noChangeShapeType="1"/>
          </p:cNvSpPr>
          <p:nvPr/>
        </p:nvSpPr>
        <p:spPr bwMode="auto">
          <a:xfrm flipH="1">
            <a:off x="3989082" y="4281948"/>
            <a:ext cx="3848100" cy="0"/>
          </a:xfrm>
          <a:prstGeom prst="line">
            <a:avLst/>
          </a:prstGeom>
          <a:noFill/>
          <a:ln w="127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 name="Text Box 31">
            <a:extLst>
              <a:ext uri="{FF2B5EF4-FFF2-40B4-BE49-F238E27FC236}">
                <a16:creationId xmlns:a16="http://schemas.microsoft.com/office/drawing/2014/main" id="{AF9DFDF6-DE08-43C7-BE16-CF009AB19E69}"/>
              </a:ext>
            </a:extLst>
          </p:cNvPr>
          <p:cNvSpPr txBox="1">
            <a:spLocks noChangeArrowheads="1"/>
          </p:cNvSpPr>
          <p:nvPr/>
        </p:nvSpPr>
        <p:spPr bwMode="auto">
          <a:xfrm>
            <a:off x="6018212" y="5105400"/>
            <a:ext cx="25876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a:solidFill>
                  <a:srgbClr val="FF0000"/>
                </a:solidFill>
                <a:latin typeface="National semibold" panose="02000503000000020004"/>
                <a:cs typeface="Times New Roman" pitchFamily="18" charset="0"/>
              </a:rPr>
              <a:t>D</a:t>
            </a:r>
            <a:r>
              <a:rPr lang="en-US" sz="1800" baseline="-25000" dirty="0">
                <a:solidFill>
                  <a:srgbClr val="FF0000"/>
                </a:solidFill>
                <a:latin typeface="Times New Roman" pitchFamily="18" charset="0"/>
                <a:cs typeface="Times New Roman" pitchFamily="18" charset="0"/>
              </a:rPr>
              <a:t>$</a:t>
            </a:r>
            <a:r>
              <a:rPr lang="en-US" sz="1800" dirty="0">
                <a:solidFill>
                  <a:srgbClr val="FF0000"/>
                </a:solidFill>
                <a:latin typeface="National semibold" panose="02000503000000020004"/>
                <a:cs typeface="Times New Roman" pitchFamily="18" charset="0"/>
              </a:rPr>
              <a:t> after intervention</a:t>
            </a:r>
            <a:r>
              <a:rPr lang="en-US" sz="1800" dirty="0">
                <a:latin typeface="Times New Roman" pitchFamily="18" charset="0"/>
                <a:cs typeface="Times New Roman" pitchFamily="18" charset="0"/>
              </a:rPr>
              <a:t> </a:t>
            </a:r>
            <a:endParaRPr lang="en-US" sz="1800" baseline="-25000" dirty="0">
              <a:latin typeface="Times New Roman" pitchFamily="18" charset="0"/>
              <a:cs typeface="Times New Roman" pitchFamily="18" charset="0"/>
            </a:endParaRPr>
          </a:p>
        </p:txBody>
      </p:sp>
      <p:sp>
        <p:nvSpPr>
          <p:cNvPr id="45" name="Line 37">
            <a:extLst>
              <a:ext uri="{FF2B5EF4-FFF2-40B4-BE49-F238E27FC236}">
                <a16:creationId xmlns:a16="http://schemas.microsoft.com/office/drawing/2014/main" id="{1AD9C451-9D07-43DE-9542-125D72AC4A96}"/>
              </a:ext>
            </a:extLst>
          </p:cNvPr>
          <p:cNvSpPr>
            <a:spLocks noChangeShapeType="1"/>
          </p:cNvSpPr>
          <p:nvPr/>
        </p:nvSpPr>
        <p:spPr bwMode="auto">
          <a:xfrm>
            <a:off x="4634160" y="3200400"/>
            <a:ext cx="1460252" cy="1647265"/>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3234377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
                                        </p:tgtEl>
                                        <p:attrNameLst>
                                          <p:attrName>style.visibility</p:attrName>
                                        </p:attrNameLst>
                                      </p:cBhvr>
                                      <p:to>
                                        <p:strVal val="visible"/>
                                      </p:to>
                                    </p:set>
                                  </p:childTnLst>
                                  <p:subTnLst>
                                    <p:set>
                                      <p:cBhvr override="childStyle">
                                        <p:cTn dur="1" fill="hold" display="0" masterRel="nextClick" afterEffect="1"/>
                                        <p:tgtEl>
                                          <p:spTgt spid="45"/>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499"/>
                                          </p:stCondLst>
                                        </p:cTn>
                                        <p:tgtEl>
                                          <p:spTgt spid="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5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499"/>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7" grpId="0"/>
      <p:bldP spid="42" grpId="0" animBg="1"/>
      <p:bldP spid="49" grpId="0" autoUpdateAnimBg="0"/>
      <p:bldP spid="50" grpId="0" animBg="1"/>
      <p:bldP spid="51" grpId="0" animBg="1"/>
      <p:bldP spid="53" grpId="0" autoUpdateAnimBg="0"/>
      <p:bldP spid="3" grpId="0" animBg="1"/>
      <p:bldP spid="5" grpId="0" animBg="1"/>
      <p:bldP spid="6" grpId="0" animBg="1"/>
      <p:bldP spid="4" grpId="0"/>
      <p:bldP spid="4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dirty="0">
                <a:latin typeface="National semibold" panose="02000503000000020004"/>
              </a:rPr>
              <a:t>What does the monetary authority do with the purchased currency?</a:t>
            </a:r>
            <a:endParaRPr lang="en-US" sz="4000"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827212" y="2076449"/>
            <a:ext cx="9906000" cy="188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buFont typeface="Arial" panose="020B0604020202020204" pitchFamily="34" charset="0"/>
              <a:buChar char="•"/>
            </a:pPr>
            <a:r>
              <a:rPr lang="en-US" sz="2400" dirty="0">
                <a:latin typeface="National semibold" panose="02000503000000020004"/>
              </a:rPr>
              <a:t>Increases the stock of foreign reserves.</a:t>
            </a:r>
          </a:p>
          <a:p>
            <a:pPr>
              <a:lnSpc>
                <a:spcPct val="120000"/>
              </a:lnSpc>
            </a:pPr>
            <a:endParaRPr lang="en-US" sz="2400" dirty="0">
              <a:latin typeface="National semibold" panose="02000503000000020004"/>
            </a:endParaRPr>
          </a:p>
          <a:p>
            <a:pPr marL="342900" indent="-342900">
              <a:lnSpc>
                <a:spcPct val="120000"/>
              </a:lnSpc>
              <a:buFont typeface="Arial" panose="020B0604020202020204" pitchFamily="34" charset="0"/>
              <a:buChar char="•"/>
            </a:pPr>
            <a:r>
              <a:rPr lang="en-US" sz="2400" dirty="0">
                <a:latin typeface="National semibold" panose="02000503000000020004"/>
              </a:rPr>
              <a:t>Repays foreign debt.</a:t>
            </a:r>
          </a:p>
        </p:txBody>
      </p:sp>
    </p:spTree>
    <p:extLst>
      <p:ext uri="{BB962C8B-B14F-4D97-AF65-F5344CB8AC3E}">
        <p14:creationId xmlns:p14="http://schemas.microsoft.com/office/powerpoint/2010/main" val="114279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dirty="0">
                <a:latin typeface="National semibold" panose="02000503000000020004"/>
              </a:rPr>
              <a:t>How to intervene in the foreign exchange</a:t>
            </a:r>
            <a:endParaRPr lang="en-US" sz="4000"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370012" y="2076449"/>
            <a:ext cx="10058400" cy="424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990600" lvl="1" indent="-533400">
              <a:lnSpc>
                <a:spcPct val="120000"/>
              </a:lnSpc>
              <a:buFontTx/>
              <a:buAutoNum type="arabicPeriod"/>
            </a:pPr>
            <a:r>
              <a:rPr lang="en-US" sz="2400" dirty="0">
                <a:latin typeface="National semibold" panose="02000503000000020004"/>
              </a:rPr>
              <a:t>Buying and selling foreign currency.</a:t>
            </a:r>
          </a:p>
          <a:p>
            <a:pPr marL="990600" lvl="1" indent="-533400">
              <a:lnSpc>
                <a:spcPct val="120000"/>
              </a:lnSpc>
              <a:buFontTx/>
              <a:buAutoNum type="arabicPeriod"/>
            </a:pPr>
            <a:endParaRPr lang="en-US" sz="2400" dirty="0">
              <a:latin typeface="National semibold" panose="02000503000000020004"/>
            </a:endParaRPr>
          </a:p>
          <a:p>
            <a:pPr marL="990600" lvl="1" indent="-533400">
              <a:lnSpc>
                <a:spcPct val="120000"/>
              </a:lnSpc>
              <a:buFontTx/>
              <a:buAutoNum type="arabicPeriod"/>
            </a:pPr>
            <a:r>
              <a:rPr lang="en-US" sz="2400" dirty="0">
                <a:latin typeface="National semibold" panose="02000503000000020004"/>
              </a:rPr>
              <a:t>Exchange controls restricting private demand and supply of currency.</a:t>
            </a:r>
          </a:p>
          <a:p>
            <a:pPr marL="990600" lvl="1" indent="-533400">
              <a:lnSpc>
                <a:spcPct val="120000"/>
              </a:lnSpc>
              <a:buFontTx/>
              <a:buAutoNum type="arabicPeriod"/>
            </a:pPr>
            <a:endParaRPr lang="en-US" sz="2400" dirty="0">
              <a:latin typeface="National semibold" panose="02000503000000020004"/>
            </a:endParaRPr>
          </a:p>
          <a:p>
            <a:pPr marL="990600" lvl="1" indent="-533400">
              <a:lnSpc>
                <a:spcPct val="120000"/>
              </a:lnSpc>
              <a:buFontTx/>
              <a:buAutoNum type="arabicPeriod"/>
            </a:pPr>
            <a:r>
              <a:rPr lang="en-US" sz="2400" dirty="0">
                <a:latin typeface="National semibold" panose="02000503000000020004"/>
              </a:rPr>
              <a:t>Changing the domestic interest rate to affect short-term capital flows.</a:t>
            </a:r>
          </a:p>
          <a:p>
            <a:pPr marL="990600" lvl="1" indent="-533400">
              <a:lnSpc>
                <a:spcPct val="120000"/>
              </a:lnSpc>
              <a:buFontTx/>
              <a:buAutoNum type="arabicPeriod"/>
            </a:pPr>
            <a:endParaRPr lang="en-US" sz="2400" dirty="0">
              <a:latin typeface="National semibold" panose="02000503000000020004"/>
            </a:endParaRPr>
          </a:p>
          <a:p>
            <a:pPr marL="990600" lvl="1" indent="-533400">
              <a:lnSpc>
                <a:spcPct val="120000"/>
              </a:lnSpc>
              <a:buFontTx/>
              <a:buAutoNum type="arabicPeriod"/>
            </a:pPr>
            <a:r>
              <a:rPr lang="en-US" sz="2400" dirty="0">
                <a:latin typeface="National semibold" panose="02000503000000020004"/>
              </a:rPr>
              <a:t>Macroeconomic policies that solve fundamental problems undermining exchange rate stability.</a:t>
            </a:r>
          </a:p>
          <a:p>
            <a:pPr>
              <a:lnSpc>
                <a:spcPct val="120000"/>
              </a:lnSpc>
              <a:spcBef>
                <a:spcPct val="20000"/>
              </a:spcBef>
              <a:buClr>
                <a:schemeClr val="tx1"/>
              </a:buClr>
              <a:buSzPct val="75000"/>
            </a:pPr>
            <a:endParaRPr lang="en-US" sz="2400" u="sng" dirty="0">
              <a:solidFill>
                <a:srgbClr val="FF0000"/>
              </a:solidFill>
              <a:latin typeface="National semibold" panose="02000503000000020004"/>
            </a:endParaRPr>
          </a:p>
        </p:txBody>
      </p:sp>
    </p:spTree>
    <p:extLst>
      <p:ext uri="{BB962C8B-B14F-4D97-AF65-F5344CB8AC3E}">
        <p14:creationId xmlns:p14="http://schemas.microsoft.com/office/powerpoint/2010/main" val="1325979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dirty="0">
                <a:latin typeface="National semibold" panose="02000503000000020004"/>
              </a:rPr>
              <a:t>Temporary disequilibrium</a:t>
            </a:r>
            <a:endParaRPr lang="en-US" sz="4000" i="1" dirty="0">
              <a:latin typeface="National semibold" panose="02000503000000020004"/>
            </a:endParaRPr>
          </a:p>
        </p:txBody>
      </p:sp>
      <p:sp>
        <p:nvSpPr>
          <p:cNvPr id="7" name="Line 3">
            <a:extLst>
              <a:ext uri="{FF2B5EF4-FFF2-40B4-BE49-F238E27FC236}">
                <a16:creationId xmlns:a16="http://schemas.microsoft.com/office/drawing/2014/main" id="{41C83760-D1D3-4FBB-A7D5-FD6D05E63086}"/>
              </a:ext>
            </a:extLst>
          </p:cNvPr>
          <p:cNvSpPr>
            <a:spLocks noChangeShapeType="1"/>
          </p:cNvSpPr>
          <p:nvPr/>
        </p:nvSpPr>
        <p:spPr bwMode="auto">
          <a:xfrm flipV="1">
            <a:off x="3795712" y="1827213"/>
            <a:ext cx="12700" cy="434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 name="Line 4">
            <a:extLst>
              <a:ext uri="{FF2B5EF4-FFF2-40B4-BE49-F238E27FC236}">
                <a16:creationId xmlns:a16="http://schemas.microsoft.com/office/drawing/2014/main" id="{65B49E46-B3A8-47EC-AF34-CBB4A34993EF}"/>
              </a:ext>
            </a:extLst>
          </p:cNvPr>
          <p:cNvSpPr>
            <a:spLocks noChangeShapeType="1"/>
          </p:cNvSpPr>
          <p:nvPr/>
        </p:nvSpPr>
        <p:spPr bwMode="auto">
          <a:xfrm>
            <a:off x="3656012" y="6019800"/>
            <a:ext cx="5867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 name="Text Box 5">
            <a:extLst>
              <a:ext uri="{FF2B5EF4-FFF2-40B4-BE49-F238E27FC236}">
                <a16:creationId xmlns:a16="http://schemas.microsoft.com/office/drawing/2014/main" id="{A3FCE59E-EE7F-42E0-A694-2E7BCDDD74EF}"/>
              </a:ext>
            </a:extLst>
          </p:cNvPr>
          <p:cNvSpPr txBox="1">
            <a:spLocks noChangeArrowheads="1"/>
          </p:cNvSpPr>
          <p:nvPr/>
        </p:nvSpPr>
        <p:spPr bwMode="auto">
          <a:xfrm>
            <a:off x="8418512" y="6046788"/>
            <a:ext cx="1257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Billions of </a:t>
            </a:r>
            <a:r>
              <a:rPr lang="en-US" sz="1800">
                <a:latin typeface="Times New Roman" pitchFamily="18" charset="0"/>
                <a:cs typeface="Times New Roman" pitchFamily="18" charset="0"/>
              </a:rPr>
              <a:t>$</a:t>
            </a:r>
            <a:endParaRPr lang="en-US" sz="1400">
              <a:latin typeface="Times New Roman" pitchFamily="18" charset="0"/>
            </a:endParaRPr>
          </a:p>
        </p:txBody>
      </p:sp>
      <p:sp>
        <p:nvSpPr>
          <p:cNvPr id="11" name="Text Box 6">
            <a:extLst>
              <a:ext uri="{FF2B5EF4-FFF2-40B4-BE49-F238E27FC236}">
                <a16:creationId xmlns:a16="http://schemas.microsoft.com/office/drawing/2014/main" id="{C049EFD3-D37F-4E5D-A082-FACB69F548AB}"/>
              </a:ext>
            </a:extLst>
          </p:cNvPr>
          <p:cNvSpPr txBox="1">
            <a:spLocks noChangeArrowheads="1"/>
          </p:cNvSpPr>
          <p:nvPr/>
        </p:nvSpPr>
        <p:spPr bwMode="auto">
          <a:xfrm>
            <a:off x="3351212" y="41148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25</a:t>
            </a:r>
          </a:p>
        </p:txBody>
      </p:sp>
      <p:sp>
        <p:nvSpPr>
          <p:cNvPr id="13" name="Text Box 7">
            <a:extLst>
              <a:ext uri="{FF2B5EF4-FFF2-40B4-BE49-F238E27FC236}">
                <a16:creationId xmlns:a16="http://schemas.microsoft.com/office/drawing/2014/main" id="{051C4897-6A65-4BFF-A688-4D65B93CD07A}"/>
              </a:ext>
            </a:extLst>
          </p:cNvPr>
          <p:cNvSpPr txBox="1">
            <a:spLocks noChangeArrowheads="1"/>
          </p:cNvSpPr>
          <p:nvPr/>
        </p:nvSpPr>
        <p:spPr bwMode="auto">
          <a:xfrm>
            <a:off x="5837237" y="39735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sz="1400">
              <a:latin typeface="Times New Roman" pitchFamily="18" charset="0"/>
            </a:endParaRPr>
          </a:p>
        </p:txBody>
      </p:sp>
      <p:sp>
        <p:nvSpPr>
          <p:cNvPr id="14" name="Line 8">
            <a:extLst>
              <a:ext uri="{FF2B5EF4-FFF2-40B4-BE49-F238E27FC236}">
                <a16:creationId xmlns:a16="http://schemas.microsoft.com/office/drawing/2014/main" id="{8B15B833-E559-40A8-BF64-250FA6102B58}"/>
              </a:ext>
            </a:extLst>
          </p:cNvPr>
          <p:cNvSpPr>
            <a:spLocks noChangeShapeType="1"/>
          </p:cNvSpPr>
          <p:nvPr/>
        </p:nvSpPr>
        <p:spPr bwMode="auto">
          <a:xfrm>
            <a:off x="5561012" y="3136900"/>
            <a:ext cx="19812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Text Box 9">
            <a:extLst>
              <a:ext uri="{FF2B5EF4-FFF2-40B4-BE49-F238E27FC236}">
                <a16:creationId xmlns:a16="http://schemas.microsoft.com/office/drawing/2014/main" id="{CC0BB46D-442B-44BF-9583-663774775E44}"/>
              </a:ext>
            </a:extLst>
          </p:cNvPr>
          <p:cNvSpPr txBox="1">
            <a:spLocks noChangeArrowheads="1"/>
          </p:cNvSpPr>
          <p:nvPr/>
        </p:nvSpPr>
        <p:spPr bwMode="auto">
          <a:xfrm>
            <a:off x="3046412" y="1905000"/>
            <a:ext cx="6731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a:latin typeface="Times New Roman" pitchFamily="18" charset="0"/>
                <a:cs typeface="Times New Roman" pitchFamily="18" charset="0"/>
              </a:rPr>
              <a:t>Peso </a:t>
            </a:r>
          </a:p>
          <a:p>
            <a:pPr eaLnBrk="1" hangingPunct="1">
              <a:spcBef>
                <a:spcPct val="0"/>
              </a:spcBef>
              <a:buFontTx/>
              <a:buNone/>
            </a:pPr>
            <a:r>
              <a:rPr lang="en-US" sz="1800">
                <a:latin typeface="Times New Roman" pitchFamily="18" charset="0"/>
                <a:cs typeface="Times New Roman" pitchFamily="18" charset="0"/>
              </a:rPr>
              <a:t>per $</a:t>
            </a:r>
            <a:endParaRPr lang="en-US" sz="1800">
              <a:latin typeface="Times New Roman" pitchFamily="18" charset="0"/>
            </a:endParaRPr>
          </a:p>
        </p:txBody>
      </p:sp>
      <p:sp>
        <p:nvSpPr>
          <p:cNvPr id="16" name="Line 10">
            <a:extLst>
              <a:ext uri="{FF2B5EF4-FFF2-40B4-BE49-F238E27FC236}">
                <a16:creationId xmlns:a16="http://schemas.microsoft.com/office/drawing/2014/main" id="{D135C306-D30A-49C7-A0EE-66532F5ACCEE}"/>
              </a:ext>
            </a:extLst>
          </p:cNvPr>
          <p:cNvSpPr>
            <a:spLocks noChangeShapeType="1"/>
          </p:cNvSpPr>
          <p:nvPr/>
        </p:nvSpPr>
        <p:spPr bwMode="auto">
          <a:xfrm flipH="1">
            <a:off x="5484812" y="3124200"/>
            <a:ext cx="20574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Text Box 11">
            <a:extLst>
              <a:ext uri="{FF2B5EF4-FFF2-40B4-BE49-F238E27FC236}">
                <a16:creationId xmlns:a16="http://schemas.microsoft.com/office/drawing/2014/main" id="{4BFFF250-2228-4AC3-8416-A866167758C2}"/>
              </a:ext>
            </a:extLst>
          </p:cNvPr>
          <p:cNvSpPr txBox="1">
            <a:spLocks noChangeArrowheads="1"/>
          </p:cNvSpPr>
          <p:nvPr/>
        </p:nvSpPr>
        <p:spPr bwMode="auto">
          <a:xfrm>
            <a:off x="7523162" y="2895600"/>
            <a:ext cx="387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a:latin typeface="Times New Roman" pitchFamily="18" charset="0"/>
                <a:cs typeface="Times New Roman" pitchFamily="18" charset="0"/>
              </a:rPr>
              <a:t>S</a:t>
            </a:r>
            <a:r>
              <a:rPr lang="en-US" sz="1800" baseline="-25000">
                <a:latin typeface="Times New Roman" pitchFamily="18" charset="0"/>
                <a:cs typeface="Times New Roman" pitchFamily="18" charset="0"/>
              </a:rPr>
              <a:t>$</a:t>
            </a:r>
          </a:p>
        </p:txBody>
      </p:sp>
      <p:sp>
        <p:nvSpPr>
          <p:cNvPr id="18" name="Text Box 12">
            <a:extLst>
              <a:ext uri="{FF2B5EF4-FFF2-40B4-BE49-F238E27FC236}">
                <a16:creationId xmlns:a16="http://schemas.microsoft.com/office/drawing/2014/main" id="{9830190E-C3A0-4435-B72C-B8C62AB70EA6}"/>
              </a:ext>
            </a:extLst>
          </p:cNvPr>
          <p:cNvSpPr txBox="1">
            <a:spLocks noChangeArrowheads="1"/>
          </p:cNvSpPr>
          <p:nvPr/>
        </p:nvSpPr>
        <p:spPr bwMode="auto">
          <a:xfrm>
            <a:off x="7529512" y="5257800"/>
            <a:ext cx="533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a:latin typeface="Times New Roman" pitchFamily="18" charset="0"/>
                <a:cs typeface="Times New Roman" pitchFamily="18" charset="0"/>
              </a:rPr>
              <a:t>D</a:t>
            </a:r>
            <a:r>
              <a:rPr lang="en-US" sz="1800" baseline="-25000">
                <a:latin typeface="Times New Roman" pitchFamily="18" charset="0"/>
                <a:cs typeface="Times New Roman" pitchFamily="18" charset="0"/>
              </a:rPr>
              <a:t>$</a:t>
            </a:r>
          </a:p>
        </p:txBody>
      </p:sp>
      <p:sp>
        <p:nvSpPr>
          <p:cNvPr id="19" name="Line 13">
            <a:extLst>
              <a:ext uri="{FF2B5EF4-FFF2-40B4-BE49-F238E27FC236}">
                <a16:creationId xmlns:a16="http://schemas.microsoft.com/office/drawing/2014/main" id="{583FFB23-1C57-4854-A618-A94A8A6AB01E}"/>
              </a:ext>
            </a:extLst>
          </p:cNvPr>
          <p:cNvSpPr>
            <a:spLocks noChangeShapeType="1"/>
          </p:cNvSpPr>
          <p:nvPr/>
        </p:nvSpPr>
        <p:spPr bwMode="auto">
          <a:xfrm>
            <a:off x="6523672" y="4267200"/>
            <a:ext cx="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Line 14">
            <a:extLst>
              <a:ext uri="{FF2B5EF4-FFF2-40B4-BE49-F238E27FC236}">
                <a16:creationId xmlns:a16="http://schemas.microsoft.com/office/drawing/2014/main" id="{0878999A-FC75-43C5-9DF0-B6F998DD92E3}"/>
              </a:ext>
            </a:extLst>
          </p:cNvPr>
          <p:cNvSpPr>
            <a:spLocks noChangeShapeType="1"/>
          </p:cNvSpPr>
          <p:nvPr/>
        </p:nvSpPr>
        <p:spPr bwMode="auto">
          <a:xfrm flipH="1">
            <a:off x="3808412" y="4267200"/>
            <a:ext cx="27305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Text Box 15">
            <a:extLst>
              <a:ext uri="{FF2B5EF4-FFF2-40B4-BE49-F238E27FC236}">
                <a16:creationId xmlns:a16="http://schemas.microsoft.com/office/drawing/2014/main" id="{690DBE09-DA5E-4C14-A692-EE065271F0C7}"/>
              </a:ext>
            </a:extLst>
          </p:cNvPr>
          <p:cNvSpPr txBox="1">
            <a:spLocks noChangeArrowheads="1"/>
          </p:cNvSpPr>
          <p:nvPr/>
        </p:nvSpPr>
        <p:spPr bwMode="auto">
          <a:xfrm>
            <a:off x="6354762" y="60960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a:latin typeface="Times New Roman" pitchFamily="18" charset="0"/>
              </a:rPr>
              <a:t>20</a:t>
            </a:r>
          </a:p>
        </p:txBody>
      </p:sp>
      <p:sp>
        <p:nvSpPr>
          <p:cNvPr id="22" name="Line 16">
            <a:extLst>
              <a:ext uri="{FF2B5EF4-FFF2-40B4-BE49-F238E27FC236}">
                <a16:creationId xmlns:a16="http://schemas.microsoft.com/office/drawing/2014/main" id="{F975465A-96AD-4955-A9E7-6F3C3887FC3C}"/>
              </a:ext>
            </a:extLst>
          </p:cNvPr>
          <p:cNvSpPr>
            <a:spLocks noChangeShapeType="1"/>
          </p:cNvSpPr>
          <p:nvPr/>
        </p:nvSpPr>
        <p:spPr bwMode="auto">
          <a:xfrm>
            <a:off x="4938712" y="3200400"/>
            <a:ext cx="19812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Line 17">
            <a:extLst>
              <a:ext uri="{FF2B5EF4-FFF2-40B4-BE49-F238E27FC236}">
                <a16:creationId xmlns:a16="http://schemas.microsoft.com/office/drawing/2014/main" id="{1037C48D-FF07-458C-9E72-C99C48C05D98}"/>
              </a:ext>
            </a:extLst>
          </p:cNvPr>
          <p:cNvSpPr>
            <a:spLocks noChangeShapeType="1"/>
          </p:cNvSpPr>
          <p:nvPr/>
        </p:nvSpPr>
        <p:spPr bwMode="auto">
          <a:xfrm flipH="1">
            <a:off x="5853112" y="4267200"/>
            <a:ext cx="0" cy="1765300"/>
          </a:xfrm>
          <a:prstGeom prst="line">
            <a:avLst/>
          </a:prstGeom>
          <a:noFill/>
          <a:ln w="9525">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4" name="Text Box 18">
            <a:extLst>
              <a:ext uri="{FF2B5EF4-FFF2-40B4-BE49-F238E27FC236}">
                <a16:creationId xmlns:a16="http://schemas.microsoft.com/office/drawing/2014/main" id="{1D2CDED8-A53E-47CF-ADA1-DF0037D7FF6E}"/>
              </a:ext>
            </a:extLst>
          </p:cNvPr>
          <p:cNvSpPr txBox="1">
            <a:spLocks noChangeArrowheads="1"/>
          </p:cNvSpPr>
          <p:nvPr/>
        </p:nvSpPr>
        <p:spPr bwMode="auto">
          <a:xfrm>
            <a:off x="5700712" y="60960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solidFill>
                  <a:srgbClr val="FF0000"/>
                </a:solidFill>
                <a:latin typeface="Times New Roman" pitchFamily="18" charset="0"/>
              </a:rPr>
              <a:t>17</a:t>
            </a:r>
          </a:p>
        </p:txBody>
      </p:sp>
      <p:sp>
        <p:nvSpPr>
          <p:cNvPr id="25" name="Line 19">
            <a:extLst>
              <a:ext uri="{FF2B5EF4-FFF2-40B4-BE49-F238E27FC236}">
                <a16:creationId xmlns:a16="http://schemas.microsoft.com/office/drawing/2014/main" id="{2720BEEB-45F9-4990-854C-0E9978ED5552}"/>
              </a:ext>
            </a:extLst>
          </p:cNvPr>
          <p:cNvSpPr>
            <a:spLocks noChangeShapeType="1"/>
          </p:cNvSpPr>
          <p:nvPr/>
        </p:nvSpPr>
        <p:spPr bwMode="auto">
          <a:xfrm>
            <a:off x="6246812" y="3124200"/>
            <a:ext cx="1981200" cy="228600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 name="Line 20">
            <a:extLst>
              <a:ext uri="{FF2B5EF4-FFF2-40B4-BE49-F238E27FC236}">
                <a16:creationId xmlns:a16="http://schemas.microsoft.com/office/drawing/2014/main" id="{73A7205D-B382-44C2-B3D8-C96A2BBC8C7A}"/>
              </a:ext>
            </a:extLst>
          </p:cNvPr>
          <p:cNvSpPr>
            <a:spLocks noChangeShapeType="1"/>
          </p:cNvSpPr>
          <p:nvPr/>
        </p:nvSpPr>
        <p:spPr bwMode="auto">
          <a:xfrm flipH="1">
            <a:off x="7237412" y="4267200"/>
            <a:ext cx="0" cy="176530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7" name="Text Box 21">
            <a:extLst>
              <a:ext uri="{FF2B5EF4-FFF2-40B4-BE49-F238E27FC236}">
                <a16:creationId xmlns:a16="http://schemas.microsoft.com/office/drawing/2014/main" id="{752CCC82-04BF-4571-A027-A554BA61BA99}"/>
              </a:ext>
            </a:extLst>
          </p:cNvPr>
          <p:cNvSpPr txBox="1">
            <a:spLocks noChangeArrowheads="1"/>
          </p:cNvSpPr>
          <p:nvPr/>
        </p:nvSpPr>
        <p:spPr bwMode="auto">
          <a:xfrm>
            <a:off x="7008812" y="609600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solidFill>
                  <a:srgbClr val="FF0000"/>
                </a:solidFill>
                <a:latin typeface="Times New Roman" pitchFamily="18" charset="0"/>
              </a:rPr>
              <a:t>23</a:t>
            </a:r>
          </a:p>
        </p:txBody>
      </p:sp>
      <p:sp>
        <p:nvSpPr>
          <p:cNvPr id="28" name="Text Box 22">
            <a:extLst>
              <a:ext uri="{FF2B5EF4-FFF2-40B4-BE49-F238E27FC236}">
                <a16:creationId xmlns:a16="http://schemas.microsoft.com/office/drawing/2014/main" id="{758C3891-189D-4E10-AF74-A00C1FA6B887}"/>
              </a:ext>
            </a:extLst>
          </p:cNvPr>
          <p:cNvSpPr txBox="1">
            <a:spLocks noChangeArrowheads="1"/>
          </p:cNvSpPr>
          <p:nvPr/>
        </p:nvSpPr>
        <p:spPr bwMode="auto">
          <a:xfrm>
            <a:off x="5865812" y="2445603"/>
            <a:ext cx="1219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1600" b="1" dirty="0">
                <a:latin typeface="Times New Roman" pitchFamily="18" charset="0"/>
                <a:cs typeface="Times New Roman" pitchFamily="18" charset="0"/>
              </a:rPr>
              <a:t>Demand after </a:t>
            </a:r>
          </a:p>
          <a:p>
            <a:pPr algn="ctr" eaLnBrk="1" hangingPunct="1">
              <a:spcBef>
                <a:spcPct val="0"/>
              </a:spcBef>
              <a:buFontTx/>
              <a:buNone/>
            </a:pPr>
            <a:r>
              <a:rPr lang="en-US" sz="1600" b="1" dirty="0">
                <a:latin typeface="Times New Roman" pitchFamily="18" charset="0"/>
                <a:cs typeface="Times New Roman" pitchFamily="18" charset="0"/>
              </a:rPr>
              <a:t>12 months</a:t>
            </a:r>
            <a:endParaRPr lang="en-US" sz="1600" b="1" baseline="-25000" dirty="0">
              <a:latin typeface="Times New Roman" pitchFamily="18" charset="0"/>
              <a:cs typeface="Times New Roman" pitchFamily="18" charset="0"/>
            </a:endParaRPr>
          </a:p>
        </p:txBody>
      </p:sp>
      <p:sp>
        <p:nvSpPr>
          <p:cNvPr id="29" name="Text Box 23">
            <a:extLst>
              <a:ext uri="{FF2B5EF4-FFF2-40B4-BE49-F238E27FC236}">
                <a16:creationId xmlns:a16="http://schemas.microsoft.com/office/drawing/2014/main" id="{E329A38B-D39E-4A19-BBE9-6C86485E1CDA}"/>
              </a:ext>
            </a:extLst>
          </p:cNvPr>
          <p:cNvSpPr txBox="1">
            <a:spLocks noChangeArrowheads="1"/>
          </p:cNvSpPr>
          <p:nvPr/>
        </p:nvSpPr>
        <p:spPr bwMode="auto">
          <a:xfrm>
            <a:off x="4265612" y="2438400"/>
            <a:ext cx="1219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1600" b="1" dirty="0">
                <a:latin typeface="Times New Roman" pitchFamily="18" charset="0"/>
                <a:cs typeface="Times New Roman" pitchFamily="18" charset="0"/>
              </a:rPr>
              <a:t>Demand after </a:t>
            </a:r>
          </a:p>
          <a:p>
            <a:pPr algn="ctr" eaLnBrk="1" hangingPunct="1">
              <a:spcBef>
                <a:spcPct val="0"/>
              </a:spcBef>
              <a:buFontTx/>
              <a:buNone/>
            </a:pPr>
            <a:r>
              <a:rPr lang="en-US" sz="1600" b="1" dirty="0">
                <a:latin typeface="Times New Roman" pitchFamily="18" charset="0"/>
                <a:cs typeface="Times New Roman" pitchFamily="18" charset="0"/>
              </a:rPr>
              <a:t>6 months</a:t>
            </a:r>
            <a:endParaRPr lang="en-US" sz="1600" b="1" baseline="-25000" dirty="0">
              <a:latin typeface="Times New Roman" pitchFamily="18" charset="0"/>
              <a:cs typeface="Times New Roman" pitchFamily="18" charset="0"/>
            </a:endParaRPr>
          </a:p>
        </p:txBody>
      </p:sp>
      <p:sp>
        <p:nvSpPr>
          <p:cNvPr id="3" name="Line 14">
            <a:extLst>
              <a:ext uri="{FF2B5EF4-FFF2-40B4-BE49-F238E27FC236}">
                <a16:creationId xmlns:a16="http://schemas.microsoft.com/office/drawing/2014/main" id="{C2BE10AA-B550-40ED-B8D5-4E96BB6B60F5}"/>
              </a:ext>
            </a:extLst>
          </p:cNvPr>
          <p:cNvSpPr>
            <a:spLocks noChangeShapeType="1"/>
          </p:cNvSpPr>
          <p:nvPr/>
        </p:nvSpPr>
        <p:spPr bwMode="auto">
          <a:xfrm flipH="1" flipV="1">
            <a:off x="6564312" y="4267199"/>
            <a:ext cx="673099" cy="11043"/>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2302604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p:bldP spid="25" grpId="0" animBg="1"/>
      <p:bldP spid="26" grpId="0" animBg="1"/>
      <p:bldP spid="27" grpId="0"/>
      <p:bldP spid="28" grpId="0"/>
      <p:bldP spid="29" grpId="0"/>
      <p:bldP spid="3"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Text Box 4"/>
          <p:cNvSpPr txBox="1">
            <a:spLocks noChangeArrowheads="1"/>
          </p:cNvSpPr>
          <p:nvPr/>
        </p:nvSpPr>
        <p:spPr bwMode="auto">
          <a:xfrm>
            <a:off x="1674812" y="304800"/>
            <a:ext cx="75628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3600" b="1" dirty="0">
                <a:latin typeface="National semibold" panose="02000503000000020004"/>
              </a:rPr>
              <a:t>Currency crisis: Turkey in 2001</a:t>
            </a:r>
          </a:p>
        </p:txBody>
      </p:sp>
      <p:pic>
        <p:nvPicPr>
          <p:cNvPr id="61443" name="Picture 3" descr="csf177"/>
          <p:cNvPicPr>
            <a:picLocks noChangeAspect="1" noChangeArrowheads="1"/>
          </p:cNvPicPr>
          <p:nvPr/>
        </p:nvPicPr>
        <p:blipFill>
          <a:blip r:embed="rId3">
            <a:extLst>
              <a:ext uri="{28A0092B-C50C-407E-A947-70E740481C1C}">
                <a14:useLocalDpi xmlns:a14="http://schemas.microsoft.com/office/drawing/2010/main" val="0"/>
              </a:ext>
            </a:extLst>
          </a:blip>
          <a:srcRect l="768" t="51302" r="768" b="508"/>
          <a:stretch>
            <a:fillRect/>
          </a:stretch>
        </p:blipFill>
        <p:spPr bwMode="auto">
          <a:xfrm>
            <a:off x="6551611" y="2085873"/>
            <a:ext cx="5039101" cy="3651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4" name="Picture 2" descr="cga177"/>
          <p:cNvPicPr>
            <a:picLocks noChangeAspect="1" noChangeArrowheads="1"/>
          </p:cNvPicPr>
          <p:nvPr/>
        </p:nvPicPr>
        <p:blipFill>
          <a:blip r:embed="rId4">
            <a:extLst>
              <a:ext uri="{28A0092B-C50C-407E-A947-70E740481C1C}">
                <a14:useLocalDpi xmlns:a14="http://schemas.microsoft.com/office/drawing/2010/main" val="0"/>
              </a:ext>
            </a:extLst>
          </a:blip>
          <a:srcRect l="768" t="49358" r="768" b="493"/>
          <a:stretch>
            <a:fillRect/>
          </a:stretch>
        </p:blipFill>
        <p:spPr bwMode="auto">
          <a:xfrm>
            <a:off x="760412" y="1981200"/>
            <a:ext cx="5039101"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74278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42" name="Text Box 4"/>
          <p:cNvSpPr txBox="1">
            <a:spLocks noChangeArrowheads="1"/>
          </p:cNvSpPr>
          <p:nvPr/>
        </p:nvSpPr>
        <p:spPr bwMode="auto">
          <a:xfrm>
            <a:off x="1674812" y="304800"/>
            <a:ext cx="756285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3600" b="1" dirty="0">
                <a:latin typeface="National semibold" panose="02000503000000020004"/>
              </a:rPr>
              <a:t>Currency crisis: Russia in 2014</a:t>
            </a:r>
          </a:p>
        </p:txBody>
      </p:sp>
      <p:pic>
        <p:nvPicPr>
          <p:cNvPr id="2" name="Picture 2">
            <a:extLst>
              <a:ext uri="{FF2B5EF4-FFF2-40B4-BE49-F238E27FC236}">
                <a16:creationId xmlns:a16="http://schemas.microsoft.com/office/drawing/2014/main" id="{7AC3CF64-1841-4DE4-A20A-866E1633647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48" t="12503" r="49541" b="1134"/>
          <a:stretch/>
        </p:blipFill>
        <p:spPr bwMode="auto">
          <a:xfrm>
            <a:off x="1217612" y="1828800"/>
            <a:ext cx="4223084" cy="3566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2">
            <a:extLst>
              <a:ext uri="{FF2B5EF4-FFF2-40B4-BE49-F238E27FC236}">
                <a16:creationId xmlns:a16="http://schemas.microsoft.com/office/drawing/2014/main" id="{C3880214-61E0-453E-85D0-9F9A68BD57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9016" t="11841" r="724" b="-185"/>
          <a:stretch/>
        </p:blipFill>
        <p:spPr bwMode="auto">
          <a:xfrm>
            <a:off x="6557133" y="1841088"/>
            <a:ext cx="4206240" cy="3566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67493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2C2255-858B-42DB-ADC4-0A12AA28BB78}"/>
              </a:ext>
            </a:extLst>
          </p:cNvPr>
          <p:cNvPicPr>
            <a:picLocks noChangeAspect="1"/>
          </p:cNvPicPr>
          <p:nvPr/>
        </p:nvPicPr>
        <p:blipFill>
          <a:blip r:embed="rId2"/>
          <a:stretch>
            <a:fillRect/>
          </a:stretch>
        </p:blipFill>
        <p:spPr>
          <a:xfrm>
            <a:off x="1027247" y="0"/>
            <a:ext cx="10134331" cy="6858000"/>
          </a:xfrm>
          <a:prstGeom prst="rect">
            <a:avLst/>
          </a:prstGeom>
        </p:spPr>
      </p:pic>
    </p:spTree>
    <p:extLst>
      <p:ext uri="{BB962C8B-B14F-4D97-AF65-F5344CB8AC3E}">
        <p14:creationId xmlns:p14="http://schemas.microsoft.com/office/powerpoint/2010/main" val="4250152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b="1" dirty="0">
                <a:latin typeface="National semibold" panose="02000503000000020004"/>
              </a:rPr>
              <a:t>Direct exchange controls</a:t>
            </a:r>
            <a:endParaRPr lang="en-US" sz="4000" b="1"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751012" y="1884364"/>
            <a:ext cx="9448800" cy="455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buFont typeface="Arial" panose="020B0604020202020204" pitchFamily="34" charset="0"/>
              <a:buChar char="•"/>
            </a:pPr>
            <a:r>
              <a:rPr lang="en-US" sz="2400" dirty="0">
                <a:latin typeface="National semibold" panose="02000503000000020004"/>
              </a:rPr>
              <a:t>All foreign exchange proceeds must be turned over to the monetary authority. </a:t>
            </a:r>
          </a:p>
          <a:p>
            <a:pPr marL="342900" indent="-342900">
              <a:lnSpc>
                <a:spcPct val="120000"/>
              </a:lnSpc>
              <a:buFont typeface="Arial" panose="020B0604020202020204" pitchFamily="34" charset="0"/>
              <a:buChar char="•"/>
            </a:pPr>
            <a:endParaRPr lang="en-US" sz="2400" dirty="0">
              <a:latin typeface="National semibold" panose="02000503000000020004"/>
            </a:endParaRPr>
          </a:p>
          <a:p>
            <a:pPr marL="342900" indent="-342900">
              <a:lnSpc>
                <a:spcPct val="120000"/>
              </a:lnSpc>
              <a:buFont typeface="Arial" panose="020B0604020202020204" pitchFamily="34" charset="0"/>
              <a:buChar char="•"/>
            </a:pPr>
            <a:r>
              <a:rPr lang="en-US" sz="2400" dirty="0">
                <a:latin typeface="National semibold" panose="02000503000000020004"/>
              </a:rPr>
              <a:t>Anyone needing foreign currency must request it from the monetary authority.</a:t>
            </a:r>
          </a:p>
          <a:p>
            <a:pPr marL="342900" indent="-342900">
              <a:lnSpc>
                <a:spcPct val="120000"/>
              </a:lnSpc>
              <a:buFont typeface="Arial" panose="020B0604020202020204" pitchFamily="34" charset="0"/>
              <a:buChar char="•"/>
            </a:pPr>
            <a:endParaRPr lang="en-US" sz="2400" dirty="0">
              <a:latin typeface="National semibold" panose="02000503000000020004"/>
            </a:endParaRPr>
          </a:p>
          <a:p>
            <a:pPr marL="342900" indent="-342900">
              <a:lnSpc>
                <a:spcPct val="120000"/>
              </a:lnSpc>
              <a:buFont typeface="Arial" panose="020B0604020202020204" pitchFamily="34" charset="0"/>
              <a:buChar char="•"/>
            </a:pPr>
            <a:r>
              <a:rPr lang="en-US" sz="2400" dirty="0">
                <a:latin typeface="National semibold" panose="02000503000000020004"/>
              </a:rPr>
              <a:t>Sometimes only some operations are subject to exchange controls. </a:t>
            </a:r>
          </a:p>
        </p:txBody>
      </p:sp>
    </p:spTree>
    <p:extLst>
      <p:ext uri="{BB962C8B-B14F-4D97-AF65-F5344CB8AC3E}">
        <p14:creationId xmlns:p14="http://schemas.microsoft.com/office/powerpoint/2010/main" val="390960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98297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dirty="0">
                <a:latin typeface="National semibold" panose="02000503000000020004"/>
              </a:rPr>
              <a:t>Example of exchange control</a:t>
            </a:r>
            <a:endParaRPr lang="en-US" sz="4000" i="1" dirty="0">
              <a:latin typeface="National semibold" panose="02000503000000020004"/>
            </a:endParaRPr>
          </a:p>
        </p:txBody>
      </p:sp>
      <p:sp>
        <p:nvSpPr>
          <p:cNvPr id="7" name="Line 3">
            <a:extLst>
              <a:ext uri="{FF2B5EF4-FFF2-40B4-BE49-F238E27FC236}">
                <a16:creationId xmlns:a16="http://schemas.microsoft.com/office/drawing/2014/main" id="{41C83760-D1D3-4FBB-A7D5-FD6D05E63086}"/>
              </a:ext>
            </a:extLst>
          </p:cNvPr>
          <p:cNvSpPr>
            <a:spLocks noChangeShapeType="1"/>
          </p:cNvSpPr>
          <p:nvPr/>
        </p:nvSpPr>
        <p:spPr bwMode="auto">
          <a:xfrm flipV="1">
            <a:off x="6277940" y="1919748"/>
            <a:ext cx="0" cy="361928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 name="Line 4">
            <a:extLst>
              <a:ext uri="{FF2B5EF4-FFF2-40B4-BE49-F238E27FC236}">
                <a16:creationId xmlns:a16="http://schemas.microsoft.com/office/drawing/2014/main" id="{65B49E46-B3A8-47EC-AF34-CBB4A34993EF}"/>
              </a:ext>
            </a:extLst>
          </p:cNvPr>
          <p:cNvSpPr>
            <a:spLocks noChangeShapeType="1"/>
          </p:cNvSpPr>
          <p:nvPr/>
        </p:nvSpPr>
        <p:spPr bwMode="auto">
          <a:xfrm>
            <a:off x="6270074" y="5549900"/>
            <a:ext cx="46634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 name="Text Box 5">
            <a:extLst>
              <a:ext uri="{FF2B5EF4-FFF2-40B4-BE49-F238E27FC236}">
                <a16:creationId xmlns:a16="http://schemas.microsoft.com/office/drawing/2014/main" id="{A3FCE59E-EE7F-42E0-A694-2E7BCDDD74EF}"/>
              </a:ext>
            </a:extLst>
          </p:cNvPr>
          <p:cNvSpPr txBox="1">
            <a:spLocks noChangeArrowheads="1"/>
          </p:cNvSpPr>
          <p:nvPr/>
        </p:nvSpPr>
        <p:spPr bwMode="auto">
          <a:xfrm>
            <a:off x="9783140" y="5576888"/>
            <a:ext cx="12573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Billions of </a:t>
            </a:r>
            <a:r>
              <a:rPr lang="en-US" sz="1800" dirty="0">
                <a:latin typeface="Times New Roman" pitchFamily="18" charset="0"/>
                <a:cs typeface="Times New Roman" pitchFamily="18" charset="0"/>
              </a:rPr>
              <a:t>$</a:t>
            </a:r>
            <a:endParaRPr lang="en-US" sz="1400" dirty="0">
              <a:latin typeface="Times New Roman" pitchFamily="18" charset="0"/>
            </a:endParaRPr>
          </a:p>
        </p:txBody>
      </p:sp>
      <p:sp>
        <p:nvSpPr>
          <p:cNvPr id="11" name="Text Box 6">
            <a:extLst>
              <a:ext uri="{FF2B5EF4-FFF2-40B4-BE49-F238E27FC236}">
                <a16:creationId xmlns:a16="http://schemas.microsoft.com/office/drawing/2014/main" id="{C049EFD3-D37F-4E5D-A082-FACB69F548AB}"/>
              </a:ext>
            </a:extLst>
          </p:cNvPr>
          <p:cNvSpPr txBox="1">
            <a:spLocks noChangeArrowheads="1"/>
          </p:cNvSpPr>
          <p:nvPr/>
        </p:nvSpPr>
        <p:spPr bwMode="auto">
          <a:xfrm>
            <a:off x="5890436" y="3628422"/>
            <a:ext cx="2744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9</a:t>
            </a:r>
          </a:p>
        </p:txBody>
      </p:sp>
      <p:sp>
        <p:nvSpPr>
          <p:cNvPr id="13" name="Text Box 7">
            <a:extLst>
              <a:ext uri="{FF2B5EF4-FFF2-40B4-BE49-F238E27FC236}">
                <a16:creationId xmlns:a16="http://schemas.microsoft.com/office/drawing/2014/main" id="{051C4897-6A65-4BFF-A688-4D65B93CD07A}"/>
              </a:ext>
            </a:extLst>
          </p:cNvPr>
          <p:cNvSpPr txBox="1">
            <a:spLocks noChangeArrowheads="1"/>
          </p:cNvSpPr>
          <p:nvPr/>
        </p:nvSpPr>
        <p:spPr bwMode="auto">
          <a:xfrm>
            <a:off x="7773365" y="3503613"/>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endParaRPr lang="en-US" sz="1400">
              <a:latin typeface="Times New Roman" pitchFamily="18" charset="0"/>
            </a:endParaRPr>
          </a:p>
        </p:txBody>
      </p:sp>
      <p:sp>
        <p:nvSpPr>
          <p:cNvPr id="14" name="Line 8">
            <a:extLst>
              <a:ext uri="{FF2B5EF4-FFF2-40B4-BE49-F238E27FC236}">
                <a16:creationId xmlns:a16="http://schemas.microsoft.com/office/drawing/2014/main" id="{8B15B833-E559-40A8-BF64-250FA6102B58}"/>
              </a:ext>
            </a:extLst>
          </p:cNvPr>
          <p:cNvSpPr>
            <a:spLocks noChangeShapeType="1"/>
          </p:cNvSpPr>
          <p:nvPr/>
        </p:nvSpPr>
        <p:spPr bwMode="auto">
          <a:xfrm>
            <a:off x="7497140" y="2667000"/>
            <a:ext cx="19812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 name="Text Box 9">
            <a:extLst>
              <a:ext uri="{FF2B5EF4-FFF2-40B4-BE49-F238E27FC236}">
                <a16:creationId xmlns:a16="http://schemas.microsoft.com/office/drawing/2014/main" id="{CC0BB46D-442B-44BF-9583-663774775E44}"/>
              </a:ext>
            </a:extLst>
          </p:cNvPr>
          <p:cNvSpPr txBox="1">
            <a:spLocks noChangeArrowheads="1"/>
          </p:cNvSpPr>
          <p:nvPr/>
        </p:nvSpPr>
        <p:spPr bwMode="auto">
          <a:xfrm>
            <a:off x="5637212" y="2057400"/>
            <a:ext cx="71692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800" dirty="0">
                <a:latin typeface="National semibold" panose="02000503000000020004"/>
                <a:cs typeface="Times New Roman" pitchFamily="18" charset="0"/>
              </a:rPr>
              <a:t>Yuan </a:t>
            </a:r>
          </a:p>
          <a:p>
            <a:pPr eaLnBrk="1" hangingPunct="1">
              <a:spcBef>
                <a:spcPct val="0"/>
              </a:spcBef>
              <a:buFontTx/>
              <a:buNone/>
            </a:pPr>
            <a:r>
              <a:rPr lang="en-US" sz="1800" dirty="0">
                <a:latin typeface="National semibold" panose="02000503000000020004"/>
                <a:cs typeface="Times New Roman" pitchFamily="18" charset="0"/>
              </a:rPr>
              <a:t>per $</a:t>
            </a:r>
            <a:endParaRPr lang="en-US" sz="1800" dirty="0">
              <a:latin typeface="National semibold" panose="02000503000000020004"/>
            </a:endParaRPr>
          </a:p>
        </p:txBody>
      </p:sp>
      <p:sp>
        <p:nvSpPr>
          <p:cNvPr id="16" name="Line 10">
            <a:extLst>
              <a:ext uri="{FF2B5EF4-FFF2-40B4-BE49-F238E27FC236}">
                <a16:creationId xmlns:a16="http://schemas.microsoft.com/office/drawing/2014/main" id="{D135C306-D30A-49C7-A0EE-66532F5ACCEE}"/>
              </a:ext>
            </a:extLst>
          </p:cNvPr>
          <p:cNvSpPr>
            <a:spLocks noChangeShapeType="1"/>
          </p:cNvSpPr>
          <p:nvPr/>
        </p:nvSpPr>
        <p:spPr bwMode="auto">
          <a:xfrm flipH="1">
            <a:off x="7420940" y="2654300"/>
            <a:ext cx="2057400" cy="2286000"/>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 name="Text Box 11">
            <a:extLst>
              <a:ext uri="{FF2B5EF4-FFF2-40B4-BE49-F238E27FC236}">
                <a16:creationId xmlns:a16="http://schemas.microsoft.com/office/drawing/2014/main" id="{4BFFF250-2228-4AC3-8416-A866167758C2}"/>
              </a:ext>
            </a:extLst>
          </p:cNvPr>
          <p:cNvSpPr txBox="1">
            <a:spLocks noChangeArrowheads="1"/>
          </p:cNvSpPr>
          <p:nvPr/>
        </p:nvSpPr>
        <p:spPr bwMode="auto">
          <a:xfrm>
            <a:off x="9459289" y="2425700"/>
            <a:ext cx="272413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pPr>
            <a:r>
              <a:rPr lang="en-US" sz="1800" dirty="0">
                <a:latin typeface="National semibold" panose="02000503000000020004"/>
                <a:cs typeface="Times New Roman" pitchFamily="18" charset="0"/>
              </a:rPr>
              <a:t>S</a:t>
            </a:r>
            <a:r>
              <a:rPr lang="en-US" sz="1800" baseline="-25000" dirty="0">
                <a:latin typeface="National semibold" panose="02000503000000020004"/>
                <a:cs typeface="Times New Roman" pitchFamily="18" charset="0"/>
              </a:rPr>
              <a:t>$</a:t>
            </a:r>
            <a:r>
              <a:rPr lang="en-US" sz="1800" dirty="0">
                <a:latin typeface="National semibold" panose="02000503000000020004"/>
                <a:cs typeface="Times New Roman" pitchFamily="18" charset="0"/>
              </a:rPr>
              <a:t> w/o exchange controls</a:t>
            </a:r>
            <a:endParaRPr lang="en-US" sz="1800" baseline="-25000" dirty="0">
              <a:latin typeface="National semibold" panose="02000503000000020004"/>
              <a:cs typeface="Times New Roman" pitchFamily="18" charset="0"/>
            </a:endParaRPr>
          </a:p>
        </p:txBody>
      </p:sp>
      <p:sp>
        <p:nvSpPr>
          <p:cNvPr id="18" name="Text Box 12">
            <a:extLst>
              <a:ext uri="{FF2B5EF4-FFF2-40B4-BE49-F238E27FC236}">
                <a16:creationId xmlns:a16="http://schemas.microsoft.com/office/drawing/2014/main" id="{9830190E-C3A0-4435-B72C-B8C62AB70EA6}"/>
              </a:ext>
            </a:extLst>
          </p:cNvPr>
          <p:cNvSpPr txBox="1">
            <a:spLocks noChangeArrowheads="1"/>
          </p:cNvSpPr>
          <p:nvPr/>
        </p:nvSpPr>
        <p:spPr bwMode="auto">
          <a:xfrm>
            <a:off x="9402138" y="4787900"/>
            <a:ext cx="25765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pPr>
            <a:r>
              <a:rPr lang="en-US" sz="1800" dirty="0">
                <a:latin typeface="National semibold" panose="02000503000000020004"/>
                <a:cs typeface="Times New Roman" pitchFamily="18" charset="0"/>
              </a:rPr>
              <a:t>D</a:t>
            </a:r>
            <a:r>
              <a:rPr lang="en-US" sz="1800" baseline="-25000" dirty="0">
                <a:latin typeface="National semibold" panose="02000503000000020004"/>
                <a:cs typeface="Times New Roman" pitchFamily="18" charset="0"/>
              </a:rPr>
              <a:t>$</a:t>
            </a:r>
            <a:r>
              <a:rPr lang="en-US" sz="1800" dirty="0">
                <a:latin typeface="National semibold" panose="02000503000000020004"/>
                <a:cs typeface="Times New Roman" pitchFamily="18" charset="0"/>
              </a:rPr>
              <a:t> w/o exchange controls</a:t>
            </a:r>
            <a:endParaRPr lang="en-US" sz="1800" baseline="-25000" dirty="0">
              <a:latin typeface="National semibold" panose="02000503000000020004"/>
              <a:cs typeface="Times New Roman" pitchFamily="18" charset="0"/>
            </a:endParaRPr>
          </a:p>
        </p:txBody>
      </p:sp>
      <p:sp>
        <p:nvSpPr>
          <p:cNvPr id="19" name="Line 13">
            <a:extLst>
              <a:ext uri="{FF2B5EF4-FFF2-40B4-BE49-F238E27FC236}">
                <a16:creationId xmlns:a16="http://schemas.microsoft.com/office/drawing/2014/main" id="{583FFB23-1C57-4854-A618-A94A8A6AB01E}"/>
              </a:ext>
            </a:extLst>
          </p:cNvPr>
          <p:cNvSpPr>
            <a:spLocks noChangeShapeType="1"/>
          </p:cNvSpPr>
          <p:nvPr/>
        </p:nvSpPr>
        <p:spPr bwMode="auto">
          <a:xfrm>
            <a:off x="8460050" y="3797300"/>
            <a:ext cx="0" cy="175260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0" name="Line 14">
            <a:extLst>
              <a:ext uri="{FF2B5EF4-FFF2-40B4-BE49-F238E27FC236}">
                <a16:creationId xmlns:a16="http://schemas.microsoft.com/office/drawing/2014/main" id="{0878999A-FC75-43C5-9DF0-B6F998DD92E3}"/>
              </a:ext>
            </a:extLst>
          </p:cNvPr>
          <p:cNvSpPr>
            <a:spLocks noChangeShapeType="1"/>
          </p:cNvSpPr>
          <p:nvPr/>
        </p:nvSpPr>
        <p:spPr bwMode="auto">
          <a:xfrm flipH="1">
            <a:off x="6270566" y="3789926"/>
            <a:ext cx="219456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21" name="Text Box 15">
            <a:extLst>
              <a:ext uri="{FF2B5EF4-FFF2-40B4-BE49-F238E27FC236}">
                <a16:creationId xmlns:a16="http://schemas.microsoft.com/office/drawing/2014/main" id="{690DBE09-DA5E-4C14-A692-EE065271F0C7}"/>
              </a:ext>
            </a:extLst>
          </p:cNvPr>
          <p:cNvSpPr txBox="1">
            <a:spLocks noChangeArrowheads="1"/>
          </p:cNvSpPr>
          <p:nvPr/>
        </p:nvSpPr>
        <p:spPr bwMode="auto">
          <a:xfrm>
            <a:off x="8290890" y="5624612"/>
            <a:ext cx="3642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latin typeface="Times New Roman" pitchFamily="18" charset="0"/>
              </a:rPr>
              <a:t>10</a:t>
            </a:r>
          </a:p>
        </p:txBody>
      </p:sp>
      <p:sp>
        <p:nvSpPr>
          <p:cNvPr id="27" name="Text Box 21">
            <a:extLst>
              <a:ext uri="{FF2B5EF4-FFF2-40B4-BE49-F238E27FC236}">
                <a16:creationId xmlns:a16="http://schemas.microsoft.com/office/drawing/2014/main" id="{752CCC82-04BF-4571-A027-A554BA61BA99}"/>
              </a:ext>
            </a:extLst>
          </p:cNvPr>
          <p:cNvSpPr txBox="1">
            <a:spLocks noChangeArrowheads="1"/>
          </p:cNvSpPr>
          <p:nvPr/>
        </p:nvSpPr>
        <p:spPr bwMode="auto">
          <a:xfrm>
            <a:off x="7878140" y="5624612"/>
            <a:ext cx="2744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solidFill>
                  <a:srgbClr val="FF0000"/>
                </a:solidFill>
                <a:latin typeface="Times New Roman" pitchFamily="18" charset="0"/>
              </a:rPr>
              <a:t>8</a:t>
            </a:r>
          </a:p>
        </p:txBody>
      </p:sp>
      <p:sp>
        <p:nvSpPr>
          <p:cNvPr id="30" name="TextBox 29">
            <a:extLst>
              <a:ext uri="{FF2B5EF4-FFF2-40B4-BE49-F238E27FC236}">
                <a16:creationId xmlns:a16="http://schemas.microsoft.com/office/drawing/2014/main" id="{0E47DB9E-38C3-4D9E-BCAA-179F169765CD}"/>
              </a:ext>
            </a:extLst>
          </p:cNvPr>
          <p:cNvSpPr txBox="1"/>
          <p:nvPr/>
        </p:nvSpPr>
        <p:spPr>
          <a:xfrm>
            <a:off x="1567709" y="2895600"/>
            <a:ext cx="3459903" cy="1835567"/>
          </a:xfrm>
          <a:prstGeom prst="rect">
            <a:avLst/>
          </a:prstGeom>
          <a:noFill/>
          <a:ln w="31750">
            <a:solidFill>
              <a:schemeClr val="tx1"/>
            </a:solidFill>
          </a:ln>
        </p:spPr>
        <p:txBody>
          <a:bodyPr wrap="square">
            <a:spAutoFit/>
          </a:bodyPr>
          <a:lstStyle/>
          <a:p>
            <a:pPr>
              <a:lnSpc>
                <a:spcPct val="120000"/>
              </a:lnSpc>
            </a:pPr>
            <a:r>
              <a:rPr lang="en-US" sz="2400" dirty="0">
                <a:latin typeface="National semibold" panose="02000503000000020004"/>
              </a:rPr>
              <a:t>China allows each Chinese resident to buy no more than </a:t>
            </a:r>
            <a:r>
              <a:rPr lang="en-US" sz="2400" dirty="0">
                <a:solidFill>
                  <a:srgbClr val="FF0000"/>
                </a:solidFill>
                <a:latin typeface="National semibold" panose="02000503000000020004"/>
              </a:rPr>
              <a:t>$50,000</a:t>
            </a:r>
            <a:r>
              <a:rPr lang="en-US" sz="2400" dirty="0">
                <a:latin typeface="National semibold" panose="02000503000000020004"/>
              </a:rPr>
              <a:t> in overseas assets annually.</a:t>
            </a:r>
          </a:p>
        </p:txBody>
      </p:sp>
      <p:sp>
        <p:nvSpPr>
          <p:cNvPr id="33" name="Line 19">
            <a:extLst>
              <a:ext uri="{FF2B5EF4-FFF2-40B4-BE49-F238E27FC236}">
                <a16:creationId xmlns:a16="http://schemas.microsoft.com/office/drawing/2014/main" id="{9307EF8A-FD1A-4D63-A27A-BA3BC1C98D3C}"/>
              </a:ext>
            </a:extLst>
          </p:cNvPr>
          <p:cNvSpPr>
            <a:spLocks noChangeShapeType="1"/>
          </p:cNvSpPr>
          <p:nvPr/>
        </p:nvSpPr>
        <p:spPr bwMode="auto">
          <a:xfrm flipH="1">
            <a:off x="8037833" y="3298720"/>
            <a:ext cx="12702" cy="2245853"/>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 name="Line 14">
            <a:extLst>
              <a:ext uri="{FF2B5EF4-FFF2-40B4-BE49-F238E27FC236}">
                <a16:creationId xmlns:a16="http://schemas.microsoft.com/office/drawing/2014/main" id="{2AF99F0A-30A1-497D-B550-A278561D1DF4}"/>
              </a:ext>
            </a:extLst>
          </p:cNvPr>
          <p:cNvSpPr>
            <a:spLocks noChangeShapeType="1"/>
          </p:cNvSpPr>
          <p:nvPr/>
        </p:nvSpPr>
        <p:spPr bwMode="auto">
          <a:xfrm flipH="1">
            <a:off x="6285560" y="4236966"/>
            <a:ext cx="1737360" cy="0"/>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 name="Text Box 6">
            <a:extLst>
              <a:ext uri="{FF2B5EF4-FFF2-40B4-BE49-F238E27FC236}">
                <a16:creationId xmlns:a16="http://schemas.microsoft.com/office/drawing/2014/main" id="{AED4E170-8A45-4937-9860-77E512579F9A}"/>
              </a:ext>
            </a:extLst>
          </p:cNvPr>
          <p:cNvSpPr txBox="1">
            <a:spLocks noChangeArrowheads="1"/>
          </p:cNvSpPr>
          <p:nvPr/>
        </p:nvSpPr>
        <p:spPr bwMode="auto">
          <a:xfrm>
            <a:off x="5820740" y="4074953"/>
            <a:ext cx="40908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nchorCtr="1">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eaLnBrk="1" hangingPunct="1">
              <a:spcBef>
                <a:spcPct val="0"/>
              </a:spcBef>
              <a:buFontTx/>
              <a:buNone/>
            </a:pPr>
            <a:r>
              <a:rPr lang="en-US" sz="1400" dirty="0">
                <a:solidFill>
                  <a:srgbClr val="FF0000"/>
                </a:solidFill>
                <a:latin typeface="Times New Roman" pitchFamily="18" charset="0"/>
              </a:rPr>
              <a:t>6.6</a:t>
            </a:r>
          </a:p>
        </p:txBody>
      </p:sp>
      <p:sp>
        <p:nvSpPr>
          <p:cNvPr id="36" name="Line 19">
            <a:extLst>
              <a:ext uri="{FF2B5EF4-FFF2-40B4-BE49-F238E27FC236}">
                <a16:creationId xmlns:a16="http://schemas.microsoft.com/office/drawing/2014/main" id="{524E2109-468F-47E4-AD58-356910BE94B9}"/>
              </a:ext>
            </a:extLst>
          </p:cNvPr>
          <p:cNvSpPr>
            <a:spLocks noChangeShapeType="1"/>
          </p:cNvSpPr>
          <p:nvPr/>
        </p:nvSpPr>
        <p:spPr bwMode="auto">
          <a:xfrm>
            <a:off x="7481900" y="2656809"/>
            <a:ext cx="561696" cy="649224"/>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cxnSp>
        <p:nvCxnSpPr>
          <p:cNvPr id="37" name="Connector: Curved 36">
            <a:extLst>
              <a:ext uri="{FF2B5EF4-FFF2-40B4-BE49-F238E27FC236}">
                <a16:creationId xmlns:a16="http://schemas.microsoft.com/office/drawing/2014/main" id="{3E80E5CF-A506-413B-BCCD-6344F640FBA0}"/>
              </a:ext>
            </a:extLst>
          </p:cNvPr>
          <p:cNvCxnSpPr>
            <a:cxnSpLocks/>
            <a:stCxn id="30" idx="2"/>
            <a:endCxn id="13" idx="0"/>
          </p:cNvCxnSpPr>
          <p:nvPr/>
        </p:nvCxnSpPr>
        <p:spPr>
          <a:xfrm rot="5400000" flipH="1" flipV="1">
            <a:off x="4967773" y="1833500"/>
            <a:ext cx="1227554" cy="4567779"/>
          </a:xfrm>
          <a:prstGeom prst="curvedConnector5">
            <a:avLst>
              <a:gd name="adj1" fmla="val -18622"/>
              <a:gd name="adj2" fmla="val 67929"/>
              <a:gd name="adj3" fmla="val 11862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Right Brace 48">
            <a:extLst>
              <a:ext uri="{FF2B5EF4-FFF2-40B4-BE49-F238E27FC236}">
                <a16:creationId xmlns:a16="http://schemas.microsoft.com/office/drawing/2014/main" id="{2D60080F-36DA-42D6-93B0-2C79161BC812}"/>
              </a:ext>
            </a:extLst>
          </p:cNvPr>
          <p:cNvSpPr/>
          <p:nvPr/>
        </p:nvSpPr>
        <p:spPr>
          <a:xfrm rot="5400000" flipV="1">
            <a:off x="7091634" y="5093932"/>
            <a:ext cx="126922" cy="1754309"/>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0" name="Text Box 6">
            <a:extLst>
              <a:ext uri="{FF2B5EF4-FFF2-40B4-BE49-F238E27FC236}">
                <a16:creationId xmlns:a16="http://schemas.microsoft.com/office/drawing/2014/main" id="{830E7AD3-257D-4E23-8D22-7CEFC70366C8}"/>
              </a:ext>
            </a:extLst>
          </p:cNvPr>
          <p:cNvSpPr txBox="1">
            <a:spLocks noChangeArrowheads="1"/>
          </p:cNvSpPr>
          <p:nvPr/>
        </p:nvSpPr>
        <p:spPr bwMode="auto">
          <a:xfrm>
            <a:off x="6109202" y="6050510"/>
            <a:ext cx="210323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1" hangingPunct="1">
              <a:spcBef>
                <a:spcPct val="0"/>
              </a:spcBef>
              <a:buFontTx/>
              <a:buNone/>
            </a:pPr>
            <a:r>
              <a:rPr lang="en-US" sz="1400" dirty="0">
                <a:solidFill>
                  <a:srgbClr val="FF0000"/>
                </a:solidFill>
                <a:latin typeface="National semibold" panose="02000503000000020004"/>
              </a:rPr>
              <a:t>People Bank of China limits demand of dollars to 8 billions</a:t>
            </a:r>
          </a:p>
        </p:txBody>
      </p:sp>
      <p:sp>
        <p:nvSpPr>
          <p:cNvPr id="51" name="Text Box 12">
            <a:extLst>
              <a:ext uri="{FF2B5EF4-FFF2-40B4-BE49-F238E27FC236}">
                <a16:creationId xmlns:a16="http://schemas.microsoft.com/office/drawing/2014/main" id="{0B9D10C4-5FC8-45DE-8CF7-97F9116B9826}"/>
              </a:ext>
            </a:extLst>
          </p:cNvPr>
          <p:cNvSpPr txBox="1">
            <a:spLocks noChangeArrowheads="1"/>
          </p:cNvSpPr>
          <p:nvPr/>
        </p:nvSpPr>
        <p:spPr bwMode="auto">
          <a:xfrm>
            <a:off x="8044831" y="5117068"/>
            <a:ext cx="2805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spcBef>
                <a:spcPct val="0"/>
              </a:spcBef>
            </a:pPr>
            <a:r>
              <a:rPr lang="en-US" sz="1800" dirty="0">
                <a:solidFill>
                  <a:srgbClr val="FF0000"/>
                </a:solidFill>
                <a:latin typeface="National semibold" panose="02000503000000020004"/>
                <a:cs typeface="Times New Roman" pitchFamily="18" charset="0"/>
              </a:rPr>
              <a:t>D</a:t>
            </a:r>
            <a:r>
              <a:rPr lang="en-US" sz="1800" baseline="-25000" dirty="0">
                <a:solidFill>
                  <a:srgbClr val="FF0000"/>
                </a:solidFill>
                <a:latin typeface="National semibold" panose="02000503000000020004"/>
                <a:cs typeface="Times New Roman" pitchFamily="18" charset="0"/>
              </a:rPr>
              <a:t>$</a:t>
            </a:r>
            <a:r>
              <a:rPr lang="en-US" sz="1800" dirty="0">
                <a:solidFill>
                  <a:srgbClr val="FF0000"/>
                </a:solidFill>
                <a:latin typeface="National semibold" panose="02000503000000020004"/>
                <a:cs typeface="Times New Roman" pitchFamily="18" charset="0"/>
              </a:rPr>
              <a:t> with exchange controls</a:t>
            </a:r>
            <a:endParaRPr lang="en-US" sz="1800" baseline="-25000" dirty="0">
              <a:solidFill>
                <a:srgbClr val="FF0000"/>
              </a:solidFill>
              <a:latin typeface="National semibold" panose="02000503000000020004"/>
              <a:cs typeface="Times New Roman" pitchFamily="18" charset="0"/>
            </a:endParaRPr>
          </a:p>
        </p:txBody>
      </p:sp>
      <p:cxnSp>
        <p:nvCxnSpPr>
          <p:cNvPr id="52" name="Connector: Curved 51">
            <a:extLst>
              <a:ext uri="{FF2B5EF4-FFF2-40B4-BE49-F238E27FC236}">
                <a16:creationId xmlns:a16="http://schemas.microsoft.com/office/drawing/2014/main" id="{3C07CF17-A146-4F1B-9BF2-8C209B74105F}"/>
              </a:ext>
            </a:extLst>
          </p:cNvPr>
          <p:cNvCxnSpPr>
            <a:cxnSpLocks/>
            <a:stCxn id="30" idx="2"/>
            <a:endCxn id="50" idx="1"/>
          </p:cNvCxnSpPr>
          <p:nvPr/>
        </p:nvCxnSpPr>
        <p:spPr>
          <a:xfrm rot="16200000" flipH="1">
            <a:off x="3859094" y="4169733"/>
            <a:ext cx="1688675" cy="2811541"/>
          </a:xfrm>
          <a:prstGeom prst="curved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5854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nodePh="1">
                                  <p:stCondLst>
                                    <p:cond delay="0"/>
                                  </p:stCondLst>
                                  <p:endCondLst>
                                    <p:cond evt="begin" delay="0">
                                      <p:tn val="17"/>
                                    </p:cond>
                                  </p:end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p:bldP spid="11" grpId="0"/>
      <p:bldP spid="13" grpId="0"/>
      <p:bldP spid="14" grpId="0" animBg="1"/>
      <p:bldP spid="15" grpId="0"/>
      <p:bldP spid="16" grpId="0" animBg="1"/>
      <p:bldP spid="17" grpId="0"/>
      <p:bldP spid="18" grpId="0"/>
      <p:bldP spid="19" grpId="0" animBg="1"/>
      <p:bldP spid="20" grpId="0" animBg="1"/>
      <p:bldP spid="21" grpId="0"/>
      <p:bldP spid="27" grpId="0"/>
      <p:bldP spid="30" grpId="0" animBg="1"/>
      <p:bldP spid="33" grpId="0" animBg="1"/>
      <p:bldP spid="5" grpId="0" animBg="1"/>
      <p:bldP spid="6" grpId="0"/>
      <p:bldP spid="36" grpId="0" animBg="1"/>
      <p:bldP spid="49" grpId="0" animBg="1"/>
      <p:bldP spid="50" grpId="0"/>
      <p:bldP spid="5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101345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b="1" dirty="0">
                <a:latin typeface="National semibold" panose="02000503000000020004"/>
              </a:rPr>
              <a:t>Arguments for and against fixed exchange rate</a:t>
            </a:r>
            <a:endParaRPr lang="en-US" sz="4000" b="1"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674812" y="2438400"/>
            <a:ext cx="9448800" cy="3943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457200" indent="-457200">
              <a:buClr>
                <a:schemeClr val="tx1"/>
              </a:buClr>
              <a:buSzPct val="75000"/>
              <a:buFont typeface="+mj-lt"/>
              <a:buAutoNum type="arabicPeriod"/>
            </a:pPr>
            <a:r>
              <a:rPr lang="en-US" sz="2000" b="1" u="sng" dirty="0">
                <a:latin typeface="National semibold" panose="02000503000000020004"/>
              </a:rPr>
              <a:t>Microeconomic considerations</a:t>
            </a:r>
            <a:r>
              <a:rPr lang="en-US" sz="2000" dirty="0">
                <a:latin typeface="National semibold" panose="02000503000000020004"/>
              </a:rPr>
              <a:t> </a:t>
            </a:r>
            <a:r>
              <a:rPr lang="en-US" sz="2000" dirty="0">
                <a:solidFill>
                  <a:srgbClr val="FF0000"/>
                </a:solidFill>
                <a:latin typeface="National semibold" panose="02000503000000020004"/>
              </a:rPr>
              <a:t>(Favorable to fixed rates)</a:t>
            </a:r>
            <a:endParaRPr lang="en-US" sz="2000" dirty="0">
              <a:latin typeface="National semibold" panose="02000503000000020004"/>
            </a:endParaRPr>
          </a:p>
          <a:p>
            <a:pPr marL="914400" lvl="1" indent="-457200">
              <a:buClr>
                <a:schemeClr val="tx1"/>
              </a:buClr>
              <a:buSzPct val="75000"/>
              <a:buFontTx/>
              <a:buChar char="–"/>
            </a:pPr>
            <a:endParaRPr lang="en-US" dirty="0">
              <a:latin typeface="National semibold" panose="02000503000000020004"/>
            </a:endParaRPr>
          </a:p>
          <a:p>
            <a:pPr lvl="1">
              <a:buClr>
                <a:schemeClr val="tx1"/>
              </a:buClr>
              <a:buSzPct val="75000"/>
            </a:pPr>
            <a:endParaRPr lang="en-US" dirty="0">
              <a:latin typeface="National semibold" panose="02000503000000020004"/>
            </a:endParaRPr>
          </a:p>
          <a:p>
            <a:pPr marL="914400" lvl="1" indent="-457200">
              <a:buClr>
                <a:schemeClr val="tx1"/>
              </a:buClr>
              <a:buSzPct val="75000"/>
              <a:buFontTx/>
              <a:buChar char="–"/>
            </a:pPr>
            <a:endParaRPr lang="en-US" dirty="0">
              <a:latin typeface="National semibold" panose="02000503000000020004"/>
            </a:endParaRPr>
          </a:p>
          <a:p>
            <a:pPr marL="914400" lvl="1" indent="-457200">
              <a:lnSpc>
                <a:spcPct val="30000"/>
              </a:lnSpc>
              <a:buClr>
                <a:schemeClr val="tx1"/>
              </a:buClr>
              <a:buSzPct val="75000"/>
              <a:buFontTx/>
              <a:buChar char="–"/>
            </a:pPr>
            <a:endParaRPr lang="en-US" u="sng" dirty="0">
              <a:latin typeface="National semibold" panose="02000503000000020004"/>
            </a:endParaRPr>
          </a:p>
          <a:p>
            <a:pPr marL="533400" indent="-533400">
              <a:buClr>
                <a:schemeClr val="tx1"/>
              </a:buClr>
              <a:buSzPct val="75000"/>
              <a:buFont typeface="Wingdings" pitchFamily="2" charset="2"/>
              <a:buAutoNum type="arabicPeriod"/>
            </a:pPr>
            <a:r>
              <a:rPr lang="en-US" sz="2000" b="1" u="sng" dirty="0">
                <a:latin typeface="National semibold" panose="02000503000000020004"/>
              </a:rPr>
              <a:t>Macroeconomic considerations</a:t>
            </a:r>
            <a:r>
              <a:rPr lang="en-US" sz="2000" dirty="0">
                <a:latin typeface="National semibold" panose="02000503000000020004"/>
              </a:rPr>
              <a:t> </a:t>
            </a:r>
            <a:r>
              <a:rPr lang="en-US" sz="2000" dirty="0">
                <a:solidFill>
                  <a:srgbClr val="FF0000"/>
                </a:solidFill>
                <a:latin typeface="National semibold" panose="02000503000000020004"/>
              </a:rPr>
              <a:t>(Against fixed rates)</a:t>
            </a:r>
            <a:endParaRPr lang="en-US" sz="2000" dirty="0">
              <a:latin typeface="National semibold" panose="02000503000000020004"/>
            </a:endParaRPr>
          </a:p>
          <a:p>
            <a:pPr marL="914400" lvl="1" indent="-457200">
              <a:buClr>
                <a:schemeClr val="tx1"/>
              </a:buClr>
              <a:buSzPct val="75000"/>
              <a:buFontTx/>
              <a:buChar char="–"/>
            </a:pPr>
            <a:endParaRPr lang="en-US" dirty="0">
              <a:latin typeface="National semibold" panose="02000503000000020004"/>
            </a:endParaRPr>
          </a:p>
          <a:p>
            <a:pPr lvl="1">
              <a:buClr>
                <a:schemeClr val="tx1"/>
              </a:buClr>
              <a:buSzPct val="75000"/>
            </a:pPr>
            <a:endParaRPr lang="en-US" dirty="0">
              <a:latin typeface="National semibold" panose="02000503000000020004"/>
            </a:endParaRPr>
          </a:p>
          <a:p>
            <a:pPr marL="914400" lvl="1" indent="-457200">
              <a:buClr>
                <a:schemeClr val="tx1"/>
              </a:buClr>
              <a:buSzPct val="75000"/>
              <a:buFontTx/>
              <a:buChar char="–"/>
            </a:pPr>
            <a:endParaRPr lang="en-US" dirty="0">
              <a:latin typeface="National semibold" panose="02000503000000020004"/>
            </a:endParaRPr>
          </a:p>
          <a:p>
            <a:pPr marL="533400" indent="-533400">
              <a:buClr>
                <a:schemeClr val="tx1"/>
              </a:buClr>
              <a:buSzPct val="75000"/>
              <a:buFont typeface="Wingdings" pitchFamily="2" charset="2"/>
              <a:buAutoNum type="arabicPeriod"/>
            </a:pPr>
            <a:r>
              <a:rPr lang="en-US" sz="2000" b="1" u="sng" dirty="0">
                <a:latin typeface="National semibold" panose="02000503000000020004"/>
              </a:rPr>
              <a:t>Monetary Discipline</a:t>
            </a:r>
            <a:r>
              <a:rPr lang="en-US" sz="2000" dirty="0">
                <a:latin typeface="National semibold" panose="02000503000000020004"/>
              </a:rPr>
              <a:t> </a:t>
            </a:r>
            <a:r>
              <a:rPr lang="en-US" sz="2000" dirty="0">
                <a:solidFill>
                  <a:srgbClr val="FF0000"/>
                </a:solidFill>
                <a:latin typeface="National semibold" panose="02000503000000020004"/>
              </a:rPr>
              <a:t>(Favorable to fixed rates)</a:t>
            </a:r>
            <a:endParaRPr lang="en-US" sz="2000" dirty="0">
              <a:latin typeface="National semibold" panose="02000503000000020004"/>
            </a:endParaRPr>
          </a:p>
          <a:p>
            <a:pPr marL="914400" lvl="1" indent="-457200">
              <a:buClr>
                <a:schemeClr val="tx1"/>
              </a:buClr>
              <a:buSzPct val="75000"/>
              <a:buFontTx/>
              <a:buChar char="–"/>
            </a:pPr>
            <a:endParaRPr lang="en-US" dirty="0">
              <a:latin typeface="National semibold" panose="02000503000000020004"/>
            </a:endParaRPr>
          </a:p>
        </p:txBody>
      </p:sp>
    </p:spTree>
    <p:extLst>
      <p:ext uri="{BB962C8B-B14F-4D97-AF65-F5344CB8AC3E}">
        <p14:creationId xmlns:p14="http://schemas.microsoft.com/office/powerpoint/2010/main" val="99832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101345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dirty="0">
                <a:latin typeface="National semibold" panose="02000503000000020004"/>
              </a:rPr>
              <a:t>1. Microeconomic considerations</a:t>
            </a:r>
            <a:endParaRPr lang="en-US" sz="4000"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827212" y="2438400"/>
            <a:ext cx="9296400" cy="3943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buClr>
                <a:schemeClr val="tx1"/>
              </a:buClr>
              <a:buSzPct val="75000"/>
              <a:buFont typeface="Arial" panose="020B0604020202020204" pitchFamily="34" charset="0"/>
              <a:buChar char="•"/>
            </a:pPr>
            <a:r>
              <a:rPr lang="en-US" sz="2000" dirty="0">
                <a:latin typeface="National semibold" panose="02000503000000020004"/>
              </a:rPr>
              <a:t>Fixed rates eliminate the exchange rate risk, encouraging cross-country business.</a:t>
            </a:r>
          </a:p>
          <a:p>
            <a:pPr>
              <a:buClr>
                <a:schemeClr val="tx1"/>
              </a:buClr>
              <a:buSzPct val="75000"/>
            </a:pPr>
            <a:endParaRPr lang="en-US" sz="2000" dirty="0">
              <a:latin typeface="National semibold" panose="02000503000000020004"/>
            </a:endParaRPr>
          </a:p>
          <a:p>
            <a:pPr>
              <a:buClr>
                <a:schemeClr val="tx1"/>
              </a:buClr>
              <a:buSzPct val="75000"/>
            </a:pPr>
            <a:endParaRPr lang="en-US" sz="2000" dirty="0">
              <a:latin typeface="National semibold" panose="02000503000000020004"/>
            </a:endParaRPr>
          </a:p>
          <a:p>
            <a:pPr marL="342900" indent="-342900">
              <a:buClr>
                <a:schemeClr val="tx1"/>
              </a:buClr>
              <a:buSzPct val="75000"/>
              <a:buFont typeface="Arial" panose="020B0604020202020204" pitchFamily="34" charset="0"/>
              <a:buChar char="•"/>
            </a:pPr>
            <a:r>
              <a:rPr lang="en-US" sz="2000" dirty="0">
                <a:latin typeface="National semibold" panose="02000503000000020004"/>
              </a:rPr>
              <a:t>In the case of a single currency (ex. European countries), transaction costs are eliminated because there is no need to exchange currencies.</a:t>
            </a:r>
          </a:p>
          <a:p>
            <a:pPr>
              <a:buClr>
                <a:schemeClr val="tx1"/>
              </a:buClr>
              <a:buSzPct val="75000"/>
            </a:pPr>
            <a:endParaRPr lang="en-US" dirty="0">
              <a:latin typeface="National semibold" panose="02000503000000020004"/>
            </a:endParaRPr>
          </a:p>
        </p:txBody>
      </p:sp>
      <p:pic>
        <p:nvPicPr>
          <p:cNvPr id="14" name="Picture 13" descr="Map&#10;&#10;Description automatically generated">
            <a:extLst>
              <a:ext uri="{FF2B5EF4-FFF2-40B4-BE49-F238E27FC236}">
                <a16:creationId xmlns:a16="http://schemas.microsoft.com/office/drawing/2014/main" id="{93793629-8351-42B5-84F6-7FCB41716920}"/>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413465" y="1371600"/>
            <a:ext cx="6752499" cy="5482589"/>
          </a:xfrm>
          <a:prstGeom prst="rect">
            <a:avLst/>
          </a:prstGeom>
        </p:spPr>
      </p:pic>
      <p:pic>
        <p:nvPicPr>
          <p:cNvPr id="20" name="Picture 19" descr="A picture containing timeline&#10;&#10;Description automatically generated">
            <a:extLst>
              <a:ext uri="{FF2B5EF4-FFF2-40B4-BE49-F238E27FC236}">
                <a16:creationId xmlns:a16="http://schemas.microsoft.com/office/drawing/2014/main" id="{2506CEE0-A475-4496-88B3-C9D12952ABBE}"/>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1150564" y="1911927"/>
            <a:ext cx="4258048" cy="4641273"/>
          </a:xfrm>
          <a:prstGeom prst="rect">
            <a:avLst/>
          </a:prstGeom>
        </p:spPr>
      </p:pic>
    </p:spTree>
    <p:extLst>
      <p:ext uri="{BB962C8B-B14F-4D97-AF65-F5344CB8AC3E}">
        <p14:creationId xmlns:p14="http://schemas.microsoft.com/office/powerpoint/2010/main" val="1471120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101345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dirty="0">
                <a:latin typeface="National semibold" panose="02000503000000020004"/>
              </a:rPr>
              <a:t>2. Macroeconomic considerations</a:t>
            </a:r>
            <a:endParaRPr lang="en-US" sz="4000"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674812" y="1981200"/>
            <a:ext cx="9677400" cy="4400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buClr>
                <a:schemeClr val="tx1"/>
              </a:buClr>
              <a:buSzPct val="75000"/>
              <a:buFont typeface="Arial" panose="020B0604020202020204" pitchFamily="34" charset="0"/>
              <a:buChar char="•"/>
            </a:pPr>
            <a:endParaRPr lang="en-US" sz="2000" dirty="0">
              <a:latin typeface="National semibold" panose="02000503000000020004"/>
            </a:endParaRPr>
          </a:p>
          <a:p>
            <a:pPr marL="342900" indent="-342900">
              <a:buClr>
                <a:schemeClr val="tx1"/>
              </a:buClr>
              <a:buSzPct val="75000"/>
              <a:buFont typeface="Arial" panose="020B0604020202020204" pitchFamily="34" charset="0"/>
              <a:buChar char="•"/>
            </a:pPr>
            <a:r>
              <a:rPr lang="en-US" sz="2000" dirty="0">
                <a:latin typeface="National semibold" panose="02000503000000020004"/>
              </a:rPr>
              <a:t>With fixed rates the country cannot change the exchange rate to stabilize the economy.</a:t>
            </a:r>
          </a:p>
          <a:p>
            <a:pPr marL="342900" indent="-342900">
              <a:buClr>
                <a:schemeClr val="tx1"/>
              </a:buClr>
              <a:buSzPct val="75000"/>
              <a:buFont typeface="Arial" panose="020B0604020202020204" pitchFamily="34" charset="0"/>
              <a:buChar char="•"/>
            </a:pPr>
            <a:endParaRPr lang="en-US" sz="2000" dirty="0">
              <a:latin typeface="National semibold" panose="02000503000000020004"/>
            </a:endParaRPr>
          </a:p>
          <a:p>
            <a:pPr marL="342900" indent="-342900">
              <a:buClr>
                <a:schemeClr val="tx1"/>
              </a:buClr>
              <a:buSzPct val="75000"/>
              <a:buFont typeface="Arial" panose="020B0604020202020204" pitchFamily="34" charset="0"/>
              <a:buChar char="•"/>
            </a:pPr>
            <a:endParaRPr lang="en-US" sz="2000" dirty="0">
              <a:latin typeface="National semibold" panose="02000503000000020004"/>
            </a:endParaRPr>
          </a:p>
          <a:p>
            <a:pPr>
              <a:lnSpc>
                <a:spcPct val="90000"/>
              </a:lnSpc>
            </a:pPr>
            <a:r>
              <a:rPr lang="en-US" sz="2000" b="1" dirty="0">
                <a:latin typeface="National semibold" panose="02000503000000020004"/>
              </a:rPr>
              <a:t>			</a:t>
            </a:r>
            <a:r>
              <a:rPr lang="en-US" sz="2000" b="1" i="1" dirty="0">
                <a:latin typeface="National semibold" panose="02000503000000020004"/>
              </a:rPr>
              <a:t>Production</a:t>
            </a:r>
            <a:r>
              <a:rPr lang="en-US" sz="2000" b="1" dirty="0">
                <a:latin typeface="National semibold" panose="02000503000000020004"/>
              </a:rPr>
              <a:t> = </a:t>
            </a:r>
            <a:r>
              <a:rPr lang="en-US" sz="2000" b="1" i="1" dirty="0">
                <a:latin typeface="National semibold" panose="02000503000000020004"/>
              </a:rPr>
              <a:t>Aggregate demand</a:t>
            </a:r>
          </a:p>
          <a:p>
            <a:pPr>
              <a:lnSpc>
                <a:spcPct val="90000"/>
              </a:lnSpc>
            </a:pPr>
            <a:endParaRPr lang="en-US" sz="2000" b="1" dirty="0">
              <a:latin typeface="National semibold" panose="02000503000000020004"/>
            </a:endParaRPr>
          </a:p>
          <a:p>
            <a:pPr>
              <a:lnSpc>
                <a:spcPct val="90000"/>
              </a:lnSpc>
            </a:pPr>
            <a:r>
              <a:rPr lang="en-US" sz="2000" b="1" dirty="0">
                <a:latin typeface="National semibold" panose="02000503000000020004"/>
              </a:rPr>
              <a:t>		          </a:t>
            </a:r>
            <a:r>
              <a:rPr lang="en-US" sz="2000" b="1" i="1" dirty="0">
                <a:latin typeface="National semibold" panose="02000503000000020004"/>
              </a:rPr>
              <a:t>Aggregate demand</a:t>
            </a:r>
            <a:r>
              <a:rPr lang="en-US" sz="2000" b="1" dirty="0">
                <a:latin typeface="National semibold" panose="02000503000000020004"/>
              </a:rPr>
              <a:t> = </a:t>
            </a:r>
            <a:r>
              <a:rPr lang="en-US" sz="2000" b="1" i="1" dirty="0">
                <a:latin typeface="National semibold" panose="02000503000000020004"/>
              </a:rPr>
              <a:t>C</a:t>
            </a:r>
            <a:r>
              <a:rPr lang="en-US" sz="2000" b="1" dirty="0">
                <a:latin typeface="National semibold" panose="02000503000000020004"/>
              </a:rPr>
              <a:t> + </a:t>
            </a:r>
            <a:r>
              <a:rPr lang="en-US" sz="2000" b="1" i="1" dirty="0">
                <a:latin typeface="National semibold" panose="02000503000000020004"/>
              </a:rPr>
              <a:t>I</a:t>
            </a:r>
            <a:r>
              <a:rPr lang="en-US" sz="2000" b="1" dirty="0">
                <a:latin typeface="National semibold" panose="02000503000000020004"/>
              </a:rPr>
              <a:t> + </a:t>
            </a:r>
            <a:r>
              <a:rPr lang="en-US" sz="2000" b="1" i="1" dirty="0">
                <a:latin typeface="National semibold" panose="02000503000000020004"/>
              </a:rPr>
              <a:t>G</a:t>
            </a:r>
            <a:r>
              <a:rPr lang="en-US" sz="2000" b="1" dirty="0">
                <a:latin typeface="National semibold" panose="02000503000000020004"/>
              </a:rPr>
              <a:t> + </a:t>
            </a:r>
            <a:r>
              <a:rPr lang="en-US" sz="2000" b="1" i="1" dirty="0">
                <a:latin typeface="National semibold" panose="02000503000000020004"/>
              </a:rPr>
              <a:t>NX</a:t>
            </a:r>
          </a:p>
          <a:p>
            <a:pPr>
              <a:lnSpc>
                <a:spcPct val="90000"/>
              </a:lnSpc>
            </a:pPr>
            <a:r>
              <a:rPr lang="en-US" sz="2000" dirty="0">
                <a:latin typeface="National semibold" panose="02000503000000020004"/>
              </a:rPr>
              <a:t>		</a:t>
            </a:r>
          </a:p>
          <a:p>
            <a:pPr>
              <a:lnSpc>
                <a:spcPct val="90000"/>
              </a:lnSpc>
            </a:pPr>
            <a:r>
              <a:rPr lang="en-US" sz="2000" dirty="0">
                <a:latin typeface="National semibold" panose="02000503000000020004"/>
              </a:rPr>
              <a:t>	            	     </a:t>
            </a:r>
            <a:r>
              <a:rPr lang="en-US" sz="2000" b="1" i="1" dirty="0">
                <a:latin typeface="National semibold" panose="02000503000000020004"/>
              </a:rPr>
              <a:t>C</a:t>
            </a:r>
            <a:r>
              <a:rPr lang="en-US" sz="2000" b="1" dirty="0">
                <a:latin typeface="National semibold" panose="02000503000000020004"/>
              </a:rPr>
              <a:t>  </a:t>
            </a:r>
            <a:r>
              <a:rPr lang="en-US" sz="2000" dirty="0">
                <a:latin typeface="National semibold" panose="02000503000000020004"/>
              </a:rPr>
              <a:t>= consumption expenditures</a:t>
            </a:r>
          </a:p>
          <a:p>
            <a:pPr>
              <a:lnSpc>
                <a:spcPct val="90000"/>
              </a:lnSpc>
            </a:pPr>
            <a:r>
              <a:rPr lang="en-US" sz="2000" dirty="0">
                <a:latin typeface="National semibold" panose="02000503000000020004"/>
              </a:rPr>
              <a:t>	             	      </a:t>
            </a:r>
            <a:r>
              <a:rPr lang="en-US" sz="2000" b="1" i="1" dirty="0">
                <a:latin typeface="National semibold" panose="02000503000000020004"/>
              </a:rPr>
              <a:t>I</a:t>
            </a:r>
            <a:r>
              <a:rPr lang="en-US" sz="2000" b="1" dirty="0">
                <a:latin typeface="National semibold" panose="02000503000000020004"/>
              </a:rPr>
              <a:t>  </a:t>
            </a:r>
            <a:r>
              <a:rPr lang="en-US" sz="2000" dirty="0">
                <a:latin typeface="National semibold" panose="02000503000000020004"/>
              </a:rPr>
              <a:t>= Investment expenditures</a:t>
            </a:r>
          </a:p>
          <a:p>
            <a:pPr>
              <a:lnSpc>
                <a:spcPct val="90000"/>
              </a:lnSpc>
            </a:pPr>
            <a:r>
              <a:rPr lang="en-US" sz="2000" dirty="0">
                <a:latin typeface="National semibold" panose="02000503000000020004"/>
              </a:rPr>
              <a:t>	           	     </a:t>
            </a:r>
            <a:r>
              <a:rPr lang="en-US" sz="2000" b="1" i="1" dirty="0">
                <a:latin typeface="National semibold" panose="02000503000000020004"/>
              </a:rPr>
              <a:t>G</a:t>
            </a:r>
            <a:r>
              <a:rPr lang="en-US" sz="2000" b="1" dirty="0">
                <a:latin typeface="National semibold" panose="02000503000000020004"/>
              </a:rPr>
              <a:t> </a:t>
            </a:r>
            <a:r>
              <a:rPr lang="en-US" sz="2000" dirty="0">
                <a:latin typeface="National semibold" panose="02000503000000020004"/>
              </a:rPr>
              <a:t>= Government purchases</a:t>
            </a:r>
          </a:p>
          <a:p>
            <a:pPr>
              <a:lnSpc>
                <a:spcPct val="90000"/>
              </a:lnSpc>
            </a:pPr>
            <a:r>
              <a:rPr lang="en-US" sz="2000" dirty="0">
                <a:latin typeface="National semibold" panose="02000503000000020004"/>
              </a:rPr>
              <a:t>	      	</a:t>
            </a:r>
            <a:r>
              <a:rPr lang="en-US" sz="2000">
                <a:latin typeface="National semibold" panose="02000503000000020004"/>
              </a:rPr>
              <a:t>     </a:t>
            </a:r>
            <a:r>
              <a:rPr lang="en-US" sz="2000" b="1" i="1">
                <a:latin typeface="National semibold" panose="02000503000000020004"/>
              </a:rPr>
              <a:t>NX</a:t>
            </a:r>
            <a:r>
              <a:rPr lang="en-US" sz="2000" b="1">
                <a:latin typeface="National semibold" panose="02000503000000020004"/>
              </a:rPr>
              <a:t> </a:t>
            </a:r>
            <a:r>
              <a:rPr lang="en-US" sz="2000" dirty="0">
                <a:latin typeface="National semibold" panose="02000503000000020004"/>
              </a:rPr>
              <a:t>= Net exports (Exports minus Imports)</a:t>
            </a:r>
          </a:p>
          <a:p>
            <a:pPr>
              <a:lnSpc>
                <a:spcPct val="90000"/>
              </a:lnSpc>
            </a:pPr>
            <a:endParaRPr lang="en-US" sz="2000" dirty="0">
              <a:latin typeface="National semibold" panose="02000503000000020004"/>
            </a:endParaRPr>
          </a:p>
        </p:txBody>
      </p:sp>
      <p:sp>
        <p:nvSpPr>
          <p:cNvPr id="2" name="Arrow: Up 1">
            <a:extLst>
              <a:ext uri="{FF2B5EF4-FFF2-40B4-BE49-F238E27FC236}">
                <a16:creationId xmlns:a16="http://schemas.microsoft.com/office/drawing/2014/main" id="{B59A6A2A-FC36-422A-992B-1463756EFE62}"/>
              </a:ext>
            </a:extLst>
          </p:cNvPr>
          <p:cNvSpPr/>
          <p:nvPr/>
        </p:nvSpPr>
        <p:spPr>
          <a:xfrm>
            <a:off x="7618412" y="3672840"/>
            <a:ext cx="152400" cy="457200"/>
          </a:xfrm>
          <a:prstGeom prst="upArrow">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Arrow: Up 3">
            <a:extLst>
              <a:ext uri="{FF2B5EF4-FFF2-40B4-BE49-F238E27FC236}">
                <a16:creationId xmlns:a16="http://schemas.microsoft.com/office/drawing/2014/main" id="{7D6C00BD-B491-4ADC-877A-D28AF4D73FE2}"/>
              </a:ext>
            </a:extLst>
          </p:cNvPr>
          <p:cNvSpPr/>
          <p:nvPr/>
        </p:nvSpPr>
        <p:spPr>
          <a:xfrm>
            <a:off x="5180012" y="3688080"/>
            <a:ext cx="152400" cy="457200"/>
          </a:xfrm>
          <a:prstGeom prst="upArrow">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Up 4">
            <a:extLst>
              <a:ext uri="{FF2B5EF4-FFF2-40B4-BE49-F238E27FC236}">
                <a16:creationId xmlns:a16="http://schemas.microsoft.com/office/drawing/2014/main" id="{09B69804-0CF3-4557-AE84-15F40A6B9929}"/>
              </a:ext>
            </a:extLst>
          </p:cNvPr>
          <p:cNvSpPr/>
          <p:nvPr/>
        </p:nvSpPr>
        <p:spPr>
          <a:xfrm>
            <a:off x="5027612" y="3124200"/>
            <a:ext cx="152400" cy="457200"/>
          </a:xfrm>
          <a:prstGeom prst="upArrow">
            <a:avLst/>
          </a:prstGeom>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ultiplication Sign 6">
            <a:extLst>
              <a:ext uri="{FF2B5EF4-FFF2-40B4-BE49-F238E27FC236}">
                <a16:creationId xmlns:a16="http://schemas.microsoft.com/office/drawing/2014/main" id="{D02596E7-C573-41E7-B977-09DFA6440643}"/>
              </a:ext>
            </a:extLst>
          </p:cNvPr>
          <p:cNvSpPr/>
          <p:nvPr/>
        </p:nvSpPr>
        <p:spPr>
          <a:xfrm>
            <a:off x="7420292" y="3596640"/>
            <a:ext cx="533400" cy="609600"/>
          </a:xfrm>
          <a:prstGeom prst="mathMultiply">
            <a:avLst/>
          </a:prstGeom>
          <a:solidFill>
            <a:srgbClr val="FF000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Multiplication Sign 10">
            <a:extLst>
              <a:ext uri="{FF2B5EF4-FFF2-40B4-BE49-F238E27FC236}">
                <a16:creationId xmlns:a16="http://schemas.microsoft.com/office/drawing/2014/main" id="{6E39EE64-20C3-41C0-91C9-764FEBF3CBEC}"/>
              </a:ext>
            </a:extLst>
          </p:cNvPr>
          <p:cNvSpPr/>
          <p:nvPr/>
        </p:nvSpPr>
        <p:spPr>
          <a:xfrm>
            <a:off x="4989512" y="3634740"/>
            <a:ext cx="533400" cy="609600"/>
          </a:xfrm>
          <a:prstGeom prst="mathMultiply">
            <a:avLst/>
          </a:prstGeom>
          <a:solidFill>
            <a:srgbClr val="FF000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ultiplication Sign 13">
            <a:extLst>
              <a:ext uri="{FF2B5EF4-FFF2-40B4-BE49-F238E27FC236}">
                <a16:creationId xmlns:a16="http://schemas.microsoft.com/office/drawing/2014/main" id="{142406B3-832E-4A12-8D2C-89A7FE2299DE}"/>
              </a:ext>
            </a:extLst>
          </p:cNvPr>
          <p:cNvSpPr/>
          <p:nvPr/>
        </p:nvSpPr>
        <p:spPr>
          <a:xfrm>
            <a:off x="4837112" y="3048000"/>
            <a:ext cx="533400" cy="609600"/>
          </a:xfrm>
          <a:prstGeom prst="mathMultiply">
            <a:avLst/>
          </a:prstGeom>
          <a:solidFill>
            <a:srgbClr val="FF0000"/>
          </a:solidFill>
          <a:ln w="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5955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7" grpId="0" animBg="1"/>
      <p:bldP spid="11" grpId="0" animBg="1"/>
      <p:bldP spid="1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522413" y="152400"/>
            <a:ext cx="101345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dirty="0">
                <a:latin typeface="National semibold" panose="02000503000000020004"/>
              </a:rPr>
              <a:t>3. Monetary discipline</a:t>
            </a:r>
            <a:endParaRPr lang="en-US" sz="4000"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827212" y="1981200"/>
            <a:ext cx="9296400" cy="4400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buClr>
                <a:schemeClr val="tx1"/>
              </a:buClr>
              <a:buSzPct val="75000"/>
              <a:buFont typeface="Arial" panose="020B0604020202020204" pitchFamily="34" charset="0"/>
              <a:buChar char="•"/>
            </a:pPr>
            <a:endParaRPr lang="en-US" sz="2000" dirty="0">
              <a:latin typeface="National semibold" panose="02000503000000020004"/>
            </a:endParaRPr>
          </a:p>
          <a:p>
            <a:pPr marL="342900" indent="-342900">
              <a:buClr>
                <a:schemeClr val="tx1"/>
              </a:buClr>
              <a:buSzPct val="75000"/>
              <a:buFont typeface="Arial" panose="020B0604020202020204" pitchFamily="34" charset="0"/>
              <a:buChar char="•"/>
            </a:pPr>
            <a:r>
              <a:rPr lang="en-US" sz="2000" dirty="0">
                <a:latin typeface="National semibold" panose="02000503000000020004"/>
              </a:rPr>
              <a:t>Higher growth rates of money lead to higher inflation rates. </a:t>
            </a:r>
          </a:p>
          <a:p>
            <a:pPr marL="342900" indent="-342900">
              <a:buClr>
                <a:schemeClr val="tx1"/>
              </a:buClr>
              <a:buSzPct val="75000"/>
              <a:buFont typeface="Arial" panose="020B0604020202020204" pitchFamily="34" charset="0"/>
              <a:buChar char="•"/>
            </a:pPr>
            <a:endParaRPr lang="en-US" sz="2000" dirty="0">
              <a:latin typeface="National semibold" panose="02000503000000020004"/>
            </a:endParaRPr>
          </a:p>
          <a:p>
            <a:pPr marL="342900" indent="-342900">
              <a:buClr>
                <a:schemeClr val="tx1"/>
              </a:buClr>
              <a:buSzPct val="75000"/>
              <a:buFont typeface="Arial" panose="020B0604020202020204" pitchFamily="34" charset="0"/>
              <a:buChar char="•"/>
            </a:pPr>
            <a:endParaRPr lang="en-US" sz="2000" dirty="0">
              <a:latin typeface="National semibold" panose="02000503000000020004"/>
            </a:endParaRPr>
          </a:p>
          <a:p>
            <a:pPr marL="342900" indent="-342900">
              <a:buClr>
                <a:schemeClr val="tx1"/>
              </a:buClr>
              <a:buSzPct val="75000"/>
              <a:buFont typeface="Arial" panose="020B0604020202020204" pitchFamily="34" charset="0"/>
              <a:buChar char="•"/>
            </a:pPr>
            <a:endParaRPr lang="en-US" sz="2000" dirty="0">
              <a:latin typeface="National semibold" panose="02000503000000020004"/>
            </a:endParaRPr>
          </a:p>
          <a:p>
            <a:pPr marL="342900" indent="-342900">
              <a:buClr>
                <a:schemeClr val="tx1"/>
              </a:buClr>
              <a:buSzPct val="75000"/>
              <a:buFont typeface="Arial" panose="020B0604020202020204" pitchFamily="34" charset="0"/>
              <a:buChar char="•"/>
            </a:pPr>
            <a:endParaRPr lang="en-US" sz="2000" dirty="0">
              <a:latin typeface="National semibold" panose="02000503000000020004"/>
            </a:endParaRPr>
          </a:p>
          <a:p>
            <a:pPr marL="342900" indent="-342900">
              <a:buClr>
                <a:schemeClr val="tx1"/>
              </a:buClr>
              <a:buSzPct val="75000"/>
              <a:buFont typeface="Arial" panose="020B0604020202020204" pitchFamily="34" charset="0"/>
              <a:buChar char="•"/>
            </a:pPr>
            <a:r>
              <a:rPr lang="en-US" sz="2000" dirty="0">
                <a:latin typeface="National semibold" panose="02000503000000020004"/>
              </a:rPr>
              <a:t>But higher inflation leads to a depreciation of the domestic currency.</a:t>
            </a:r>
          </a:p>
          <a:p>
            <a:pPr marL="342900" indent="-342900">
              <a:buClr>
                <a:schemeClr val="tx1"/>
              </a:buClr>
              <a:buSzPct val="75000"/>
              <a:buFont typeface="Arial" panose="020B0604020202020204" pitchFamily="34" charset="0"/>
              <a:buChar char="•"/>
            </a:pPr>
            <a:endParaRPr lang="en-US" sz="2000" dirty="0">
              <a:latin typeface="National semibold" panose="02000503000000020004"/>
            </a:endParaRPr>
          </a:p>
          <a:p>
            <a:pPr>
              <a:buClr>
                <a:schemeClr val="tx1"/>
              </a:buClr>
              <a:buSzPct val="75000"/>
            </a:pPr>
            <a:endParaRPr lang="en-US" sz="2000" dirty="0">
              <a:latin typeface="National semibold" panose="02000503000000020004"/>
            </a:endParaRPr>
          </a:p>
          <a:p>
            <a:pPr>
              <a:buClr>
                <a:schemeClr val="tx1"/>
              </a:buClr>
              <a:buSzPct val="75000"/>
            </a:pPr>
            <a:endParaRPr lang="en-US" sz="2000" dirty="0">
              <a:latin typeface="National semibold" panose="02000503000000020004"/>
            </a:endParaRPr>
          </a:p>
          <a:p>
            <a:pPr>
              <a:buClr>
                <a:schemeClr val="tx1"/>
              </a:buClr>
              <a:buSzPct val="75000"/>
            </a:pPr>
            <a:r>
              <a:rPr lang="en-US" sz="2000" dirty="0">
                <a:latin typeface="National semibold" panose="02000503000000020004"/>
              </a:rPr>
              <a:t> </a:t>
            </a:r>
          </a:p>
          <a:p>
            <a:pPr marL="342900" indent="-342900">
              <a:buClr>
                <a:schemeClr val="tx1"/>
              </a:buClr>
              <a:buSzPct val="75000"/>
              <a:buFont typeface="Arial" panose="020B0604020202020204" pitchFamily="34" charset="0"/>
              <a:buChar char="•"/>
            </a:pPr>
            <a:r>
              <a:rPr lang="en-US" sz="2000" dirty="0">
                <a:latin typeface="National semibold" panose="02000503000000020004"/>
              </a:rPr>
              <a:t>The commitment to a fixed exchange </a:t>
            </a:r>
            <a:r>
              <a:rPr lang="en-US" sz="2000">
                <a:latin typeface="National semibold" panose="02000503000000020004"/>
              </a:rPr>
              <a:t>rate requires the </a:t>
            </a:r>
            <a:r>
              <a:rPr lang="en-US" sz="2000" dirty="0">
                <a:latin typeface="National semibold" panose="02000503000000020004"/>
              </a:rPr>
              <a:t>commitment to limit the quantity of money that the country can create (</a:t>
            </a:r>
            <a:r>
              <a:rPr lang="en-US" sz="2000" dirty="0">
                <a:solidFill>
                  <a:srgbClr val="FF0000"/>
                </a:solidFill>
                <a:latin typeface="National semibold" panose="02000503000000020004"/>
              </a:rPr>
              <a:t>monetary discipline</a:t>
            </a:r>
            <a:r>
              <a:rPr lang="en-US" sz="2000" dirty="0">
                <a:latin typeface="National semibold" panose="02000503000000020004"/>
              </a:rPr>
              <a:t>). </a:t>
            </a:r>
          </a:p>
        </p:txBody>
      </p:sp>
    </p:spTree>
    <p:extLst>
      <p:ext uri="{BB962C8B-B14F-4D97-AF65-F5344CB8AC3E}">
        <p14:creationId xmlns:p14="http://schemas.microsoft.com/office/powerpoint/2010/main" val="1812825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graphicFrame>
        <p:nvGraphicFramePr>
          <p:cNvPr id="5" name="Chart 4">
            <a:extLst>
              <a:ext uri="{FF2B5EF4-FFF2-40B4-BE49-F238E27FC236}">
                <a16:creationId xmlns:a16="http://schemas.microsoft.com/office/drawing/2014/main" id="{CD6F0299-5F04-4EAF-A1BD-EEB9F65AB10C}"/>
              </a:ext>
            </a:extLst>
          </p:cNvPr>
          <p:cNvGraphicFramePr>
            <a:graphicFrameLocks noGrp="1"/>
          </p:cNvGraphicFramePr>
          <p:nvPr/>
        </p:nvGraphicFramePr>
        <p:xfrm>
          <a:off x="1764598" y="289442"/>
          <a:ext cx="8659628" cy="6279116"/>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23ABD9C4-FA85-426F-862A-81CF89A62D21}"/>
              </a:ext>
            </a:extLst>
          </p:cNvPr>
          <p:cNvSpPr txBox="1"/>
          <p:nvPr/>
        </p:nvSpPr>
        <p:spPr>
          <a:xfrm>
            <a:off x="6299678" y="3535125"/>
            <a:ext cx="1394934" cy="369332"/>
          </a:xfrm>
          <a:prstGeom prst="rect">
            <a:avLst/>
          </a:prstGeom>
          <a:noFill/>
        </p:spPr>
        <p:txBody>
          <a:bodyPr wrap="none" rtlCol="0">
            <a:spAutoFit/>
          </a:bodyPr>
          <a:lstStyle/>
          <a:p>
            <a:r>
              <a:rPr lang="en-US" dirty="0">
                <a:latin typeface="National semibold" panose="02000503000000020004"/>
              </a:rPr>
              <a:t>Inflation rate</a:t>
            </a:r>
          </a:p>
        </p:txBody>
      </p:sp>
      <p:cxnSp>
        <p:nvCxnSpPr>
          <p:cNvPr id="4" name="Connector: Curved 3">
            <a:extLst>
              <a:ext uri="{FF2B5EF4-FFF2-40B4-BE49-F238E27FC236}">
                <a16:creationId xmlns:a16="http://schemas.microsoft.com/office/drawing/2014/main" id="{B691385F-D08D-4F08-BE08-11298888DF8A}"/>
              </a:ext>
            </a:extLst>
          </p:cNvPr>
          <p:cNvCxnSpPr>
            <a:cxnSpLocks/>
          </p:cNvCxnSpPr>
          <p:nvPr/>
        </p:nvCxnSpPr>
        <p:spPr>
          <a:xfrm rot="10800000" flipV="1">
            <a:off x="5789613" y="3881597"/>
            <a:ext cx="1207533" cy="623332"/>
          </a:xfrm>
          <a:prstGeom prst="curved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631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graphicFrame>
        <p:nvGraphicFramePr>
          <p:cNvPr id="6" name="Chart 5">
            <a:extLst>
              <a:ext uri="{FF2B5EF4-FFF2-40B4-BE49-F238E27FC236}">
                <a16:creationId xmlns:a16="http://schemas.microsoft.com/office/drawing/2014/main" id="{F2B0CE99-F116-41A5-8D68-01963C092CB2}"/>
              </a:ext>
            </a:extLst>
          </p:cNvPr>
          <p:cNvGraphicFramePr>
            <a:graphicFrameLocks noGrp="1"/>
          </p:cNvGraphicFramePr>
          <p:nvPr/>
        </p:nvGraphicFramePr>
        <p:xfrm>
          <a:off x="1764598" y="289442"/>
          <a:ext cx="8659628" cy="6279116"/>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5ABECDC9-CEA1-4E58-9CE9-5D76E725E931}"/>
              </a:ext>
            </a:extLst>
          </p:cNvPr>
          <p:cNvSpPr txBox="1"/>
          <p:nvPr/>
        </p:nvSpPr>
        <p:spPr>
          <a:xfrm>
            <a:off x="6299678" y="3535125"/>
            <a:ext cx="1394934" cy="369332"/>
          </a:xfrm>
          <a:prstGeom prst="rect">
            <a:avLst/>
          </a:prstGeom>
          <a:noFill/>
        </p:spPr>
        <p:txBody>
          <a:bodyPr wrap="none" rtlCol="0">
            <a:spAutoFit/>
          </a:bodyPr>
          <a:lstStyle/>
          <a:p>
            <a:r>
              <a:rPr lang="en-US" dirty="0">
                <a:latin typeface="National semibold" panose="02000503000000020004"/>
              </a:rPr>
              <a:t>Inflation rate</a:t>
            </a:r>
          </a:p>
        </p:txBody>
      </p:sp>
      <p:cxnSp>
        <p:nvCxnSpPr>
          <p:cNvPr id="8" name="Connector: Curved 7">
            <a:extLst>
              <a:ext uri="{FF2B5EF4-FFF2-40B4-BE49-F238E27FC236}">
                <a16:creationId xmlns:a16="http://schemas.microsoft.com/office/drawing/2014/main" id="{CC509048-5DD3-44A5-9A6B-137490019F83}"/>
              </a:ext>
            </a:extLst>
          </p:cNvPr>
          <p:cNvCxnSpPr>
            <a:cxnSpLocks/>
          </p:cNvCxnSpPr>
          <p:nvPr/>
        </p:nvCxnSpPr>
        <p:spPr>
          <a:xfrm rot="10800000" flipV="1">
            <a:off x="5789613" y="3881597"/>
            <a:ext cx="1207533" cy="623332"/>
          </a:xfrm>
          <a:prstGeom prst="curved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ABB8B86-2689-44E1-913D-E7DC8D289504}"/>
              </a:ext>
            </a:extLst>
          </p:cNvPr>
          <p:cNvSpPr txBox="1"/>
          <p:nvPr/>
        </p:nvSpPr>
        <p:spPr>
          <a:xfrm>
            <a:off x="6452078" y="1535668"/>
            <a:ext cx="1862882" cy="369332"/>
          </a:xfrm>
          <a:prstGeom prst="rect">
            <a:avLst/>
          </a:prstGeom>
          <a:noFill/>
        </p:spPr>
        <p:txBody>
          <a:bodyPr wrap="none" rtlCol="0">
            <a:spAutoFit/>
          </a:bodyPr>
          <a:lstStyle/>
          <a:p>
            <a:r>
              <a:rPr lang="en-US" dirty="0">
                <a:latin typeface="National semibold" panose="02000503000000020004"/>
              </a:rPr>
              <a:t>Peso depreciation</a:t>
            </a:r>
          </a:p>
        </p:txBody>
      </p:sp>
      <p:cxnSp>
        <p:nvCxnSpPr>
          <p:cNvPr id="11" name="Connector: Curved 10">
            <a:extLst>
              <a:ext uri="{FF2B5EF4-FFF2-40B4-BE49-F238E27FC236}">
                <a16:creationId xmlns:a16="http://schemas.microsoft.com/office/drawing/2014/main" id="{B32DEFA3-A7EF-436A-B1D3-8E93AA871A02}"/>
              </a:ext>
            </a:extLst>
          </p:cNvPr>
          <p:cNvCxnSpPr>
            <a:cxnSpLocks/>
          </p:cNvCxnSpPr>
          <p:nvPr/>
        </p:nvCxnSpPr>
        <p:spPr>
          <a:xfrm rot="10800000" flipV="1">
            <a:off x="5561013" y="1905000"/>
            <a:ext cx="1828801" cy="762000"/>
          </a:xfrm>
          <a:prstGeom prst="curved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B9F61DF-F751-4912-940B-EEF82F003C3E}"/>
              </a:ext>
            </a:extLst>
          </p:cNvPr>
          <p:cNvSpPr/>
          <p:nvPr/>
        </p:nvSpPr>
        <p:spPr>
          <a:xfrm>
            <a:off x="5698172" y="1319490"/>
            <a:ext cx="1615440" cy="4547909"/>
          </a:xfrm>
          <a:prstGeom prst="rect">
            <a:avLst/>
          </a:prstGeom>
          <a:solidFill>
            <a:schemeClr val="accent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eft Brace 12">
            <a:extLst>
              <a:ext uri="{FF2B5EF4-FFF2-40B4-BE49-F238E27FC236}">
                <a16:creationId xmlns:a16="http://schemas.microsoft.com/office/drawing/2014/main" id="{76838CFB-0013-4E11-933B-5ECEEFEB7889}"/>
              </a:ext>
            </a:extLst>
          </p:cNvPr>
          <p:cNvSpPr/>
          <p:nvPr/>
        </p:nvSpPr>
        <p:spPr>
          <a:xfrm rot="16200000">
            <a:off x="6429692" y="5204460"/>
            <a:ext cx="152399" cy="1615441"/>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42FCBF59-B2E4-441A-8822-1FA152208503}"/>
              </a:ext>
            </a:extLst>
          </p:cNvPr>
          <p:cNvSpPr txBox="1"/>
          <p:nvPr/>
        </p:nvSpPr>
        <p:spPr>
          <a:xfrm>
            <a:off x="5681351" y="6084808"/>
            <a:ext cx="1650837" cy="646331"/>
          </a:xfrm>
          <a:prstGeom prst="rect">
            <a:avLst/>
          </a:prstGeom>
          <a:noFill/>
        </p:spPr>
        <p:txBody>
          <a:bodyPr wrap="none" rtlCol="0">
            <a:spAutoFit/>
          </a:bodyPr>
          <a:lstStyle/>
          <a:p>
            <a:pPr algn="ctr"/>
            <a:r>
              <a:rPr lang="en-US" b="1" dirty="0">
                <a:solidFill>
                  <a:srgbClr val="FF0000"/>
                </a:solidFill>
                <a:latin typeface="National semibold" panose="02000503000000020004"/>
              </a:rPr>
              <a:t>Currency board</a:t>
            </a:r>
          </a:p>
          <a:p>
            <a:pPr algn="ctr"/>
            <a:r>
              <a:rPr lang="en-US" b="1" dirty="0">
                <a:solidFill>
                  <a:srgbClr val="FF0000"/>
                </a:solidFill>
                <a:latin typeface="National semibold" panose="02000503000000020004"/>
              </a:rPr>
              <a:t>1991-2001</a:t>
            </a:r>
          </a:p>
        </p:txBody>
      </p:sp>
    </p:spTree>
    <p:extLst>
      <p:ext uri="{BB962C8B-B14F-4D97-AF65-F5344CB8AC3E}">
        <p14:creationId xmlns:p14="http://schemas.microsoft.com/office/powerpoint/2010/main" val="846594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graphicFrame>
        <p:nvGraphicFramePr>
          <p:cNvPr id="6" name="Chart 5">
            <a:extLst>
              <a:ext uri="{FF2B5EF4-FFF2-40B4-BE49-F238E27FC236}">
                <a16:creationId xmlns:a16="http://schemas.microsoft.com/office/drawing/2014/main" id="{F2B0CE99-F116-41A5-8D68-01963C092CB2}"/>
              </a:ext>
            </a:extLst>
          </p:cNvPr>
          <p:cNvGraphicFramePr>
            <a:graphicFrameLocks noGrp="1"/>
          </p:cNvGraphicFramePr>
          <p:nvPr/>
        </p:nvGraphicFramePr>
        <p:xfrm>
          <a:off x="1764598" y="289442"/>
          <a:ext cx="8659628" cy="6279116"/>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a:extLst>
              <a:ext uri="{FF2B5EF4-FFF2-40B4-BE49-F238E27FC236}">
                <a16:creationId xmlns:a16="http://schemas.microsoft.com/office/drawing/2014/main" id="{5ABECDC9-CEA1-4E58-9CE9-5D76E725E931}"/>
              </a:ext>
            </a:extLst>
          </p:cNvPr>
          <p:cNvSpPr txBox="1"/>
          <p:nvPr/>
        </p:nvSpPr>
        <p:spPr>
          <a:xfrm>
            <a:off x="6909278" y="3535125"/>
            <a:ext cx="1394934" cy="369332"/>
          </a:xfrm>
          <a:prstGeom prst="rect">
            <a:avLst/>
          </a:prstGeom>
          <a:noFill/>
        </p:spPr>
        <p:txBody>
          <a:bodyPr wrap="none" rtlCol="0">
            <a:spAutoFit/>
          </a:bodyPr>
          <a:lstStyle/>
          <a:p>
            <a:r>
              <a:rPr lang="en-US" dirty="0">
                <a:latin typeface="National semibold" panose="02000503000000020004"/>
              </a:rPr>
              <a:t>Inflation rate</a:t>
            </a:r>
          </a:p>
        </p:txBody>
      </p:sp>
      <p:cxnSp>
        <p:nvCxnSpPr>
          <p:cNvPr id="8" name="Connector: Curved 7">
            <a:extLst>
              <a:ext uri="{FF2B5EF4-FFF2-40B4-BE49-F238E27FC236}">
                <a16:creationId xmlns:a16="http://schemas.microsoft.com/office/drawing/2014/main" id="{CC509048-5DD3-44A5-9A6B-137490019F83}"/>
              </a:ext>
            </a:extLst>
          </p:cNvPr>
          <p:cNvCxnSpPr>
            <a:cxnSpLocks/>
            <a:stCxn id="2" idx="2"/>
          </p:cNvCxnSpPr>
          <p:nvPr/>
        </p:nvCxnSpPr>
        <p:spPr>
          <a:xfrm rot="5400000">
            <a:off x="6217844" y="3933430"/>
            <a:ext cx="1417875" cy="1359929"/>
          </a:xfrm>
          <a:prstGeom prst="curved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3ABB8B86-2689-44E1-913D-E7DC8D289504}"/>
              </a:ext>
            </a:extLst>
          </p:cNvPr>
          <p:cNvSpPr txBox="1"/>
          <p:nvPr/>
        </p:nvSpPr>
        <p:spPr>
          <a:xfrm>
            <a:off x="6452078" y="1535668"/>
            <a:ext cx="1862882" cy="369332"/>
          </a:xfrm>
          <a:prstGeom prst="rect">
            <a:avLst/>
          </a:prstGeom>
          <a:noFill/>
        </p:spPr>
        <p:txBody>
          <a:bodyPr wrap="none" rtlCol="0">
            <a:spAutoFit/>
          </a:bodyPr>
          <a:lstStyle/>
          <a:p>
            <a:r>
              <a:rPr lang="en-US" dirty="0">
                <a:latin typeface="National semibold" panose="02000503000000020004"/>
              </a:rPr>
              <a:t>Peso depreciation</a:t>
            </a:r>
          </a:p>
        </p:txBody>
      </p:sp>
      <p:cxnSp>
        <p:nvCxnSpPr>
          <p:cNvPr id="11" name="Connector: Curved 10">
            <a:extLst>
              <a:ext uri="{FF2B5EF4-FFF2-40B4-BE49-F238E27FC236}">
                <a16:creationId xmlns:a16="http://schemas.microsoft.com/office/drawing/2014/main" id="{B32DEFA3-A7EF-436A-B1D3-8E93AA871A02}"/>
              </a:ext>
            </a:extLst>
          </p:cNvPr>
          <p:cNvCxnSpPr>
            <a:cxnSpLocks/>
          </p:cNvCxnSpPr>
          <p:nvPr/>
        </p:nvCxnSpPr>
        <p:spPr>
          <a:xfrm rot="10800000" flipV="1">
            <a:off x="5637213" y="1905000"/>
            <a:ext cx="1752603" cy="1524000"/>
          </a:xfrm>
          <a:prstGeom prst="curvedConnector3">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AB9F61DF-F751-4912-940B-EEF82F003C3E}"/>
              </a:ext>
            </a:extLst>
          </p:cNvPr>
          <p:cNvSpPr/>
          <p:nvPr/>
        </p:nvSpPr>
        <p:spPr>
          <a:xfrm>
            <a:off x="2436812" y="1295400"/>
            <a:ext cx="2971800" cy="4547909"/>
          </a:xfrm>
          <a:prstGeom prst="rect">
            <a:avLst/>
          </a:prstGeom>
          <a:solidFill>
            <a:schemeClr val="accent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eft Brace 12">
            <a:extLst>
              <a:ext uri="{FF2B5EF4-FFF2-40B4-BE49-F238E27FC236}">
                <a16:creationId xmlns:a16="http://schemas.microsoft.com/office/drawing/2014/main" id="{76838CFB-0013-4E11-933B-5ECEEFEB7889}"/>
              </a:ext>
            </a:extLst>
          </p:cNvPr>
          <p:cNvSpPr/>
          <p:nvPr/>
        </p:nvSpPr>
        <p:spPr>
          <a:xfrm rot="16200000">
            <a:off x="3880802" y="4560569"/>
            <a:ext cx="144779" cy="2910841"/>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42FCBF59-B2E4-441A-8822-1FA152208503}"/>
              </a:ext>
            </a:extLst>
          </p:cNvPr>
          <p:cNvSpPr txBox="1"/>
          <p:nvPr/>
        </p:nvSpPr>
        <p:spPr>
          <a:xfrm>
            <a:off x="3132140" y="6084808"/>
            <a:ext cx="1650837" cy="646331"/>
          </a:xfrm>
          <a:prstGeom prst="rect">
            <a:avLst/>
          </a:prstGeom>
          <a:noFill/>
        </p:spPr>
        <p:txBody>
          <a:bodyPr wrap="none" rtlCol="0">
            <a:spAutoFit/>
          </a:bodyPr>
          <a:lstStyle/>
          <a:p>
            <a:pPr algn="ctr"/>
            <a:r>
              <a:rPr lang="en-US" b="1" dirty="0">
                <a:solidFill>
                  <a:srgbClr val="FF0000"/>
                </a:solidFill>
                <a:latin typeface="National semibold" panose="02000503000000020004"/>
              </a:rPr>
              <a:t>Currency board</a:t>
            </a:r>
          </a:p>
          <a:p>
            <a:pPr algn="ctr"/>
            <a:r>
              <a:rPr lang="en-US" b="1" dirty="0">
                <a:solidFill>
                  <a:srgbClr val="FF0000"/>
                </a:solidFill>
                <a:latin typeface="National semibold" panose="02000503000000020004"/>
              </a:rPr>
              <a:t>1991-2001</a:t>
            </a:r>
          </a:p>
        </p:txBody>
      </p:sp>
    </p:spTree>
    <p:extLst>
      <p:ext uri="{BB962C8B-B14F-4D97-AF65-F5344CB8AC3E}">
        <p14:creationId xmlns:p14="http://schemas.microsoft.com/office/powerpoint/2010/main" val="3802366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674813" y="152400"/>
            <a:ext cx="101345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b="1" dirty="0">
                <a:latin typeface="National semibold" panose="02000503000000020004"/>
              </a:rPr>
              <a:t>Major forces causing a currency crisis </a:t>
            </a:r>
            <a:endParaRPr lang="en-US" sz="4000" b="1"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827212" y="1981200"/>
            <a:ext cx="9296400" cy="4400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buClr>
                <a:schemeClr val="tx1"/>
              </a:buClr>
              <a:buSzPct val="75000"/>
              <a:buFont typeface="Arial" panose="020B0604020202020204" pitchFamily="34" charset="0"/>
              <a:buChar char="•"/>
            </a:pPr>
            <a:endParaRPr lang="en-US" sz="2000" dirty="0">
              <a:latin typeface="National semibold" panose="02000503000000020004"/>
            </a:endParaRPr>
          </a:p>
          <a:p>
            <a:pPr marL="457200" indent="-457200">
              <a:buClr>
                <a:schemeClr val="tx1"/>
              </a:buClr>
              <a:buSzPct val="75000"/>
              <a:buFont typeface="+mj-lt"/>
              <a:buAutoNum type="arabicPeriod"/>
            </a:pPr>
            <a:r>
              <a:rPr lang="en-US" sz="2400" dirty="0">
                <a:latin typeface="National semibold" panose="02000503000000020004"/>
              </a:rPr>
              <a:t>Waves of over-borrowing</a:t>
            </a:r>
          </a:p>
          <a:p>
            <a:pPr marL="457200" indent="-457200">
              <a:buClr>
                <a:schemeClr val="tx1"/>
              </a:buClr>
              <a:buSzPct val="75000"/>
              <a:buFont typeface="+mj-lt"/>
              <a:buAutoNum type="arabicPeriod"/>
            </a:pPr>
            <a:endParaRPr lang="en-US" sz="2400" dirty="0">
              <a:latin typeface="National semibold" panose="02000503000000020004"/>
            </a:endParaRPr>
          </a:p>
          <a:p>
            <a:pPr marL="457200" indent="-457200">
              <a:buClr>
                <a:schemeClr val="tx1"/>
              </a:buClr>
              <a:buSzPct val="75000"/>
              <a:buFont typeface="+mj-lt"/>
              <a:buAutoNum type="arabicPeriod"/>
            </a:pPr>
            <a:r>
              <a:rPr lang="en-US" sz="2400" dirty="0">
                <a:latin typeface="National semibold" panose="02000503000000020004"/>
              </a:rPr>
              <a:t>Exogenous negative international shocks</a:t>
            </a:r>
          </a:p>
          <a:p>
            <a:pPr marL="457200" indent="-457200">
              <a:buClr>
                <a:schemeClr val="tx1"/>
              </a:buClr>
              <a:buSzPct val="75000"/>
              <a:buFont typeface="+mj-lt"/>
              <a:buAutoNum type="arabicPeriod"/>
            </a:pPr>
            <a:endParaRPr lang="en-US" sz="2400" dirty="0">
              <a:latin typeface="National semibold" panose="02000503000000020004"/>
            </a:endParaRPr>
          </a:p>
          <a:p>
            <a:pPr marL="457200" indent="-457200">
              <a:buClr>
                <a:schemeClr val="tx1"/>
              </a:buClr>
              <a:buSzPct val="75000"/>
              <a:buFont typeface="+mj-lt"/>
              <a:buAutoNum type="arabicPeriod"/>
            </a:pPr>
            <a:r>
              <a:rPr lang="en-US" sz="2400" dirty="0">
                <a:latin typeface="National semibold" panose="02000503000000020004"/>
              </a:rPr>
              <a:t>Excessive exposure to exchange rate risks</a:t>
            </a:r>
          </a:p>
          <a:p>
            <a:pPr marL="457200" indent="-457200">
              <a:buClr>
                <a:schemeClr val="tx1"/>
              </a:buClr>
              <a:buSzPct val="75000"/>
              <a:buFont typeface="+mj-lt"/>
              <a:buAutoNum type="arabicPeriod"/>
            </a:pPr>
            <a:endParaRPr lang="en-US" sz="2400" dirty="0">
              <a:latin typeface="National semibold" panose="02000503000000020004"/>
            </a:endParaRPr>
          </a:p>
          <a:p>
            <a:pPr marL="457200" indent="-457200">
              <a:buClr>
                <a:schemeClr val="tx1"/>
              </a:buClr>
              <a:buSzPct val="75000"/>
              <a:buFont typeface="+mj-lt"/>
              <a:buAutoNum type="arabicPeriod"/>
            </a:pPr>
            <a:r>
              <a:rPr lang="en-US" sz="2400" dirty="0">
                <a:latin typeface="National semibold" panose="02000503000000020004"/>
              </a:rPr>
              <a:t>Volatile international short-term lending</a:t>
            </a:r>
          </a:p>
          <a:p>
            <a:pPr marL="457200" indent="-457200">
              <a:buClr>
                <a:schemeClr val="tx1"/>
              </a:buClr>
              <a:buSzPct val="75000"/>
              <a:buFont typeface="+mj-lt"/>
              <a:buAutoNum type="arabicPeriod"/>
            </a:pPr>
            <a:endParaRPr lang="en-US" sz="2400" dirty="0">
              <a:latin typeface="National semibold" panose="02000503000000020004"/>
            </a:endParaRPr>
          </a:p>
          <a:p>
            <a:pPr marL="457200" indent="-457200">
              <a:buClr>
                <a:schemeClr val="tx1"/>
              </a:buClr>
              <a:buSzPct val="75000"/>
              <a:buFont typeface="+mj-lt"/>
              <a:buAutoNum type="arabicPeriod"/>
            </a:pPr>
            <a:r>
              <a:rPr lang="en-US" sz="2400" dirty="0">
                <a:latin typeface="National semibold" panose="02000503000000020004"/>
              </a:rPr>
              <a:t>Global contagion</a:t>
            </a:r>
          </a:p>
          <a:p>
            <a:pPr marL="457200" indent="-457200">
              <a:buClr>
                <a:schemeClr val="tx1"/>
              </a:buClr>
              <a:buSzPct val="75000"/>
              <a:buFont typeface="+mj-lt"/>
              <a:buAutoNum type="arabicPeriod"/>
            </a:pPr>
            <a:endParaRPr lang="en-US" sz="2400" dirty="0">
              <a:latin typeface="National semibold" panose="02000503000000020004"/>
            </a:endParaRPr>
          </a:p>
        </p:txBody>
      </p:sp>
    </p:spTree>
    <p:extLst>
      <p:ext uri="{BB962C8B-B14F-4D97-AF65-F5344CB8AC3E}">
        <p14:creationId xmlns:p14="http://schemas.microsoft.com/office/powerpoint/2010/main" val="4028088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674813" y="152400"/>
            <a:ext cx="101345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b="1" dirty="0">
                <a:latin typeface="National semibold" panose="02000503000000020004"/>
              </a:rPr>
              <a:t>How to resolve a currency crisis</a:t>
            </a:r>
            <a:endParaRPr lang="en-US" sz="4000" b="1"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827212" y="1981200"/>
            <a:ext cx="9296400" cy="4400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buClr>
                <a:schemeClr val="tx1"/>
              </a:buClr>
              <a:buSzPct val="75000"/>
              <a:buFont typeface="Arial" panose="020B0604020202020204" pitchFamily="34" charset="0"/>
              <a:buChar char="•"/>
            </a:pPr>
            <a:endParaRPr lang="en-US" sz="2400" dirty="0">
              <a:latin typeface="National semibold" panose="02000503000000020004"/>
            </a:endParaRPr>
          </a:p>
          <a:p>
            <a:pPr marL="609600" indent="-609600" eaLnBrk="0" fontAlgn="base" hangingPunct="0">
              <a:spcBef>
                <a:spcPct val="20000"/>
              </a:spcBef>
              <a:spcAft>
                <a:spcPct val="0"/>
              </a:spcAft>
              <a:buFontTx/>
              <a:buAutoNum type="arabicPeriod"/>
            </a:pPr>
            <a:r>
              <a:rPr lang="en-US" sz="2400" dirty="0">
                <a:solidFill>
                  <a:srgbClr val="000000"/>
                </a:solidFill>
                <a:latin typeface="National semibold" panose="02000503000000020004"/>
              </a:rPr>
              <a:t>Rescue package by the IMF, World Bank or Governments.</a:t>
            </a:r>
          </a:p>
          <a:p>
            <a:pPr marL="990600" lvl="1" indent="-533400" eaLnBrk="0" fontAlgn="base" hangingPunct="0">
              <a:spcBef>
                <a:spcPct val="20000"/>
              </a:spcBef>
              <a:spcAft>
                <a:spcPct val="0"/>
              </a:spcAft>
            </a:pPr>
            <a:r>
              <a:rPr lang="en-US" sz="2400" dirty="0">
                <a:solidFill>
                  <a:srgbClr val="000000"/>
                </a:solidFill>
                <a:latin typeface="National semibold" panose="02000503000000020004"/>
              </a:rPr>
              <a:t> 	</a:t>
            </a:r>
          </a:p>
          <a:p>
            <a:pPr marL="990600" lvl="1" indent="-533400" eaLnBrk="0" fontAlgn="base" hangingPunct="0">
              <a:spcBef>
                <a:spcPct val="20000"/>
              </a:spcBef>
              <a:spcAft>
                <a:spcPct val="0"/>
              </a:spcAft>
            </a:pPr>
            <a:endParaRPr lang="en-US" sz="2400" dirty="0">
              <a:solidFill>
                <a:srgbClr val="000000"/>
              </a:solidFill>
              <a:latin typeface="National semibold" panose="02000503000000020004"/>
            </a:endParaRPr>
          </a:p>
          <a:p>
            <a:pPr marL="609600" indent="-609600" eaLnBrk="0" fontAlgn="base" hangingPunct="0">
              <a:spcBef>
                <a:spcPct val="20000"/>
              </a:spcBef>
              <a:spcAft>
                <a:spcPct val="0"/>
              </a:spcAft>
              <a:buFontTx/>
              <a:buAutoNum type="arabicPeriod"/>
            </a:pPr>
            <a:r>
              <a:rPr lang="en-US" sz="2400" dirty="0">
                <a:solidFill>
                  <a:srgbClr val="000000"/>
                </a:solidFill>
                <a:latin typeface="National semibold" panose="02000503000000020004"/>
              </a:rPr>
              <a:t>Debt restructuring (rescheduling and reduction).</a:t>
            </a:r>
          </a:p>
        </p:txBody>
      </p:sp>
    </p:spTree>
    <p:extLst>
      <p:ext uri="{BB962C8B-B14F-4D97-AF65-F5344CB8AC3E}">
        <p14:creationId xmlns:p14="http://schemas.microsoft.com/office/powerpoint/2010/main" val="4050666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TextBox 26"/>
          <p:cNvSpPr txBox="1">
            <a:spLocks noChangeArrowheads="1"/>
          </p:cNvSpPr>
          <p:nvPr/>
        </p:nvSpPr>
        <p:spPr bwMode="auto">
          <a:xfrm>
            <a:off x="1932468" y="528935"/>
            <a:ext cx="80009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tx1"/>
                </a:solidFill>
                <a:latin typeface="Arial" charset="0"/>
              </a:defRPr>
            </a:lvl1pPr>
            <a:lvl2pPr marL="742950" indent="-285750">
              <a:defRPr sz="2000">
                <a:solidFill>
                  <a:schemeClr val="tx1"/>
                </a:solidFill>
                <a:latin typeface="Arial" charset="0"/>
              </a:defRPr>
            </a:lvl2pPr>
            <a:lvl3pPr marL="1143000" indent="-228600">
              <a:defRPr sz="2000">
                <a:solidFill>
                  <a:schemeClr val="tx1"/>
                </a:solidFill>
                <a:latin typeface="Arial" charset="0"/>
              </a:defRPr>
            </a:lvl3pPr>
            <a:lvl4pPr marL="1600200" indent="-228600">
              <a:defRPr sz="2000">
                <a:solidFill>
                  <a:schemeClr val="tx1"/>
                </a:solidFill>
                <a:latin typeface="Arial" charset="0"/>
              </a:defRPr>
            </a:lvl4pPr>
            <a:lvl5pPr marL="2057400" indent="-228600">
              <a:defRPr sz="2000">
                <a:solidFill>
                  <a:schemeClr val="tx1"/>
                </a:solidFill>
                <a:latin typeface="Arial" charset="0"/>
              </a:defRPr>
            </a:lvl5pPr>
            <a:lvl6pPr marL="2514600" indent="-228600" eaLnBrk="0" fontAlgn="base" hangingPunct="0">
              <a:spcBef>
                <a:spcPct val="20000"/>
              </a:spcBef>
              <a:spcAft>
                <a:spcPct val="0"/>
              </a:spcAft>
              <a:buChar char="•"/>
              <a:defRPr sz="2000">
                <a:solidFill>
                  <a:schemeClr val="tx1"/>
                </a:solidFill>
                <a:latin typeface="Arial" charset="0"/>
              </a:defRPr>
            </a:lvl6pPr>
            <a:lvl7pPr marL="2971800" indent="-228600" eaLnBrk="0" fontAlgn="base" hangingPunct="0">
              <a:spcBef>
                <a:spcPct val="20000"/>
              </a:spcBef>
              <a:spcAft>
                <a:spcPct val="0"/>
              </a:spcAft>
              <a:buChar char="•"/>
              <a:defRPr sz="2000">
                <a:solidFill>
                  <a:schemeClr val="tx1"/>
                </a:solidFill>
                <a:latin typeface="Arial" charset="0"/>
              </a:defRPr>
            </a:lvl7pPr>
            <a:lvl8pPr marL="3429000" indent="-228600" eaLnBrk="0" fontAlgn="base" hangingPunct="0">
              <a:spcBef>
                <a:spcPct val="20000"/>
              </a:spcBef>
              <a:spcAft>
                <a:spcPct val="0"/>
              </a:spcAft>
              <a:buChar char="•"/>
              <a:defRPr sz="2000">
                <a:solidFill>
                  <a:schemeClr val="tx1"/>
                </a:solidFill>
                <a:latin typeface="Arial" charset="0"/>
              </a:defRPr>
            </a:lvl8pPr>
            <a:lvl9pPr marL="3886200" indent="-228600" eaLnBrk="0" fontAlgn="base" hangingPunct="0">
              <a:spcBef>
                <a:spcPct val="20000"/>
              </a:spcBef>
              <a:spcAft>
                <a:spcPct val="0"/>
              </a:spcAft>
              <a:buChar char="•"/>
              <a:defRPr sz="2000">
                <a:solidFill>
                  <a:schemeClr val="tx1"/>
                </a:solidFill>
                <a:latin typeface="Arial" charset="0"/>
              </a:defRPr>
            </a:lvl9pPr>
          </a:lstStyle>
          <a:p>
            <a:pPr algn="ctr" eaLnBrk="0" fontAlgn="base" hangingPunct="0">
              <a:spcBef>
                <a:spcPct val="20000"/>
              </a:spcBef>
              <a:spcAft>
                <a:spcPct val="0"/>
              </a:spcAft>
            </a:pPr>
            <a:r>
              <a:rPr lang="en-US" sz="2400" b="1" dirty="0">
                <a:solidFill>
                  <a:srgbClr val="000000"/>
                </a:solidFill>
              </a:rPr>
              <a:t>IMF members with largest voting rights</a:t>
            </a:r>
            <a:r>
              <a:rPr lang="en-US" b="1" dirty="0">
                <a:solidFill>
                  <a:srgbClr val="000000"/>
                </a:solidFill>
              </a:rPr>
              <a:t>, </a:t>
            </a:r>
            <a:r>
              <a:rPr lang="en-US" sz="2400" b="1" dirty="0">
                <a:solidFill>
                  <a:srgbClr val="000000"/>
                </a:solidFill>
              </a:rPr>
              <a:t>October 2025</a:t>
            </a:r>
            <a:endParaRPr lang="en-US" b="1" dirty="0">
              <a:solidFill>
                <a:srgbClr val="000000"/>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4120657404"/>
              </p:ext>
            </p:extLst>
          </p:nvPr>
        </p:nvGraphicFramePr>
        <p:xfrm>
          <a:off x="2436812" y="1558720"/>
          <a:ext cx="7016321" cy="4156280"/>
        </p:xfrm>
        <a:graphic>
          <a:graphicData uri="http://schemas.openxmlformats.org/drawingml/2006/table">
            <a:tbl>
              <a:tblPr/>
              <a:tblGrid>
                <a:gridCol w="633732">
                  <a:extLst>
                    <a:ext uri="{9D8B030D-6E8A-4147-A177-3AD203B41FA5}">
                      <a16:colId xmlns:a16="http://schemas.microsoft.com/office/drawing/2014/main" val="20000"/>
                    </a:ext>
                  </a:extLst>
                </a:gridCol>
                <a:gridCol w="2353863">
                  <a:extLst>
                    <a:ext uri="{9D8B030D-6E8A-4147-A177-3AD203B41FA5}">
                      <a16:colId xmlns:a16="http://schemas.microsoft.com/office/drawing/2014/main" val="20001"/>
                    </a:ext>
                  </a:extLst>
                </a:gridCol>
                <a:gridCol w="2036996">
                  <a:extLst>
                    <a:ext uri="{9D8B030D-6E8A-4147-A177-3AD203B41FA5}">
                      <a16:colId xmlns:a16="http://schemas.microsoft.com/office/drawing/2014/main" val="20003"/>
                    </a:ext>
                  </a:extLst>
                </a:gridCol>
                <a:gridCol w="1991730">
                  <a:extLst>
                    <a:ext uri="{9D8B030D-6E8A-4147-A177-3AD203B41FA5}">
                      <a16:colId xmlns:a16="http://schemas.microsoft.com/office/drawing/2014/main" val="20005"/>
                    </a:ext>
                  </a:extLst>
                </a:gridCol>
              </a:tblGrid>
              <a:tr h="533400">
                <a:tc>
                  <a:txBody>
                    <a:bodyPr/>
                    <a:lstStyle/>
                    <a:p>
                      <a:pPr algn="ctr" fontAlgn="b"/>
                      <a:r>
                        <a:rPr lang="en-US" sz="1600" b="1" i="0" u="none" strike="noStrike" dirty="0">
                          <a:solidFill>
                            <a:srgbClr val="000000"/>
                          </a:solidFill>
                          <a:effectLst/>
                          <a:latin typeface="National semibold" panose="02000503000000020004"/>
                        </a:rPr>
                        <a:t>Rank</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l" fontAlgn="b"/>
                      <a:r>
                        <a:rPr lang="en-US" sz="1600" b="1" i="0" u="none" strike="noStrike" dirty="0">
                          <a:solidFill>
                            <a:srgbClr val="000000"/>
                          </a:solidFill>
                          <a:effectLst/>
                          <a:latin typeface="National semibold" panose="02000503000000020004"/>
                        </a:rPr>
                        <a:t>IMF Member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600" b="1" i="0" u="none" strike="noStrike" dirty="0">
                          <a:solidFill>
                            <a:srgbClr val="000000"/>
                          </a:solidFill>
                          <a:effectLst/>
                          <a:latin typeface="National semibold" panose="02000503000000020004"/>
                        </a:rPr>
                        <a:t>Quota: percentage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fontAlgn="b"/>
                      <a:r>
                        <a:rPr lang="en-US" sz="1600" b="1" i="0" u="none" strike="noStrike" dirty="0">
                          <a:solidFill>
                            <a:srgbClr val="000000"/>
                          </a:solidFill>
                          <a:effectLst/>
                          <a:latin typeface="National semibold" panose="02000503000000020004"/>
                        </a:rPr>
                        <a:t>Percentage votes</a:t>
                      </a:r>
                    </a:p>
                  </a:txBody>
                  <a:tcPr marL="9525" marR="9525" marT="9525"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362288">
                <a:tc>
                  <a:txBody>
                    <a:bodyPr/>
                    <a:lstStyle/>
                    <a:p>
                      <a:pPr algn="ctr" fontAlgn="b"/>
                      <a:r>
                        <a:rPr lang="en-US" sz="1600" b="0" i="0" u="none" strike="noStrike" dirty="0">
                          <a:solidFill>
                            <a:srgbClr val="000000"/>
                          </a:solidFill>
                          <a:effectLst/>
                          <a:latin typeface="National semibold" panose="02000503000000020004"/>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National semibold" panose="02000503000000020004"/>
                        </a:rPr>
                        <a:t> United States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17.43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16.50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62288">
                <a:tc>
                  <a:txBody>
                    <a:bodyPr/>
                    <a:lstStyle/>
                    <a:p>
                      <a:pPr algn="ctr" fontAlgn="b"/>
                      <a:r>
                        <a:rPr lang="en-US" sz="1600" b="0" i="0" u="none" strike="noStrike" dirty="0">
                          <a:solidFill>
                            <a:srgbClr val="000000"/>
                          </a:solidFill>
                          <a:effectLst/>
                          <a:latin typeface="National semibold" panose="02000503000000020004"/>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National semibold" panose="02000503000000020004"/>
                        </a:rPr>
                        <a:t> Japan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6.47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6.14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62288">
                <a:tc>
                  <a:txBody>
                    <a:bodyPr/>
                    <a:lstStyle/>
                    <a:p>
                      <a:pPr algn="ctr" fontAlgn="b"/>
                      <a:r>
                        <a:rPr lang="en-US" sz="1600" b="0" i="0" u="none" strike="noStrike" dirty="0">
                          <a:solidFill>
                            <a:srgbClr val="000000"/>
                          </a:solidFill>
                          <a:effectLst/>
                          <a:latin typeface="National semibold" panose="02000503000000020004"/>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National semibold" panose="02000503000000020004"/>
                        </a:rPr>
                        <a:t> China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6.40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6.08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62288">
                <a:tc>
                  <a:txBody>
                    <a:bodyPr/>
                    <a:lstStyle/>
                    <a:p>
                      <a:pPr algn="ctr" fontAlgn="b"/>
                      <a:r>
                        <a:rPr lang="en-US" sz="1600" b="0" i="0" u="none" strike="noStrike" dirty="0">
                          <a:solidFill>
                            <a:srgbClr val="000000"/>
                          </a:solidFill>
                          <a:effectLst/>
                          <a:latin typeface="National semibold" panose="02000503000000020004"/>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National semibold" panose="02000503000000020004"/>
                        </a:rPr>
                        <a:t> Germany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5.59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5.31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62288">
                <a:tc>
                  <a:txBody>
                    <a:bodyPr/>
                    <a:lstStyle/>
                    <a:p>
                      <a:pPr algn="ctr" fontAlgn="b"/>
                      <a:r>
                        <a:rPr lang="en-US" sz="1600" b="0" i="0" u="none" strike="noStrike" dirty="0">
                          <a:solidFill>
                            <a:srgbClr val="000000"/>
                          </a:solidFill>
                          <a:effectLst/>
                          <a:latin typeface="National semibold" panose="02000503000000020004"/>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National semibold" panose="02000503000000020004"/>
                        </a:rPr>
                        <a:t> United Kingdom</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4.23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4.03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62288">
                <a:tc>
                  <a:txBody>
                    <a:bodyPr/>
                    <a:lstStyle/>
                    <a:p>
                      <a:pPr algn="ctr" fontAlgn="b"/>
                      <a:r>
                        <a:rPr lang="en-US" sz="1600" b="0" i="0" u="none" strike="noStrike" dirty="0">
                          <a:solidFill>
                            <a:srgbClr val="000000"/>
                          </a:solidFill>
                          <a:effectLst/>
                          <a:latin typeface="National semibold" panose="02000503000000020004"/>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National semibold" panose="02000503000000020004"/>
                        </a:rPr>
                        <a:t> France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4.23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4.03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62288">
                <a:tc>
                  <a:txBody>
                    <a:bodyPr/>
                    <a:lstStyle/>
                    <a:p>
                      <a:pPr algn="ctr" fontAlgn="b"/>
                      <a:r>
                        <a:rPr lang="en-US" sz="1600" b="0" i="0" u="none" strike="noStrike" dirty="0">
                          <a:solidFill>
                            <a:srgbClr val="000000"/>
                          </a:solidFill>
                          <a:effectLst/>
                          <a:latin typeface="National semibold" panose="02000503000000020004"/>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National semibold" panose="02000503000000020004"/>
                        </a:rPr>
                        <a:t> Italy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3.16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3.02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62288">
                <a:tc>
                  <a:txBody>
                    <a:bodyPr/>
                    <a:lstStyle/>
                    <a:p>
                      <a:pPr algn="ctr" fontAlgn="b"/>
                      <a:r>
                        <a:rPr lang="en-US" sz="1600" b="0" i="0" u="none" strike="noStrike" dirty="0">
                          <a:solidFill>
                            <a:srgbClr val="000000"/>
                          </a:solidFill>
                          <a:effectLst/>
                          <a:latin typeface="National semibold" panose="02000503000000020004"/>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dirty="0">
                          <a:solidFill>
                            <a:srgbClr val="000000"/>
                          </a:solidFill>
                          <a:effectLst/>
                          <a:latin typeface="National semibold" panose="02000503000000020004"/>
                        </a:rPr>
                        <a:t> India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2.75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2.63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62288">
                <a:tc>
                  <a:txBody>
                    <a:bodyPr/>
                    <a:lstStyle/>
                    <a:p>
                      <a:pPr algn="ctr" fontAlgn="b"/>
                      <a:r>
                        <a:rPr lang="en-US" sz="1600" b="0" i="0" u="none" strike="noStrike" dirty="0">
                          <a:solidFill>
                            <a:srgbClr val="000000"/>
                          </a:solidFill>
                          <a:effectLst/>
                          <a:latin typeface="National semibold" panose="02000503000000020004"/>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a:solidFill>
                            <a:srgbClr val="000000"/>
                          </a:solidFill>
                          <a:effectLst/>
                          <a:latin typeface="National semibold" panose="02000503000000020004"/>
                        </a:rPr>
                        <a:t> Russia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2.71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2.59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62288">
                <a:tc>
                  <a:txBody>
                    <a:bodyPr/>
                    <a:lstStyle/>
                    <a:p>
                      <a:pPr algn="ctr" fontAlgn="b"/>
                      <a:r>
                        <a:rPr lang="en-US" sz="1600" b="0" i="0" u="none" strike="noStrike" dirty="0">
                          <a:solidFill>
                            <a:srgbClr val="000000"/>
                          </a:solidFill>
                          <a:effectLst/>
                          <a:latin typeface="National semibold" panose="02000503000000020004"/>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600" b="0" i="0" u="none" strike="noStrike" dirty="0">
                          <a:solidFill>
                            <a:srgbClr val="000000"/>
                          </a:solidFill>
                          <a:effectLst/>
                          <a:latin typeface="National semibold" panose="02000503000000020004"/>
                        </a:rPr>
                        <a:t> Brazil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2.32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600" b="0" i="0" u="none" strike="noStrike" dirty="0">
                          <a:solidFill>
                            <a:srgbClr val="000000"/>
                          </a:solidFill>
                          <a:effectLst/>
                          <a:latin typeface="National semibold" panose="02000503000000020004"/>
                        </a:rPr>
                        <a:t>2.22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800193161"/>
      </p:ext>
    </p:extLst>
  </p:cSld>
  <p:clrMapOvr>
    <a:masterClrMapping/>
  </p:clrMapOvr>
  <p:transition spd="slow">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indent="-342900" algn="ctr"/>
            <a:endParaRPr lang="en-US"/>
          </a:p>
        </p:txBody>
      </p:sp>
      <p:sp>
        <p:nvSpPr>
          <p:cNvPr id="8" name="Title 12">
            <a:extLst>
              <a:ext uri="{FF2B5EF4-FFF2-40B4-BE49-F238E27FC236}">
                <a16:creationId xmlns:a16="http://schemas.microsoft.com/office/drawing/2014/main" id="{33096AFE-3342-4A4F-AB91-093892287DCE}"/>
              </a:ext>
            </a:extLst>
          </p:cNvPr>
          <p:cNvSpPr txBox="1">
            <a:spLocks/>
          </p:cNvSpPr>
          <p:nvPr/>
        </p:nvSpPr>
        <p:spPr>
          <a:xfrm>
            <a:off x="1674813" y="152400"/>
            <a:ext cx="10134599" cy="1219200"/>
          </a:xfrm>
          <a:prstGeom prst="rect">
            <a:avLst/>
          </a:prstGeom>
        </p:spPr>
        <p:txBody>
          <a:bodyPr anchor="ctr">
            <a:normAutofit/>
          </a:bodyPr>
          <a:lst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a:lstStyle>
          <a:p>
            <a:r>
              <a:rPr lang="en-US" sz="4000" b="1" dirty="0">
                <a:latin typeface="National semibold" panose="02000503000000020004"/>
              </a:rPr>
              <a:t>How to prevent a currency crisis</a:t>
            </a:r>
            <a:endParaRPr lang="en-US" sz="4000" b="1" i="1" dirty="0">
              <a:latin typeface="National semibold" panose="02000503000000020004"/>
            </a:endParaRPr>
          </a:p>
        </p:txBody>
      </p:sp>
      <p:sp>
        <p:nvSpPr>
          <p:cNvPr id="12" name="Rectangle 6">
            <a:extLst>
              <a:ext uri="{FF2B5EF4-FFF2-40B4-BE49-F238E27FC236}">
                <a16:creationId xmlns:a16="http://schemas.microsoft.com/office/drawing/2014/main" id="{ADC626A8-26FC-4AF1-A2D3-2E80CFA3AE1A}"/>
              </a:ext>
            </a:extLst>
          </p:cNvPr>
          <p:cNvSpPr>
            <a:spLocks noChangeArrowheads="1"/>
          </p:cNvSpPr>
          <p:nvPr/>
        </p:nvSpPr>
        <p:spPr bwMode="auto">
          <a:xfrm>
            <a:off x="1827212" y="1752600"/>
            <a:ext cx="9296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609600" indent="-609600" eaLnBrk="0" fontAlgn="base" hangingPunct="0">
              <a:spcBef>
                <a:spcPct val="20000"/>
              </a:spcBef>
              <a:spcAft>
                <a:spcPct val="0"/>
              </a:spcAft>
              <a:buFontTx/>
              <a:buAutoNum type="arabicPeriod"/>
              <a:defRPr/>
            </a:pPr>
            <a:r>
              <a:rPr lang="en-US" sz="2400" dirty="0">
                <a:solidFill>
                  <a:srgbClr val="000000"/>
                </a:solidFill>
                <a:latin typeface="National semibold" panose="02000503000000020004"/>
              </a:rPr>
              <a:t>Macroeconomic policies that do not lead to over-borrowing.</a:t>
            </a:r>
          </a:p>
          <a:p>
            <a:pPr marL="609600" indent="-609600" eaLnBrk="0" fontAlgn="base" hangingPunct="0">
              <a:spcBef>
                <a:spcPct val="20000"/>
              </a:spcBef>
              <a:spcAft>
                <a:spcPct val="0"/>
              </a:spcAft>
              <a:buFontTx/>
              <a:buAutoNum type="arabicPeriod"/>
              <a:defRPr/>
            </a:pPr>
            <a:endParaRPr lang="en-US" sz="2400" dirty="0">
              <a:solidFill>
                <a:srgbClr val="000000"/>
              </a:solidFill>
              <a:latin typeface="National semibold" panose="02000503000000020004"/>
            </a:endParaRPr>
          </a:p>
          <a:p>
            <a:pPr marL="609600" indent="-609600" eaLnBrk="0" fontAlgn="base" hangingPunct="0">
              <a:spcBef>
                <a:spcPct val="20000"/>
              </a:spcBef>
              <a:spcAft>
                <a:spcPct val="0"/>
              </a:spcAft>
              <a:buFontTx/>
              <a:buAutoNum type="arabicPeriod"/>
              <a:defRPr/>
            </a:pPr>
            <a:r>
              <a:rPr lang="en-US" sz="2400" dirty="0">
                <a:solidFill>
                  <a:srgbClr val="000000"/>
                </a:solidFill>
                <a:latin typeface="National semibold" panose="02000503000000020004"/>
              </a:rPr>
              <a:t>Avoiding short-term borrowing denominated in foreign currency.</a:t>
            </a:r>
          </a:p>
          <a:p>
            <a:pPr marL="609600" indent="-609600" eaLnBrk="0" fontAlgn="base" hangingPunct="0">
              <a:spcBef>
                <a:spcPct val="20000"/>
              </a:spcBef>
              <a:spcAft>
                <a:spcPct val="0"/>
              </a:spcAft>
              <a:buFontTx/>
              <a:buAutoNum type="arabicPeriod"/>
              <a:defRPr/>
            </a:pPr>
            <a:endParaRPr lang="en-US" sz="2400" dirty="0">
              <a:solidFill>
                <a:srgbClr val="000000"/>
              </a:solidFill>
              <a:latin typeface="National semibold" panose="02000503000000020004"/>
            </a:endParaRPr>
          </a:p>
          <a:p>
            <a:pPr marL="609600" indent="-609600" eaLnBrk="0" fontAlgn="base" hangingPunct="0">
              <a:spcBef>
                <a:spcPct val="20000"/>
              </a:spcBef>
              <a:spcAft>
                <a:spcPct val="0"/>
              </a:spcAft>
              <a:buFontTx/>
              <a:buAutoNum type="arabicPeriod"/>
              <a:defRPr/>
            </a:pPr>
            <a:r>
              <a:rPr lang="en-US" sz="2400" dirty="0">
                <a:solidFill>
                  <a:srgbClr val="000000"/>
                </a:solidFill>
                <a:latin typeface="National semibold" panose="02000503000000020004"/>
              </a:rPr>
              <a:t>Improve the regulation and supervision of the banking sector.</a:t>
            </a:r>
          </a:p>
          <a:p>
            <a:pPr marL="609600" indent="-609600" eaLnBrk="0" fontAlgn="base" hangingPunct="0">
              <a:spcBef>
                <a:spcPct val="20000"/>
              </a:spcBef>
              <a:spcAft>
                <a:spcPct val="0"/>
              </a:spcAft>
              <a:buFontTx/>
              <a:buAutoNum type="arabicPeriod"/>
              <a:defRPr/>
            </a:pPr>
            <a:endParaRPr lang="en-US" sz="2400" dirty="0">
              <a:solidFill>
                <a:srgbClr val="000000"/>
              </a:solidFill>
              <a:latin typeface="National semibold" panose="02000503000000020004"/>
            </a:endParaRPr>
          </a:p>
          <a:p>
            <a:pPr marL="609600" indent="-609600" eaLnBrk="0" fontAlgn="base" hangingPunct="0">
              <a:spcBef>
                <a:spcPct val="20000"/>
              </a:spcBef>
              <a:spcAft>
                <a:spcPct val="0"/>
              </a:spcAft>
              <a:buFontTx/>
              <a:buAutoNum type="arabicPeriod"/>
              <a:defRPr/>
            </a:pPr>
            <a:r>
              <a:rPr lang="en-US" sz="2400" dirty="0">
                <a:solidFill>
                  <a:srgbClr val="000000"/>
                </a:solidFill>
                <a:latin typeface="National semibold" panose="02000503000000020004"/>
              </a:rPr>
              <a:t>Other proposals are more controversial:</a:t>
            </a:r>
          </a:p>
          <a:p>
            <a:pPr marL="1066800" lvl="1" indent="-609600" eaLnBrk="0" fontAlgn="base" hangingPunct="0">
              <a:spcBef>
                <a:spcPct val="20000"/>
              </a:spcBef>
              <a:spcAft>
                <a:spcPct val="0"/>
              </a:spcAft>
              <a:buFontTx/>
              <a:buChar char="•"/>
              <a:defRPr/>
            </a:pPr>
            <a:r>
              <a:rPr lang="en-US" sz="2000" dirty="0">
                <a:solidFill>
                  <a:srgbClr val="000000"/>
                </a:solidFill>
                <a:latin typeface="National semibold" panose="02000503000000020004"/>
              </a:rPr>
              <a:t>Countries should not try to keep a fixed exchange rate. </a:t>
            </a:r>
          </a:p>
          <a:p>
            <a:pPr marL="1066800" lvl="1" indent="-609600" eaLnBrk="0" fontAlgn="base" hangingPunct="0">
              <a:spcBef>
                <a:spcPct val="20000"/>
              </a:spcBef>
              <a:spcAft>
                <a:spcPct val="0"/>
              </a:spcAft>
              <a:buFontTx/>
              <a:buChar char="•"/>
              <a:defRPr/>
            </a:pPr>
            <a:r>
              <a:rPr lang="en-US" sz="2000" dirty="0">
                <a:solidFill>
                  <a:srgbClr val="000000"/>
                </a:solidFill>
                <a:latin typeface="National semibold" panose="02000503000000020004"/>
              </a:rPr>
              <a:t>Countries should impose capital controls.</a:t>
            </a:r>
          </a:p>
          <a:p>
            <a:pPr marL="1066800" lvl="1" indent="-609600" eaLnBrk="0" fontAlgn="base" hangingPunct="0">
              <a:spcBef>
                <a:spcPct val="20000"/>
              </a:spcBef>
              <a:spcAft>
                <a:spcPct val="0"/>
              </a:spcAft>
              <a:buFontTx/>
              <a:buChar char="•"/>
              <a:defRPr/>
            </a:pPr>
            <a:r>
              <a:rPr lang="en-US" sz="2000" dirty="0">
                <a:solidFill>
                  <a:srgbClr val="000000"/>
                </a:solidFill>
                <a:latin typeface="National semibold" panose="02000503000000020004"/>
              </a:rPr>
              <a:t>The IMF should not intervene.</a:t>
            </a:r>
          </a:p>
        </p:txBody>
      </p:sp>
    </p:spTree>
    <p:extLst>
      <p:ext uri="{BB962C8B-B14F-4D97-AF65-F5344CB8AC3E}">
        <p14:creationId xmlns:p14="http://schemas.microsoft.com/office/powerpoint/2010/main" val="3624159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ESENTER_VERSION" val="6"/>
  <p:tag name="ARTICULATE_PROJECT_OPEN" val="0"/>
</p:tagLst>
</file>

<file path=ppt/theme/theme1.xml><?xml version="1.0" encoding="utf-8"?>
<a:theme xmlns:a="http://schemas.openxmlformats.org/drawingml/2006/main" name="Currency Symbols 16x9">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rency symbols presentation (widescreen).potx" id="{0BEEB329-2C4D-4D02-9858-CA91ACE92AB1}" vid="{944DA297-E844-470D-A85C-00068074ACC2}"/>
    </a:ext>
  </a:extLst>
</a:theme>
</file>

<file path=ppt/theme/theme2.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Tx/>
          <a:buSzTx/>
          <a:buFontTx/>
          <a:buChar char="•"/>
          <a:tabLst/>
          <a:defRPr kumimoji="0" lang="en-US" sz="2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20000"/>
          </a:spcBef>
          <a:spcAft>
            <a:spcPct val="0"/>
          </a:spcAft>
          <a:buClrTx/>
          <a:buSzTx/>
          <a:buFontTx/>
          <a:buChar char="•"/>
          <a:tabLst/>
          <a:defRPr kumimoji="0" lang="en-US" sz="2000" b="0"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Currency symbols presentation (widescreen)</Template>
  <TotalTime>5507</TotalTime>
  <Words>1921</Words>
  <Application>Microsoft Office PowerPoint</Application>
  <PresentationFormat>Custom</PresentationFormat>
  <Paragraphs>463</Paragraphs>
  <Slides>44</Slides>
  <Notes>35</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44</vt:i4>
      </vt:variant>
    </vt:vector>
  </HeadingPairs>
  <TitlesOfParts>
    <vt:vector size="54" baseType="lpstr">
      <vt:lpstr>National</vt:lpstr>
      <vt:lpstr>National semibold</vt:lpstr>
      <vt:lpstr>Arial</vt:lpstr>
      <vt:lpstr>Cambria</vt:lpstr>
      <vt:lpstr>Cambria Math</vt:lpstr>
      <vt:lpstr>Times New Roman</vt:lpstr>
      <vt:lpstr>Wingdings</vt:lpstr>
      <vt:lpstr>Currency Symbols 16x9</vt:lpstr>
      <vt:lpstr>Blank Presentation</vt:lpstr>
      <vt:lpstr>Document</vt:lpstr>
      <vt:lpstr>Introduction to  Decentralized Finance  </vt:lpstr>
      <vt:lpstr>Real exchange rate and net exports</vt:lpstr>
      <vt:lpstr>Real exchange rate and net exports</vt:lpstr>
      <vt:lpstr>Net exports or trade balance</vt:lpstr>
      <vt:lpstr>The J-curve: response of trade balance</vt:lpstr>
      <vt:lpstr>PowerPoint Presentation</vt:lpstr>
      <vt:lpstr>Summary</vt:lpstr>
      <vt:lpstr>PowerPoint Presentation</vt:lpstr>
      <vt:lpstr>Summary</vt:lpstr>
      <vt:lpstr>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Vincenzo Quadrini</dc:creator>
  <cp:lastModifiedBy>Quadrini, Vincenzo</cp:lastModifiedBy>
  <cp:revision>8</cp:revision>
  <cp:lastPrinted>2021-04-16T13:50:54Z</cp:lastPrinted>
  <dcterms:created xsi:type="dcterms:W3CDTF">2020-10-28T19:26:18Z</dcterms:created>
  <dcterms:modified xsi:type="dcterms:W3CDTF">2026-05-24T13:00:18Z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