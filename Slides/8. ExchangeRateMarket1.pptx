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417" r:id="rId2"/>
    <p:sldId id="329" r:id="rId3"/>
    <p:sldId id="331" r:id="rId4"/>
    <p:sldId id="332" r:id="rId5"/>
    <p:sldId id="334" r:id="rId6"/>
    <p:sldId id="333" r:id="rId7"/>
    <p:sldId id="409" r:id="rId8"/>
    <p:sldId id="410" r:id="rId9"/>
    <p:sldId id="408" r:id="rId10"/>
    <p:sldId id="411" r:id="rId11"/>
    <p:sldId id="428" r:id="rId12"/>
    <p:sldId id="429" r:id="rId13"/>
    <p:sldId id="430" r:id="rId14"/>
    <p:sldId id="431" r:id="rId15"/>
    <p:sldId id="432" r:id="rId16"/>
    <p:sldId id="433" r:id="rId17"/>
    <p:sldId id="434" r:id="rId18"/>
    <p:sldId id="563" r:id="rId19"/>
    <p:sldId id="461" r:id="rId20"/>
    <p:sldId id="462" r:id="rId21"/>
    <p:sldId id="485" r:id="rId22"/>
    <p:sldId id="464" r:id="rId23"/>
    <p:sldId id="465" r:id="rId24"/>
    <p:sldId id="466" r:id="rId25"/>
    <p:sldId id="467" r:id="rId26"/>
    <p:sldId id="564" r:id="rId27"/>
    <p:sldId id="473" r:id="rId28"/>
    <p:sldId id="474" r:id="rId29"/>
    <p:sldId id="486" r:id="rId30"/>
    <p:sldId id="475" r:id="rId31"/>
    <p:sldId id="476" r:id="rId32"/>
    <p:sldId id="477" r:id="rId33"/>
    <p:sldId id="478" r:id="rId34"/>
    <p:sldId id="557" r:id="rId35"/>
    <p:sldId id="559" r:id="rId36"/>
    <p:sldId id="560" r:id="rId37"/>
  </p:sldIdLst>
  <p:sldSz cx="12188825" cy="6858000"/>
  <p:notesSz cx="6858000" cy="9144000"/>
  <p:custDataLst>
    <p:tags r:id="rId4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1018">
          <p15:clr>
            <a:srgbClr val="A4A3A4"/>
          </p15:clr>
        </p15:guide>
        <p15:guide id="5" orient="horz" pos="3886">
          <p15:clr>
            <a:srgbClr val="A4A3A4"/>
          </p15:clr>
        </p15:guide>
        <p15:guide id="6" orient="horz" pos="2928">
          <p15:clr>
            <a:srgbClr val="A4A3A4"/>
          </p15:clr>
        </p15:guide>
        <p15:guide id="7" orient="horz" pos="3072">
          <p15:clr>
            <a:srgbClr val="A4A3A4"/>
          </p15:clr>
        </p15:guide>
        <p15:guide id="8" orient="horz" pos="407">
          <p15:clr>
            <a:srgbClr val="A4A3A4"/>
          </p15:clr>
        </p15:guide>
        <p15:guide id="9" pos="3839">
          <p15:clr>
            <a:srgbClr val="A4A3A4"/>
          </p15:clr>
        </p15:guide>
        <p15:guide id="10" pos="959">
          <p15:clr>
            <a:srgbClr val="A4A3A4"/>
          </p15:clr>
        </p15:guide>
        <p15:guide id="11" pos="7151">
          <p15:clr>
            <a:srgbClr val="A4A3A4"/>
          </p15:clr>
        </p15:guide>
        <p15:guide id="12" pos="671">
          <p15:clr>
            <a:srgbClr val="A4A3A4"/>
          </p15:clr>
        </p15:guide>
        <p15:guide id="13" pos="4991">
          <p15:clr>
            <a:srgbClr val="A4A3A4"/>
          </p15:clr>
        </p15:guide>
        <p15:guide id="14" pos="7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282"/>
    <a:srgbClr val="6E90FE"/>
    <a:srgbClr val="8086FC"/>
    <a:srgbClr val="6D6DFB"/>
    <a:srgbClr val="4E78F0"/>
    <a:srgbClr val="F0932C"/>
    <a:srgbClr val="92C610"/>
    <a:srgbClr val="9FD812"/>
    <a:srgbClr val="E05F2C"/>
    <a:srgbClr val="0AB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0B261-5D56-4540-A7C2-F18B5A37023A}" v="1" dt="2026-05-24T12:54:53.785"/>
  </p1510:revLst>
</p1510:revInfo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19" autoAdjust="0"/>
    <p:restoredTop sz="94629" autoAdjust="0"/>
  </p:normalViewPr>
  <p:slideViewPr>
    <p:cSldViewPr showGuides="1">
      <p:cViewPr varScale="1">
        <p:scale>
          <a:sx n="95" d="100"/>
          <a:sy n="95" d="100"/>
        </p:scale>
        <p:origin x="154" y="72"/>
      </p:cViewPr>
      <p:guideLst>
        <p:guide orient="horz" pos="2160"/>
        <p:guide orient="horz" pos="4030"/>
        <p:guide orient="horz" pos="1152"/>
        <p:guide orient="horz" pos="1018"/>
        <p:guide orient="horz" pos="3886"/>
        <p:guide orient="horz" pos="2928"/>
        <p:guide orient="horz" pos="3072"/>
        <p:guide orient="horz" pos="407"/>
        <p:guide pos="3839"/>
        <p:guide pos="959"/>
        <p:guide pos="7151"/>
        <p:guide pos="671"/>
        <p:guide pos="4991"/>
        <p:guide pos="7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285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adrini, Vincenzo" userId="f61352d9-9198-4695-abd8-70fd6e64330a" providerId="ADAL" clId="{888D66D8-61BD-4B74-94E0-0078727E2FCE}"/>
    <pc:docChg chg="undo custSel delSld modSld">
      <pc:chgData name="Quadrini, Vincenzo" userId="f61352d9-9198-4695-abd8-70fd6e64330a" providerId="ADAL" clId="{888D66D8-61BD-4B74-94E0-0078727E2FCE}" dt="2026-05-24T13:02:03.803" v="18" actId="47"/>
      <pc:docMkLst>
        <pc:docMk/>
      </pc:docMkLst>
      <pc:sldChg chg="addSp delSp modSp mod">
        <pc:chgData name="Quadrini, Vincenzo" userId="f61352d9-9198-4695-abd8-70fd6e64330a" providerId="ADAL" clId="{888D66D8-61BD-4B74-94E0-0078727E2FCE}" dt="2026-05-24T12:55:03.983" v="3" actId="2711"/>
        <pc:sldMkLst>
          <pc:docMk/>
          <pc:sldMk cId="935251751" sldId="417"/>
        </pc:sldMkLst>
        <pc:spChg chg="del">
          <ac:chgData name="Quadrini, Vincenzo" userId="f61352d9-9198-4695-abd8-70fd6e64330a" providerId="ADAL" clId="{888D66D8-61BD-4B74-94E0-0078727E2FCE}" dt="2026-05-24T12:54:47.343" v="0" actId="478"/>
          <ac:spMkLst>
            <pc:docMk/>
            <pc:sldMk cId="935251751" sldId="417"/>
            <ac:spMk id="2" creationId="{00000000-0000-0000-0000-000000000000}"/>
          </ac:spMkLst>
        </pc:spChg>
        <pc:spChg chg="mod">
          <ac:chgData name="Quadrini, Vincenzo" userId="f61352d9-9198-4695-abd8-70fd6e64330a" providerId="ADAL" clId="{888D66D8-61BD-4B74-94E0-0078727E2FCE}" dt="2026-05-24T12:55:03.983" v="3" actId="2711"/>
          <ac:spMkLst>
            <pc:docMk/>
            <pc:sldMk cId="935251751" sldId="417"/>
            <ac:spMk id="3" creationId="{00000000-0000-0000-0000-000000000000}"/>
          </ac:spMkLst>
        </pc:spChg>
        <pc:spChg chg="add del mod">
          <ac:chgData name="Quadrini, Vincenzo" userId="f61352d9-9198-4695-abd8-70fd6e64330a" providerId="ADAL" clId="{888D66D8-61BD-4B74-94E0-0078727E2FCE}" dt="2026-05-24T12:54:52.370" v="1" actId="478"/>
          <ac:spMkLst>
            <pc:docMk/>
            <pc:sldMk cId="935251751" sldId="417"/>
            <ac:spMk id="5" creationId="{2046AC55-0CD8-211C-8884-14C7FFAD7DFC}"/>
          </ac:spMkLst>
        </pc:spChg>
        <pc:spChg chg="add mod">
          <ac:chgData name="Quadrini, Vincenzo" userId="f61352d9-9198-4695-abd8-70fd6e64330a" providerId="ADAL" clId="{888D66D8-61BD-4B74-94E0-0078727E2FCE}" dt="2026-05-24T12:54:53.785" v="2"/>
          <ac:spMkLst>
            <pc:docMk/>
            <pc:sldMk cId="935251751" sldId="417"/>
            <ac:spMk id="6" creationId="{774D51BB-A0AE-23CE-12D6-DC6B7F9E7300}"/>
          </ac:spMkLst>
        </pc:spChg>
      </pc:sldChg>
      <pc:sldChg chg="del">
        <pc:chgData name="Quadrini, Vincenzo" userId="f61352d9-9198-4695-abd8-70fd6e64330a" providerId="ADAL" clId="{888D66D8-61BD-4B74-94E0-0078727E2FCE}" dt="2026-05-24T12:55:46.968" v="4" actId="47"/>
        <pc:sldMkLst>
          <pc:docMk/>
          <pc:sldMk cId="3748640477" sldId="426"/>
        </pc:sldMkLst>
      </pc:sldChg>
      <pc:sldChg chg="del">
        <pc:chgData name="Quadrini, Vincenzo" userId="f61352d9-9198-4695-abd8-70fd6e64330a" providerId="ADAL" clId="{888D66D8-61BD-4B74-94E0-0078727E2FCE}" dt="2026-05-24T13:02:03.803" v="18" actId="47"/>
        <pc:sldMkLst>
          <pc:docMk/>
          <pc:sldMk cId="2374802381" sldId="480"/>
        </pc:sldMkLst>
      </pc:sldChg>
      <pc:sldChg chg="modSp mod">
        <pc:chgData name="Quadrini, Vincenzo" userId="f61352d9-9198-4695-abd8-70fd6e64330a" providerId="ADAL" clId="{888D66D8-61BD-4B74-94E0-0078727E2FCE}" dt="2026-05-24T12:58:19.772" v="17" actId="20577"/>
        <pc:sldMkLst>
          <pc:docMk/>
          <pc:sldMk cId="1974798749" sldId="560"/>
        </pc:sldMkLst>
        <pc:spChg chg="mod">
          <ac:chgData name="Quadrini, Vincenzo" userId="f61352d9-9198-4695-abd8-70fd6e64330a" providerId="ADAL" clId="{888D66D8-61BD-4B74-94E0-0078727E2FCE}" dt="2026-05-24T12:58:19.772" v="17" actId="20577"/>
          <ac:spMkLst>
            <pc:docMk/>
            <pc:sldMk cId="1974798749" sldId="560"/>
            <ac:spMk id="2" creationId="{A84C225F-3081-4F33-AAA3-BC88D49C520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Annual inflation rates and</a:t>
            </a:r>
            <a:r>
              <a:rPr lang="en-US" sz="2400" b="1" baseline="0"/>
              <a:t> annual currency depreciation 1970-2019</a:t>
            </a:r>
            <a:endParaRPr lang="en-US" sz="12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Data!$A$50:$A$59</c:f>
              <c:strCache>
                <c:ptCount val="10"/>
                <c:pt idx="0">
                  <c:v>United States</c:v>
                </c:pt>
                <c:pt idx="1">
                  <c:v>Argentina</c:v>
                </c:pt>
                <c:pt idx="2">
                  <c:v>Brazil</c:v>
                </c:pt>
                <c:pt idx="3">
                  <c:v>Chile</c:v>
                </c:pt>
                <c:pt idx="4">
                  <c:v>Colombia</c:v>
                </c:pt>
                <c:pt idx="5">
                  <c:v>Iceland</c:v>
                </c:pt>
                <c:pt idx="6">
                  <c:v>Indonesia</c:v>
                </c:pt>
                <c:pt idx="7">
                  <c:v>Israel</c:v>
                </c:pt>
                <c:pt idx="8">
                  <c:v>Peru</c:v>
                </c:pt>
                <c:pt idx="9">
                  <c:v>Uruguay</c:v>
                </c:pt>
              </c:strCache>
            </c:strRef>
          </c:cat>
          <c:val>
            <c:numRef>
              <c:f>Data!$B$50:$B$59</c:f>
              <c:numCache>
                <c:formatCode>General</c:formatCode>
                <c:ptCount val="10"/>
                <c:pt idx="0">
                  <c:v>3.4837980723647148</c:v>
                </c:pt>
                <c:pt idx="1">
                  <c:v>192.32385616483811</c:v>
                </c:pt>
                <c:pt idx="2">
                  <c:v>241.94991128407338</c:v>
                </c:pt>
                <c:pt idx="3">
                  <c:v>49.174417260281025</c:v>
                </c:pt>
                <c:pt idx="4">
                  <c:v>16.069760580653163</c:v>
                </c:pt>
                <c:pt idx="5">
                  <c:v>16.665206744017638</c:v>
                </c:pt>
                <c:pt idx="6">
                  <c:v>13.295412649420955</c:v>
                </c:pt>
                <c:pt idx="7">
                  <c:v>35.949060742386862</c:v>
                </c:pt>
                <c:pt idx="8">
                  <c:v>220.48021603256879</c:v>
                </c:pt>
                <c:pt idx="9">
                  <c:v>36.377899064774276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60-4BF1-B23D-381EDF3F9738}"/>
            </c:ext>
          </c:extLst>
        </c:ser>
        <c:ser>
          <c:idx val="1"/>
          <c:order val="1"/>
          <c:spPr>
            <a:noFill/>
            <a:ln>
              <a:noFill/>
            </a:ln>
            <a:effectLst/>
          </c:spPr>
          <c:invertIfNegative val="0"/>
          <c:cat>
            <c:strRef>
              <c:f>Data!$A$50:$A$59</c:f>
              <c:strCache>
                <c:ptCount val="10"/>
                <c:pt idx="0">
                  <c:v>United States</c:v>
                </c:pt>
                <c:pt idx="1">
                  <c:v>Argentina</c:v>
                </c:pt>
                <c:pt idx="2">
                  <c:v>Brazil</c:v>
                </c:pt>
                <c:pt idx="3">
                  <c:v>Chile</c:v>
                </c:pt>
                <c:pt idx="4">
                  <c:v>Colombia</c:v>
                </c:pt>
                <c:pt idx="5">
                  <c:v>Iceland</c:v>
                </c:pt>
                <c:pt idx="6">
                  <c:v>Indonesia</c:v>
                </c:pt>
                <c:pt idx="7">
                  <c:v>Israel</c:v>
                </c:pt>
                <c:pt idx="8">
                  <c:v>Peru</c:v>
                </c:pt>
                <c:pt idx="9">
                  <c:v>Uruguay</c:v>
                </c:pt>
              </c:strCache>
            </c:strRef>
          </c:cat>
          <c:val>
            <c:numRef>
              <c:f>Data!$C$50:$C$59</c:f>
              <c:numCache>
                <c:formatCode>General</c:formatCode>
                <c:ptCount val="10"/>
                <c:pt idx="0">
                  <c:v>0</c:v>
                </c:pt>
                <c:pt idx="1">
                  <c:v>210.71082060258544</c:v>
                </c:pt>
                <c:pt idx="2">
                  <c:v>210.85318874771951</c:v>
                </c:pt>
                <c:pt idx="3">
                  <c:v>48.897136757297737</c:v>
                </c:pt>
                <c:pt idx="4">
                  <c:v>11.765053773185025</c:v>
                </c:pt>
                <c:pt idx="5">
                  <c:v>12.31630331343016</c:v>
                </c:pt>
                <c:pt idx="6">
                  <c:v>10.60973110015088</c:v>
                </c:pt>
                <c:pt idx="7">
                  <c:v>31.048383011172579</c:v>
                </c:pt>
                <c:pt idx="8">
                  <c:v>218.87437967170234</c:v>
                </c:pt>
                <c:pt idx="9">
                  <c:v>30.658789843046019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60-4BF1-B23D-381EDF3F9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5264879"/>
        <c:axId val="1493562527"/>
      </c:barChart>
      <c:catAx>
        <c:axId val="1285264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562527"/>
        <c:crosses val="autoZero"/>
        <c:auto val="1"/>
        <c:lblAlgn val="ctr"/>
        <c:lblOffset val="100"/>
        <c:noMultiLvlLbl val="0"/>
      </c:catAx>
      <c:valAx>
        <c:axId val="149356252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90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264879"/>
        <c:crosses val="autoZero"/>
        <c:crossBetween val="between"/>
      </c:valAx>
      <c:spPr>
        <a:noFill/>
        <a:ln w="19050"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Annual inflation rates and</a:t>
            </a:r>
            <a:r>
              <a:rPr lang="en-US" sz="2400" b="1" baseline="0"/>
              <a:t> annual currency depreciation 1970-2019</a:t>
            </a:r>
            <a:endParaRPr lang="en-US" sz="12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Data!$A$50:$A$59</c:f>
              <c:strCache>
                <c:ptCount val="10"/>
                <c:pt idx="0">
                  <c:v>United States</c:v>
                </c:pt>
                <c:pt idx="1">
                  <c:v>Argentina</c:v>
                </c:pt>
                <c:pt idx="2">
                  <c:v>Brazil</c:v>
                </c:pt>
                <c:pt idx="3">
                  <c:v>Chile</c:v>
                </c:pt>
                <c:pt idx="4">
                  <c:v>Colombia</c:v>
                </c:pt>
                <c:pt idx="5">
                  <c:v>Iceland</c:v>
                </c:pt>
                <c:pt idx="6">
                  <c:v>Indonesia</c:v>
                </c:pt>
                <c:pt idx="7">
                  <c:v>Israel</c:v>
                </c:pt>
                <c:pt idx="8">
                  <c:v>Peru</c:v>
                </c:pt>
                <c:pt idx="9">
                  <c:v>Uruguay</c:v>
                </c:pt>
              </c:strCache>
            </c:strRef>
          </c:cat>
          <c:val>
            <c:numRef>
              <c:f>Data!$B$50:$B$59</c:f>
              <c:numCache>
                <c:formatCode>General</c:formatCode>
                <c:ptCount val="10"/>
                <c:pt idx="0">
                  <c:v>3.4837980723647148</c:v>
                </c:pt>
                <c:pt idx="1">
                  <c:v>192.32385616483811</c:v>
                </c:pt>
                <c:pt idx="2">
                  <c:v>241.94991128407338</c:v>
                </c:pt>
                <c:pt idx="3">
                  <c:v>49.174417260281025</c:v>
                </c:pt>
                <c:pt idx="4">
                  <c:v>16.069760580653163</c:v>
                </c:pt>
                <c:pt idx="5">
                  <c:v>16.665206744017638</c:v>
                </c:pt>
                <c:pt idx="6">
                  <c:v>13.295412649420955</c:v>
                </c:pt>
                <c:pt idx="7">
                  <c:v>35.949060742386862</c:v>
                </c:pt>
                <c:pt idx="8">
                  <c:v>220.48021603256879</c:v>
                </c:pt>
                <c:pt idx="9">
                  <c:v>36.377899064774276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D4-402F-91CE-9AF1C7E305BD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Data!$A$50:$A$59</c:f>
              <c:strCache>
                <c:ptCount val="10"/>
                <c:pt idx="0">
                  <c:v>United States</c:v>
                </c:pt>
                <c:pt idx="1">
                  <c:v>Argentina</c:v>
                </c:pt>
                <c:pt idx="2">
                  <c:v>Brazil</c:v>
                </c:pt>
                <c:pt idx="3">
                  <c:v>Chile</c:v>
                </c:pt>
                <c:pt idx="4">
                  <c:v>Colombia</c:v>
                </c:pt>
                <c:pt idx="5">
                  <c:v>Iceland</c:v>
                </c:pt>
                <c:pt idx="6">
                  <c:v>Indonesia</c:v>
                </c:pt>
                <c:pt idx="7">
                  <c:v>Israel</c:v>
                </c:pt>
                <c:pt idx="8">
                  <c:v>Peru</c:v>
                </c:pt>
                <c:pt idx="9">
                  <c:v>Uruguay</c:v>
                </c:pt>
              </c:strCache>
            </c:strRef>
          </c:cat>
          <c:val>
            <c:numRef>
              <c:f>Data!$C$50:$C$59</c:f>
              <c:numCache>
                <c:formatCode>General</c:formatCode>
                <c:ptCount val="10"/>
                <c:pt idx="0">
                  <c:v>0</c:v>
                </c:pt>
                <c:pt idx="1">
                  <c:v>210.71082060258544</c:v>
                </c:pt>
                <c:pt idx="2">
                  <c:v>210.85318874771951</c:v>
                </c:pt>
                <c:pt idx="3">
                  <c:v>48.897136757297737</c:v>
                </c:pt>
                <c:pt idx="4">
                  <c:v>11.765053773185025</c:v>
                </c:pt>
                <c:pt idx="5">
                  <c:v>12.31630331343016</c:v>
                </c:pt>
                <c:pt idx="6">
                  <c:v>10.60973110015088</c:v>
                </c:pt>
                <c:pt idx="7">
                  <c:v>31.048383011172579</c:v>
                </c:pt>
                <c:pt idx="8">
                  <c:v>218.87437967170234</c:v>
                </c:pt>
                <c:pt idx="9">
                  <c:v>30.658789843046019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D4-402F-91CE-9AF1C7E305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5264879"/>
        <c:axId val="1493562527"/>
      </c:barChart>
      <c:catAx>
        <c:axId val="1285264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562527"/>
        <c:crosses val="autoZero"/>
        <c:auto val="1"/>
        <c:lblAlgn val="ctr"/>
        <c:lblOffset val="100"/>
        <c:noMultiLvlLbl val="0"/>
      </c:catAx>
      <c:valAx>
        <c:axId val="149356252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905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264879"/>
        <c:crosses val="autoZero"/>
        <c:crossBetween val="between"/>
      </c:valAx>
      <c:spPr>
        <a:noFill/>
        <a:ln w="19050"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9AFDC-7658-4951-B0FF-52DFF2A93C0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ED99B-9732-49FC-9C16-B56FEB1B1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6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68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20</a:t>
            </a:fld>
            <a:endParaRPr 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0C3E65-9ACB-475D-8C0B-49DB9D92C94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293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22</a:t>
            </a:fld>
            <a:endParaRPr 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23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501609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24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414828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25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4153884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0693-290E-2CE7-FEEF-5453C6F7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6BC5B18D-F6F7-4163-D8F8-8D0162D43E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62193251-CC0B-2CE6-D22E-0F2649B98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B87B8E61-BE83-377E-4D3A-CDAC1944B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26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062352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27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557149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28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560166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30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983913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31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4230831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C0C3E65-9ACB-475D-8C0B-49DB9D92C949}" type="slidenum">
              <a:rPr lang="en-US" sz="1300" smtClean="0"/>
              <a:pPr/>
              <a:t>32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791172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C2C71152-C9B9-44FA-A720-070A0054B0BF}" type="slidenum">
              <a:rPr lang="en-US" sz="1300" smtClean="0"/>
              <a:pPr/>
              <a:t>33</a:t>
            </a:fld>
            <a:endParaRPr 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0C3E65-9ACB-475D-8C0B-49DB9D92C94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572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5945188" cy="3048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0825" y="4898572"/>
            <a:ext cx="5945187" cy="127045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</a:t>
            </a:r>
            <a:r>
              <a:rPr dirty="0"/>
              <a:t>dit Master subtitle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4782971"/>
            <a:ext cx="56546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 userDrawn="1"/>
        </p:nvGrpSpPr>
        <p:grpSpPr>
          <a:xfrm>
            <a:off x="7923213" y="0"/>
            <a:ext cx="4265612" cy="6858000"/>
            <a:chOff x="7923213" y="0"/>
            <a:chExt cx="4265612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13" y="0"/>
              <a:ext cx="4265612" cy="685800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923213" y="0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0" y="2237096"/>
            <a:ext cx="8229601" cy="2411103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2" y="4876800"/>
            <a:ext cx="8229601" cy="129222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1123611" y="0"/>
            <a:ext cx="1065214" cy="6868886"/>
            <a:chOff x="11123611" y="0"/>
            <a:chExt cx="1065214" cy="686888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23611" y="0"/>
              <a:ext cx="1065213" cy="68580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11123612" y="10886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9" name="Straight Connector 8"/>
          <p:cNvCxnSpPr/>
          <p:nvPr/>
        </p:nvCxnSpPr>
        <p:spPr>
          <a:xfrm>
            <a:off x="1658936" y="4782971"/>
            <a:ext cx="80168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168" y="1984248"/>
            <a:ext cx="4800600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2" y="1984248"/>
            <a:ext cx="4800601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16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5/24/2026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5/24/2026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5/24/2026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4" y="685800"/>
            <a:ext cx="525779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8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000" b="0" i="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6025925" y="-50118"/>
            <a:ext cx="6172198" cy="6857999"/>
          </a:xfrm>
          <a:solidFill>
            <a:schemeClr val="bg2"/>
          </a:solidFill>
          <a:effectLst>
            <a:outerShdw blurRad="152400" dist="50800" dir="10800000" algn="r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3412" y="646112"/>
            <a:ext cx="1828801" cy="5522913"/>
          </a:xfrm>
        </p:spPr>
        <p:txBody>
          <a:bodyPr vert="eaVert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646112"/>
            <a:ext cx="7620000" cy="5522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9371012" y="762000"/>
            <a:ext cx="0" cy="533400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81200"/>
            <a:ext cx="9829799" cy="4187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5954834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011" y="6400800"/>
            <a:ext cx="154865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5411" y="6400800"/>
            <a:ext cx="106680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65213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" y="0"/>
            <a:ext cx="1065213" cy="6858000"/>
          </a:xfrm>
          <a:prstGeom prst="rect">
            <a:avLst/>
          </a:prstGeom>
          <a:gradFill flip="none" rotWithShape="1">
            <a:gsLst>
              <a:gs pos="75000">
                <a:schemeClr val="tx2">
                  <a:alpha val="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dollar-currency-money-us-dollar-2584988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://www.stockpicturesforeveryone.com/2012/07/british-pound-or-gbp-images-and.html" TargetMode="Externa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hyperlink" Target="https://pixabay.com/en/dollar-currency-money-us-dollar-2584988/" TargetMode="External"/><Relationship Id="rId7" Type="http://schemas.openxmlformats.org/officeDocument/2006/relationships/hyperlink" Target="https://commons.wikimedia.org/wiki/File:Big_Ben,_London_(30977153027).jp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hyperlink" Target="http://www.stockpicturesforeveryone.com/2012/07/british-pound-or-gbp-images-and.html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www.publicdomainpictures.net/en/view-image.php?image=165296&amp;picture=new-york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hyperlink" Target="https://pixabay.com/en/dollar-currency-money-us-dollar-2584988/" TargetMode="External"/><Relationship Id="rId7" Type="http://schemas.openxmlformats.org/officeDocument/2006/relationships/hyperlink" Target="https://commons.wikimedia.org/wiki/File:Big_Ben,_London_(30977153027).jp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hyperlink" Target="http://www.stockpicturesforeveryone.com/2012/07/british-pound-or-gbp-images-and.html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www.publicdomainpictures.net/en/view-image.php?image=165296&amp;picture=new-york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hyperlink" Target="https://pixabay.com/en/dollar-currency-money-us-dollar-2584988/" TargetMode="External"/><Relationship Id="rId7" Type="http://schemas.openxmlformats.org/officeDocument/2006/relationships/hyperlink" Target="https://commons.wikimedia.org/wiki/File:Big_Ben,_London_(30977153027).jp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hyperlink" Target="http://www.stockpicturesforeveryone.com/2012/07/british-pound-or-gbp-images-and.html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www.publicdomainpictures.net/en/view-image.php?image=165296&amp;picture=new-york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usa-america-united-states-flag-1336898/" TargetMode="External"/><Relationship Id="rId13" Type="http://schemas.openxmlformats.org/officeDocument/2006/relationships/image" Target="../media/image18.png"/><Relationship Id="rId3" Type="http://schemas.openxmlformats.org/officeDocument/2006/relationships/image" Target="../media/image11.jpeg"/><Relationship Id="rId7" Type="http://schemas.openxmlformats.org/officeDocument/2006/relationships/image" Target="../media/image13.jpeg"/><Relationship Id="rId12" Type="http://schemas.openxmlformats.org/officeDocument/2006/relationships/hyperlink" Target="https://en.wikipedia.org/wiki/Euro_banknot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ixabay.com/en/eu-flag-europe-european-union-2891828/" TargetMode="External"/><Relationship Id="rId11" Type="http://schemas.openxmlformats.org/officeDocument/2006/relationships/image" Target="../media/image15.png"/><Relationship Id="rId5" Type="http://schemas.openxmlformats.org/officeDocument/2006/relationships/image" Target="../media/image12.jpeg"/><Relationship Id="rId10" Type="http://schemas.openxmlformats.org/officeDocument/2006/relationships/hyperlink" Target="https://pixabay.com/en/dollar-currency-money-us-dollar-2584988/" TargetMode="External"/><Relationship Id="rId4" Type="http://schemas.openxmlformats.org/officeDocument/2006/relationships/hyperlink" Target="https://en.wikipedia.org/wiki/Audi_A4" TargetMode="External"/><Relationship Id="rId9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pxhere.com/en/photo/1382454" TargetMode="External"/><Relationship Id="rId3" Type="http://schemas.openxmlformats.org/officeDocument/2006/relationships/image" Target="../media/image16.jp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wiss_franc" TargetMode="External"/><Relationship Id="rId5" Type="http://schemas.openxmlformats.org/officeDocument/2006/relationships/image" Target="../media/image17.jpeg"/><Relationship Id="rId4" Type="http://schemas.openxmlformats.org/officeDocument/2006/relationships/hyperlink" Target="http://rigvedawiki.net/w/%EB%B9%85%EB%A7%A5" TargetMode="External"/><Relationship Id="rId9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>
                <a:latin typeface="National semibold" panose="02000503000000020004"/>
              </a:rPr>
              <a:t>The market for foreign currencies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4D51BB-A0AE-23CE-12D6-DC6B7F9E7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823" y="1600200"/>
            <a:ext cx="6290765" cy="3048000"/>
          </a:xfrm>
        </p:spPr>
        <p:txBody>
          <a:bodyPr/>
          <a:lstStyle/>
          <a:p>
            <a:r>
              <a:rPr lang="en-US" sz="5400" b="1" dirty="0">
                <a:latin typeface="National semibold" panose="02000503000000020004"/>
              </a:rPr>
              <a:t>Introduction to </a:t>
            </a:r>
            <a:br>
              <a:rPr lang="en-US" sz="5400" b="1" dirty="0">
                <a:latin typeface="National semibold" panose="02000503000000020004"/>
              </a:rPr>
            </a:br>
            <a:r>
              <a:rPr lang="en-US" sz="5400" b="1" dirty="0">
                <a:latin typeface="National semibold" panose="02000503000000020004"/>
              </a:rPr>
              <a:t>Decentralized Finance </a:t>
            </a:r>
            <a:br>
              <a:rPr lang="en-US" sz="5400" b="1" dirty="0">
                <a:latin typeface="National semibold" panose="02000503000000020004"/>
              </a:rPr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93525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Foreign exchange 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F25BA7-3CBF-4684-B7E8-E943A458A4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0613" y="2362200"/>
            <a:ext cx="7696199" cy="2362200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endParaRPr lang="en-US" altLang="en-US" sz="800" dirty="0">
              <a:latin typeface="National Semibold" panose="02000503000000020004" pitchFamily="50" charset="0"/>
              <a:ea typeface="National Semibold" panose="02000503000000020004" pitchFamily="50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3200" b="1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Exchange rate</a:t>
            </a:r>
            <a:r>
              <a:rPr lang="en-US" altLang="en-US" sz="3200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 is:</a:t>
            </a:r>
          </a:p>
          <a:p>
            <a:pPr marL="287337" lvl="1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Arial" charset="0"/>
              </a:rPr>
              <a:t>Price of one nation’s money in terms of another nation’s money</a:t>
            </a:r>
            <a:r>
              <a:rPr lang="en-US" altLang="en-US" sz="3200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760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How does the foreign exchange market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F897-2643-4490-93FF-4FF458F1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828800"/>
            <a:ext cx="9448799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500" dirty="0">
              <a:latin typeface="National semibold" panose="02000503000000020004"/>
            </a:endParaRPr>
          </a:p>
          <a:p>
            <a:pPr marL="0" indent="0">
              <a:buNone/>
            </a:pPr>
            <a:r>
              <a:rPr lang="en-US" sz="3500" dirty="0">
                <a:latin typeface="National semibold" panose="02000503000000020004"/>
              </a:rPr>
              <a:t>As any other market, it is characterized by the interaction of demand and supply. </a:t>
            </a:r>
          </a:p>
          <a:p>
            <a:pPr marL="0" indent="0">
              <a:buNone/>
            </a:pPr>
            <a:endParaRPr lang="en-US" sz="3500" dirty="0">
              <a:latin typeface="National semibold" panose="02000503000000020004"/>
            </a:endParaRPr>
          </a:p>
          <a:p>
            <a:pPr marL="0" indent="0">
              <a:buNone/>
            </a:pPr>
            <a:r>
              <a:rPr lang="en-US" sz="3500" dirty="0">
                <a:latin typeface="National semibold" panose="02000503000000020004"/>
              </a:rPr>
              <a:t>The price for the currency or foreign exchange rate is determined to equalize demand and supply.</a:t>
            </a:r>
          </a:p>
        </p:txBody>
      </p:sp>
    </p:spTree>
    <p:extLst>
      <p:ext uri="{BB962C8B-B14F-4D97-AF65-F5344CB8AC3E}">
        <p14:creationId xmlns:p14="http://schemas.microsoft.com/office/powerpoint/2010/main" val="38698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1C71-9D12-47AF-83F5-C57DFB1A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>
                <a:latin typeface="National semibold" panose="02000503000000020004"/>
              </a:rPr>
              <a:t>Demand of Pounds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1E923C2-1B3F-4F71-8472-3AFEDB928FF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598612" y="2209800"/>
            <a:ext cx="9639300" cy="3810000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endParaRPr lang="en-US" altLang="en-US" sz="800" dirty="0">
              <a:latin typeface="National Semibold" panose="02000503000000020004" pitchFamily="50" charset="0"/>
              <a:ea typeface="National Semibold" panose="02000503000000020004" pitchFamily="50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sz="3200" dirty="0">
              <a:solidFill>
                <a:srgbClr val="000000"/>
              </a:solidFill>
              <a:latin typeface="National semibold" panose="02000503000000020004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National semibold" panose="02000503000000020004"/>
              </a:rPr>
              <a:t>The demand comes from anyone who wants to buy Pounds. 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National semibold" panose="02000503000000020004"/>
              </a:rPr>
              <a:t>US importers </a:t>
            </a:r>
          </a:p>
          <a:p>
            <a:pPr>
              <a:spcBef>
                <a:spcPts val="0"/>
              </a:spcBef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National semibold" panose="02000503000000020004"/>
              </a:rPr>
              <a:t>US investors</a:t>
            </a:r>
          </a:p>
          <a:p>
            <a:pPr>
              <a:spcBef>
                <a:spcPts val="0"/>
              </a:spcBef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National semibold" panose="02000503000000020004"/>
              </a:rPr>
              <a:t>Others such as tourists traveling to the UK</a:t>
            </a:r>
          </a:p>
          <a:p>
            <a:pPr marL="0" indent="0">
              <a:spcBef>
                <a:spcPts val="0"/>
              </a:spcBef>
              <a:buNone/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678568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950C-7AF9-4E9F-9A10-E0F992107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819" y="381000"/>
            <a:ext cx="9677393" cy="1219200"/>
          </a:xfrm>
        </p:spPr>
        <p:txBody>
          <a:bodyPr anchor="ctr"/>
          <a:lstStyle/>
          <a:p>
            <a:r>
              <a:rPr lang="en-US" dirty="0">
                <a:latin typeface="National semibold" panose="02000503000000020004"/>
              </a:rPr>
              <a:t>Demand for Pounds (</a:t>
            </a:r>
            <a:r>
              <a:rPr lang="en-US" dirty="0">
                <a:latin typeface="National semibold" panose="02000503000000020004"/>
                <a:cs typeface="Times New Roman" pitchFamily="18" charset="0"/>
              </a:rPr>
              <a:t>£)</a:t>
            </a:r>
            <a:r>
              <a:rPr lang="en-US" dirty="0">
                <a:latin typeface="National semibold" panose="02000503000000020004"/>
              </a:rPr>
              <a:t> in exchange of Dollars ($)</a:t>
            </a:r>
          </a:p>
        </p:txBody>
      </p:sp>
      <p:sp>
        <p:nvSpPr>
          <p:cNvPr id="5" name="Line 41">
            <a:extLst>
              <a:ext uri="{FF2B5EF4-FFF2-40B4-BE49-F238E27FC236}">
                <a16:creationId xmlns:a16="http://schemas.microsoft.com/office/drawing/2014/main" id="{CD87B30C-4474-4A46-AD25-97E0E04AC8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1312" y="2163762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42">
            <a:extLst>
              <a:ext uri="{FF2B5EF4-FFF2-40B4-BE49-F238E27FC236}">
                <a16:creationId xmlns:a16="http://schemas.microsoft.com/office/drawing/2014/main" id="{66D00810-EF65-45D7-A4CE-340ABC2ED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2" y="5897562"/>
            <a:ext cx="445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id="{22EAA22F-2BF7-4AD9-A119-0A2060E3A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837" y="38512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1400">
              <a:latin typeface="Times New Roman" pitchFamily="18" charset="0"/>
            </a:endParaRPr>
          </a:p>
        </p:txBody>
      </p:sp>
      <p:sp>
        <p:nvSpPr>
          <p:cNvPr id="9" name="Line 46">
            <a:extLst>
              <a:ext uri="{FF2B5EF4-FFF2-40B4-BE49-F238E27FC236}">
                <a16:creationId xmlns:a16="http://schemas.microsoft.com/office/drawing/2014/main" id="{3CF29B7C-9803-4558-84FE-7DC724213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3612" y="3014662"/>
            <a:ext cx="19812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58">
            <a:extLst>
              <a:ext uri="{FF2B5EF4-FFF2-40B4-BE49-F238E27FC236}">
                <a16:creationId xmlns:a16="http://schemas.microsoft.com/office/drawing/2014/main" id="{EE484041-60AC-4B2D-A5F7-4FF1C6213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2" y="5924550"/>
            <a:ext cx="125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 dirty="0">
                <a:latin typeface="National semibold" panose="02000503000000020004"/>
              </a:rPr>
              <a:t>Billions of </a:t>
            </a:r>
            <a:r>
              <a:rPr lang="en-US" dirty="0">
                <a:latin typeface="National semibold" panose="02000503000000020004"/>
                <a:cs typeface="Times New Roman" pitchFamily="18" charset="0"/>
              </a:rPr>
              <a:t>£</a:t>
            </a:r>
            <a:endParaRPr lang="en-US" sz="1400" dirty="0">
              <a:latin typeface="National semibold" panose="02000503000000020004"/>
            </a:endParaRPr>
          </a:p>
        </p:txBody>
      </p:sp>
      <p:sp>
        <p:nvSpPr>
          <p:cNvPr id="23" name="Text Box 60">
            <a:extLst>
              <a:ext uri="{FF2B5EF4-FFF2-40B4-BE49-F238E27FC236}">
                <a16:creationId xmlns:a16="http://schemas.microsoft.com/office/drawing/2014/main" id="{320C3676-344C-4764-8B4D-E12FD8F0F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4" y="2362200"/>
            <a:ext cx="9124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dirty="0">
                <a:latin typeface="National semibold" panose="02000503000000020004"/>
                <a:cs typeface="Times New Roman" pitchFamily="18" charset="0"/>
              </a:rPr>
              <a:t>$ per £</a:t>
            </a:r>
            <a:endParaRPr lang="en-US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81821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2B7B-60F3-4307-8C90-EBB1A100E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latin typeface="National semibold" panose="02000503000000020004"/>
              </a:rPr>
              <a:t>Supply of Pounds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1E923C2-1B3F-4F71-8472-3AFEDB928FF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522413" y="2209800"/>
            <a:ext cx="9677400" cy="3962400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endParaRPr lang="en-US" altLang="en-US" sz="800" dirty="0">
              <a:latin typeface="National Semibold" panose="02000503000000020004" pitchFamily="50" charset="0"/>
              <a:ea typeface="National Semibold" panose="02000503000000020004" pitchFamily="50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sz="3200" dirty="0">
              <a:solidFill>
                <a:srgbClr val="000000"/>
              </a:solidFill>
              <a:latin typeface="National semibold" panose="02000503000000020004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National semibold" panose="02000503000000020004"/>
              </a:rPr>
              <a:t>The supply comes from anyone who wants to sell Pounds. 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National semibold" panose="02000503000000020004"/>
              </a:rPr>
              <a:t>UK importers </a:t>
            </a:r>
          </a:p>
          <a:p>
            <a:pPr>
              <a:spcBef>
                <a:spcPts val="0"/>
              </a:spcBef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National semibold" panose="02000503000000020004"/>
              </a:rPr>
              <a:t>UK investors</a:t>
            </a:r>
          </a:p>
          <a:p>
            <a:pPr>
              <a:spcBef>
                <a:spcPts val="0"/>
              </a:spcBef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National semibold" panose="02000503000000020004"/>
              </a:rPr>
              <a:t>Others such as British tourists traveling to the United States</a:t>
            </a:r>
          </a:p>
          <a:p>
            <a:pPr marL="0" indent="0">
              <a:spcBef>
                <a:spcPts val="0"/>
              </a:spcBef>
              <a:buNone/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51653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950C-7AF9-4E9F-9A10-E0F992107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819" y="381000"/>
            <a:ext cx="9677393" cy="1219200"/>
          </a:xfrm>
        </p:spPr>
        <p:txBody>
          <a:bodyPr anchor="ctr"/>
          <a:lstStyle/>
          <a:p>
            <a:r>
              <a:rPr lang="en-US" dirty="0">
                <a:latin typeface="National semibold" panose="02000503000000020004"/>
              </a:rPr>
              <a:t>Supply of Pounds (</a:t>
            </a:r>
            <a:r>
              <a:rPr lang="en-US" dirty="0">
                <a:latin typeface="National semibold" panose="02000503000000020004"/>
                <a:cs typeface="Times New Roman" pitchFamily="18" charset="0"/>
              </a:rPr>
              <a:t>£)</a:t>
            </a:r>
            <a:r>
              <a:rPr lang="en-US" dirty="0">
                <a:latin typeface="National semibold" panose="02000503000000020004"/>
              </a:rPr>
              <a:t> in exchange of Dollars ($)</a:t>
            </a:r>
          </a:p>
        </p:txBody>
      </p:sp>
      <p:sp>
        <p:nvSpPr>
          <p:cNvPr id="5" name="Line 41">
            <a:extLst>
              <a:ext uri="{FF2B5EF4-FFF2-40B4-BE49-F238E27FC236}">
                <a16:creationId xmlns:a16="http://schemas.microsoft.com/office/drawing/2014/main" id="{CD87B30C-4474-4A46-AD25-97E0E04AC8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1312" y="2163762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42">
            <a:extLst>
              <a:ext uri="{FF2B5EF4-FFF2-40B4-BE49-F238E27FC236}">
                <a16:creationId xmlns:a16="http://schemas.microsoft.com/office/drawing/2014/main" id="{66D00810-EF65-45D7-A4CE-340ABC2ED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2" y="5897562"/>
            <a:ext cx="445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id="{22EAA22F-2BF7-4AD9-A119-0A2060E3A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837" y="38512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1400">
              <a:latin typeface="Times New Roman" pitchFamily="18" charset="0"/>
            </a:endParaRPr>
          </a:p>
        </p:txBody>
      </p:sp>
      <p:sp>
        <p:nvSpPr>
          <p:cNvPr id="21" name="Text Box 58">
            <a:extLst>
              <a:ext uri="{FF2B5EF4-FFF2-40B4-BE49-F238E27FC236}">
                <a16:creationId xmlns:a16="http://schemas.microsoft.com/office/drawing/2014/main" id="{EE484041-60AC-4B2D-A5F7-4FF1C6213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2" y="5924550"/>
            <a:ext cx="125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 dirty="0">
                <a:latin typeface="National semibold" panose="02000503000000020004"/>
              </a:rPr>
              <a:t>Billions of </a:t>
            </a:r>
            <a:r>
              <a:rPr lang="en-US" dirty="0">
                <a:latin typeface="National semibold" panose="02000503000000020004"/>
                <a:cs typeface="Times New Roman" pitchFamily="18" charset="0"/>
              </a:rPr>
              <a:t>£</a:t>
            </a:r>
            <a:endParaRPr lang="en-US" sz="1400" dirty="0">
              <a:latin typeface="National semibold" panose="02000503000000020004"/>
            </a:endParaRPr>
          </a:p>
        </p:txBody>
      </p:sp>
      <p:sp>
        <p:nvSpPr>
          <p:cNvPr id="3" name="Line 47">
            <a:extLst>
              <a:ext uri="{FF2B5EF4-FFF2-40B4-BE49-F238E27FC236}">
                <a16:creationId xmlns:a16="http://schemas.microsoft.com/office/drawing/2014/main" id="{8EC01CAE-92CD-4C20-A1B4-AB57917BF0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7412" y="3001962"/>
            <a:ext cx="20574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60">
            <a:extLst>
              <a:ext uri="{FF2B5EF4-FFF2-40B4-BE49-F238E27FC236}">
                <a16:creationId xmlns:a16="http://schemas.microsoft.com/office/drawing/2014/main" id="{4DF17809-B595-44BF-93F2-2D6A6A899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2" y="2286000"/>
            <a:ext cx="9124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dirty="0">
                <a:latin typeface="National semibold" panose="02000503000000020004"/>
                <a:cs typeface="Times New Roman" pitchFamily="18" charset="0"/>
              </a:rPr>
              <a:t>$ per £</a:t>
            </a:r>
            <a:endParaRPr lang="en-US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56323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950C-7AF9-4E9F-9A10-E0F99210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latin typeface="National semibold" panose="02000503000000020004"/>
              </a:rPr>
              <a:t>Demand and supply together</a:t>
            </a:r>
          </a:p>
        </p:txBody>
      </p:sp>
      <p:sp>
        <p:nvSpPr>
          <p:cNvPr id="5" name="Line 41">
            <a:extLst>
              <a:ext uri="{FF2B5EF4-FFF2-40B4-BE49-F238E27FC236}">
                <a16:creationId xmlns:a16="http://schemas.microsoft.com/office/drawing/2014/main" id="{CD87B30C-4474-4A46-AD25-97E0E04AC8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1312" y="2163762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42">
            <a:extLst>
              <a:ext uri="{FF2B5EF4-FFF2-40B4-BE49-F238E27FC236}">
                <a16:creationId xmlns:a16="http://schemas.microsoft.com/office/drawing/2014/main" id="{66D00810-EF65-45D7-A4CE-340ABC2ED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2" y="5897562"/>
            <a:ext cx="445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43">
            <a:extLst>
              <a:ext uri="{FF2B5EF4-FFF2-40B4-BE49-F238E27FC236}">
                <a16:creationId xmlns:a16="http://schemas.microsoft.com/office/drawing/2014/main" id="{1F5D8E4D-7DBB-4E90-B001-3148AF5B4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2" y="3992661"/>
            <a:ext cx="4122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 dirty="0">
                <a:latin typeface="National semibold" panose="02000503000000020004"/>
              </a:rPr>
              <a:t>1.6</a:t>
            </a:r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id="{22EAA22F-2BF7-4AD9-A119-0A2060E3A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837" y="38512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1400">
              <a:latin typeface="Times New Roman" pitchFamily="18" charset="0"/>
            </a:endParaRPr>
          </a:p>
        </p:txBody>
      </p:sp>
      <p:sp>
        <p:nvSpPr>
          <p:cNvPr id="9" name="Line 46">
            <a:extLst>
              <a:ext uri="{FF2B5EF4-FFF2-40B4-BE49-F238E27FC236}">
                <a16:creationId xmlns:a16="http://schemas.microsoft.com/office/drawing/2014/main" id="{3CF29B7C-9803-4558-84FE-7DC724213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3612" y="3014662"/>
            <a:ext cx="19812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47">
            <a:extLst>
              <a:ext uri="{FF2B5EF4-FFF2-40B4-BE49-F238E27FC236}">
                <a16:creationId xmlns:a16="http://schemas.microsoft.com/office/drawing/2014/main" id="{7CF24E14-F443-4748-A7D2-868795AC9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7412" y="3001962"/>
            <a:ext cx="20574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48">
            <a:extLst>
              <a:ext uri="{FF2B5EF4-FFF2-40B4-BE49-F238E27FC236}">
                <a16:creationId xmlns:a16="http://schemas.microsoft.com/office/drawing/2014/main" id="{0FC37BC5-4C9C-4985-B373-434585E7F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762" y="2773362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dirty="0">
                <a:latin typeface="National semibold" panose="02000503000000020004"/>
                <a:cs typeface="Times New Roman" pitchFamily="18" charset="0"/>
              </a:rPr>
              <a:t>S</a:t>
            </a:r>
            <a:r>
              <a:rPr lang="en-US" baseline="-25000" dirty="0">
                <a:latin typeface="National semibold" panose="02000503000000020004"/>
                <a:cs typeface="Times New Roman" pitchFamily="18" charset="0"/>
              </a:rPr>
              <a:t>£</a:t>
            </a:r>
          </a:p>
        </p:txBody>
      </p:sp>
      <p:sp>
        <p:nvSpPr>
          <p:cNvPr id="12" name="Text Box 49">
            <a:extLst>
              <a:ext uri="{FF2B5EF4-FFF2-40B4-BE49-F238E27FC236}">
                <a16:creationId xmlns:a16="http://schemas.microsoft.com/office/drawing/2014/main" id="{AB78D95F-46DE-451D-83B7-3444EB1DA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112" y="5135562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dirty="0">
                <a:latin typeface="National semibold" panose="02000503000000020004"/>
                <a:cs typeface="Times New Roman" pitchFamily="18" charset="0"/>
              </a:rPr>
              <a:t>D</a:t>
            </a:r>
            <a:r>
              <a:rPr lang="en-US" baseline="-25000" dirty="0">
                <a:latin typeface="National semibold" panose="02000503000000020004"/>
                <a:cs typeface="Times New Roman" pitchFamily="18" charset="0"/>
              </a:rPr>
              <a:t>£</a:t>
            </a:r>
          </a:p>
        </p:txBody>
      </p:sp>
      <p:sp>
        <p:nvSpPr>
          <p:cNvPr id="13" name="Line 50">
            <a:extLst>
              <a:ext uri="{FF2B5EF4-FFF2-40B4-BE49-F238E27FC236}">
                <a16:creationId xmlns:a16="http://schemas.microsoft.com/office/drawing/2014/main" id="{3F98D22A-3239-4E62-B0CF-41225C5DA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522" y="4144962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C7891EE1-E57E-481F-B7CD-BA9A4CAF5A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2" y="4132262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52">
            <a:extLst>
              <a:ext uri="{FF2B5EF4-FFF2-40B4-BE49-F238E27FC236}">
                <a16:creationId xmlns:a16="http://schemas.microsoft.com/office/drawing/2014/main" id="{FC7A9D66-5BEC-4973-AADF-FA721E09D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2" y="5972274"/>
            <a:ext cx="458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 dirty="0">
                <a:latin typeface="National semibold" panose="02000503000000020004"/>
              </a:rPr>
              <a:t>300</a:t>
            </a:r>
          </a:p>
        </p:txBody>
      </p:sp>
      <p:sp>
        <p:nvSpPr>
          <p:cNvPr id="21" name="Text Box 58">
            <a:extLst>
              <a:ext uri="{FF2B5EF4-FFF2-40B4-BE49-F238E27FC236}">
                <a16:creationId xmlns:a16="http://schemas.microsoft.com/office/drawing/2014/main" id="{EE484041-60AC-4B2D-A5F7-4FF1C6213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2" y="5924550"/>
            <a:ext cx="125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 dirty="0">
                <a:latin typeface="National semibold" panose="02000503000000020004"/>
              </a:rPr>
              <a:t>Billions of </a:t>
            </a:r>
            <a:r>
              <a:rPr lang="en-US" dirty="0">
                <a:latin typeface="National semibold" panose="02000503000000020004"/>
                <a:cs typeface="Times New Roman" pitchFamily="18" charset="0"/>
              </a:rPr>
              <a:t>£</a:t>
            </a:r>
            <a:endParaRPr lang="en-US" sz="1400" dirty="0">
              <a:latin typeface="National semibold" panose="02000503000000020004"/>
            </a:endParaRPr>
          </a:p>
        </p:txBody>
      </p:sp>
      <p:sp>
        <p:nvSpPr>
          <p:cNvPr id="3" name="Text Box 60">
            <a:extLst>
              <a:ext uri="{FF2B5EF4-FFF2-40B4-BE49-F238E27FC236}">
                <a16:creationId xmlns:a16="http://schemas.microsoft.com/office/drawing/2014/main" id="{624B2AA7-EFAE-4D1A-A728-699A0203B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2" y="2286000"/>
            <a:ext cx="9124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dirty="0">
                <a:latin typeface="National semibold" panose="02000503000000020004"/>
                <a:cs typeface="Times New Roman" pitchFamily="18" charset="0"/>
              </a:rPr>
              <a:t>$ per £</a:t>
            </a:r>
            <a:endParaRPr lang="en-US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16079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4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950C-7AF9-4E9F-9A10-E0F99210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latin typeface="National semibold" panose="02000503000000020004"/>
              </a:rPr>
              <a:t>Increase in the demand of Pounds</a:t>
            </a:r>
          </a:p>
        </p:txBody>
      </p:sp>
      <p:sp>
        <p:nvSpPr>
          <p:cNvPr id="5" name="Line 41">
            <a:extLst>
              <a:ext uri="{FF2B5EF4-FFF2-40B4-BE49-F238E27FC236}">
                <a16:creationId xmlns:a16="http://schemas.microsoft.com/office/drawing/2014/main" id="{CD87B30C-4474-4A46-AD25-97E0E04AC8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1312" y="2163762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6" name="Line 42">
            <a:extLst>
              <a:ext uri="{FF2B5EF4-FFF2-40B4-BE49-F238E27FC236}">
                <a16:creationId xmlns:a16="http://schemas.microsoft.com/office/drawing/2014/main" id="{66D00810-EF65-45D7-A4CE-340ABC2ED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2" y="5897562"/>
            <a:ext cx="445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7" name="Text Box 43">
            <a:extLst>
              <a:ext uri="{FF2B5EF4-FFF2-40B4-BE49-F238E27FC236}">
                <a16:creationId xmlns:a16="http://schemas.microsoft.com/office/drawing/2014/main" id="{1F5D8E4D-7DBB-4E90-B001-3148AF5B4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2" y="3992661"/>
            <a:ext cx="4122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 dirty="0">
                <a:latin typeface="National semibold" panose="02000503000000020004"/>
              </a:rPr>
              <a:t>1.6</a:t>
            </a:r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id="{22EAA22F-2BF7-4AD9-A119-0A2060E3A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837" y="38512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1400">
              <a:latin typeface="National semibold" panose="02000503000000020004"/>
            </a:endParaRPr>
          </a:p>
        </p:txBody>
      </p:sp>
      <p:sp>
        <p:nvSpPr>
          <p:cNvPr id="9" name="Line 46">
            <a:extLst>
              <a:ext uri="{FF2B5EF4-FFF2-40B4-BE49-F238E27FC236}">
                <a16:creationId xmlns:a16="http://schemas.microsoft.com/office/drawing/2014/main" id="{3CF29B7C-9803-4558-84FE-7DC724213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3612" y="3014662"/>
            <a:ext cx="19812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0" name="Line 47">
            <a:extLst>
              <a:ext uri="{FF2B5EF4-FFF2-40B4-BE49-F238E27FC236}">
                <a16:creationId xmlns:a16="http://schemas.microsoft.com/office/drawing/2014/main" id="{7CF24E14-F443-4748-A7D2-868795AC9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7412" y="3001962"/>
            <a:ext cx="20574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1" name="Text Box 48">
            <a:extLst>
              <a:ext uri="{FF2B5EF4-FFF2-40B4-BE49-F238E27FC236}">
                <a16:creationId xmlns:a16="http://schemas.microsoft.com/office/drawing/2014/main" id="{0FC37BC5-4C9C-4985-B373-434585E7F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762" y="2773362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>
                <a:latin typeface="National semibold" panose="02000503000000020004"/>
                <a:cs typeface="Times New Roman" pitchFamily="18" charset="0"/>
              </a:rPr>
              <a:t>S</a:t>
            </a:r>
            <a:r>
              <a:rPr lang="en-US" baseline="-25000">
                <a:latin typeface="National semibold" panose="02000503000000020004"/>
                <a:cs typeface="Times New Roman" pitchFamily="18" charset="0"/>
              </a:rPr>
              <a:t>£</a:t>
            </a:r>
          </a:p>
        </p:txBody>
      </p:sp>
      <p:sp>
        <p:nvSpPr>
          <p:cNvPr id="12" name="Text Box 49">
            <a:extLst>
              <a:ext uri="{FF2B5EF4-FFF2-40B4-BE49-F238E27FC236}">
                <a16:creationId xmlns:a16="http://schemas.microsoft.com/office/drawing/2014/main" id="{AB78D95F-46DE-451D-83B7-3444EB1DA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112" y="5135562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>
                <a:latin typeface="National semibold" panose="02000503000000020004"/>
                <a:cs typeface="Times New Roman" pitchFamily="18" charset="0"/>
              </a:rPr>
              <a:t>D</a:t>
            </a:r>
            <a:r>
              <a:rPr lang="en-US" baseline="-25000">
                <a:latin typeface="National semibold" panose="02000503000000020004"/>
                <a:cs typeface="Times New Roman" pitchFamily="18" charset="0"/>
              </a:rPr>
              <a:t>£</a:t>
            </a:r>
          </a:p>
        </p:txBody>
      </p:sp>
      <p:sp>
        <p:nvSpPr>
          <p:cNvPr id="13" name="Line 50">
            <a:extLst>
              <a:ext uri="{FF2B5EF4-FFF2-40B4-BE49-F238E27FC236}">
                <a16:creationId xmlns:a16="http://schemas.microsoft.com/office/drawing/2014/main" id="{3F98D22A-3239-4E62-B0CF-41225C5DA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522" y="4144962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C7891EE1-E57E-481F-B7CD-BA9A4CAF5A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2" y="4132262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5" name="Text Box 52">
            <a:extLst>
              <a:ext uri="{FF2B5EF4-FFF2-40B4-BE49-F238E27FC236}">
                <a16:creationId xmlns:a16="http://schemas.microsoft.com/office/drawing/2014/main" id="{FC7A9D66-5BEC-4973-AADF-FA721E09D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2" y="5972274"/>
            <a:ext cx="458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>
                <a:latin typeface="National semibold" panose="02000503000000020004"/>
              </a:rPr>
              <a:t>300</a:t>
            </a:r>
          </a:p>
        </p:txBody>
      </p:sp>
      <p:sp>
        <p:nvSpPr>
          <p:cNvPr id="16" name="Line 53">
            <a:extLst>
              <a:ext uri="{FF2B5EF4-FFF2-40B4-BE49-F238E27FC236}">
                <a16:creationId xmlns:a16="http://schemas.microsoft.com/office/drawing/2014/main" id="{A8B3ABD2-3E2E-4FFF-A9D2-60FD5D581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6712" y="3001962"/>
            <a:ext cx="1981200" cy="228600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7" name="Line 54">
            <a:extLst>
              <a:ext uri="{FF2B5EF4-FFF2-40B4-BE49-F238E27FC236}">
                <a16:creationId xmlns:a16="http://schemas.microsoft.com/office/drawing/2014/main" id="{6B74C2F7-BF28-4626-8C17-72B73CB446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1712" y="3751262"/>
            <a:ext cx="0" cy="21463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8" name="Line 55">
            <a:extLst>
              <a:ext uri="{FF2B5EF4-FFF2-40B4-BE49-F238E27FC236}">
                <a16:creationId xmlns:a16="http://schemas.microsoft.com/office/drawing/2014/main" id="{C7A10934-D020-42B0-8CA3-C2CD4A5CAA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2" y="3763962"/>
            <a:ext cx="19304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9" name="Text Box 56">
            <a:extLst>
              <a:ext uri="{FF2B5EF4-FFF2-40B4-BE49-F238E27FC236}">
                <a16:creationId xmlns:a16="http://schemas.microsoft.com/office/drawing/2014/main" id="{0AE808A6-1163-4C84-8096-A01A40F15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2" y="3611661"/>
            <a:ext cx="4122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National semibold" panose="02000503000000020004"/>
              </a:rPr>
              <a:t>1.8</a:t>
            </a:r>
          </a:p>
        </p:txBody>
      </p:sp>
      <p:sp>
        <p:nvSpPr>
          <p:cNvPr id="20" name="Text Box 57">
            <a:extLst>
              <a:ext uri="{FF2B5EF4-FFF2-40B4-BE49-F238E27FC236}">
                <a16:creationId xmlns:a16="http://schemas.microsoft.com/office/drawing/2014/main" id="{BBCF3177-A56F-4352-9D71-3563E6AB2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912" y="5972274"/>
            <a:ext cx="458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>
                <a:solidFill>
                  <a:srgbClr val="FF0000"/>
                </a:solidFill>
                <a:latin typeface="National semibold" panose="02000503000000020004"/>
              </a:rPr>
              <a:t>320</a:t>
            </a:r>
          </a:p>
        </p:txBody>
      </p:sp>
      <p:sp>
        <p:nvSpPr>
          <p:cNvPr id="21" name="Text Box 58">
            <a:extLst>
              <a:ext uri="{FF2B5EF4-FFF2-40B4-BE49-F238E27FC236}">
                <a16:creationId xmlns:a16="http://schemas.microsoft.com/office/drawing/2014/main" id="{EE484041-60AC-4B2D-A5F7-4FF1C6213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2" y="5924550"/>
            <a:ext cx="125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>
                <a:latin typeface="National semibold" panose="02000503000000020004"/>
              </a:rPr>
              <a:t>Billions of </a:t>
            </a:r>
            <a:r>
              <a:rPr lang="en-US">
                <a:latin typeface="National semibold" panose="02000503000000020004"/>
                <a:cs typeface="Times New Roman" pitchFamily="18" charset="0"/>
              </a:rPr>
              <a:t>£</a:t>
            </a:r>
            <a:endParaRPr lang="en-US" sz="1400">
              <a:latin typeface="National semibold" panose="02000503000000020004"/>
            </a:endParaRPr>
          </a:p>
        </p:txBody>
      </p:sp>
      <p:sp>
        <p:nvSpPr>
          <p:cNvPr id="3" name="Text Box 60">
            <a:extLst>
              <a:ext uri="{FF2B5EF4-FFF2-40B4-BE49-F238E27FC236}">
                <a16:creationId xmlns:a16="http://schemas.microsoft.com/office/drawing/2014/main" id="{624D164C-438B-4B63-9F77-32CF92D35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2" y="2286000"/>
            <a:ext cx="9124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dirty="0">
                <a:latin typeface="National semibold" panose="02000503000000020004"/>
                <a:cs typeface="Times New Roman" pitchFamily="18" charset="0"/>
              </a:rPr>
              <a:t>$ per £</a:t>
            </a:r>
            <a:endParaRPr lang="en-US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62700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utoUpdateAnimBg="0"/>
      <p:bldP spid="2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950C-7AF9-4E9F-9A10-E0F99210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latin typeface="National semibold" panose="02000503000000020004"/>
              </a:rPr>
              <a:t>Increase in the supply of Pounds</a:t>
            </a:r>
          </a:p>
        </p:txBody>
      </p:sp>
      <p:sp>
        <p:nvSpPr>
          <p:cNvPr id="5" name="Line 41">
            <a:extLst>
              <a:ext uri="{FF2B5EF4-FFF2-40B4-BE49-F238E27FC236}">
                <a16:creationId xmlns:a16="http://schemas.microsoft.com/office/drawing/2014/main" id="{CD87B30C-4474-4A46-AD25-97E0E04AC8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1312" y="2163762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6" name="Line 42">
            <a:extLst>
              <a:ext uri="{FF2B5EF4-FFF2-40B4-BE49-F238E27FC236}">
                <a16:creationId xmlns:a16="http://schemas.microsoft.com/office/drawing/2014/main" id="{66D00810-EF65-45D7-A4CE-340ABC2ED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2" y="5897562"/>
            <a:ext cx="445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7" name="Text Box 43">
            <a:extLst>
              <a:ext uri="{FF2B5EF4-FFF2-40B4-BE49-F238E27FC236}">
                <a16:creationId xmlns:a16="http://schemas.microsoft.com/office/drawing/2014/main" id="{1F5D8E4D-7DBB-4E90-B001-3148AF5B4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2" y="3992661"/>
            <a:ext cx="4122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 dirty="0">
                <a:latin typeface="National semibold" panose="02000503000000020004"/>
              </a:rPr>
              <a:t>1.6</a:t>
            </a:r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id="{22EAA22F-2BF7-4AD9-A119-0A2060E3A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837" y="38512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1400">
              <a:latin typeface="National semibold" panose="02000503000000020004"/>
            </a:endParaRPr>
          </a:p>
        </p:txBody>
      </p:sp>
      <p:sp>
        <p:nvSpPr>
          <p:cNvPr id="9" name="Line 46">
            <a:extLst>
              <a:ext uri="{FF2B5EF4-FFF2-40B4-BE49-F238E27FC236}">
                <a16:creationId xmlns:a16="http://schemas.microsoft.com/office/drawing/2014/main" id="{3CF29B7C-9803-4558-84FE-7DC724213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3612" y="3014662"/>
            <a:ext cx="19812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0" name="Line 47">
            <a:extLst>
              <a:ext uri="{FF2B5EF4-FFF2-40B4-BE49-F238E27FC236}">
                <a16:creationId xmlns:a16="http://schemas.microsoft.com/office/drawing/2014/main" id="{7CF24E14-F443-4748-A7D2-868795AC9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7412" y="3001962"/>
            <a:ext cx="20574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1" name="Text Box 48">
            <a:extLst>
              <a:ext uri="{FF2B5EF4-FFF2-40B4-BE49-F238E27FC236}">
                <a16:creationId xmlns:a16="http://schemas.microsoft.com/office/drawing/2014/main" id="{0FC37BC5-4C9C-4985-B373-434585E7F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762" y="2773362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>
                <a:latin typeface="National semibold" panose="02000503000000020004"/>
                <a:cs typeface="Times New Roman" pitchFamily="18" charset="0"/>
              </a:rPr>
              <a:t>S</a:t>
            </a:r>
            <a:r>
              <a:rPr lang="en-US" baseline="-25000">
                <a:latin typeface="National semibold" panose="02000503000000020004"/>
                <a:cs typeface="Times New Roman" pitchFamily="18" charset="0"/>
              </a:rPr>
              <a:t>£</a:t>
            </a:r>
          </a:p>
        </p:txBody>
      </p:sp>
      <p:sp>
        <p:nvSpPr>
          <p:cNvPr id="12" name="Text Box 49">
            <a:extLst>
              <a:ext uri="{FF2B5EF4-FFF2-40B4-BE49-F238E27FC236}">
                <a16:creationId xmlns:a16="http://schemas.microsoft.com/office/drawing/2014/main" id="{AB78D95F-46DE-451D-83B7-3444EB1DA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112" y="5135562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>
                <a:latin typeface="National semibold" panose="02000503000000020004"/>
                <a:cs typeface="Times New Roman" pitchFamily="18" charset="0"/>
              </a:rPr>
              <a:t>D</a:t>
            </a:r>
            <a:r>
              <a:rPr lang="en-US" baseline="-25000">
                <a:latin typeface="National semibold" panose="02000503000000020004"/>
                <a:cs typeface="Times New Roman" pitchFamily="18" charset="0"/>
              </a:rPr>
              <a:t>£</a:t>
            </a:r>
          </a:p>
        </p:txBody>
      </p:sp>
      <p:sp>
        <p:nvSpPr>
          <p:cNvPr id="13" name="Line 50">
            <a:extLst>
              <a:ext uri="{FF2B5EF4-FFF2-40B4-BE49-F238E27FC236}">
                <a16:creationId xmlns:a16="http://schemas.microsoft.com/office/drawing/2014/main" id="{3F98D22A-3239-4E62-B0CF-41225C5DA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522" y="4144962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C7891EE1-E57E-481F-B7CD-BA9A4CAF5A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2" y="4132262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5" name="Text Box 52">
            <a:extLst>
              <a:ext uri="{FF2B5EF4-FFF2-40B4-BE49-F238E27FC236}">
                <a16:creationId xmlns:a16="http://schemas.microsoft.com/office/drawing/2014/main" id="{FC7A9D66-5BEC-4973-AADF-FA721E09D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2" y="5972274"/>
            <a:ext cx="458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>
                <a:latin typeface="National semibold" panose="02000503000000020004"/>
              </a:rPr>
              <a:t>300</a:t>
            </a:r>
          </a:p>
        </p:txBody>
      </p:sp>
      <p:sp>
        <p:nvSpPr>
          <p:cNvPr id="16" name="Line 53">
            <a:extLst>
              <a:ext uri="{FF2B5EF4-FFF2-40B4-BE49-F238E27FC236}">
                <a16:creationId xmlns:a16="http://schemas.microsoft.com/office/drawing/2014/main" id="{A8B3ABD2-3E2E-4FFF-A9D2-60FD5D581F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4017" y="3295477"/>
            <a:ext cx="2044690" cy="2297103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7" name="Line 54">
            <a:extLst>
              <a:ext uri="{FF2B5EF4-FFF2-40B4-BE49-F238E27FC236}">
                <a16:creationId xmlns:a16="http://schemas.microsoft.com/office/drawing/2014/main" id="{6B74C2F7-BF28-4626-8C17-72B73CB44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002" y="4513262"/>
            <a:ext cx="12700" cy="1384299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8" name="Line 55">
            <a:extLst>
              <a:ext uri="{FF2B5EF4-FFF2-40B4-BE49-F238E27FC236}">
                <a16:creationId xmlns:a16="http://schemas.microsoft.com/office/drawing/2014/main" id="{C7A10934-D020-42B0-8CA3-C2CD4A5CAA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2" y="4510790"/>
            <a:ext cx="19304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9" name="Text Box 56">
            <a:extLst>
              <a:ext uri="{FF2B5EF4-FFF2-40B4-BE49-F238E27FC236}">
                <a16:creationId xmlns:a16="http://schemas.microsoft.com/office/drawing/2014/main" id="{0AE808A6-1163-4C84-8096-A01A40F15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2" y="4340423"/>
            <a:ext cx="4122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National semibold" panose="02000503000000020004"/>
              </a:rPr>
              <a:t>1.4</a:t>
            </a:r>
          </a:p>
        </p:txBody>
      </p:sp>
      <p:sp>
        <p:nvSpPr>
          <p:cNvPr id="20" name="Text Box 57">
            <a:extLst>
              <a:ext uri="{FF2B5EF4-FFF2-40B4-BE49-F238E27FC236}">
                <a16:creationId xmlns:a16="http://schemas.microsoft.com/office/drawing/2014/main" id="{BBCF3177-A56F-4352-9D71-3563E6AB2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912" y="5972274"/>
            <a:ext cx="458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>
                <a:solidFill>
                  <a:srgbClr val="FF0000"/>
                </a:solidFill>
                <a:latin typeface="National semibold" panose="02000503000000020004"/>
              </a:rPr>
              <a:t>320</a:t>
            </a:r>
          </a:p>
        </p:txBody>
      </p:sp>
      <p:sp>
        <p:nvSpPr>
          <p:cNvPr id="21" name="Text Box 58">
            <a:extLst>
              <a:ext uri="{FF2B5EF4-FFF2-40B4-BE49-F238E27FC236}">
                <a16:creationId xmlns:a16="http://schemas.microsoft.com/office/drawing/2014/main" id="{EE484041-60AC-4B2D-A5F7-4FF1C6213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2" y="5924550"/>
            <a:ext cx="125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400">
                <a:latin typeface="National semibold" panose="02000503000000020004"/>
              </a:rPr>
              <a:t>Billions of </a:t>
            </a:r>
            <a:r>
              <a:rPr lang="en-US">
                <a:latin typeface="National semibold" panose="02000503000000020004"/>
                <a:cs typeface="Times New Roman" pitchFamily="18" charset="0"/>
              </a:rPr>
              <a:t>£</a:t>
            </a:r>
            <a:endParaRPr lang="en-US" sz="1400">
              <a:latin typeface="National semibold" panose="02000503000000020004"/>
            </a:endParaRPr>
          </a:p>
        </p:txBody>
      </p:sp>
      <p:sp>
        <p:nvSpPr>
          <p:cNvPr id="3" name="Text Box 60">
            <a:extLst>
              <a:ext uri="{FF2B5EF4-FFF2-40B4-BE49-F238E27FC236}">
                <a16:creationId xmlns:a16="http://schemas.microsoft.com/office/drawing/2014/main" id="{624D164C-438B-4B63-9F77-32CF92D35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2" y="2286000"/>
            <a:ext cx="9124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dirty="0">
                <a:latin typeface="National semibold" panose="02000503000000020004"/>
                <a:cs typeface="Times New Roman" pitchFamily="18" charset="0"/>
              </a:rPr>
              <a:t>$ per £</a:t>
            </a:r>
            <a:endParaRPr lang="en-US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7596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utoUpdateAnimBg="0"/>
      <p:bldP spid="2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The currency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F897-2643-4490-93FF-4FF458F1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828800"/>
            <a:ext cx="9982199" cy="4343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>
                <a:latin typeface="National semibold" panose="02000503000000020004"/>
              </a:rPr>
              <a:t>The exchange rate is the price of the currency we use as </a:t>
            </a:r>
            <a:r>
              <a:rPr lang="en-US" sz="3200" u="sng" dirty="0">
                <a:latin typeface="National semibold" panose="02000503000000020004"/>
              </a:rPr>
              <a:t>base</a:t>
            </a:r>
            <a:r>
              <a:rPr lang="en-US" sz="3200" dirty="0">
                <a:latin typeface="National semibold" panose="02000503000000020004"/>
              </a:rPr>
              <a:t>.</a:t>
            </a:r>
          </a:p>
          <a:p>
            <a:endParaRPr lang="en-US" sz="3200" dirty="0">
              <a:latin typeface="National semibold" panose="020005030000000200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National semibold" panose="02000503000000020004"/>
              </a:rPr>
              <a:t>Pound is the currency base:</a:t>
            </a:r>
          </a:p>
          <a:p>
            <a:pPr lvl="1"/>
            <a:r>
              <a:rPr lang="en-US" sz="2800" dirty="0">
                <a:latin typeface="National semibold" panose="02000503000000020004"/>
              </a:rPr>
              <a:t>The exchange rate is expressed as Dollars to buy 1 Pound.</a:t>
            </a:r>
          </a:p>
          <a:p>
            <a:pPr lvl="1"/>
            <a:r>
              <a:rPr lang="en-US" sz="2800" dirty="0">
                <a:latin typeface="National semibold" panose="02000503000000020004"/>
              </a:rPr>
              <a:t>We will talk about demand and supply of Pounds.</a:t>
            </a:r>
          </a:p>
          <a:p>
            <a:pPr marL="0" indent="0">
              <a:buNone/>
            </a:pPr>
            <a:endParaRPr lang="en-US" sz="3200" dirty="0">
              <a:latin typeface="National semibold" panose="02000503000000020004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sz="3200" dirty="0">
                <a:latin typeface="National semibold" panose="02000503000000020004"/>
              </a:rPr>
              <a:t>Dollar is the currency base:</a:t>
            </a:r>
          </a:p>
          <a:p>
            <a:pPr lvl="1"/>
            <a:r>
              <a:rPr lang="en-US" sz="2800" dirty="0">
                <a:latin typeface="National semibold" panose="02000503000000020004"/>
              </a:rPr>
              <a:t>The exchange rate is expressed as Pounds to buy 1 Dollar.</a:t>
            </a:r>
          </a:p>
          <a:p>
            <a:pPr lvl="1"/>
            <a:r>
              <a:rPr lang="en-US" sz="2800" dirty="0">
                <a:latin typeface="National semibold" panose="02000503000000020004"/>
              </a:rPr>
              <a:t>We will talk about demand and supply of Dollars.</a:t>
            </a:r>
            <a:endParaRPr lang="en-US" sz="3200" dirty="0">
              <a:latin typeface="National semibold" panose="02000503000000020004"/>
            </a:endParaRPr>
          </a:p>
          <a:p>
            <a:pPr marL="0" indent="0">
              <a:buNone/>
            </a:pPr>
            <a:endParaRPr lang="en-US" sz="3200" dirty="0">
              <a:latin typeface="National semibold" panose="02000503000000020004"/>
            </a:endParaRPr>
          </a:p>
          <a:p>
            <a:pPr marL="0" indent="0">
              <a:buNone/>
            </a:pPr>
            <a:endParaRPr lang="en-US" sz="3200" dirty="0">
              <a:latin typeface="National semibold" panose="02000503000000020004"/>
            </a:endParaRPr>
          </a:p>
          <a:p>
            <a:pPr marL="0" indent="0">
              <a:buNone/>
            </a:pPr>
            <a:endParaRPr lang="en-US" sz="3500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91362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Changing the currency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F897-2643-4490-93FF-4FF458F1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828800"/>
            <a:ext cx="9448799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500" dirty="0">
              <a:latin typeface="National semibold" panose="02000503000000020004"/>
            </a:endParaRPr>
          </a:p>
          <a:p>
            <a:pPr marL="0" indent="0">
              <a:buNone/>
            </a:pPr>
            <a:endParaRPr lang="en-US" sz="3500" dirty="0">
              <a:latin typeface="National semibold" panose="02000503000000020004"/>
            </a:endParaRPr>
          </a:p>
        </p:txBody>
      </p:sp>
      <p:pic>
        <p:nvPicPr>
          <p:cNvPr id="12" name="Picture 1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08A05394-D35D-4C4B-80AA-575B2D066D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84705" y="1524000"/>
            <a:ext cx="2286000" cy="22860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965743FF-C1EA-4405-B392-847B60FAA256}"/>
              </a:ext>
            </a:extLst>
          </p:cNvPr>
          <p:cNvSpPr/>
          <p:nvPr/>
        </p:nvSpPr>
        <p:spPr>
          <a:xfrm>
            <a:off x="4341812" y="2590800"/>
            <a:ext cx="1752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1B52B-9A8D-4381-A0CD-0425C077C9EF}"/>
              </a:ext>
            </a:extLst>
          </p:cNvPr>
          <p:cNvSpPr txBox="1"/>
          <p:nvPr/>
        </p:nvSpPr>
        <p:spPr>
          <a:xfrm>
            <a:off x="4346216" y="2286000"/>
            <a:ext cx="1671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ational semibold" panose="02000503000000020004"/>
              </a:rPr>
              <a:t>I pay 1.6 Dollars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894DA1C-FFB9-47FB-AA06-77D39CD4A359}"/>
              </a:ext>
            </a:extLst>
          </p:cNvPr>
          <p:cNvSpPr/>
          <p:nvPr/>
        </p:nvSpPr>
        <p:spPr>
          <a:xfrm flipH="1">
            <a:off x="5870075" y="3341132"/>
            <a:ext cx="1672137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2C4634-A157-4356-B3E4-E95B5C53D40B}"/>
              </a:ext>
            </a:extLst>
          </p:cNvPr>
          <p:cNvSpPr txBox="1"/>
          <p:nvPr/>
        </p:nvSpPr>
        <p:spPr>
          <a:xfrm>
            <a:off x="5839873" y="3048000"/>
            <a:ext cx="1795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ational semibold" panose="02000503000000020004"/>
              </a:rPr>
              <a:t>I receive 1 Pound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FED0699-089B-46A9-9BE7-88DD394C541C}"/>
              </a:ext>
            </a:extLst>
          </p:cNvPr>
          <p:cNvSpPr/>
          <p:nvPr/>
        </p:nvSpPr>
        <p:spPr>
          <a:xfrm>
            <a:off x="4341812" y="5193268"/>
            <a:ext cx="1752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4AB2C8-FF18-4377-B7A6-8440DBD07FC8}"/>
              </a:ext>
            </a:extLst>
          </p:cNvPr>
          <p:cNvSpPr txBox="1"/>
          <p:nvPr/>
        </p:nvSpPr>
        <p:spPr>
          <a:xfrm>
            <a:off x="4265612" y="4888468"/>
            <a:ext cx="192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ational semibold" panose="02000503000000020004"/>
              </a:rPr>
              <a:t>I pay 1/1.6 Pounds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9AF4B94-A320-479E-AA01-392DD12353C3}"/>
              </a:ext>
            </a:extLst>
          </p:cNvPr>
          <p:cNvSpPr/>
          <p:nvPr/>
        </p:nvSpPr>
        <p:spPr>
          <a:xfrm flipH="1">
            <a:off x="5793875" y="5943600"/>
            <a:ext cx="1672137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9A739A-80EC-4A6B-8680-C1A805261B84}"/>
              </a:ext>
            </a:extLst>
          </p:cNvPr>
          <p:cNvSpPr txBox="1"/>
          <p:nvPr/>
        </p:nvSpPr>
        <p:spPr>
          <a:xfrm>
            <a:off x="5797232" y="5650468"/>
            <a:ext cx="1755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ational semibold" panose="02000503000000020004"/>
              </a:rPr>
              <a:t>I receive 1 Dollar</a:t>
            </a:r>
          </a:p>
        </p:txBody>
      </p:sp>
      <p:pic>
        <p:nvPicPr>
          <p:cNvPr id="25" name="Picture 24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21AE1205-61B3-406A-92DF-7FE51F3533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47012" y="4800600"/>
            <a:ext cx="2286000" cy="2286000"/>
          </a:xfrm>
          <a:prstGeom prst="rect">
            <a:avLst/>
          </a:prstGeom>
        </p:spPr>
      </p:pic>
      <p:pic>
        <p:nvPicPr>
          <p:cNvPr id="27" name="Picture 26" descr="Text, calendar&#10;&#10;Description automatically generated">
            <a:extLst>
              <a:ext uri="{FF2B5EF4-FFF2-40B4-BE49-F238E27FC236}">
                <a16:creationId xmlns:a16="http://schemas.microsoft.com/office/drawing/2014/main" id="{085486E5-4DD5-4C21-87FF-C574067905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923212" y="2600725"/>
            <a:ext cx="1917417" cy="1590275"/>
          </a:xfrm>
          <a:prstGeom prst="rect">
            <a:avLst/>
          </a:prstGeom>
        </p:spPr>
      </p:pic>
      <p:pic>
        <p:nvPicPr>
          <p:cNvPr id="30" name="Picture 29" descr="Text, calendar&#10;&#10;Description automatically generated">
            <a:extLst>
              <a:ext uri="{FF2B5EF4-FFF2-40B4-BE49-F238E27FC236}">
                <a16:creationId xmlns:a16="http://schemas.microsoft.com/office/drawing/2014/main" id="{E134892E-8FA9-48E3-9680-4E2931E43E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084704" y="4311758"/>
            <a:ext cx="1882439" cy="156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07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8" grpId="0"/>
      <p:bldP spid="20" grpId="0" animBg="1"/>
      <p:bldP spid="21" grpId="0"/>
      <p:bldP spid="22" grpId="0" animBg="1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Changing the currency base</a:t>
            </a: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6569B1B3-4AED-4DE3-9157-C706F7F405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8712" y="22860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16446C54-AF7A-4CFA-B705-1E1A870089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6312" y="60198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15BF48BA-F723-45EA-BF6A-D738A8501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2" y="6046788"/>
            <a:ext cx="1257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 dirty="0">
                <a:latin typeface="National semibold" panose="02000503000000020004"/>
              </a:rPr>
              <a:t>Billions of </a:t>
            </a:r>
            <a:r>
              <a:rPr lang="en-US" sz="1800" dirty="0">
                <a:latin typeface="National semibold" panose="02000503000000020004"/>
                <a:cs typeface="Times New Roman" pitchFamily="18" charset="0"/>
              </a:rPr>
              <a:t>£</a:t>
            </a:r>
            <a:endParaRPr lang="en-US" sz="1400" dirty="0">
              <a:latin typeface="National semibold" panose="02000503000000020004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1F160378-5A75-4389-A392-78385DAB0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412" y="4113312"/>
            <a:ext cx="5036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latin typeface="National semibold" panose="02000503000000020004"/>
              </a:rPr>
              <a:t>1.60</a:t>
            </a: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732E9585-5CB8-4A64-A8DC-C80D897589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8312" y="22860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A7B175FA-39A4-44A7-B71C-B2663BBDC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5912" y="6019800"/>
            <a:ext cx="388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C8F3105C-D62B-4D21-ABF1-4F2EEA85D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1" y="1981200"/>
            <a:ext cx="19875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1800" b="1" dirty="0">
                <a:latin typeface="National semibold" panose="02000503000000020004"/>
              </a:rPr>
              <a:t>The Pound is the currency base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F7128C93-B0BE-4805-A509-EB625544C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0227" y="1981200"/>
            <a:ext cx="179247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1800" b="1" dirty="0">
                <a:latin typeface="National semibold" panose="02000503000000020004"/>
              </a:rPr>
              <a:t>The Dollar is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1800" b="1" dirty="0">
                <a:latin typeface="National semibold" panose="02000503000000020004"/>
              </a:rPr>
              <a:t>currency base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72AF2C60-7D68-4BC7-B48B-5204422F9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237" y="3973513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sz="1400">
              <a:latin typeface="National semibold" panose="02000503000000020004"/>
            </a:endParaRPr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6ECD1973-A937-4E38-B384-773B7F7F0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012" y="3136900"/>
            <a:ext cx="19812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39CE4DA6-FD51-4932-9A72-BC03B1B0E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2962" y="2438400"/>
            <a:ext cx="7938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dirty="0">
                <a:latin typeface="National semibold" panose="02000503000000020004"/>
                <a:cs typeface="Times New Roman" pitchFamily="18" charset="0"/>
              </a:rPr>
              <a:t>£</a:t>
            </a:r>
            <a:r>
              <a:rPr lang="en-US" sz="1600" dirty="0">
                <a:latin typeface="National semibold" panose="02000503000000020004"/>
                <a:cs typeface="Times New Roman" pitchFamily="18" charset="0"/>
              </a:rPr>
              <a:t> per </a:t>
            </a:r>
            <a:r>
              <a:rPr lang="en-US" sz="1800" dirty="0">
                <a:latin typeface="National semibold" panose="02000503000000020004"/>
                <a:cs typeface="Times New Roman" pitchFamily="18" charset="0"/>
              </a:rPr>
              <a:t>$</a:t>
            </a:r>
            <a:endParaRPr lang="en-US" sz="1600" dirty="0">
              <a:latin typeface="National semibold" panose="02000503000000020004"/>
              <a:cs typeface="Times New Roman" pitchFamily="18" charset="0"/>
            </a:endParaRP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BD75D206-89D7-47DC-B69B-12F7A4E52C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44812" y="3124200"/>
            <a:ext cx="20574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24EF853B-BCA5-4B40-8684-79203E1B3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162" y="28956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National semibold" panose="02000503000000020004"/>
                <a:cs typeface="Times New Roman" pitchFamily="18" charset="0"/>
              </a:rPr>
              <a:t>S</a:t>
            </a:r>
            <a:r>
              <a:rPr lang="en-US" sz="1800" baseline="-25000">
                <a:latin typeface="National semibold" panose="02000503000000020004"/>
                <a:cs typeface="Times New Roman" pitchFamily="18" charset="0"/>
              </a:rPr>
              <a:t>£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7F53AB2C-3DC6-4DCA-AE20-BCAED2BA0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512" y="5257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National semibold" panose="02000503000000020004"/>
                <a:cs typeface="Times New Roman" pitchFamily="18" charset="0"/>
              </a:rPr>
              <a:t>D</a:t>
            </a:r>
            <a:r>
              <a:rPr lang="en-US" sz="1800" baseline="-25000">
                <a:latin typeface="National semibold" panose="02000503000000020004"/>
                <a:cs typeface="Times New Roman" pitchFamily="18" charset="0"/>
              </a:rPr>
              <a:t>£</a:t>
            </a: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E844D7C6-6CD9-4D77-ADAA-2386EE7F2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292" y="42672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4DEC0566-20E2-46EF-B0A0-59AA263C37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8712" y="42545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308CDB8C-946B-49D7-A6E6-B46DA5A42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312" y="6094512"/>
            <a:ext cx="458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latin typeface="National semibold" panose="02000503000000020004"/>
              </a:rPr>
              <a:t>300</a:t>
            </a: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DBFAA561-D67F-44A0-AE50-B617013ED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7" y="3973513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sz="1400">
              <a:latin typeface="National semibold" panose="02000503000000020004"/>
            </a:endParaRP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7E904E22-15F9-43FB-83F4-2DE7B1D91E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6812" y="3136900"/>
            <a:ext cx="19812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0970776B-2F2F-42C0-983C-117449D60B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0612" y="3124200"/>
            <a:ext cx="2057400" cy="2286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4AA016B3-92E4-42E4-A51C-9CF0F3DCB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5312" y="5257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dirty="0">
                <a:latin typeface="National semibold" panose="02000503000000020004"/>
                <a:cs typeface="Times New Roman" pitchFamily="18" charset="0"/>
              </a:rPr>
              <a:t>D</a:t>
            </a:r>
            <a:r>
              <a:rPr lang="en-US" sz="1800" baseline="-25000" dirty="0">
                <a:latin typeface="National semibold" panose="02000503000000020004"/>
                <a:cs typeface="Times New Roman" pitchFamily="18" charset="0"/>
              </a:rPr>
              <a:t>$</a:t>
            </a: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B52769EE-8A96-41C7-89EB-DB553D19C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5312" y="28956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dirty="0">
                <a:latin typeface="National semibold" panose="02000503000000020004"/>
                <a:cs typeface="Times New Roman" pitchFamily="18" charset="0"/>
              </a:rPr>
              <a:t>S</a:t>
            </a:r>
            <a:r>
              <a:rPr lang="en-US" sz="1800" baseline="-25000" dirty="0">
                <a:latin typeface="National semibold" panose="02000503000000020004"/>
                <a:cs typeface="Times New Roman" pitchFamily="18" charset="0"/>
              </a:rPr>
              <a:t>$</a:t>
            </a:r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E07810B7-7F48-4332-AEEF-10DE5744FC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8312" y="42672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4F3C628C-ACD3-46D7-B1E2-847951A69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9472" y="42672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1575D9E8-9006-412E-8651-2144CD387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2462" y="6094512"/>
            <a:ext cx="458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latin typeface="National semibold" panose="02000503000000020004"/>
              </a:rPr>
              <a:t>480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659893CA-BD40-4533-90AA-2F540FB45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8562" y="4113312"/>
            <a:ext cx="5950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latin typeface="National semibold" panose="02000503000000020004"/>
              </a:rPr>
              <a:t>0.625</a:t>
            </a:r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8E2900AE-E879-4B25-BC42-2AC980C26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4112" y="3124200"/>
            <a:ext cx="1981200" cy="228600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5BF81870-25A2-4825-900C-C1E76D879F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29112" y="3873500"/>
            <a:ext cx="0" cy="21463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1D32F2C1-625B-46FA-B840-B9FBA27FA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8712" y="3886200"/>
            <a:ext cx="19304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76BE66A3-6261-4C7E-837B-ABD51B15B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412" y="3732312"/>
            <a:ext cx="5036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solidFill>
                  <a:srgbClr val="FF0000"/>
                </a:solidFill>
                <a:latin typeface="National semibold" panose="02000503000000020004"/>
              </a:rPr>
              <a:t>1.80</a:t>
            </a: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4F5B12F7-3813-411F-84E4-44F9E8C34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2" y="6094512"/>
            <a:ext cx="458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>
                <a:solidFill>
                  <a:srgbClr val="FF0000"/>
                </a:solidFill>
                <a:latin typeface="National semibold" panose="02000503000000020004"/>
              </a:rPr>
              <a:t>320</a:t>
            </a: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4B4EE0A1-E622-4C2D-8DB2-CC22B9DB37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1312" y="3200400"/>
            <a:ext cx="2057400" cy="228600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FBEA7CE7-B049-42C4-BDE6-EC1B9D38D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4112" y="4572000"/>
            <a:ext cx="0" cy="14605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40" name="Line 38">
            <a:extLst>
              <a:ext uri="{FF2B5EF4-FFF2-40B4-BE49-F238E27FC236}">
                <a16:creationId xmlns:a16="http://schemas.microsoft.com/office/drawing/2014/main" id="{BB7CBD18-84E2-491F-B92D-BA52B94CB3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18312" y="4572000"/>
            <a:ext cx="1955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National semibold" panose="02000503000000020004"/>
            </a:endParaRP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F70A5CBA-BC3C-402D-A250-CB9421F79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12" y="4405412"/>
            <a:ext cx="5950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National semibold" panose="02000503000000020004"/>
              </a:rPr>
              <a:t>0.555</a:t>
            </a:r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CC30CF60-7243-42B8-A19E-FC27D7D2B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7262" y="6094512"/>
            <a:ext cx="458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National semibold" panose="02000503000000020004"/>
              </a:rPr>
              <a:t>576</a:t>
            </a:r>
          </a:p>
        </p:txBody>
      </p:sp>
      <p:sp>
        <p:nvSpPr>
          <p:cNvPr id="5" name="Text Box 60">
            <a:extLst>
              <a:ext uri="{FF2B5EF4-FFF2-40B4-BE49-F238E27FC236}">
                <a16:creationId xmlns:a16="http://schemas.microsoft.com/office/drawing/2014/main" id="{A669270B-18E8-4315-9D46-5286483DA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012" y="2286000"/>
            <a:ext cx="7938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1800" dirty="0">
                <a:latin typeface="National semibold" panose="02000503000000020004"/>
                <a:cs typeface="Times New Roman" pitchFamily="18" charset="0"/>
              </a:rPr>
              <a:t>$</a:t>
            </a:r>
            <a:r>
              <a:rPr lang="en-US" sz="1600" dirty="0">
                <a:latin typeface="National semibold" panose="02000503000000020004"/>
                <a:cs typeface="Times New Roman" pitchFamily="18" charset="0"/>
              </a:rPr>
              <a:t> per </a:t>
            </a:r>
            <a:r>
              <a:rPr lang="en-US" sz="1800" dirty="0">
                <a:latin typeface="National semibold" panose="02000503000000020004"/>
                <a:cs typeface="Times New Roman" pitchFamily="18" charset="0"/>
              </a:rPr>
              <a:t>£</a:t>
            </a:r>
            <a:endParaRPr lang="en-US" sz="1600" dirty="0">
              <a:latin typeface="National semibold" panose="02000503000000020004"/>
            </a:endParaRP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9497869B-FDD4-4269-A5BC-655FEF09E1A0}"/>
              </a:ext>
            </a:extLst>
          </p:cNvPr>
          <p:cNvCxnSpPr>
            <a:cxnSpLocks/>
          </p:cNvCxnSpPr>
          <p:nvPr/>
        </p:nvCxnSpPr>
        <p:spPr>
          <a:xfrm flipV="1">
            <a:off x="4748213" y="4713190"/>
            <a:ext cx="3197860" cy="307776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Text Box 5">
            <a:extLst>
              <a:ext uri="{FF2B5EF4-FFF2-40B4-BE49-F238E27FC236}">
                <a16:creationId xmlns:a16="http://schemas.microsoft.com/office/drawing/2014/main" id="{882481BB-DC0E-4E4E-BB83-E6AA7EC2F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1012" y="6096000"/>
            <a:ext cx="1257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400" dirty="0">
                <a:latin typeface="National semibold" panose="02000503000000020004"/>
              </a:rPr>
              <a:t>Billions of </a:t>
            </a:r>
            <a:r>
              <a:rPr lang="en-US" sz="1800" dirty="0">
                <a:latin typeface="National semibold" panose="02000503000000020004"/>
                <a:cs typeface="Times New Roman" pitchFamily="18" charset="0"/>
              </a:rPr>
              <a:t>$</a:t>
            </a:r>
            <a:endParaRPr lang="en-US" sz="1400" dirty="0">
              <a:latin typeface="National semibold" panose="02000503000000020004"/>
            </a:endParaRPr>
          </a:p>
        </p:txBody>
      </p:sp>
      <p:sp>
        <p:nvSpPr>
          <p:cNvPr id="52" name="Text Box 5">
            <a:extLst>
              <a:ext uri="{FF2B5EF4-FFF2-40B4-BE49-F238E27FC236}">
                <a16:creationId xmlns:a16="http://schemas.microsoft.com/office/drawing/2014/main" id="{17CFC200-B36B-4F39-BE75-32FC9CBC7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512" y="4221261"/>
            <a:ext cx="17697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1400" i="1" dirty="0">
                <a:solidFill>
                  <a:srgbClr val="FF0000"/>
                </a:solidFill>
                <a:latin typeface="National semibold" panose="02000503000000020004"/>
              </a:rPr>
              <a:t>Demand of </a:t>
            </a:r>
            <a:r>
              <a:rPr lang="en-US" sz="1800" i="1" dirty="0">
                <a:solidFill>
                  <a:srgbClr val="FF0000"/>
                </a:solidFill>
                <a:latin typeface="National semibold" panose="02000503000000020004"/>
                <a:cs typeface="Times New Roman" pitchFamily="18" charset="0"/>
              </a:rPr>
              <a:t>£</a:t>
            </a:r>
          </a:p>
          <a:p>
            <a:pPr algn="ctr">
              <a:spcBef>
                <a:spcPct val="0"/>
              </a:spcBef>
            </a:pPr>
            <a:r>
              <a:rPr lang="en-US" sz="1400" i="1" dirty="0">
                <a:solidFill>
                  <a:srgbClr val="FF0000"/>
                </a:solidFill>
                <a:latin typeface="National semibold" panose="02000503000000020004"/>
              </a:rPr>
              <a:t>becomes supply of </a:t>
            </a:r>
            <a:r>
              <a:rPr lang="en-US" sz="1800" i="1" dirty="0">
                <a:solidFill>
                  <a:srgbClr val="FF0000"/>
                </a:solidFill>
                <a:latin typeface="National semibold" panose="02000503000000020004"/>
                <a:cs typeface="Times New Roman" pitchFamily="18" charset="0"/>
              </a:rPr>
              <a:t>$</a:t>
            </a:r>
            <a:endParaRPr lang="en-US" sz="1400" i="1" dirty="0">
              <a:solidFill>
                <a:srgbClr val="FF0000"/>
              </a:solidFill>
              <a:latin typeface="National semibold" panose="02000503000000020004"/>
            </a:endParaRP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D87842CD-5BEB-41CC-8FE1-FE7E2106BD5A}"/>
              </a:ext>
            </a:extLst>
          </p:cNvPr>
          <p:cNvCxnSpPr>
            <a:cxnSpLocks/>
          </p:cNvCxnSpPr>
          <p:nvPr/>
        </p:nvCxnSpPr>
        <p:spPr>
          <a:xfrm flipV="1">
            <a:off x="4646612" y="3533973"/>
            <a:ext cx="3146425" cy="123627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Text Box 5">
            <a:extLst>
              <a:ext uri="{FF2B5EF4-FFF2-40B4-BE49-F238E27FC236}">
                <a16:creationId xmlns:a16="http://schemas.microsoft.com/office/drawing/2014/main" id="{273BCD1D-F819-450A-B984-4F56CDDBD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478" y="3581400"/>
            <a:ext cx="200917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1400" i="1" dirty="0">
                <a:solidFill>
                  <a:srgbClr val="FF0000"/>
                </a:solidFill>
                <a:latin typeface="National semibold" panose="02000503000000020004"/>
              </a:rPr>
              <a:t>Supply of </a:t>
            </a:r>
            <a:r>
              <a:rPr lang="en-US" sz="1800" i="1" dirty="0">
                <a:solidFill>
                  <a:srgbClr val="FF0000"/>
                </a:solidFill>
                <a:latin typeface="National semibold" panose="02000503000000020004"/>
                <a:cs typeface="Times New Roman" pitchFamily="18" charset="0"/>
              </a:rPr>
              <a:t>£</a:t>
            </a:r>
          </a:p>
          <a:p>
            <a:pPr algn="ctr">
              <a:spcBef>
                <a:spcPct val="0"/>
              </a:spcBef>
            </a:pPr>
            <a:r>
              <a:rPr lang="en-US" sz="1400" i="1" dirty="0">
                <a:solidFill>
                  <a:srgbClr val="FF0000"/>
                </a:solidFill>
                <a:latin typeface="National semibold" panose="02000503000000020004"/>
              </a:rPr>
              <a:t>becomes demand of </a:t>
            </a:r>
            <a:r>
              <a:rPr lang="en-US" sz="1800" i="1" dirty="0">
                <a:solidFill>
                  <a:srgbClr val="FF0000"/>
                </a:solidFill>
                <a:latin typeface="National semibold" panose="02000503000000020004"/>
                <a:cs typeface="Times New Roman" pitchFamily="18" charset="0"/>
              </a:rPr>
              <a:t>$</a:t>
            </a:r>
            <a:endParaRPr lang="en-US" sz="1400" i="1" dirty="0">
              <a:solidFill>
                <a:srgbClr val="FF0000"/>
              </a:solidFill>
              <a:latin typeface="National semibold" panose="020005030000000200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143673A1-FFC8-430E-920D-9711B53E08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50672" y="3956080"/>
                <a:ext cx="891541" cy="55496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1.60</m:t>
                          </m:r>
                        </m:den>
                      </m:f>
                    </m:oMath>
                  </m:oMathPara>
                </a14:m>
                <a:endParaRPr lang="en-US" sz="1200" dirty="0">
                  <a:solidFill>
                    <a:srgbClr val="FF0000"/>
                  </a:solidFill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143673A1-FFC8-430E-920D-9711B53E0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0672" y="3956080"/>
                <a:ext cx="891541" cy="554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3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/>
      <p:bldP spid="17" grpId="0"/>
      <p:bldP spid="24" grpId="0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 animBg="1"/>
      <p:bldP spid="36" grpId="0" autoUpdateAnimBg="0"/>
      <p:bldP spid="37" grpId="0" autoUpdateAnimBg="0"/>
      <p:bldP spid="38" grpId="0" animBg="1"/>
      <p:bldP spid="39" grpId="0" animBg="1"/>
      <p:bldP spid="40" grpId="0" animBg="1"/>
      <p:bldP spid="41" grpId="0"/>
      <p:bldP spid="42" grpId="0"/>
      <p:bldP spid="51" grpId="0"/>
      <p:bldP spid="52" grpId="0"/>
      <p:bldP spid="58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Arbitrage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F897-2643-4490-93FF-4FF458F1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828800"/>
            <a:ext cx="9448799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500" dirty="0">
              <a:latin typeface="National semibold" panose="02000503000000020004"/>
            </a:endParaRPr>
          </a:p>
          <a:p>
            <a:pPr marL="0" indent="0">
              <a:buNone/>
            </a:pPr>
            <a:r>
              <a:rPr lang="en-US" sz="3200" dirty="0">
                <a:latin typeface="National semibold" panose="02000503000000020004"/>
              </a:rPr>
              <a:t>A currency is traded in many locations. </a:t>
            </a:r>
          </a:p>
          <a:p>
            <a:pPr marL="0" indent="0">
              <a:buNone/>
            </a:pPr>
            <a:endParaRPr lang="en-US" sz="3200" dirty="0">
              <a:latin typeface="National semibold" panose="02000503000000020004"/>
            </a:endParaRPr>
          </a:p>
          <a:p>
            <a:pPr marL="0" indent="0">
              <a:buNone/>
            </a:pPr>
            <a:r>
              <a:rPr lang="en-US" sz="3200" dirty="0">
                <a:latin typeface="National semibold" panose="02000503000000020004"/>
              </a:rPr>
              <a:t>Arbitrage guarantees that the price is the same in different trading locations.  </a:t>
            </a:r>
          </a:p>
          <a:p>
            <a:pPr marL="0" indent="0">
              <a:buNone/>
            </a:pPr>
            <a:endParaRPr lang="en-US" sz="3500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68226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08A05394-D35D-4C4B-80AA-575B2D066D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17479" y="4267200"/>
            <a:ext cx="1524000" cy="15240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965743FF-C1EA-4405-B392-847B60FAA256}"/>
              </a:ext>
            </a:extLst>
          </p:cNvPr>
          <p:cNvSpPr/>
          <p:nvPr/>
        </p:nvSpPr>
        <p:spPr>
          <a:xfrm>
            <a:off x="2695042" y="4811284"/>
            <a:ext cx="1376047" cy="1854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1B52B-9A8D-4381-A0CD-0425C077C9EF}"/>
              </a:ext>
            </a:extLst>
          </p:cNvPr>
          <p:cNvSpPr txBox="1"/>
          <p:nvPr/>
        </p:nvSpPr>
        <p:spPr>
          <a:xfrm>
            <a:off x="2665412" y="4524938"/>
            <a:ext cx="1515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pay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1.5</a:t>
            </a:r>
            <a:r>
              <a:rPr lang="en-US" sz="1600" dirty="0">
                <a:latin typeface="National semibold" panose="02000503000000020004"/>
              </a:rPr>
              <a:t> Dollars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894DA1C-FFB9-47FB-AA06-77D39CD4A359}"/>
              </a:ext>
            </a:extLst>
          </p:cNvPr>
          <p:cNvSpPr/>
          <p:nvPr/>
        </p:nvSpPr>
        <p:spPr>
          <a:xfrm flipH="1">
            <a:off x="3122612" y="5323358"/>
            <a:ext cx="1356360" cy="210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2C4634-A157-4356-B3E4-E95B5C53D40B}"/>
              </a:ext>
            </a:extLst>
          </p:cNvPr>
          <p:cNvSpPr txBox="1"/>
          <p:nvPr/>
        </p:nvSpPr>
        <p:spPr>
          <a:xfrm>
            <a:off x="2952426" y="5029200"/>
            <a:ext cx="1654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receive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</a:t>
            </a:r>
            <a:r>
              <a:rPr lang="en-US" sz="1600" dirty="0">
                <a:latin typeface="National semibold" panose="02000503000000020004"/>
              </a:rPr>
              <a:t> Pound</a:t>
            </a:r>
          </a:p>
        </p:txBody>
      </p:sp>
      <p:pic>
        <p:nvPicPr>
          <p:cNvPr id="27" name="Picture 26" descr="Text, calendar&#10;&#10;Description automatically generated">
            <a:extLst>
              <a:ext uri="{FF2B5EF4-FFF2-40B4-BE49-F238E27FC236}">
                <a16:creationId xmlns:a16="http://schemas.microsoft.com/office/drawing/2014/main" id="{085486E5-4DD5-4C21-87FF-C574067905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74112" y="4586534"/>
            <a:ext cx="1149618" cy="953476"/>
          </a:xfrm>
          <a:prstGeom prst="rect">
            <a:avLst/>
          </a:prstGeom>
        </p:spPr>
      </p:pic>
      <p:pic>
        <p:nvPicPr>
          <p:cNvPr id="4" name="Picture 3" descr="A large clock tower towering over a city&#10;&#10;Description automatically generated">
            <a:extLst>
              <a:ext uri="{FF2B5EF4-FFF2-40B4-BE49-F238E27FC236}">
                <a16:creationId xmlns:a16="http://schemas.microsoft.com/office/drawing/2014/main" id="{CA7B9BC2-C193-40BF-A66D-141EC1E334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132012" y="2133603"/>
            <a:ext cx="2616847" cy="2054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91355B-7755-4924-8617-1AB73CB77DCB}"/>
              </a:ext>
            </a:extLst>
          </p:cNvPr>
          <p:cNvSpPr txBox="1"/>
          <p:nvPr/>
        </p:nvSpPr>
        <p:spPr>
          <a:xfrm>
            <a:off x="2896956" y="1676400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ational semibold" panose="02000503000000020004"/>
              </a:rPr>
              <a:t>London</a:t>
            </a:r>
            <a:endParaRPr lang="en-US" b="1" dirty="0">
              <a:latin typeface="National semibold" panose="020005030000000200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DB9875-6F58-4313-8D9E-3F7685D0315B}"/>
              </a:ext>
            </a:extLst>
          </p:cNvPr>
          <p:cNvSpPr txBox="1"/>
          <p:nvPr/>
        </p:nvSpPr>
        <p:spPr>
          <a:xfrm>
            <a:off x="8356117" y="1676400"/>
            <a:ext cx="1395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ational semibold" panose="02000503000000020004"/>
              </a:rPr>
              <a:t>New York</a:t>
            </a:r>
            <a:endParaRPr lang="en-US" b="1" dirty="0">
              <a:latin typeface="National semibold" panose="02000503000000020004"/>
            </a:endParaRPr>
          </a:p>
        </p:txBody>
      </p:sp>
      <p:pic>
        <p:nvPicPr>
          <p:cNvPr id="40" name="Picture 39" descr="A view of a city with tall buildings in the background&#10;&#10;Description automatically generated">
            <a:extLst>
              <a:ext uri="{FF2B5EF4-FFF2-40B4-BE49-F238E27FC236}">
                <a16:creationId xmlns:a16="http://schemas.microsoft.com/office/drawing/2014/main" id="{F2A10B91-3F7F-42FD-88F2-F8CAB7135D1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 rot="10800000" flipV="1">
            <a:off x="7618412" y="2133601"/>
            <a:ext cx="2926080" cy="1950720"/>
          </a:xfrm>
          <a:prstGeom prst="rect">
            <a:avLst/>
          </a:prstGeom>
        </p:spPr>
      </p:pic>
      <p:pic>
        <p:nvPicPr>
          <p:cNvPr id="44" name="Picture 43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ADA57234-BF78-4AED-81A6-CA3432FB98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80079" y="4343400"/>
            <a:ext cx="1524000" cy="1524000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FB762704-F827-4DCB-9911-E5B390CB71A1}"/>
              </a:ext>
            </a:extLst>
          </p:cNvPr>
          <p:cNvSpPr/>
          <p:nvPr/>
        </p:nvSpPr>
        <p:spPr>
          <a:xfrm>
            <a:off x="8257642" y="4876800"/>
            <a:ext cx="1376047" cy="217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4A31A0-E1C9-4E91-BDFE-939485E9BD59}"/>
              </a:ext>
            </a:extLst>
          </p:cNvPr>
          <p:cNvSpPr txBox="1"/>
          <p:nvPr/>
        </p:nvSpPr>
        <p:spPr>
          <a:xfrm>
            <a:off x="8228012" y="4585870"/>
            <a:ext cx="1515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pay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1.7</a:t>
            </a:r>
            <a:r>
              <a:rPr lang="en-US" sz="1600" dirty="0">
                <a:latin typeface="National semibold" panose="02000503000000020004"/>
              </a:rPr>
              <a:t> Dollars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2E31FDEA-1A6C-4A01-A388-DDE7BE5A344B}"/>
              </a:ext>
            </a:extLst>
          </p:cNvPr>
          <p:cNvSpPr/>
          <p:nvPr/>
        </p:nvSpPr>
        <p:spPr>
          <a:xfrm flipH="1">
            <a:off x="8685212" y="5404318"/>
            <a:ext cx="1356360" cy="210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33C27-9EB5-46D8-8C02-C2E49482F525}"/>
              </a:ext>
            </a:extLst>
          </p:cNvPr>
          <p:cNvSpPr txBox="1"/>
          <p:nvPr/>
        </p:nvSpPr>
        <p:spPr>
          <a:xfrm>
            <a:off x="8479213" y="5095872"/>
            <a:ext cx="1690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receive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</a:t>
            </a:r>
            <a:r>
              <a:rPr lang="en-US" sz="1600" dirty="0">
                <a:latin typeface="National semibold" panose="02000503000000020004"/>
              </a:rPr>
              <a:t> Pound</a:t>
            </a:r>
          </a:p>
        </p:txBody>
      </p:sp>
      <p:pic>
        <p:nvPicPr>
          <p:cNvPr id="54" name="Picture 53" descr="Text, calendar&#10;&#10;Description automatically generated">
            <a:extLst>
              <a:ext uri="{FF2B5EF4-FFF2-40B4-BE49-F238E27FC236}">
                <a16:creationId xmlns:a16="http://schemas.microsoft.com/office/drawing/2014/main" id="{DB644EAD-A26B-4BB3-9A91-19348BE42E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136712" y="4553199"/>
            <a:ext cx="1149618" cy="953476"/>
          </a:xfrm>
          <a:prstGeom prst="rect">
            <a:avLst/>
          </a:prstGeom>
        </p:spPr>
      </p:pic>
      <p:sp>
        <p:nvSpPr>
          <p:cNvPr id="26" name="Title 12">
            <a:extLst>
              <a:ext uri="{FF2B5EF4-FFF2-40B4-BE49-F238E27FC236}">
                <a16:creationId xmlns:a16="http://schemas.microsoft.com/office/drawing/2014/main" id="{3E15BC67-FF0A-4863-BAF6-1D9577F2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45" y="353678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Trading Pounds in London and New York</a:t>
            </a:r>
          </a:p>
        </p:txBody>
      </p:sp>
    </p:spTree>
    <p:extLst>
      <p:ext uri="{BB962C8B-B14F-4D97-AF65-F5344CB8AC3E}">
        <p14:creationId xmlns:p14="http://schemas.microsoft.com/office/powerpoint/2010/main" val="40245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8" grpId="0"/>
      <p:bldP spid="6" grpId="0"/>
      <p:bldP spid="38" grpId="0"/>
      <p:bldP spid="46" grpId="0" animBg="1"/>
      <p:bldP spid="48" grpId="0"/>
      <p:bldP spid="50" grpId="0" animBg="1"/>
      <p:bldP spid="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08A05394-D35D-4C4B-80AA-575B2D066D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17479" y="4267200"/>
            <a:ext cx="1524000" cy="15240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965743FF-C1EA-4405-B392-847B60FAA256}"/>
              </a:ext>
            </a:extLst>
          </p:cNvPr>
          <p:cNvSpPr/>
          <p:nvPr/>
        </p:nvSpPr>
        <p:spPr>
          <a:xfrm>
            <a:off x="2695042" y="4811284"/>
            <a:ext cx="1376047" cy="1854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1B52B-9A8D-4381-A0CD-0425C077C9EF}"/>
              </a:ext>
            </a:extLst>
          </p:cNvPr>
          <p:cNvSpPr txBox="1"/>
          <p:nvPr/>
        </p:nvSpPr>
        <p:spPr>
          <a:xfrm>
            <a:off x="2665412" y="4524938"/>
            <a:ext cx="1515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pay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1.5</a:t>
            </a:r>
            <a:r>
              <a:rPr lang="en-US" sz="1600" dirty="0">
                <a:latin typeface="National semibold" panose="02000503000000020004"/>
              </a:rPr>
              <a:t> Dollars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894DA1C-FFB9-47FB-AA06-77D39CD4A359}"/>
              </a:ext>
            </a:extLst>
          </p:cNvPr>
          <p:cNvSpPr/>
          <p:nvPr/>
        </p:nvSpPr>
        <p:spPr>
          <a:xfrm flipH="1">
            <a:off x="3122612" y="5323358"/>
            <a:ext cx="1356360" cy="210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2C4634-A157-4356-B3E4-E95B5C53D40B}"/>
              </a:ext>
            </a:extLst>
          </p:cNvPr>
          <p:cNvSpPr txBox="1"/>
          <p:nvPr/>
        </p:nvSpPr>
        <p:spPr>
          <a:xfrm>
            <a:off x="2952426" y="5029200"/>
            <a:ext cx="1654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receive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</a:t>
            </a:r>
            <a:r>
              <a:rPr lang="en-US" sz="1600" dirty="0">
                <a:latin typeface="National semibold" panose="02000503000000020004"/>
              </a:rPr>
              <a:t> Pound</a:t>
            </a:r>
          </a:p>
        </p:txBody>
      </p:sp>
      <p:pic>
        <p:nvPicPr>
          <p:cNvPr id="27" name="Picture 26" descr="Text, calendar&#10;&#10;Description automatically generated">
            <a:extLst>
              <a:ext uri="{FF2B5EF4-FFF2-40B4-BE49-F238E27FC236}">
                <a16:creationId xmlns:a16="http://schemas.microsoft.com/office/drawing/2014/main" id="{085486E5-4DD5-4C21-87FF-C574067905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74112" y="4586534"/>
            <a:ext cx="1149618" cy="953476"/>
          </a:xfrm>
          <a:prstGeom prst="rect">
            <a:avLst/>
          </a:prstGeom>
        </p:spPr>
      </p:pic>
      <p:pic>
        <p:nvPicPr>
          <p:cNvPr id="4" name="Picture 3" descr="A large clock tower towering over a city&#10;&#10;Description automatically generated">
            <a:extLst>
              <a:ext uri="{FF2B5EF4-FFF2-40B4-BE49-F238E27FC236}">
                <a16:creationId xmlns:a16="http://schemas.microsoft.com/office/drawing/2014/main" id="{CA7B9BC2-C193-40BF-A66D-141EC1E334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132012" y="2133603"/>
            <a:ext cx="2616847" cy="2054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91355B-7755-4924-8617-1AB73CB77DCB}"/>
              </a:ext>
            </a:extLst>
          </p:cNvPr>
          <p:cNvSpPr txBox="1"/>
          <p:nvPr/>
        </p:nvSpPr>
        <p:spPr>
          <a:xfrm>
            <a:off x="2896956" y="1676400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ational semibold" panose="02000503000000020004"/>
              </a:rPr>
              <a:t>London</a:t>
            </a:r>
            <a:endParaRPr lang="en-US" b="1" dirty="0">
              <a:latin typeface="National semibold" panose="020005030000000200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DB9875-6F58-4313-8D9E-3F7685D0315B}"/>
              </a:ext>
            </a:extLst>
          </p:cNvPr>
          <p:cNvSpPr txBox="1"/>
          <p:nvPr/>
        </p:nvSpPr>
        <p:spPr>
          <a:xfrm>
            <a:off x="8356117" y="1676400"/>
            <a:ext cx="1395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ational semibold" panose="02000503000000020004"/>
              </a:rPr>
              <a:t>New York</a:t>
            </a:r>
            <a:endParaRPr lang="en-US" b="1" dirty="0">
              <a:latin typeface="National semibold" panose="02000503000000020004"/>
            </a:endParaRPr>
          </a:p>
        </p:txBody>
      </p:sp>
      <p:pic>
        <p:nvPicPr>
          <p:cNvPr id="40" name="Picture 39" descr="A view of a city with tall buildings in the background&#10;&#10;Description automatically generated">
            <a:extLst>
              <a:ext uri="{FF2B5EF4-FFF2-40B4-BE49-F238E27FC236}">
                <a16:creationId xmlns:a16="http://schemas.microsoft.com/office/drawing/2014/main" id="{F2A10B91-3F7F-42FD-88F2-F8CAB7135D1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 rot="10800000" flipV="1">
            <a:off x="7618412" y="2133601"/>
            <a:ext cx="2926080" cy="1950720"/>
          </a:xfrm>
          <a:prstGeom prst="rect">
            <a:avLst/>
          </a:prstGeom>
        </p:spPr>
      </p:pic>
      <p:pic>
        <p:nvPicPr>
          <p:cNvPr id="44" name="Picture 43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ADA57234-BF78-4AED-81A6-CA3432FB98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80079" y="4343400"/>
            <a:ext cx="1524000" cy="1524000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FB762704-F827-4DCB-9911-E5B390CB71A1}"/>
              </a:ext>
            </a:extLst>
          </p:cNvPr>
          <p:cNvSpPr/>
          <p:nvPr/>
        </p:nvSpPr>
        <p:spPr>
          <a:xfrm>
            <a:off x="8257642" y="4876800"/>
            <a:ext cx="1376047" cy="217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4A31A0-E1C9-4E91-BDFE-939485E9BD59}"/>
              </a:ext>
            </a:extLst>
          </p:cNvPr>
          <p:cNvSpPr txBox="1"/>
          <p:nvPr/>
        </p:nvSpPr>
        <p:spPr>
          <a:xfrm>
            <a:off x="8228012" y="4585870"/>
            <a:ext cx="1515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pay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1.7</a:t>
            </a:r>
            <a:r>
              <a:rPr lang="en-US" sz="1600" dirty="0">
                <a:latin typeface="National semibold" panose="02000503000000020004"/>
              </a:rPr>
              <a:t> Dollars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2E31FDEA-1A6C-4A01-A388-DDE7BE5A344B}"/>
              </a:ext>
            </a:extLst>
          </p:cNvPr>
          <p:cNvSpPr/>
          <p:nvPr/>
        </p:nvSpPr>
        <p:spPr>
          <a:xfrm flipH="1">
            <a:off x="8685212" y="5404318"/>
            <a:ext cx="1356360" cy="210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33C27-9EB5-46D8-8C02-C2E49482F525}"/>
              </a:ext>
            </a:extLst>
          </p:cNvPr>
          <p:cNvSpPr txBox="1"/>
          <p:nvPr/>
        </p:nvSpPr>
        <p:spPr>
          <a:xfrm>
            <a:off x="8479213" y="5095872"/>
            <a:ext cx="1690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receive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</a:t>
            </a:r>
            <a:r>
              <a:rPr lang="en-US" sz="1600" dirty="0">
                <a:latin typeface="National semibold" panose="02000503000000020004"/>
              </a:rPr>
              <a:t> Pound</a:t>
            </a:r>
          </a:p>
        </p:txBody>
      </p:sp>
      <p:pic>
        <p:nvPicPr>
          <p:cNvPr id="54" name="Picture 53" descr="Text, calendar&#10;&#10;Description automatically generated">
            <a:extLst>
              <a:ext uri="{FF2B5EF4-FFF2-40B4-BE49-F238E27FC236}">
                <a16:creationId xmlns:a16="http://schemas.microsoft.com/office/drawing/2014/main" id="{DB644EAD-A26B-4BB3-9A91-19348BE42E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136712" y="4553199"/>
            <a:ext cx="1149618" cy="9534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1CF59-CFDE-469B-A8DA-8CBF5F92858D}"/>
              </a:ext>
            </a:extLst>
          </p:cNvPr>
          <p:cNvSpPr txBox="1"/>
          <p:nvPr/>
        </p:nvSpPr>
        <p:spPr>
          <a:xfrm>
            <a:off x="6962240" y="6076890"/>
            <a:ext cx="46185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National semibold" panose="02000503000000020004"/>
              </a:rPr>
              <a:t>Resell 1 Pound in New York for 1.7 Dollars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A0E65-21D7-4AB5-A6FD-19043CE2DF58}"/>
              </a:ext>
            </a:extLst>
          </p:cNvPr>
          <p:cNvSpPr txBox="1"/>
          <p:nvPr/>
        </p:nvSpPr>
        <p:spPr>
          <a:xfrm>
            <a:off x="1239781" y="6070237"/>
            <a:ext cx="4579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National semibold" panose="02000503000000020004"/>
              </a:rPr>
              <a:t>Buy 1 Pound in London paying 1.5 Dollars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4A155A00-2C0C-4B51-916D-1CF114EA626C}"/>
              </a:ext>
            </a:extLst>
          </p:cNvPr>
          <p:cNvSpPr/>
          <p:nvPr/>
        </p:nvSpPr>
        <p:spPr>
          <a:xfrm rot="10800000">
            <a:off x="8957478" y="4314364"/>
            <a:ext cx="247948" cy="1524000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DF71FB84-257E-4F7A-BD1E-3F7A90D05A2A}"/>
              </a:ext>
            </a:extLst>
          </p:cNvPr>
          <p:cNvSpPr/>
          <p:nvPr/>
        </p:nvSpPr>
        <p:spPr>
          <a:xfrm>
            <a:off x="3423072" y="4301272"/>
            <a:ext cx="247948" cy="1524000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2">
            <a:extLst>
              <a:ext uri="{FF2B5EF4-FFF2-40B4-BE49-F238E27FC236}">
                <a16:creationId xmlns:a16="http://schemas.microsoft.com/office/drawing/2014/main" id="{8652A24D-5AAD-4D3B-A286-9CCEDA3F0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45" y="353678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Arbitrage</a:t>
            </a:r>
          </a:p>
        </p:txBody>
      </p:sp>
    </p:spTree>
    <p:extLst>
      <p:ext uri="{BB962C8B-B14F-4D97-AF65-F5344CB8AC3E}">
        <p14:creationId xmlns:p14="http://schemas.microsoft.com/office/powerpoint/2010/main" val="4156306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08A05394-D35D-4C4B-80AA-575B2D066D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17479" y="4267200"/>
            <a:ext cx="1524000" cy="15240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965743FF-C1EA-4405-B392-847B60FAA256}"/>
              </a:ext>
            </a:extLst>
          </p:cNvPr>
          <p:cNvSpPr/>
          <p:nvPr/>
        </p:nvSpPr>
        <p:spPr>
          <a:xfrm>
            <a:off x="2695042" y="4811284"/>
            <a:ext cx="1376047" cy="1854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1B52B-9A8D-4381-A0CD-0425C077C9EF}"/>
              </a:ext>
            </a:extLst>
          </p:cNvPr>
          <p:cNvSpPr txBox="1"/>
          <p:nvPr/>
        </p:nvSpPr>
        <p:spPr>
          <a:xfrm>
            <a:off x="2665412" y="4524938"/>
            <a:ext cx="1515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pay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1.6</a:t>
            </a:r>
            <a:r>
              <a:rPr lang="en-US" sz="1600" dirty="0">
                <a:latin typeface="National semibold" panose="02000503000000020004"/>
              </a:rPr>
              <a:t> Dollars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894DA1C-FFB9-47FB-AA06-77D39CD4A359}"/>
              </a:ext>
            </a:extLst>
          </p:cNvPr>
          <p:cNvSpPr/>
          <p:nvPr/>
        </p:nvSpPr>
        <p:spPr>
          <a:xfrm flipH="1">
            <a:off x="3122612" y="5323358"/>
            <a:ext cx="1356360" cy="210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2C4634-A157-4356-B3E4-E95B5C53D40B}"/>
              </a:ext>
            </a:extLst>
          </p:cNvPr>
          <p:cNvSpPr txBox="1"/>
          <p:nvPr/>
        </p:nvSpPr>
        <p:spPr>
          <a:xfrm>
            <a:off x="2952426" y="5029200"/>
            <a:ext cx="1654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receive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</a:t>
            </a:r>
            <a:r>
              <a:rPr lang="en-US" sz="1600" dirty="0">
                <a:latin typeface="National semibold" panose="02000503000000020004"/>
              </a:rPr>
              <a:t> Pound</a:t>
            </a:r>
          </a:p>
        </p:txBody>
      </p:sp>
      <p:pic>
        <p:nvPicPr>
          <p:cNvPr id="27" name="Picture 26" descr="Text, calendar&#10;&#10;Description automatically generated">
            <a:extLst>
              <a:ext uri="{FF2B5EF4-FFF2-40B4-BE49-F238E27FC236}">
                <a16:creationId xmlns:a16="http://schemas.microsoft.com/office/drawing/2014/main" id="{085486E5-4DD5-4C21-87FF-C574067905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74112" y="4586534"/>
            <a:ext cx="1149618" cy="953476"/>
          </a:xfrm>
          <a:prstGeom prst="rect">
            <a:avLst/>
          </a:prstGeom>
        </p:spPr>
      </p:pic>
      <p:pic>
        <p:nvPicPr>
          <p:cNvPr id="4" name="Picture 3" descr="A large clock tower towering over a city&#10;&#10;Description automatically generated">
            <a:extLst>
              <a:ext uri="{FF2B5EF4-FFF2-40B4-BE49-F238E27FC236}">
                <a16:creationId xmlns:a16="http://schemas.microsoft.com/office/drawing/2014/main" id="{CA7B9BC2-C193-40BF-A66D-141EC1E334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132012" y="2133603"/>
            <a:ext cx="2616847" cy="2054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91355B-7755-4924-8617-1AB73CB77DCB}"/>
              </a:ext>
            </a:extLst>
          </p:cNvPr>
          <p:cNvSpPr txBox="1"/>
          <p:nvPr/>
        </p:nvSpPr>
        <p:spPr>
          <a:xfrm>
            <a:off x="2896956" y="1676400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ational semibold" panose="02000503000000020004"/>
              </a:rPr>
              <a:t>London</a:t>
            </a:r>
            <a:endParaRPr lang="en-US" b="1" dirty="0">
              <a:latin typeface="National semibold" panose="020005030000000200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DB9875-6F58-4313-8D9E-3F7685D0315B}"/>
              </a:ext>
            </a:extLst>
          </p:cNvPr>
          <p:cNvSpPr txBox="1"/>
          <p:nvPr/>
        </p:nvSpPr>
        <p:spPr>
          <a:xfrm>
            <a:off x="8356117" y="1676400"/>
            <a:ext cx="1395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ational semibold" panose="02000503000000020004"/>
              </a:rPr>
              <a:t>New York</a:t>
            </a:r>
            <a:endParaRPr lang="en-US" b="1" dirty="0">
              <a:latin typeface="National semibold" panose="02000503000000020004"/>
            </a:endParaRPr>
          </a:p>
        </p:txBody>
      </p:sp>
      <p:pic>
        <p:nvPicPr>
          <p:cNvPr id="40" name="Picture 39" descr="A view of a city with tall buildings in the background&#10;&#10;Description automatically generated">
            <a:extLst>
              <a:ext uri="{FF2B5EF4-FFF2-40B4-BE49-F238E27FC236}">
                <a16:creationId xmlns:a16="http://schemas.microsoft.com/office/drawing/2014/main" id="{F2A10B91-3F7F-42FD-88F2-F8CAB7135D1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 rot="10800000" flipV="1">
            <a:off x="7618412" y="2133601"/>
            <a:ext cx="2926080" cy="1950720"/>
          </a:xfrm>
          <a:prstGeom prst="rect">
            <a:avLst/>
          </a:prstGeom>
        </p:spPr>
      </p:pic>
      <p:pic>
        <p:nvPicPr>
          <p:cNvPr id="44" name="Picture 43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ADA57234-BF78-4AED-81A6-CA3432FB98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80079" y="4343400"/>
            <a:ext cx="1524000" cy="1524000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FB762704-F827-4DCB-9911-E5B390CB71A1}"/>
              </a:ext>
            </a:extLst>
          </p:cNvPr>
          <p:cNvSpPr/>
          <p:nvPr/>
        </p:nvSpPr>
        <p:spPr>
          <a:xfrm>
            <a:off x="8257642" y="4876800"/>
            <a:ext cx="1376047" cy="217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4A31A0-E1C9-4E91-BDFE-939485E9BD59}"/>
              </a:ext>
            </a:extLst>
          </p:cNvPr>
          <p:cNvSpPr txBox="1"/>
          <p:nvPr/>
        </p:nvSpPr>
        <p:spPr>
          <a:xfrm>
            <a:off x="8228012" y="4585870"/>
            <a:ext cx="1515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pay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1.6</a:t>
            </a:r>
            <a:r>
              <a:rPr lang="en-US" sz="1600" dirty="0">
                <a:latin typeface="National semibold" panose="02000503000000020004"/>
              </a:rPr>
              <a:t> Dollars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2E31FDEA-1A6C-4A01-A388-DDE7BE5A344B}"/>
              </a:ext>
            </a:extLst>
          </p:cNvPr>
          <p:cNvSpPr/>
          <p:nvPr/>
        </p:nvSpPr>
        <p:spPr>
          <a:xfrm flipH="1">
            <a:off x="8685212" y="5404318"/>
            <a:ext cx="1356360" cy="210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33C27-9EB5-46D8-8C02-C2E49482F525}"/>
              </a:ext>
            </a:extLst>
          </p:cNvPr>
          <p:cNvSpPr txBox="1"/>
          <p:nvPr/>
        </p:nvSpPr>
        <p:spPr>
          <a:xfrm>
            <a:off x="8479213" y="5095872"/>
            <a:ext cx="1690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receive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</a:t>
            </a:r>
            <a:r>
              <a:rPr lang="en-US" sz="1600" dirty="0">
                <a:latin typeface="National semibold" panose="02000503000000020004"/>
              </a:rPr>
              <a:t> Pound</a:t>
            </a:r>
          </a:p>
        </p:txBody>
      </p:sp>
      <p:pic>
        <p:nvPicPr>
          <p:cNvPr id="54" name="Picture 53" descr="Text, calendar&#10;&#10;Description automatically generated">
            <a:extLst>
              <a:ext uri="{FF2B5EF4-FFF2-40B4-BE49-F238E27FC236}">
                <a16:creationId xmlns:a16="http://schemas.microsoft.com/office/drawing/2014/main" id="{DB644EAD-A26B-4BB3-9A91-19348BE42E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136712" y="4553199"/>
            <a:ext cx="1149618" cy="953476"/>
          </a:xfrm>
          <a:prstGeom prst="rect">
            <a:avLst/>
          </a:prstGeom>
        </p:spPr>
      </p:pic>
      <p:sp>
        <p:nvSpPr>
          <p:cNvPr id="26" name="Title 12">
            <a:extLst>
              <a:ext uri="{FF2B5EF4-FFF2-40B4-BE49-F238E27FC236}">
                <a16:creationId xmlns:a16="http://schemas.microsoft.com/office/drawing/2014/main" id="{8652A24D-5AAD-4D3B-A286-9CCEDA3F0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45" y="353678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Price equalization</a:t>
            </a:r>
          </a:p>
        </p:txBody>
      </p:sp>
    </p:spTree>
    <p:extLst>
      <p:ext uri="{BB962C8B-B14F-4D97-AF65-F5344CB8AC3E}">
        <p14:creationId xmlns:p14="http://schemas.microsoft.com/office/powerpoint/2010/main" val="418656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D2B5-D784-4075-2261-6AA43750C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752600"/>
            <a:ext cx="9829799" cy="31242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>
                <a:latin typeface="National semibold" panose="02000503000000020004"/>
              </a:rPr>
              <a:t>Determinants of the Exchange Rate</a:t>
            </a:r>
            <a:endParaRPr lang="en-US" sz="4000" b="1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61531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Determinants of the exchange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F897-2643-4490-93FF-4FF458F1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81200"/>
            <a:ext cx="9448799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u="sng" dirty="0">
                <a:latin typeface="National semibold" panose="02000503000000020004"/>
              </a:rPr>
              <a:t>Short-run</a:t>
            </a:r>
          </a:p>
          <a:p>
            <a:r>
              <a:rPr lang="en-US" sz="3200" dirty="0">
                <a:latin typeface="National semibold" panose="02000503000000020004"/>
              </a:rPr>
              <a:t>The exchange rate is mostly determined by portfolio repositioning of assets denominated in foreign currencies and business cycle.</a:t>
            </a:r>
          </a:p>
          <a:p>
            <a:pPr marL="0" indent="0">
              <a:buNone/>
            </a:pPr>
            <a:endParaRPr lang="en-US" sz="3200" b="1" u="sng" dirty="0">
              <a:latin typeface="National semibold" panose="02000503000000020004"/>
            </a:endParaRPr>
          </a:p>
          <a:p>
            <a:pPr marL="0" indent="0">
              <a:buNone/>
            </a:pPr>
            <a:r>
              <a:rPr lang="en-US" sz="3200" b="1" u="sng" dirty="0">
                <a:latin typeface="National semibold" panose="02000503000000020004"/>
              </a:rPr>
              <a:t>Long-run</a:t>
            </a:r>
          </a:p>
          <a:p>
            <a:r>
              <a:rPr lang="en-US" sz="3200" dirty="0">
                <a:latin typeface="National semibold" panose="02000503000000020004"/>
              </a:rPr>
              <a:t>The exchange rate is determined by the Purchasing Power Parity (PPP). </a:t>
            </a:r>
          </a:p>
          <a:p>
            <a:pPr marL="0" indent="0">
              <a:buNone/>
            </a:pPr>
            <a:endParaRPr lang="en-US" sz="3500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71140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745B273C-6FED-4863-9CB5-D93C31F4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Exchange rate in the long-run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A576661B-15FC-48CF-8C29-4066D28C496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39685" y="2238994"/>
                <a:ext cx="9410700" cy="3476006"/>
              </a:xfr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 eaLnBrk="1" hangingPunct="1">
                  <a:buNone/>
                </a:pPr>
                <a:endParaRPr lang="en-US" altLang="en-US" sz="800" dirty="0">
                  <a:latin typeface="National Semibold" panose="02000503000000020004" pitchFamily="50" charset="0"/>
                  <a:ea typeface="National Semibold" panose="02000503000000020004" pitchFamily="50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r>
                  <a:rPr lang="en-US" altLang="en-US" sz="3200" b="1" dirty="0">
                    <a:latin typeface="National Semibold" panose="02000503000000020004" pitchFamily="50" charset="0"/>
                    <a:ea typeface="National Semibold" panose="02000503000000020004" pitchFamily="50" charset="0"/>
                  </a:rPr>
                  <a:t>Real Exchange Rate (</a:t>
                </a:r>
                <a:r>
                  <a:rPr lang="en-US" altLang="en-US" sz="3200" b="1" i="1" dirty="0">
                    <a:latin typeface="National Semibold" panose="02000503000000020004" pitchFamily="50" charset="0"/>
                    <a:ea typeface="National Semibold" panose="02000503000000020004" pitchFamily="50" charset="0"/>
                  </a:rPr>
                  <a:t>RER</a:t>
                </a:r>
                <a:r>
                  <a:rPr lang="en-US" altLang="en-US" sz="3200" b="1" dirty="0">
                    <a:latin typeface="National Semibold" panose="02000503000000020004" pitchFamily="50" charset="0"/>
                    <a:ea typeface="National Semibold" panose="02000503000000020004" pitchFamily="50" charset="0"/>
                  </a:rPr>
                  <a:t>)</a:t>
                </a:r>
                <a:r>
                  <a:rPr lang="en-US" altLang="en-US" sz="3200" dirty="0">
                    <a:latin typeface="National Semibold" panose="02000503000000020004" pitchFamily="50" charset="0"/>
                    <a:ea typeface="National Semibold" panose="02000503000000020004" pitchFamily="50" charset="0"/>
                  </a:rPr>
                  <a:t>: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3200" dirty="0">
                  <a:solidFill>
                    <a:srgbClr val="000000"/>
                  </a:solidFill>
                  <a:latin typeface="National semibold" panose="02000503000000020004"/>
                </a:endParaRPr>
              </a:p>
              <a:p>
                <a:pPr marL="287337" lvl="1" indent="0">
                  <a:spcBef>
                    <a:spcPts val="0"/>
                  </a:spcBef>
                  <a:buNone/>
                </a:pPr>
                <a:r>
                  <a:rPr lang="en-US" sz="2800" dirty="0">
                    <a:solidFill>
                      <a:srgbClr val="000000"/>
                    </a:solidFill>
                    <a:latin typeface="National semibold" panose="02000503000000020004"/>
                  </a:rPr>
                  <a:t>The price of domestic produced goods relatively to the price of foreign produced goods, expressed in the same currency: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2800" dirty="0">
                  <a:solidFill>
                    <a:srgbClr val="000000"/>
                  </a:solidFill>
                  <a:latin typeface="National semibold" panose="02000503000000020004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𝑅𝐸𝑅</m:t>
                      </m:r>
                      <m:r>
                        <a:rPr lang="en-US" alt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Price</m:t>
                          </m:r>
                          <m: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domestic</m:t>
                          </m:r>
                          <m: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goods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Price</m:t>
                          </m:r>
                          <m: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foreign</m:t>
                          </m:r>
                          <m: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800" b="0" i="0" smtClean="0">
                              <a:latin typeface="Cambria Math" panose="02040503050406030204" pitchFamily="18" charset="0"/>
                            </a:rPr>
                            <m:t>goods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A576661B-15FC-48CF-8C29-4066D28C4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9685" y="2238994"/>
                <a:ext cx="9410700" cy="3476006"/>
              </a:xfrm>
              <a:blipFill>
                <a:blip r:embed="rId3"/>
                <a:stretch>
                  <a:fillRect l="-1419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070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2208212" y="3505200"/>
            <a:ext cx="9304278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nom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=  Nominal exchange rate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(foreign currency to buy one unit of domestic currency)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National semibold" panose="02000503000000020004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 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Domestic price in domestic currency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National semibold" panose="02000503000000020004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 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P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For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  <a:sym typeface="Symbol" pitchFamily="18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Foreign price in foreign currency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National semibold" panose="02000503000000020004"/>
              <a:ea typeface="+mn-ea"/>
              <a:cs typeface="+mn-cs"/>
            </a:endParaRPr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745B273C-6FED-4863-9CB5-D93C31F4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76200"/>
            <a:ext cx="9829799" cy="160020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National semibold" panose="02000503000000020004"/>
              </a:rPr>
              <a:t>Formula for the </a:t>
            </a:r>
            <a:r>
              <a:rPr lang="en-US" sz="4000" i="1" dirty="0">
                <a:latin typeface="National semibold" panose="02000503000000020004"/>
              </a:rPr>
              <a:t>RER </a:t>
            </a:r>
            <a:br>
              <a:rPr lang="en-US" sz="4000" i="1" dirty="0">
                <a:latin typeface="National semibold" panose="02000503000000020004"/>
              </a:rPr>
            </a:br>
            <a:r>
              <a:rPr lang="en-US" sz="2800" i="1" dirty="0">
                <a:latin typeface="National semibold" panose="02000503000000020004"/>
              </a:rPr>
              <a:t>(Ratio between domestic and foreign prices when prices are expressed in the same currency)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956C186B-AF80-4D9B-87DA-972C27D61D8A}"/>
                  </a:ext>
                </a:extLst>
              </p:cNvPr>
              <p:cNvSpPr txBox="1"/>
              <p:nvPr/>
            </p:nvSpPr>
            <p:spPr bwMode="auto">
              <a:xfrm>
                <a:off x="4992688" y="2068513"/>
                <a:ext cx="2397125" cy="9461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𝑅𝐸𝑅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𝑛𝑜𝑚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num>
                        <m:den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𝐹𝑜𝑟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National semibold" panose="020005030000000200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956C186B-AF80-4D9B-87DA-972C27D61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2688" y="2068513"/>
                <a:ext cx="2397125" cy="946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34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531812" y="899159"/>
            <a:ext cx="105918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National semibold" panose="02000503000000020004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National semibold" panose="02000503000000020004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National semibold" panose="02000503000000020004"/>
              </a:rPr>
              <a:t>Consider a European car: </a:t>
            </a:r>
            <a:r>
              <a:rPr lang="en-US" b="1" dirty="0">
                <a:latin typeface="National semibold" panose="02000503000000020004"/>
              </a:rPr>
              <a:t>AUDI A4</a:t>
            </a:r>
            <a:r>
              <a:rPr lang="en-US" dirty="0">
                <a:latin typeface="National semibold" panose="02000503000000020004"/>
              </a:rPr>
              <a:t> </a:t>
            </a:r>
          </a:p>
          <a:p>
            <a:pPr marL="342900" indent="-342900">
              <a:spcBef>
                <a:spcPct val="0"/>
              </a:spcBef>
            </a:pPr>
            <a:endParaRPr lang="en-US" dirty="0">
              <a:latin typeface="National semibold" panose="02000503000000020004"/>
            </a:endParaRPr>
          </a:p>
          <a:p>
            <a:pPr marL="342900" indent="-342900">
              <a:spcBef>
                <a:spcPct val="0"/>
              </a:spcBef>
            </a:pPr>
            <a:endParaRPr lang="en-US" dirty="0">
              <a:latin typeface="National semibold" panose="02000503000000020004"/>
            </a:endParaRPr>
          </a:p>
          <a:p>
            <a:pPr>
              <a:spcBef>
                <a:spcPct val="0"/>
              </a:spcBef>
            </a:pPr>
            <a:endParaRPr lang="en-US" dirty="0">
              <a:latin typeface="National semibold" panose="02000503000000020004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National semibold" panose="02000503000000020004"/>
              </a:rPr>
              <a:t>            Price in Europe: </a:t>
            </a:r>
            <a:r>
              <a:rPr lang="en-US" b="1" dirty="0">
                <a:latin typeface="National semibold" panose="02000503000000020004"/>
              </a:rPr>
              <a:t>€40,000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b="1" dirty="0">
              <a:latin typeface="National semibold" panose="02000503000000020004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b="1" dirty="0">
              <a:latin typeface="National semibold" panose="02000503000000020004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National semibold" panose="02000503000000020004"/>
              </a:rPr>
              <a:t>            </a:t>
            </a:r>
            <a:r>
              <a:rPr lang="en-US" dirty="0">
                <a:latin typeface="National semibold" panose="02000503000000020004"/>
              </a:rPr>
              <a:t>Price in the United States: </a:t>
            </a:r>
            <a:r>
              <a:rPr lang="en-US" b="1" dirty="0">
                <a:latin typeface="National semibold" panose="02000503000000020004"/>
              </a:rPr>
              <a:t>$50,000</a:t>
            </a:r>
          </a:p>
          <a:p>
            <a:pPr marL="342900" indent="-342900">
              <a:spcBef>
                <a:spcPct val="0"/>
              </a:spcBef>
            </a:pPr>
            <a:endParaRPr lang="en-US" dirty="0">
              <a:latin typeface="National semibold" panose="02000503000000020004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National semibold" panose="02000503000000020004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National semibold" panose="02000503000000020004"/>
              </a:rPr>
              <a:t>Nominal exchange rate: </a:t>
            </a:r>
            <a:r>
              <a:rPr lang="en-US" b="1" dirty="0">
                <a:latin typeface="National semibold" panose="02000503000000020004"/>
              </a:rPr>
              <a:t>0.9 €</a:t>
            </a:r>
            <a:r>
              <a:rPr lang="en-US" dirty="0">
                <a:latin typeface="National semibold" panose="02000503000000020004"/>
              </a:rPr>
              <a:t> / </a:t>
            </a:r>
            <a:r>
              <a:rPr lang="en-US" b="1" dirty="0">
                <a:latin typeface="National semibold" panose="02000503000000020004"/>
              </a:rPr>
              <a:t>$</a:t>
            </a:r>
            <a:r>
              <a:rPr lang="en-US" dirty="0">
                <a:latin typeface="National semibold" panose="02000503000000020004"/>
              </a:rPr>
              <a:t>       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dirty="0">
              <a:latin typeface="National semibold" panose="02000503000000020004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dirty="0">
                <a:latin typeface="National semibold" panose="02000503000000020004"/>
              </a:rPr>
              <a:t>       	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b="1" dirty="0">
              <a:latin typeface="National semibold" panose="02000503000000020004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dirty="0">
              <a:latin typeface="National semibold" panose="02000503000000020004"/>
            </a:endParaRPr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370EE623-17E0-4D4E-A0BE-6EB0111D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12" y="76200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Example</a:t>
            </a:r>
            <a:r>
              <a:rPr lang="en-US" sz="4000" dirty="0">
                <a:latin typeface="National semibold" panose="02000503000000020004"/>
              </a:rPr>
              <a:t>: Computing the </a:t>
            </a:r>
            <a:r>
              <a:rPr lang="en-US" sz="4000" i="1" dirty="0">
                <a:latin typeface="National semibold" panose="02000503000000020004"/>
              </a:rPr>
              <a:t>RER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E3BB64-C1B4-4034-986F-E23BDB874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103812" y="1143000"/>
            <a:ext cx="2367378" cy="1219200"/>
          </a:xfrm>
          <a:prstGeom prst="rect">
            <a:avLst/>
          </a:prstGeom>
        </p:spPr>
      </p:pic>
      <p:pic>
        <p:nvPicPr>
          <p:cNvPr id="7" name="Picture 6" descr="A flag flying in the sky&#10;&#10;Description automatically generated">
            <a:extLst>
              <a:ext uri="{FF2B5EF4-FFF2-40B4-BE49-F238E27FC236}">
                <a16:creationId xmlns:a16="http://schemas.microsoft.com/office/drawing/2014/main" id="{D75776DE-DBFE-42F0-BDA2-DE27D8FA09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55992" y="2743200"/>
            <a:ext cx="558800" cy="419100"/>
          </a:xfrm>
          <a:prstGeom prst="rect">
            <a:avLst/>
          </a:prstGeom>
        </p:spPr>
      </p:pic>
      <p:pic>
        <p:nvPicPr>
          <p:cNvPr id="12" name="Picture 11" descr="A close up of a flag&#10;&#10;Description automatically generated">
            <a:extLst>
              <a:ext uri="{FF2B5EF4-FFF2-40B4-BE49-F238E27FC236}">
                <a16:creationId xmlns:a16="http://schemas.microsoft.com/office/drawing/2014/main" id="{5234F495-F164-400B-BB3C-9D83B301EC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 flipH="1">
            <a:off x="963396" y="3657600"/>
            <a:ext cx="551396" cy="384744"/>
          </a:xfrm>
          <a:prstGeom prst="rect">
            <a:avLst/>
          </a:prstGeom>
        </p:spPr>
      </p:pic>
      <p:pic>
        <p:nvPicPr>
          <p:cNvPr id="17" name="Picture 16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70868AC1-1F65-42E5-B201-2227D62F871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075612" y="4267200"/>
            <a:ext cx="914400" cy="914400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E53B6F11-786B-4DC9-888B-DD8D11E75655}"/>
              </a:ext>
            </a:extLst>
          </p:cNvPr>
          <p:cNvSpPr/>
          <p:nvPr/>
        </p:nvSpPr>
        <p:spPr>
          <a:xfrm>
            <a:off x="6104688" y="4480265"/>
            <a:ext cx="1056524" cy="167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629AE3-472E-4D9C-8CC2-B6036C86D385}"/>
              </a:ext>
            </a:extLst>
          </p:cNvPr>
          <p:cNvSpPr txBox="1"/>
          <p:nvPr/>
        </p:nvSpPr>
        <p:spPr>
          <a:xfrm>
            <a:off x="5865812" y="4157246"/>
            <a:ext cx="1604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pay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0.9</a:t>
            </a:r>
            <a:r>
              <a:rPr lang="en-US" sz="1600" dirty="0">
                <a:latin typeface="National semibold" panose="02000503000000020004"/>
              </a:rPr>
              <a:t> Euro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3281B36-3C8C-4477-A3D3-51601C1FA2B1}"/>
              </a:ext>
            </a:extLst>
          </p:cNvPr>
          <p:cNvSpPr/>
          <p:nvPr/>
        </p:nvSpPr>
        <p:spPr>
          <a:xfrm flipH="1">
            <a:off x="6805605" y="4838990"/>
            <a:ext cx="1041407" cy="1902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C64851-D9F9-4FBD-AA1B-938F9740EEA2}"/>
              </a:ext>
            </a:extLst>
          </p:cNvPr>
          <p:cNvSpPr txBox="1"/>
          <p:nvPr/>
        </p:nvSpPr>
        <p:spPr>
          <a:xfrm>
            <a:off x="6547797" y="4538246"/>
            <a:ext cx="1604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ational semibold" panose="02000503000000020004"/>
              </a:rPr>
              <a:t>I receive </a:t>
            </a:r>
            <a:r>
              <a:rPr lang="en-US" sz="1600" b="1" dirty="0">
                <a:solidFill>
                  <a:srgbClr val="FF0000"/>
                </a:solidFill>
                <a:latin typeface="National semibold" panose="02000503000000020004"/>
              </a:rPr>
              <a:t>1 </a:t>
            </a:r>
            <a:r>
              <a:rPr lang="en-US" sz="1600" dirty="0">
                <a:latin typeface="National semibold" panose="02000503000000020004"/>
              </a:rPr>
              <a:t>Dollar</a:t>
            </a:r>
          </a:p>
        </p:txBody>
      </p:sp>
      <p:pic>
        <p:nvPicPr>
          <p:cNvPr id="14" name="Picture 13" descr="A picture containing text, holding, refrigerator, person&#10;&#10;Description automatically generated">
            <a:extLst>
              <a:ext uri="{FF2B5EF4-FFF2-40B4-BE49-F238E27FC236}">
                <a16:creationId xmlns:a16="http://schemas.microsoft.com/office/drawing/2014/main" id="{DD325D56-BB5A-4CB5-A086-6CEFBF10B3D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5271451" y="4364735"/>
            <a:ext cx="670561" cy="5882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797E5FD0-E4FB-423D-AFC5-CCC84C09B885}"/>
                  </a:ext>
                </a:extLst>
              </p:cNvPr>
              <p:cNvSpPr txBox="1"/>
              <p:nvPr/>
            </p:nvSpPr>
            <p:spPr bwMode="auto">
              <a:xfrm>
                <a:off x="3579813" y="5351017"/>
                <a:ext cx="4648199" cy="132715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𝑅𝐸𝑅</m:t>
                    </m:r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𝑛𝑜𝑚</m:t>
                            </m:r>
                          </m:sub>
                        </m:s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𝐹𝑜𝑟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National semibold" panose="0200050300000002000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0.9 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50,000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40,000</m:t>
                        </m:r>
                      </m:den>
                    </m:f>
                  </m:oMath>
                </a14:m>
                <a:r>
                  <a:rPr lang="en-US" sz="2400" dirty="0">
                    <a:latin typeface="National semibold" panose="02000503000000020004"/>
                  </a:rPr>
                  <a:t> = 1.125 </a:t>
                </a:r>
              </a:p>
            </p:txBody>
          </p:sp>
        </mc:Choice>
        <mc:Fallback xmlns=""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797E5FD0-E4FB-423D-AFC5-CCC84C09B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9813" y="5351017"/>
                <a:ext cx="4648199" cy="13271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57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 animBg="1"/>
      <p:bldP spid="21" grpId="0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2">
            <a:extLst>
              <a:ext uri="{FF2B5EF4-FFF2-40B4-BE49-F238E27FC236}">
                <a16:creationId xmlns:a16="http://schemas.microsoft.com/office/drawing/2014/main" id="{745B273C-6FED-4863-9CB5-D93C31F4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Purchasing Power Parity (PPP)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576661B-15FC-48CF-8C29-4066D28C49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39685" y="2086595"/>
            <a:ext cx="9410700" cy="2485406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endParaRPr lang="en-US" altLang="en-US" sz="800" dirty="0">
              <a:latin typeface="National Semibold" panose="02000503000000020004" pitchFamily="50" charset="0"/>
              <a:ea typeface="National Semibold" panose="02000503000000020004" pitchFamily="50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3200" b="1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Purchasing </a:t>
            </a:r>
            <a:r>
              <a:rPr lang="en-US" altLang="en-US" sz="3200" b="1">
                <a:latin typeface="National Semibold" panose="02000503000000020004" pitchFamily="50" charset="0"/>
                <a:ea typeface="National Semibold" panose="02000503000000020004" pitchFamily="50" charset="0"/>
              </a:rPr>
              <a:t>Power Parity Theory</a:t>
            </a:r>
            <a:r>
              <a:rPr lang="en-US" altLang="en-US" sz="3200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US" sz="3200" dirty="0">
              <a:solidFill>
                <a:srgbClr val="000000"/>
              </a:solidFill>
              <a:latin typeface="National semibold" panose="02000503000000020004"/>
            </a:endParaRPr>
          </a:p>
          <a:p>
            <a:pPr marL="287337" lvl="1" indent="0">
              <a:spcBef>
                <a:spcPts val="0"/>
              </a:spcBef>
              <a:buNone/>
            </a:pPr>
            <a:r>
              <a:rPr lang="en-US" sz="2800" dirty="0">
                <a:latin typeface="National semibold" panose="02000503000000020004"/>
              </a:rPr>
              <a:t>The real exchange rate is always equal to 1. Thus, the                nominal exchange rate is only determined by the relative nominal prices (</a:t>
            </a:r>
            <a:r>
              <a:rPr lang="en-US" sz="2800" b="1" dirty="0">
                <a:latin typeface="National semibold" panose="02000503000000020004"/>
              </a:rPr>
              <a:t>law of one price</a:t>
            </a:r>
            <a:r>
              <a:rPr lang="en-US" sz="2800" dirty="0">
                <a:latin typeface="National semibold" panose="02000503000000020004"/>
              </a:rPr>
              <a:t>). </a:t>
            </a: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9549B47F-8DD6-4FAB-A1C9-EC4DC890C9D1}"/>
                  </a:ext>
                </a:extLst>
              </p:cNvPr>
              <p:cNvSpPr txBox="1"/>
              <p:nvPr/>
            </p:nvSpPr>
            <p:spPr bwMode="auto">
              <a:xfrm>
                <a:off x="1141412" y="5454650"/>
                <a:ext cx="2778125" cy="11747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𝑅𝐸𝑅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</m:sub>
                          </m:sSub>
                          <m: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𝐹𝑜𝑟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9549B47F-8DD6-4FAB-A1C9-EC4DC890C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1412" y="5454650"/>
                <a:ext cx="2778125" cy="1174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6535C4DA-698A-440F-9ED9-97D60FF08413}"/>
              </a:ext>
            </a:extLst>
          </p:cNvPr>
          <p:cNvSpPr/>
          <p:nvPr/>
        </p:nvSpPr>
        <p:spPr>
          <a:xfrm>
            <a:off x="4037012" y="5885619"/>
            <a:ext cx="1132724" cy="338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F6FB0-F368-4C9A-936C-11E515D3D277}"/>
              </a:ext>
            </a:extLst>
          </p:cNvPr>
          <p:cNvSpPr txBox="1"/>
          <p:nvPr/>
        </p:nvSpPr>
        <p:spPr>
          <a:xfrm>
            <a:off x="3960812" y="5562600"/>
            <a:ext cx="1056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National semibold" panose="02000503000000020004"/>
              </a:rPr>
              <a:t>Inverting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95283DDA-2399-46E4-A142-5BFCBEAB3295}"/>
                  </a:ext>
                </a:extLst>
              </p:cNvPr>
              <p:cNvSpPr txBox="1"/>
              <p:nvPr/>
            </p:nvSpPr>
            <p:spPr bwMode="auto">
              <a:xfrm>
                <a:off x="5256212" y="5454650"/>
                <a:ext cx="3200400" cy="11747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𝒏𝒐𝒎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𝐸𝑅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𝐹𝑜𝑟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95283DDA-2399-46E4-A142-5BFCBEAB3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6212" y="5454650"/>
                <a:ext cx="3200400" cy="1174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Right 13">
            <a:extLst>
              <a:ext uri="{FF2B5EF4-FFF2-40B4-BE49-F238E27FC236}">
                <a16:creationId xmlns:a16="http://schemas.microsoft.com/office/drawing/2014/main" id="{61748A26-87F1-4B77-98A6-D22081A49296}"/>
              </a:ext>
            </a:extLst>
          </p:cNvPr>
          <p:cNvSpPr/>
          <p:nvPr/>
        </p:nvSpPr>
        <p:spPr>
          <a:xfrm>
            <a:off x="8609012" y="5917369"/>
            <a:ext cx="1132724" cy="338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6E8E3-B8AE-424D-9F73-6FA33CC718BE}"/>
              </a:ext>
            </a:extLst>
          </p:cNvPr>
          <p:cNvSpPr txBox="1"/>
          <p:nvPr/>
        </p:nvSpPr>
        <p:spPr>
          <a:xfrm>
            <a:off x="8532812" y="5594350"/>
            <a:ext cx="1056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National semibold" panose="02000503000000020004"/>
              </a:rPr>
              <a:t>RER</a:t>
            </a:r>
            <a:r>
              <a:rPr lang="en-US" sz="1600" dirty="0">
                <a:latin typeface="National semibold" panose="02000503000000020004"/>
              </a:rPr>
              <a:t>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DAD4D4FB-F0F6-4938-BE8E-FA9F5E639064}"/>
                  </a:ext>
                </a:extLst>
              </p:cNvPr>
              <p:cNvSpPr txBox="1"/>
              <p:nvPr/>
            </p:nvSpPr>
            <p:spPr bwMode="auto">
              <a:xfrm>
                <a:off x="9828212" y="5486400"/>
                <a:ext cx="2236573" cy="11747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𝒏𝒐𝒎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𝐹𝑜𝑟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DAD4D4FB-F0F6-4938-BE8E-FA9F5E639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28212" y="5486400"/>
                <a:ext cx="2236573" cy="11747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86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  <p:bldP spid="3" grpId="0" animBg="1"/>
      <p:bldP spid="11" grpId="0" animBg="1"/>
      <p:bldP spid="12" grpId="0"/>
      <p:bldP spid="4" grpId="0" animBg="1"/>
      <p:bldP spid="14" grpId="0" animBg="1"/>
      <p:bldP spid="15" grpId="0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745B273C-6FED-4863-9CB5-D93C31F4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National semibold" panose="02000503000000020004"/>
              </a:rPr>
              <a:t>Undervalued and overvalued currencies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2DC6720-280F-4887-BB3D-1CC41210D8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39685" y="2086595"/>
            <a:ext cx="9410700" cy="1875805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endParaRPr lang="en-US" altLang="en-US" sz="800" dirty="0">
              <a:latin typeface="National Semibold" panose="02000503000000020004" pitchFamily="50" charset="0"/>
              <a:ea typeface="National Semibold" panose="02000503000000020004" pitchFamily="50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3200" b="1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A currency is </a:t>
            </a:r>
            <a:r>
              <a:rPr lang="en-US" altLang="en-US" sz="3200" b="1" u="sng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undervalued</a:t>
            </a:r>
            <a:r>
              <a:rPr lang="en-US" altLang="en-US" sz="3200" b="1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 if</a:t>
            </a:r>
            <a:r>
              <a:rPr lang="en-US" altLang="en-US" sz="3200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US" sz="3200" dirty="0">
              <a:solidFill>
                <a:srgbClr val="000000"/>
              </a:solidFill>
              <a:latin typeface="National semibold" panose="0200050300000002000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National semibold" panose="02000503000000020004"/>
              </a:rPr>
              <a:t>	Domestic goods are cheaper than foreign goods,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National semibold" panose="02000503000000020004"/>
              </a:rPr>
              <a:t>           that is, </a:t>
            </a:r>
            <a:r>
              <a:rPr lang="en-US" sz="2800" b="1" i="1" dirty="0">
                <a:solidFill>
                  <a:srgbClr val="FF0000"/>
                </a:solidFill>
                <a:latin typeface="National semibold" panose="02000503000000020004"/>
              </a:rPr>
              <a:t>RER</a:t>
            </a:r>
            <a:r>
              <a:rPr lang="en-US" sz="2800" b="1" dirty="0">
                <a:solidFill>
                  <a:srgbClr val="FF0000"/>
                </a:solidFill>
                <a:latin typeface="National semibold" panose="02000503000000020004"/>
              </a:rPr>
              <a:t>&lt;1</a:t>
            </a:r>
            <a:r>
              <a:rPr lang="en-US" sz="2800" dirty="0">
                <a:latin typeface="National semibold" panose="02000503000000020004"/>
              </a:rPr>
              <a:t>. </a:t>
            </a: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811A3E0-AD2B-4432-91E9-EDDEB26AB046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2" y="4524995"/>
            <a:ext cx="9410700" cy="18758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0425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3463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altLang="en-US" sz="800" dirty="0">
              <a:latin typeface="National Semibold" panose="02000503000000020004" pitchFamily="50" charset="0"/>
              <a:ea typeface="National Semibold" panose="02000503000000020004" pitchFamily="50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altLang="en-US" sz="3200" b="1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A currency is </a:t>
            </a:r>
            <a:r>
              <a:rPr lang="en-US" altLang="en-US" sz="3200" b="1" u="sng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overvalued</a:t>
            </a:r>
            <a:r>
              <a:rPr lang="en-US" altLang="en-US" sz="3200" b="1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 if</a:t>
            </a:r>
            <a:r>
              <a:rPr lang="en-US" altLang="en-US" sz="3200" dirty="0">
                <a:latin typeface="National Semibold" panose="02000503000000020004" pitchFamily="50" charset="0"/>
                <a:ea typeface="National Semibold" panose="02000503000000020004" pitchFamily="50" charset="0"/>
              </a:rPr>
              <a:t>: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endParaRPr lang="en-US" sz="3200" dirty="0">
              <a:solidFill>
                <a:srgbClr val="000000"/>
              </a:solidFill>
              <a:latin typeface="National semibold" panose="02000503000000020004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2800" dirty="0">
                <a:latin typeface="National semibold" panose="02000503000000020004"/>
              </a:rPr>
              <a:t>	Domestic goods are more expensive than foreign goods, 	that is, </a:t>
            </a:r>
            <a:r>
              <a:rPr lang="en-US" sz="2800" b="1" i="1" dirty="0">
                <a:solidFill>
                  <a:srgbClr val="FF0000"/>
                </a:solidFill>
                <a:latin typeface="National semibold" panose="02000503000000020004"/>
              </a:rPr>
              <a:t>RER</a:t>
            </a:r>
            <a:r>
              <a:rPr lang="en-US" sz="2800" b="1" dirty="0">
                <a:solidFill>
                  <a:srgbClr val="FF0000"/>
                </a:solidFill>
                <a:latin typeface="National semibold" panose="02000503000000020004"/>
              </a:rPr>
              <a:t>&gt;1</a:t>
            </a:r>
            <a:r>
              <a:rPr lang="en-US" sz="2800" dirty="0">
                <a:latin typeface="National semibold" panose="02000503000000020004"/>
              </a:rPr>
              <a:t>. </a:t>
            </a: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endParaRPr lang="en-US" sz="2800" dirty="0">
              <a:solidFill>
                <a:srgbClr val="000000"/>
              </a:solidFill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1255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7" grpId="0" uiExpand="1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745B273C-6FED-4863-9CB5-D93C31F4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What happens if RER differs from 1? </a:t>
            </a:r>
            <a:endParaRPr lang="en-US" sz="4000" i="1" dirty="0">
              <a:latin typeface="National semibold" panose="02000503000000020004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F5D97F-D58F-4EE2-A6A9-449D6CE96E97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2" y="1831975"/>
            <a:ext cx="9525000" cy="5026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0425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3463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National semibold" panose="02000503000000020004"/>
              </a:rPr>
              <a:t>If a currency is </a:t>
            </a:r>
            <a:r>
              <a:rPr lang="en-US" u="sng" dirty="0">
                <a:latin typeface="National semibold" panose="02000503000000020004"/>
              </a:rPr>
              <a:t>undervalued</a:t>
            </a:r>
            <a:r>
              <a:rPr lang="en-US" dirty="0">
                <a:latin typeface="National semibold" panose="02000503000000020004"/>
              </a:rPr>
              <a:t> (</a:t>
            </a:r>
            <a:r>
              <a:rPr lang="en-US" b="1" i="1" dirty="0">
                <a:solidFill>
                  <a:srgbClr val="FF0000"/>
                </a:solidFill>
                <a:latin typeface="National semibold" panose="02000503000000020004"/>
              </a:rPr>
              <a:t>RER&lt;1</a:t>
            </a:r>
            <a:r>
              <a:rPr lang="en-US" dirty="0">
                <a:latin typeface="National semibold" panose="02000503000000020004"/>
              </a:rPr>
              <a:t>), PPP theory predicts that the nominal value of the currency should appreciate:</a:t>
            </a:r>
          </a:p>
          <a:p>
            <a:endParaRPr lang="en-US" dirty="0">
              <a:latin typeface="National semibold" panose="02000503000000020004"/>
            </a:endParaRPr>
          </a:p>
          <a:p>
            <a:endParaRPr lang="en-US" dirty="0">
              <a:latin typeface="National semibold" panose="02000503000000020004"/>
            </a:endParaRPr>
          </a:p>
          <a:p>
            <a:endParaRPr lang="en-US" dirty="0">
              <a:latin typeface="National semibold" panose="02000503000000020004"/>
            </a:endParaRPr>
          </a:p>
          <a:p>
            <a:r>
              <a:rPr lang="en-US" dirty="0">
                <a:latin typeface="National semibold" panose="02000503000000020004"/>
              </a:rPr>
              <a:t>If a currency is </a:t>
            </a:r>
            <a:r>
              <a:rPr lang="en-US" u="sng" dirty="0">
                <a:latin typeface="National semibold" panose="02000503000000020004"/>
              </a:rPr>
              <a:t>overvalued</a:t>
            </a:r>
            <a:r>
              <a:rPr lang="en-US" dirty="0">
                <a:latin typeface="National semibold" panose="02000503000000020004"/>
              </a:rPr>
              <a:t> (</a:t>
            </a:r>
            <a:r>
              <a:rPr lang="en-US" b="1" i="1" dirty="0">
                <a:solidFill>
                  <a:srgbClr val="FF0000"/>
                </a:solidFill>
                <a:latin typeface="National semibold" panose="02000503000000020004"/>
              </a:rPr>
              <a:t>RER&gt;1</a:t>
            </a:r>
            <a:r>
              <a:rPr lang="en-US" dirty="0">
                <a:latin typeface="National semibold" panose="02000503000000020004"/>
              </a:rPr>
              <a:t>), PPP theory predicts that the nominal value of the currency should depreciate.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449E475A-9396-4618-BE07-9DEBF997C7D7}"/>
                  </a:ext>
                </a:extLst>
              </p:cNvPr>
              <p:cNvSpPr txBox="1"/>
              <p:nvPr/>
            </p:nvSpPr>
            <p:spPr bwMode="auto">
              <a:xfrm>
                <a:off x="5068887" y="2743200"/>
                <a:ext cx="2778125" cy="11747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𝑅𝐸𝑅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</m:sub>
                          </m:sSub>
                          <m: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𝐹𝑜𝑟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449E475A-9396-4618-BE07-9DEBF997C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8887" y="2743200"/>
                <a:ext cx="2778125" cy="1174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Up 1">
            <a:extLst>
              <a:ext uri="{FF2B5EF4-FFF2-40B4-BE49-F238E27FC236}">
                <a16:creationId xmlns:a16="http://schemas.microsoft.com/office/drawing/2014/main" id="{CA4B5B34-DEDB-40E5-836A-734B3F51E7BB}"/>
              </a:ext>
            </a:extLst>
          </p:cNvPr>
          <p:cNvSpPr/>
          <p:nvPr/>
        </p:nvSpPr>
        <p:spPr>
          <a:xfrm>
            <a:off x="6627812" y="2757948"/>
            <a:ext cx="152400" cy="57308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0E656DDD-73C7-452A-AF65-4D8DC680D532}"/>
                  </a:ext>
                </a:extLst>
              </p:cNvPr>
              <p:cNvSpPr txBox="1"/>
              <p:nvPr/>
            </p:nvSpPr>
            <p:spPr bwMode="auto">
              <a:xfrm>
                <a:off x="5103812" y="5302250"/>
                <a:ext cx="2778125" cy="11747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𝑅𝐸𝑅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</m:sub>
                          </m:sSub>
                          <m: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𝐹𝑜𝑟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0E656DDD-73C7-452A-AF65-4D8DC680D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3812" y="5302250"/>
                <a:ext cx="2778125" cy="1174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Up 2">
            <a:extLst>
              <a:ext uri="{FF2B5EF4-FFF2-40B4-BE49-F238E27FC236}">
                <a16:creationId xmlns:a16="http://schemas.microsoft.com/office/drawing/2014/main" id="{2F00D3CF-AC5C-47A9-946B-36C7CC699F59}"/>
              </a:ext>
            </a:extLst>
          </p:cNvPr>
          <p:cNvSpPr/>
          <p:nvPr/>
        </p:nvSpPr>
        <p:spPr>
          <a:xfrm rot="10800000">
            <a:off x="6650673" y="5316435"/>
            <a:ext cx="152400" cy="57308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65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7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77BCEA-E680-61CF-99B6-BA2DEF78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0EF71531-3B57-A6D9-8EE5-FCE1D2C6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98078F-A2F6-FE6B-6FB0-A84D9DE648BC}"/>
              </a:ext>
            </a:extLst>
          </p:cNvPr>
          <p:cNvSpPr txBox="1"/>
          <p:nvPr/>
        </p:nvSpPr>
        <p:spPr>
          <a:xfrm>
            <a:off x="7618412" y="685800"/>
            <a:ext cx="44958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National semibold" panose="02000503000000020004"/>
              </a:rPr>
              <a:t>                   Swiss Franc is “over-valued”</a:t>
            </a:r>
          </a:p>
          <a:p>
            <a:r>
              <a:rPr lang="en-US" sz="2000" dirty="0">
                <a:latin typeface="National semibold" panose="02000503000000020004"/>
              </a:rPr>
              <a:t>                   compared to the US Dollar</a:t>
            </a:r>
          </a:p>
          <a:p>
            <a:endParaRPr lang="en-US" sz="2000" dirty="0">
              <a:latin typeface="National semibold" panose="02000503000000020004"/>
            </a:endParaRPr>
          </a:p>
          <a:p>
            <a:r>
              <a:rPr lang="en-US" sz="2000" dirty="0">
                <a:latin typeface="National semibold" panose="02000503000000020004"/>
              </a:rPr>
              <a:t>                                    PPP</a:t>
            </a:r>
          </a:p>
          <a:p>
            <a:endParaRPr lang="en-US" sz="2000" dirty="0">
              <a:latin typeface="National semibold" panose="02000503000000020004"/>
            </a:endParaRPr>
          </a:p>
          <a:p>
            <a:r>
              <a:rPr lang="en-US" sz="2000" dirty="0">
                <a:latin typeface="National semibold" panose="02000503000000020004"/>
              </a:rPr>
              <a:t>  </a:t>
            </a:r>
          </a:p>
          <a:p>
            <a:r>
              <a:rPr lang="en-US" sz="2000" dirty="0">
                <a:latin typeface="National semibold" panose="02000503000000020004"/>
              </a:rPr>
              <a:t>                   Franc should depreciate </a:t>
            </a:r>
          </a:p>
          <a:p>
            <a:endParaRPr lang="en-US" sz="2000" dirty="0">
              <a:latin typeface="National semibold" panose="02000503000000020004"/>
            </a:endParaRPr>
          </a:p>
          <a:p>
            <a:endParaRPr lang="en-US" sz="2000" dirty="0">
              <a:latin typeface="National semibold" panose="02000503000000020004"/>
            </a:endParaRPr>
          </a:p>
          <a:p>
            <a:endParaRPr lang="en-US" sz="2000" dirty="0">
              <a:latin typeface="National semibold" panose="02000503000000020004"/>
            </a:endParaRPr>
          </a:p>
          <a:p>
            <a:r>
              <a:rPr lang="en-US" sz="2000" dirty="0">
                <a:latin typeface="National semibold" panose="02000503000000020004"/>
              </a:rPr>
              <a:t>                  Japanese Yen is “under-valued”</a:t>
            </a:r>
          </a:p>
          <a:p>
            <a:r>
              <a:rPr lang="en-US" sz="2000" dirty="0">
                <a:latin typeface="National semibold" panose="02000503000000020004"/>
              </a:rPr>
              <a:t>                  compared to the US Dollar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National semibold" panose="02000503000000020004"/>
            </a:endParaRPr>
          </a:p>
          <a:p>
            <a:endParaRPr lang="en-US" sz="2000" dirty="0">
              <a:latin typeface="National semibold" panose="02000503000000020004"/>
            </a:endParaRPr>
          </a:p>
          <a:p>
            <a:r>
              <a:rPr lang="en-US" sz="2000" dirty="0">
                <a:latin typeface="National semibold" panose="02000503000000020004"/>
              </a:rPr>
              <a:t>                                    PPP</a:t>
            </a:r>
          </a:p>
          <a:p>
            <a:endParaRPr lang="en-US" sz="2000" dirty="0">
              <a:latin typeface="National semibold" panose="02000503000000020004"/>
            </a:endParaRPr>
          </a:p>
          <a:p>
            <a:r>
              <a:rPr lang="en-US" sz="2000" dirty="0">
                <a:latin typeface="National semibold" panose="02000503000000020004"/>
              </a:rPr>
              <a:t>  </a:t>
            </a:r>
          </a:p>
          <a:p>
            <a:r>
              <a:rPr lang="en-US" sz="2000" dirty="0">
                <a:latin typeface="National semibold" panose="02000503000000020004"/>
              </a:rPr>
              <a:t>                   Yen should appreciate </a:t>
            </a:r>
          </a:p>
          <a:p>
            <a:pPr>
              <a:buNone/>
            </a:pPr>
            <a:endParaRPr lang="en-US" sz="2000" dirty="0">
              <a:latin typeface="National semibold" panose="02000503000000020004"/>
            </a:endParaRPr>
          </a:p>
        </p:txBody>
      </p:sp>
      <p:pic>
        <p:nvPicPr>
          <p:cNvPr id="25" name="Picture 24" descr="A large sandwich sitting on top of a table&#10;&#10;Description automatically generated">
            <a:extLst>
              <a:ext uri="{FF2B5EF4-FFF2-40B4-BE49-F238E27FC236}">
                <a16:creationId xmlns:a16="http://schemas.microsoft.com/office/drawing/2014/main" id="{FC491EA9-A26E-D162-0770-CD923CED9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1588" y="1809750"/>
            <a:ext cx="3467100" cy="3067050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A47E670B-5FFD-EEEB-4029-83C14FC6C889}"/>
              </a:ext>
            </a:extLst>
          </p:cNvPr>
          <p:cNvSpPr/>
          <p:nvPr/>
        </p:nvSpPr>
        <p:spPr>
          <a:xfrm rot="5400000">
            <a:off x="9758752" y="2170820"/>
            <a:ext cx="420859" cy="190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Picture 43" descr="A picture containing text&#10;&#10;Description automatically generated">
            <a:extLst>
              <a:ext uri="{FF2B5EF4-FFF2-40B4-BE49-F238E27FC236}">
                <a16:creationId xmlns:a16="http://schemas.microsoft.com/office/drawing/2014/main" id="{DCCA4B9F-4762-2DC4-FD3A-CEFE205A86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451463" y="268862"/>
            <a:ext cx="1288847" cy="1540888"/>
          </a:xfrm>
          <a:prstGeom prst="rect">
            <a:avLst/>
          </a:prstGeom>
        </p:spPr>
      </p:pic>
      <p:pic>
        <p:nvPicPr>
          <p:cNvPr id="47" name="Picture 46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0A008EC2-E6E5-7616-A7A5-58E8B6D51C1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331878" y="3649980"/>
            <a:ext cx="1294988" cy="971241"/>
          </a:xfrm>
          <a:prstGeom prst="rect">
            <a:avLst/>
          </a:prstGeom>
        </p:spPr>
      </p:pic>
      <p:sp>
        <p:nvSpPr>
          <p:cNvPr id="48" name="Arrow: Right 47">
            <a:extLst>
              <a:ext uri="{FF2B5EF4-FFF2-40B4-BE49-F238E27FC236}">
                <a16:creationId xmlns:a16="http://schemas.microsoft.com/office/drawing/2014/main" id="{284B5329-80C9-3BCE-BC4E-C16E64A6C0C7}"/>
              </a:ext>
            </a:extLst>
          </p:cNvPr>
          <p:cNvSpPr/>
          <p:nvPr/>
        </p:nvSpPr>
        <p:spPr>
          <a:xfrm rot="5400000">
            <a:off x="9756233" y="5525380"/>
            <a:ext cx="420859" cy="190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Big Mac Index">
            <a:extLst>
              <a:ext uri="{FF2B5EF4-FFF2-40B4-BE49-F238E27FC236}">
                <a16:creationId xmlns:a16="http://schemas.microsoft.com/office/drawing/2014/main" id="{02116E76-7433-2B6E-DC20-712A7284E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9" t="2744" r="4631" b="2587"/>
          <a:stretch>
            <a:fillRect/>
          </a:stretch>
        </p:blipFill>
        <p:spPr bwMode="auto">
          <a:xfrm>
            <a:off x="2977652" y="76199"/>
            <a:ext cx="4187402" cy="680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EB1E8BA-8963-D227-CC65-F2198B76A717}"/>
              </a:ext>
            </a:extLst>
          </p:cNvPr>
          <p:cNvSpPr/>
          <p:nvPr/>
        </p:nvSpPr>
        <p:spPr>
          <a:xfrm>
            <a:off x="2894012" y="1808922"/>
            <a:ext cx="4405051" cy="41734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09EABA6-4460-95A0-BECB-369D782841E6}"/>
              </a:ext>
            </a:extLst>
          </p:cNvPr>
          <p:cNvSpPr/>
          <p:nvPr/>
        </p:nvSpPr>
        <p:spPr>
          <a:xfrm>
            <a:off x="2926282" y="2757627"/>
            <a:ext cx="4406900" cy="417341"/>
          </a:xfrm>
          <a:prstGeom prst="ellipse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AE382D-9947-C89A-FFA1-571B83A0F7AF}"/>
              </a:ext>
            </a:extLst>
          </p:cNvPr>
          <p:cNvSpPr/>
          <p:nvPr/>
        </p:nvSpPr>
        <p:spPr>
          <a:xfrm>
            <a:off x="2934662" y="4714031"/>
            <a:ext cx="4405051" cy="41734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5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8" grpId="0" animBg="1"/>
      <p:bldP spid="3" grpId="0" animBg="1"/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745B273C-6FED-4863-9CB5-D93C31F4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National semibold" panose="02000503000000020004"/>
              </a:rPr>
              <a:t>Conditions required for PPP (law of one price) hold</a:t>
            </a:r>
            <a:endParaRPr lang="en-US" i="1" dirty="0">
              <a:latin typeface="National semibold" panose="02000503000000020004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F5D97F-D58F-4EE2-A6A9-449D6CE96E97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2" y="1831975"/>
            <a:ext cx="8153400" cy="47212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0425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3463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endParaRPr lang="en-US" sz="2800" dirty="0">
              <a:latin typeface="National semibold" panose="020005030000000200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National semibold" panose="02000503000000020004"/>
              </a:rPr>
              <a:t>Goods are tradable.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National semibold" panose="0200050300000002000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National semibold" panose="020005030000000200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National semibold" panose="02000503000000020004"/>
              </a:rPr>
              <a:t>Transportation costs are low.</a:t>
            </a:r>
            <a:endParaRPr lang="en-US" dirty="0">
              <a:latin typeface="National semibold" panose="0200050300000002000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National semibold" panose="0200050300000002000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National semibold" panose="0200050300000002000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National semibold" panose="02000503000000020004"/>
              </a:rPr>
              <a:t>There are no artificial barriers to trade.</a:t>
            </a:r>
          </a:p>
        </p:txBody>
      </p:sp>
    </p:spTree>
    <p:extLst>
      <p:ext uri="{BB962C8B-B14F-4D97-AF65-F5344CB8AC3E}">
        <p14:creationId xmlns:p14="http://schemas.microsoft.com/office/powerpoint/2010/main" val="250317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745B273C-6FED-4863-9CB5-D93C31F4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Implications of PPP?</a:t>
            </a:r>
            <a:endParaRPr lang="en-US" sz="4000" i="1" dirty="0">
              <a:latin typeface="National semibold" panose="02000503000000020004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F5D97F-D58F-4EE2-A6A9-449D6CE96E97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2" y="3505200"/>
            <a:ext cx="9296400" cy="2703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0425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3463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National semibold" panose="02000503000000020004"/>
                <a:cs typeface="Times New Roman" pitchFamily="18" charset="0"/>
              </a:rPr>
              <a:t>	% change </a:t>
            </a:r>
            <a:r>
              <a:rPr lang="en-US" sz="2800" i="1" dirty="0" err="1">
                <a:solidFill>
                  <a:srgbClr val="FF0000"/>
                </a:solidFill>
                <a:latin typeface="National semibold" panose="02000503000000020004"/>
                <a:cs typeface="Times New Roman" pitchFamily="18" charset="0"/>
              </a:rPr>
              <a:t>e</a:t>
            </a:r>
            <a:r>
              <a:rPr lang="en-US" sz="2800" i="1" baseline="-25000" dirty="0" err="1">
                <a:solidFill>
                  <a:srgbClr val="FF0000"/>
                </a:solidFill>
                <a:latin typeface="National semibold" panose="02000503000000020004"/>
                <a:cs typeface="Times New Roman" pitchFamily="18" charset="0"/>
              </a:rPr>
              <a:t>nom</a:t>
            </a:r>
            <a:r>
              <a:rPr lang="en-US" sz="2800" baseline="-25000" dirty="0">
                <a:latin typeface="National semibold" panose="02000503000000020004"/>
                <a:cs typeface="Times New Roman" pitchFamily="18" charset="0"/>
              </a:rPr>
              <a:t>     </a:t>
            </a:r>
            <a:r>
              <a:rPr lang="en-US" sz="2800" dirty="0">
                <a:latin typeface="National semibold" panose="02000503000000020004"/>
                <a:cs typeface="Arial" charset="0"/>
              </a:rPr>
              <a:t>=   </a:t>
            </a:r>
            <a:r>
              <a:rPr lang="en-US" sz="2800" dirty="0">
                <a:latin typeface="National semibold" panose="02000503000000020004"/>
                <a:cs typeface="Times New Roman" pitchFamily="18" charset="0"/>
              </a:rPr>
              <a:t>% change </a:t>
            </a:r>
            <a:r>
              <a:rPr lang="en-US" sz="2800" i="1" dirty="0" err="1">
                <a:solidFill>
                  <a:srgbClr val="FF0000"/>
                </a:solidFill>
                <a:latin typeface="National semibold" panose="02000503000000020004"/>
                <a:cs typeface="Times New Roman" pitchFamily="18" charset="0"/>
              </a:rPr>
              <a:t>P</a:t>
            </a:r>
            <a:r>
              <a:rPr lang="en-US" sz="2800" i="1" baseline="-25000" dirty="0" err="1">
                <a:solidFill>
                  <a:srgbClr val="FF0000"/>
                </a:solidFill>
                <a:latin typeface="National semibold" panose="02000503000000020004"/>
                <a:cs typeface="Times New Roman" pitchFamily="18" charset="0"/>
              </a:rPr>
              <a:t>For</a:t>
            </a:r>
            <a:r>
              <a:rPr lang="en-US" sz="2800" baseline="-25000" dirty="0">
                <a:latin typeface="National semibold" panose="02000503000000020004"/>
                <a:cs typeface="Times New Roman" pitchFamily="18" charset="0"/>
              </a:rPr>
              <a:t>   </a:t>
            </a:r>
            <a:r>
              <a:rPr lang="en-US" sz="2800" dirty="0">
                <a:latin typeface="National semibold" panose="02000503000000020004"/>
                <a:cs typeface="Arial" charset="0"/>
              </a:rPr>
              <a:t> -   </a:t>
            </a:r>
            <a:r>
              <a:rPr lang="en-US" sz="2800" dirty="0">
                <a:latin typeface="National semibold" panose="02000503000000020004"/>
                <a:cs typeface="Times New Roman" pitchFamily="18" charset="0"/>
              </a:rPr>
              <a:t>% change </a:t>
            </a:r>
            <a:r>
              <a:rPr lang="en-US" sz="2800" i="1" dirty="0">
                <a:solidFill>
                  <a:srgbClr val="FF0000"/>
                </a:solidFill>
                <a:latin typeface="National semibold" panose="02000503000000020004"/>
                <a:cs typeface="Times New Roman" pitchFamily="18" charset="0"/>
              </a:rPr>
              <a:t>P</a:t>
            </a:r>
            <a:endParaRPr lang="en-US" sz="2800" dirty="0">
              <a:solidFill>
                <a:srgbClr val="FF0000"/>
              </a:solidFill>
              <a:latin typeface="National semibold" panose="02000503000000020004"/>
              <a:cs typeface="Arial" charset="0"/>
            </a:endParaRPr>
          </a:p>
          <a:p>
            <a:pPr marL="461962" lvl="2" indent="0">
              <a:lnSpc>
                <a:spcPct val="110000"/>
              </a:lnSpc>
              <a:buNone/>
            </a:pPr>
            <a:endParaRPr lang="en-US" sz="2200" dirty="0">
              <a:latin typeface="National semibold" panose="02000503000000020004"/>
              <a:cs typeface="Arial" charset="0"/>
            </a:endParaRPr>
          </a:p>
          <a:p>
            <a:pPr marL="461962" lvl="2" indent="0">
              <a:lnSpc>
                <a:spcPct val="110000"/>
              </a:lnSpc>
              <a:buNone/>
            </a:pPr>
            <a:endParaRPr lang="en-US" sz="2200" dirty="0">
              <a:latin typeface="National semibold" panose="02000503000000020004"/>
              <a:cs typeface="Arial" charset="0"/>
            </a:endParaRPr>
          </a:p>
          <a:p>
            <a:pPr marL="461962" lvl="2" indent="0">
              <a:lnSpc>
                <a:spcPct val="110000"/>
              </a:lnSpc>
              <a:buNone/>
            </a:pPr>
            <a:r>
              <a:rPr lang="en-US" sz="2200" dirty="0">
                <a:latin typeface="National semibold" panose="02000503000000020004"/>
                <a:cs typeface="Arial" charset="0"/>
              </a:rPr>
              <a:t>  </a:t>
            </a:r>
            <a:r>
              <a:rPr lang="en-US" sz="2400" b="1" i="1" dirty="0">
                <a:latin typeface="National semibold" panose="02000503000000020004"/>
                <a:cs typeface="Arial" charset="0"/>
              </a:rPr>
              <a:t>Appreciation rate of domestic currency </a:t>
            </a:r>
            <a:r>
              <a:rPr lang="en-US" sz="2400" dirty="0">
                <a:latin typeface="National semibold" panose="02000503000000020004"/>
                <a:cs typeface="Arial" charset="0"/>
              </a:rPr>
              <a:t>  =  </a:t>
            </a:r>
          </a:p>
          <a:p>
            <a:pPr marL="461962" lvl="2" indent="0">
              <a:lnSpc>
                <a:spcPct val="110000"/>
              </a:lnSpc>
              <a:buNone/>
            </a:pPr>
            <a:r>
              <a:rPr lang="en-US" sz="2400" b="1" i="1" dirty="0">
                <a:latin typeface="National semibold" panose="02000503000000020004"/>
                <a:cs typeface="Arial" charset="0"/>
              </a:rPr>
              <a:t>                                           Foreign inflation</a:t>
            </a:r>
            <a:r>
              <a:rPr lang="en-US" sz="2400" dirty="0">
                <a:latin typeface="National semibold" panose="02000503000000020004"/>
                <a:cs typeface="Arial" charset="0"/>
              </a:rPr>
              <a:t>   -   </a:t>
            </a:r>
            <a:r>
              <a:rPr lang="en-US" sz="2400" b="1" i="1" dirty="0">
                <a:latin typeface="National semibold" panose="02000503000000020004"/>
                <a:cs typeface="Arial" charset="0"/>
              </a:rPr>
              <a:t>Domestic inflation</a:t>
            </a:r>
          </a:p>
          <a:p>
            <a:pPr marL="461962" lvl="2" indent="0">
              <a:lnSpc>
                <a:spcPct val="110000"/>
              </a:lnSpc>
              <a:buNone/>
            </a:pPr>
            <a:endParaRPr lang="en-US" sz="2200" dirty="0">
              <a:latin typeface="National semibold" panose="02000503000000020004"/>
              <a:cs typeface="Arial" charset="0"/>
            </a:endParaRPr>
          </a:p>
          <a:p>
            <a:pPr marL="0" indent="0">
              <a:buNone/>
            </a:pPr>
            <a:endParaRPr lang="en-US" sz="2800" dirty="0">
              <a:latin typeface="National semibold" panose="02000503000000020004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7FE8F53F-C69D-458D-AD09-6A71DC75AD36}"/>
                  </a:ext>
                </a:extLst>
              </p:cNvPr>
              <p:cNvSpPr txBox="1"/>
              <p:nvPr/>
            </p:nvSpPr>
            <p:spPr bwMode="auto">
              <a:xfrm>
                <a:off x="5103812" y="1964198"/>
                <a:ext cx="2236573" cy="11747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𝒏𝒐𝒎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𝐹𝑜𝑟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7FE8F53F-C69D-458D-AD09-6A71DC75A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3812" y="1964198"/>
                <a:ext cx="2236573" cy="1174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48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F897-2643-4490-93FF-4FF458F1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828800"/>
            <a:ext cx="10286999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National semibold" panose="02000503000000020004"/>
              </a:rPr>
              <a:t>During the last 50 years, </a:t>
            </a:r>
          </a:p>
          <a:p>
            <a:r>
              <a:rPr lang="en-US" sz="2000" dirty="0">
                <a:latin typeface="National semibold" panose="02000503000000020004"/>
              </a:rPr>
              <a:t>the average inflation rate in Columbia has been </a:t>
            </a:r>
            <a:r>
              <a:rPr lang="en-US" sz="2000" dirty="0">
                <a:solidFill>
                  <a:srgbClr val="FF0000"/>
                </a:solidFill>
                <a:latin typeface="National semibold" panose="02000503000000020004"/>
              </a:rPr>
              <a:t>20 percent</a:t>
            </a:r>
            <a:r>
              <a:rPr lang="en-US" sz="2000" dirty="0">
                <a:latin typeface="National semibold" panose="02000503000000020004"/>
              </a:rPr>
              <a:t> per year;</a:t>
            </a:r>
          </a:p>
          <a:p>
            <a:r>
              <a:rPr lang="en-US" sz="2000" dirty="0">
                <a:latin typeface="National semibold" panose="02000503000000020004"/>
              </a:rPr>
              <a:t>the average inflation rate in Chile has been </a:t>
            </a:r>
            <a:r>
              <a:rPr lang="en-US" sz="2000" dirty="0">
                <a:solidFill>
                  <a:srgbClr val="FF0000"/>
                </a:solidFill>
                <a:latin typeface="National semibold" panose="02000503000000020004"/>
              </a:rPr>
              <a:t>50 percent</a:t>
            </a:r>
            <a:r>
              <a:rPr lang="en-US" sz="2000" dirty="0">
                <a:latin typeface="National semibold" panose="02000503000000020004"/>
              </a:rPr>
              <a:t> per year. </a:t>
            </a:r>
            <a:endParaRPr lang="en-US" sz="2000" u="sng" dirty="0">
              <a:latin typeface="National semibold" panose="02000503000000020004"/>
            </a:endParaRPr>
          </a:p>
          <a:p>
            <a:pPr marL="0" indent="0">
              <a:buNone/>
            </a:pPr>
            <a:r>
              <a:rPr lang="en-US" sz="2000" u="sng" dirty="0">
                <a:latin typeface="National semibold" panose="02000503000000020004"/>
              </a:rPr>
              <a:t>Questions</a:t>
            </a:r>
            <a:r>
              <a:rPr lang="en-US" sz="2000" dirty="0">
                <a:latin typeface="National semibold" panose="02000503000000020004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latin typeface="National semibold" panose="02000503000000020004"/>
              </a:rPr>
              <a:t>1. Given the inflation rates in Columbia and in Chile, should the Columbian Peso have appreciated or depreciated in </a:t>
            </a:r>
            <a:r>
              <a:rPr lang="en-US" sz="2000" dirty="0" err="1">
                <a:latin typeface="National semibold" panose="02000503000000020004"/>
              </a:rPr>
              <a:t>norminal</a:t>
            </a:r>
            <a:r>
              <a:rPr lang="en-US" sz="2000">
                <a:latin typeface="National semibold" panose="02000503000000020004"/>
              </a:rPr>
              <a:t> terms with </a:t>
            </a:r>
            <a:r>
              <a:rPr lang="en-US" sz="2000" dirty="0">
                <a:latin typeface="National semibold" panose="02000503000000020004"/>
              </a:rPr>
              <a:t>respect to the Chilean Peso during the last 50 years? </a:t>
            </a:r>
          </a:p>
          <a:p>
            <a:pPr marL="0" indent="0">
              <a:buNone/>
            </a:pPr>
            <a:r>
              <a:rPr lang="en-US" sz="2000" dirty="0">
                <a:latin typeface="National semibold" panose="02000503000000020004"/>
              </a:rPr>
              <a:t>2. By how much? </a:t>
            </a:r>
          </a:p>
          <a:p>
            <a:pPr marL="0" indent="0">
              <a:buNone/>
            </a:pPr>
            <a:r>
              <a:rPr lang="en-US" sz="2000" dirty="0">
                <a:latin typeface="National semibold" panose="02000503000000020004"/>
              </a:rPr>
              <a:t>3. If the nominal value of the Columbian Peso has appreciated </a:t>
            </a:r>
            <a:r>
              <a:rPr lang="en-US" sz="2000" dirty="0">
                <a:solidFill>
                  <a:srgbClr val="FF0000"/>
                </a:solidFill>
                <a:latin typeface="National semibold" panose="02000503000000020004"/>
              </a:rPr>
              <a:t>10 percent</a:t>
            </a:r>
            <a:r>
              <a:rPr lang="en-US" sz="2000" dirty="0">
                <a:latin typeface="National semibold" panose="02000503000000020004"/>
              </a:rPr>
              <a:t> annually relatively to the Chilean Peso, has the Columbian Peso appreciated or depreciated in </a:t>
            </a:r>
            <a:r>
              <a:rPr lang="en-US" sz="2000" u="sng" dirty="0">
                <a:latin typeface="National semibold" panose="02000503000000020004"/>
              </a:rPr>
              <a:t>Real terms</a:t>
            </a:r>
            <a:r>
              <a:rPr lang="en-US" sz="2000" dirty="0">
                <a:latin typeface="National semibold" panose="02000503000000020004"/>
              </a:rPr>
              <a:t> relatively to the Chilean Peso?</a:t>
            </a:r>
          </a:p>
        </p:txBody>
      </p:sp>
    </p:spTree>
    <p:extLst>
      <p:ext uri="{BB962C8B-B14F-4D97-AF65-F5344CB8AC3E}">
        <p14:creationId xmlns:p14="http://schemas.microsoft.com/office/powerpoint/2010/main" val="404103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745B273C-6FED-4863-9CB5-D93C31F4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812" y="2719670"/>
            <a:ext cx="9829799" cy="1219200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latin typeface="National semibold" panose="02000503000000020004"/>
              </a:rPr>
              <a:t>Is the Purchasing Power Parity theory supported by the data?</a:t>
            </a:r>
            <a:endParaRPr lang="en-US" sz="4000" i="1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22134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84F3AE7-CAE6-411E-AD3A-6D36FCF0482B}"/>
              </a:ext>
            </a:extLst>
          </p:cNvPr>
          <p:cNvGraphicFramePr>
            <a:graphicFrameLocks noGrp="1"/>
          </p:cNvGraphicFramePr>
          <p:nvPr/>
        </p:nvGraphicFramePr>
        <p:xfrm>
          <a:off x="1764598" y="289442"/>
          <a:ext cx="8659628" cy="6279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E23F55-0ACF-47DD-9D41-56E96564FC81}"/>
              </a:ext>
            </a:extLst>
          </p:cNvPr>
          <p:cNvSpPr txBox="1"/>
          <p:nvPr/>
        </p:nvSpPr>
        <p:spPr>
          <a:xfrm>
            <a:off x="2436812" y="1524000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ational semibold" panose="02000503000000020004"/>
              </a:rPr>
              <a:t>Annual inflation rate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7BBF287-DBB5-4C7E-9069-6F6624AC3018}"/>
              </a:ext>
            </a:extLst>
          </p:cNvPr>
          <p:cNvCxnSpPr>
            <a:cxnSpLocks/>
          </p:cNvCxnSpPr>
          <p:nvPr/>
        </p:nvCxnSpPr>
        <p:spPr>
          <a:xfrm>
            <a:off x="3503612" y="1865314"/>
            <a:ext cx="609600" cy="369332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8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indent="-342900"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F8CACDB-D192-4793-90AB-BC88B755CFA1}"/>
              </a:ext>
            </a:extLst>
          </p:cNvPr>
          <p:cNvGraphicFramePr>
            <a:graphicFrameLocks noGrp="1"/>
          </p:cNvGraphicFramePr>
          <p:nvPr/>
        </p:nvGraphicFramePr>
        <p:xfrm>
          <a:off x="1764598" y="289442"/>
          <a:ext cx="8659628" cy="6279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3BDDCF8-ACF7-40B6-9CA0-00E2E0E74E3A}"/>
              </a:ext>
            </a:extLst>
          </p:cNvPr>
          <p:cNvSpPr txBox="1"/>
          <p:nvPr/>
        </p:nvSpPr>
        <p:spPr>
          <a:xfrm>
            <a:off x="2436812" y="1524000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ational semibold" panose="02000503000000020004"/>
              </a:rPr>
              <a:t>Annual inflation rate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FC578A63-8F0C-422F-9C59-EC93C6ACA2B6}"/>
              </a:ext>
            </a:extLst>
          </p:cNvPr>
          <p:cNvCxnSpPr>
            <a:cxnSpLocks/>
          </p:cNvCxnSpPr>
          <p:nvPr/>
        </p:nvCxnSpPr>
        <p:spPr>
          <a:xfrm>
            <a:off x="3503612" y="1865314"/>
            <a:ext cx="609600" cy="369332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16D97B9-51C6-4399-9C0D-9D10E76AA171}"/>
              </a:ext>
            </a:extLst>
          </p:cNvPr>
          <p:cNvSpPr txBox="1"/>
          <p:nvPr/>
        </p:nvSpPr>
        <p:spPr>
          <a:xfrm>
            <a:off x="4598949" y="1752600"/>
            <a:ext cx="2510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National semibold" panose="02000503000000020004"/>
              </a:rPr>
              <a:t>Annual depreciation rate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47FAAF83-0E83-4D77-A73C-3FCBF62E11F9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4863586" y="1752559"/>
            <a:ext cx="621270" cy="1360017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512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quadrini\Downloads\fredgraph (3)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" t="9304" r="255" b="3002"/>
          <a:stretch/>
        </p:blipFill>
        <p:spPr bwMode="auto">
          <a:xfrm>
            <a:off x="-1587" y="1645920"/>
            <a:ext cx="8915399" cy="521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2">
            <a:extLst>
              <a:ext uri="{FF2B5EF4-FFF2-40B4-BE49-F238E27FC236}">
                <a16:creationId xmlns:a16="http://schemas.microsoft.com/office/drawing/2014/main" id="{07CB1364-D9AE-4DA5-8C3F-D5F73C09D36A}"/>
              </a:ext>
            </a:extLst>
          </p:cNvPr>
          <p:cNvSpPr txBox="1">
            <a:spLocks/>
          </p:cNvSpPr>
          <p:nvPr/>
        </p:nvSpPr>
        <p:spPr>
          <a:xfrm>
            <a:off x="89360" y="304800"/>
            <a:ext cx="8748252" cy="838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2"/>
                </a:solidFill>
                <a:latin typeface="National semibold" panose="02000503000000020004"/>
              </a:rPr>
              <a:t>Nominal and real exchange rate of US dollar</a:t>
            </a:r>
          </a:p>
          <a:p>
            <a:pPr algn="ctr"/>
            <a:r>
              <a:rPr lang="en-US" sz="2000" i="1" dirty="0">
                <a:solidFill>
                  <a:schemeClr val="tx1"/>
                </a:solidFill>
                <a:latin typeface="National semibold" panose="02000503000000020004"/>
                <a:cs typeface="Arial" charset="0"/>
              </a:rPr>
              <a:t>(Index normalized to 100 on March 1973)</a:t>
            </a:r>
            <a:endParaRPr lang="en-US" sz="1600" i="1" dirty="0">
              <a:solidFill>
                <a:schemeClr val="tx1"/>
              </a:solidFill>
              <a:latin typeface="National semibold" panose="020005030000000200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E3DC60E0-DB75-4A81-9AA3-E3C56151EE75}"/>
                  </a:ext>
                </a:extLst>
              </p:cNvPr>
              <p:cNvSpPr txBox="1"/>
              <p:nvPr/>
            </p:nvSpPr>
            <p:spPr bwMode="auto">
              <a:xfrm>
                <a:off x="8953142" y="3168650"/>
                <a:ext cx="3200400" cy="11747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𝒏𝒐𝒎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𝑹𝑬𝑹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𝐹𝑜𝑟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E3DC60E0-DB75-4A81-9AA3-E3C56151E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53142" y="3168650"/>
                <a:ext cx="3200400" cy="1174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783CB21-A1B8-4765-9F1D-DC7CE0B32983}"/>
              </a:ext>
            </a:extLst>
          </p:cNvPr>
          <p:cNvSpPr/>
          <p:nvPr/>
        </p:nvSpPr>
        <p:spPr>
          <a:xfrm rot="21305353">
            <a:off x="8208099" y="2634472"/>
            <a:ext cx="2390260" cy="1080971"/>
          </a:xfrm>
          <a:custGeom>
            <a:avLst/>
            <a:gdLst>
              <a:gd name="connsiteX0" fmla="*/ 2322871 w 2322871"/>
              <a:gd name="connsiteY0" fmla="*/ 966056 h 995553"/>
              <a:gd name="connsiteX1" fmla="*/ 1025012 w 2322871"/>
              <a:gd name="connsiteY1" fmla="*/ 37 h 995553"/>
              <a:gd name="connsiteX2" fmla="*/ 0 w 2322871"/>
              <a:gd name="connsiteY2" fmla="*/ 995553 h 995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2871" h="995553">
                <a:moveTo>
                  <a:pt x="2322871" y="966056"/>
                </a:moveTo>
                <a:cubicBezTo>
                  <a:pt x="1867514" y="480588"/>
                  <a:pt x="1412157" y="-4879"/>
                  <a:pt x="1025012" y="37"/>
                </a:cubicBezTo>
                <a:cubicBezTo>
                  <a:pt x="637867" y="4953"/>
                  <a:pt x="318933" y="500253"/>
                  <a:pt x="0" y="995553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FE6CF0C-4854-43B9-BFA6-527610D6A6ED}"/>
              </a:ext>
            </a:extLst>
          </p:cNvPr>
          <p:cNvSpPr/>
          <p:nvPr/>
        </p:nvSpPr>
        <p:spPr>
          <a:xfrm>
            <a:off x="7897761" y="4070555"/>
            <a:ext cx="1519084" cy="1263445"/>
          </a:xfrm>
          <a:custGeom>
            <a:avLst/>
            <a:gdLst>
              <a:gd name="connsiteX0" fmla="*/ 1519084 w 1519084"/>
              <a:gd name="connsiteY0" fmla="*/ 0 h 1434912"/>
              <a:gd name="connsiteX1" fmla="*/ 1246239 w 1519084"/>
              <a:gd name="connsiteY1" fmla="*/ 1393722 h 1434912"/>
              <a:gd name="connsiteX2" fmla="*/ 0 w 1519084"/>
              <a:gd name="connsiteY2" fmla="*/ 929148 h 1434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9084" h="1434912">
                <a:moveTo>
                  <a:pt x="1519084" y="0"/>
                </a:moveTo>
                <a:cubicBezTo>
                  <a:pt x="1509252" y="619432"/>
                  <a:pt x="1499420" y="1238864"/>
                  <a:pt x="1246239" y="1393722"/>
                </a:cubicBezTo>
                <a:cubicBezTo>
                  <a:pt x="993058" y="1548580"/>
                  <a:pt x="496529" y="1238864"/>
                  <a:pt x="0" y="929148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197D1-AA1F-4606-9FF7-70E32D51A5C7}"/>
              </a:ext>
            </a:extLst>
          </p:cNvPr>
          <p:cNvSpPr txBox="1"/>
          <p:nvPr/>
        </p:nvSpPr>
        <p:spPr>
          <a:xfrm>
            <a:off x="1193434" y="1786100"/>
            <a:ext cx="198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National semibold" panose="02000503000000020004"/>
              </a:rPr>
              <a:t>Nominal</a:t>
            </a:r>
            <a:r>
              <a:rPr lang="en-US" dirty="0">
                <a:latin typeface="National semibold" panose="02000503000000020004"/>
              </a:rPr>
              <a:t> exchange </a:t>
            </a:r>
          </a:p>
          <a:p>
            <a:pPr algn="ctr"/>
            <a:r>
              <a:rPr lang="en-US" dirty="0">
                <a:latin typeface="National semibold" panose="02000503000000020004"/>
              </a:rPr>
              <a:t>rate index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311F8-97A5-4CE5-A0F6-9FDC7320F0DE}"/>
              </a:ext>
            </a:extLst>
          </p:cNvPr>
          <p:cNvSpPr txBox="1"/>
          <p:nvPr/>
        </p:nvSpPr>
        <p:spPr>
          <a:xfrm>
            <a:off x="3177310" y="2401670"/>
            <a:ext cx="1582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National semibold" panose="02000503000000020004"/>
              </a:rPr>
              <a:t>Real</a:t>
            </a:r>
            <a:r>
              <a:rPr lang="en-US" dirty="0">
                <a:latin typeface="National semibold" panose="02000503000000020004"/>
              </a:rPr>
              <a:t> exchange </a:t>
            </a:r>
          </a:p>
          <a:p>
            <a:pPr algn="ctr"/>
            <a:r>
              <a:rPr lang="en-US" dirty="0">
                <a:latin typeface="National semibold" panose="02000503000000020004"/>
              </a:rPr>
              <a:t>rate index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958E03D5-26BE-444C-BE71-EF91956A6C9C}"/>
              </a:ext>
            </a:extLst>
          </p:cNvPr>
          <p:cNvCxnSpPr>
            <a:cxnSpLocks/>
            <a:stCxn id="2" idx="2"/>
          </p:cNvCxnSpPr>
          <p:nvPr/>
        </p:nvCxnSpPr>
        <p:spPr>
          <a:xfrm rot="16200000" flipH="1">
            <a:off x="1997375" y="2620428"/>
            <a:ext cx="703635" cy="32764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3568B113-73CA-481F-9BDD-5A7234FCB896}"/>
              </a:ext>
            </a:extLst>
          </p:cNvPr>
          <p:cNvCxnSpPr>
            <a:cxnSpLocks/>
          </p:cNvCxnSpPr>
          <p:nvPr/>
        </p:nvCxnSpPr>
        <p:spPr>
          <a:xfrm rot="5400000">
            <a:off x="3182549" y="2635151"/>
            <a:ext cx="380999" cy="1206699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01DB330-DE5A-4AE0-979C-3328CEEB30D4}"/>
              </a:ext>
            </a:extLst>
          </p:cNvPr>
          <p:cNvCxnSpPr>
            <a:cxnSpLocks/>
          </p:cNvCxnSpPr>
          <p:nvPr/>
        </p:nvCxnSpPr>
        <p:spPr>
          <a:xfrm>
            <a:off x="912812" y="4191000"/>
            <a:ext cx="7772400" cy="0"/>
          </a:xfrm>
          <a:prstGeom prst="line">
            <a:avLst/>
          </a:prstGeom>
          <a:ln w="508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93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2208212" y="1865314"/>
            <a:ext cx="777240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745B273C-6FED-4863-9CB5-D93C31F4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National semibold" panose="02000503000000020004"/>
              </a:rPr>
              <a:t>Real exchange rate and net exports</a:t>
            </a:r>
            <a:endParaRPr lang="en-US" sz="4000" i="1" dirty="0">
              <a:latin typeface="National semibold" panose="02000503000000020004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F5D97F-D58F-4EE2-A6A9-449D6CE96E97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2" y="1865314"/>
            <a:ext cx="9601200" cy="468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0425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3463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03030">
                  <a:lumMod val="90000"/>
                  <a:lumOff val="10000"/>
                </a:srgbClr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The real exchange rate impacts the quantities of goods and services that are exported and imported.</a:t>
            </a:r>
          </a:p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03030">
                  <a:lumMod val="90000"/>
                  <a:lumOff val="10000"/>
                </a:srgbClr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A weaker domestic currency </a:t>
            </a:r>
          </a:p>
          <a:p>
            <a:pPr marL="511175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3030">
                  <a:lumMod val="90000"/>
                  <a:lumOff val="10000"/>
                </a:srgbClr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facilitates the country’s exports of goods and services; </a:t>
            </a:r>
          </a:p>
          <a:p>
            <a:pPr marL="511175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3030">
                  <a:lumMod val="90000"/>
                  <a:lumOff val="10000"/>
                </a:srgbClr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discourages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the country’s imports of goods and services.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National semibold" panose="02000503000000020004"/>
              <a:ea typeface="+mn-ea"/>
              <a:cs typeface="+mn-cs"/>
            </a:endParaRPr>
          </a:p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03030">
                  <a:lumMod val="90000"/>
                  <a:lumOff val="10000"/>
                </a:srgbClr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Changes in net exports affect the overall economic activity. </a:t>
            </a:r>
          </a:p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03030">
                  <a:lumMod val="90000"/>
                  <a:lumOff val="10000"/>
                </a:srgbClr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National semibold" panose="020005030000000200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03030">
                  <a:lumMod val="90000"/>
                  <a:lumOff val="10000"/>
                </a:srgbClr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National semibold" panose="02000503000000020004"/>
                <a:ea typeface="+mn-ea"/>
                <a:cs typeface="+mn-cs"/>
              </a:rPr>
              <a:t>Countries may then have an incentive to affect the Real Exchange Rate by implementing policies that impact on the Nominal Exchange Rate (“currency manipulation”). 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303030">
                  <a:lumMod val="90000"/>
                  <a:lumOff val="10000"/>
                </a:srgbClr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National semibold" panose="020005030000000200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225F-3081-4F33-AAA3-BC88D49C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1219200"/>
            <a:ext cx="9829799" cy="43434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>
                <a:latin typeface="National semibold" panose="02000503000000020004"/>
              </a:rPr>
              <a:t>Is China a currency manipulator?</a:t>
            </a:r>
          </a:p>
        </p:txBody>
      </p:sp>
    </p:spTree>
    <p:extLst>
      <p:ext uri="{BB962C8B-B14F-4D97-AF65-F5344CB8AC3E}">
        <p14:creationId xmlns:p14="http://schemas.microsoft.com/office/powerpoint/2010/main" val="392694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225F-3081-4F33-AAA3-BC88D49C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66800"/>
            <a:ext cx="9829799" cy="43434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>
                <a:latin typeface="National semibold" panose="02000503000000020004"/>
              </a:rPr>
              <a:t>Has the “Real” value of the Chinese Yuan depreciated?</a:t>
            </a:r>
            <a:br>
              <a:rPr lang="en-US" sz="4400" b="1" dirty="0">
                <a:latin typeface="National semibold" panose="02000503000000020004"/>
              </a:rPr>
            </a:br>
            <a:r>
              <a:rPr lang="en-US" sz="4400" b="1" dirty="0">
                <a:solidFill>
                  <a:srgbClr val="FF0000"/>
                </a:solidFill>
                <a:latin typeface="National semibold" panose="02000503000000020004"/>
              </a:rPr>
              <a:t>(See spreadsheet posted </a:t>
            </a:r>
            <a:r>
              <a:rPr lang="en-US" sz="4400" b="1" dirty="0" err="1">
                <a:solidFill>
                  <a:srgbClr val="FF0000"/>
                </a:solidFill>
                <a:latin typeface="National semibold" panose="02000503000000020004"/>
              </a:rPr>
              <a:t>inGitHub</a:t>
            </a:r>
            <a:r>
              <a:rPr lang="en-US" sz="4400" b="1" dirty="0">
                <a:solidFill>
                  <a:srgbClr val="FF0000"/>
                </a:solidFill>
                <a:latin typeface="National semibold" panose="02000503000000020004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479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OPEN" val="0"/>
</p:tagLst>
</file>

<file path=ppt/theme/theme1.xml><?xml version="1.0" encoding="utf-8"?>
<a:theme xmlns:a="http://schemas.openxmlformats.org/drawingml/2006/main" name="Currency Symbols 16x9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rrency symbols presentation (widescreen).potx" id="{0BEEB329-2C4D-4D02-9858-CA91ACE92AB1}" vid="{944DA297-E844-470D-A85C-00068074ACC2}"/>
    </a:ext>
  </a:extLst>
</a:theme>
</file>

<file path=ppt/theme/theme2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Currency symbols presentation (widescreen)</Template>
  <TotalTime>4850</TotalTime>
  <Words>1227</Words>
  <Application>Microsoft Office PowerPoint</Application>
  <PresentationFormat>Custom</PresentationFormat>
  <Paragraphs>280</Paragraphs>
  <Slides>36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National semibold</vt:lpstr>
      <vt:lpstr>National semibold</vt:lpstr>
      <vt:lpstr>Arial</vt:lpstr>
      <vt:lpstr>Cambria</vt:lpstr>
      <vt:lpstr>Cambria Math</vt:lpstr>
      <vt:lpstr>Times New Roman</vt:lpstr>
      <vt:lpstr>Currency Symbols 16x9</vt:lpstr>
      <vt:lpstr>Introduction to  Decentralized Finance  </vt:lpstr>
      <vt:lpstr>Foreign exchange market</vt:lpstr>
      <vt:lpstr>How does the foreign exchange market work?</vt:lpstr>
      <vt:lpstr>Demand of Pounds</vt:lpstr>
      <vt:lpstr>Demand for Pounds (£) in exchange of Dollars ($)</vt:lpstr>
      <vt:lpstr>Supply of Pounds</vt:lpstr>
      <vt:lpstr>Supply of Pounds (£) in exchange of Dollars ($)</vt:lpstr>
      <vt:lpstr>Demand and supply together</vt:lpstr>
      <vt:lpstr>Increase in the demand of Pounds</vt:lpstr>
      <vt:lpstr>Increase in the supply of Pounds</vt:lpstr>
      <vt:lpstr>The currency base</vt:lpstr>
      <vt:lpstr>Changing the currency base</vt:lpstr>
      <vt:lpstr>Changing the currency base</vt:lpstr>
      <vt:lpstr>Arbitrage </vt:lpstr>
      <vt:lpstr>Trading Pounds in London and New York</vt:lpstr>
      <vt:lpstr>Arbitrage</vt:lpstr>
      <vt:lpstr>Price equalization</vt:lpstr>
      <vt:lpstr>Determinants of the Exchange Rate</vt:lpstr>
      <vt:lpstr>Determinants of the exchange rate</vt:lpstr>
      <vt:lpstr>Exchange rate in the long-run</vt:lpstr>
      <vt:lpstr>Formula for the RER  (Ratio between domestic and foreign prices when prices are expressed in the same currency)</vt:lpstr>
      <vt:lpstr>Example: Computing the RER</vt:lpstr>
      <vt:lpstr>Purchasing Power Parity (PPP)</vt:lpstr>
      <vt:lpstr>Undervalued and overvalued currencies</vt:lpstr>
      <vt:lpstr>What happens if RER differs from 1? </vt:lpstr>
      <vt:lpstr>PowerPoint Presentation</vt:lpstr>
      <vt:lpstr>Conditions required for PPP (law of one price) hold</vt:lpstr>
      <vt:lpstr>Implications of PPP?</vt:lpstr>
      <vt:lpstr>Exercise</vt:lpstr>
      <vt:lpstr>Is the Purchasing Power Parity theory supported by the data?</vt:lpstr>
      <vt:lpstr>PowerPoint Presentation</vt:lpstr>
      <vt:lpstr>PowerPoint Presentation</vt:lpstr>
      <vt:lpstr>PowerPoint Presentation</vt:lpstr>
      <vt:lpstr>Real exchange rate and net exports</vt:lpstr>
      <vt:lpstr>Is China a currency manipulator?</vt:lpstr>
      <vt:lpstr>Has the “Real” value of the Chinese Yuan depreciated? (See spreadsheet posted inGitHub)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Vincenzo Quadrini</dc:creator>
  <cp:lastModifiedBy>Quadrini, Vincenzo</cp:lastModifiedBy>
  <cp:revision>11</cp:revision>
  <dcterms:created xsi:type="dcterms:W3CDTF">2020-10-28T19:26:18Z</dcterms:created>
  <dcterms:modified xsi:type="dcterms:W3CDTF">2026-05-24T13:02:13Z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