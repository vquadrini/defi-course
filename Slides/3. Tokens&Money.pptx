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1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17.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handoutMasterIdLst>
    <p:handoutMasterId r:id="rId62"/>
  </p:handoutMasterIdLst>
  <p:sldIdLst>
    <p:sldId id="417" r:id="rId2"/>
    <p:sldId id="659" r:id="rId3"/>
    <p:sldId id="660" r:id="rId4"/>
    <p:sldId id="661" r:id="rId5"/>
    <p:sldId id="431" r:id="rId6"/>
    <p:sldId id="258" r:id="rId7"/>
    <p:sldId id="435" r:id="rId8"/>
    <p:sldId id="434" r:id="rId9"/>
    <p:sldId id="437" r:id="rId10"/>
    <p:sldId id="583" r:id="rId11"/>
    <p:sldId id="472" r:id="rId12"/>
    <p:sldId id="665" r:id="rId13"/>
    <p:sldId id="674" r:id="rId14"/>
    <p:sldId id="695" r:id="rId15"/>
    <p:sldId id="696" r:id="rId16"/>
    <p:sldId id="697" r:id="rId17"/>
    <p:sldId id="698" r:id="rId18"/>
    <p:sldId id="717" r:id="rId19"/>
    <p:sldId id="718" r:id="rId20"/>
    <p:sldId id="666" r:id="rId21"/>
    <p:sldId id="329" r:id="rId22"/>
    <p:sldId id="426" r:id="rId23"/>
    <p:sldId id="331" r:id="rId24"/>
    <p:sldId id="419" r:id="rId25"/>
    <p:sldId id="334" r:id="rId26"/>
    <p:sldId id="421" r:id="rId27"/>
    <p:sldId id="409" r:id="rId28"/>
    <p:sldId id="410" r:id="rId29"/>
    <p:sldId id="408" r:id="rId30"/>
    <p:sldId id="411" r:id="rId31"/>
    <p:sldId id="608" r:id="rId32"/>
    <p:sldId id="610" r:id="rId33"/>
    <p:sldId id="612" r:id="rId34"/>
    <p:sldId id="731" r:id="rId35"/>
    <p:sldId id="732" r:id="rId36"/>
    <p:sldId id="629" r:id="rId37"/>
    <p:sldId id="630" r:id="rId38"/>
    <p:sldId id="683" r:id="rId39"/>
    <p:sldId id="690" r:id="rId40"/>
    <p:sldId id="681" r:id="rId41"/>
    <p:sldId id="682" r:id="rId42"/>
    <p:sldId id="685" r:id="rId43"/>
    <p:sldId id="684" r:id="rId44"/>
    <p:sldId id="727" r:id="rId45"/>
    <p:sldId id="728" r:id="rId46"/>
    <p:sldId id="719" r:id="rId47"/>
    <p:sldId id="694" r:id="rId48"/>
    <p:sldId id="729" r:id="rId49"/>
    <p:sldId id="730" r:id="rId50"/>
    <p:sldId id="721" r:id="rId51"/>
    <p:sldId id="722" r:id="rId52"/>
    <p:sldId id="723" r:id="rId53"/>
    <p:sldId id="724" r:id="rId54"/>
    <p:sldId id="669" r:id="rId55"/>
    <p:sldId id="670" r:id="rId56"/>
    <p:sldId id="671" r:id="rId57"/>
    <p:sldId id="672" r:id="rId58"/>
    <p:sldId id="686" r:id="rId59"/>
    <p:sldId id="687" r:id="rId60"/>
  </p:sldIdLst>
  <p:sldSz cx="12188825" cy="6858000"/>
  <p:notesSz cx="6858000" cy="9144000"/>
  <p:custDataLst>
    <p:tags r:id="rId6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4030">
          <p15:clr>
            <a:srgbClr val="A4A3A4"/>
          </p15:clr>
        </p15:guide>
        <p15:guide id="3" orient="horz" pos="1152">
          <p15:clr>
            <a:srgbClr val="A4A3A4"/>
          </p15:clr>
        </p15:guide>
        <p15:guide id="4" orient="horz" pos="1018">
          <p15:clr>
            <a:srgbClr val="A4A3A4"/>
          </p15:clr>
        </p15:guide>
        <p15:guide id="5" orient="horz" pos="3886">
          <p15:clr>
            <a:srgbClr val="A4A3A4"/>
          </p15:clr>
        </p15:guide>
        <p15:guide id="6" orient="horz" pos="2928">
          <p15:clr>
            <a:srgbClr val="A4A3A4"/>
          </p15:clr>
        </p15:guide>
        <p15:guide id="7" orient="horz" pos="3072">
          <p15:clr>
            <a:srgbClr val="A4A3A4"/>
          </p15:clr>
        </p15:guide>
        <p15:guide id="8" orient="horz" pos="407">
          <p15:clr>
            <a:srgbClr val="A4A3A4"/>
          </p15:clr>
        </p15:guide>
        <p15:guide id="9" pos="3839">
          <p15:clr>
            <a:srgbClr val="A4A3A4"/>
          </p15:clr>
        </p15:guide>
        <p15:guide id="10" pos="959">
          <p15:clr>
            <a:srgbClr val="A4A3A4"/>
          </p15:clr>
        </p15:guide>
        <p15:guide id="11" pos="7151">
          <p15:clr>
            <a:srgbClr val="A4A3A4"/>
          </p15:clr>
        </p15:guide>
        <p15:guide id="12" pos="671">
          <p15:clr>
            <a:srgbClr val="A4A3A4"/>
          </p15:clr>
        </p15:guide>
        <p15:guide id="13" pos="4991">
          <p15:clr>
            <a:srgbClr val="A4A3A4"/>
          </p15:clr>
        </p15:guide>
        <p15:guide id="14" pos="700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8282"/>
    <a:srgbClr val="6E90FE"/>
    <a:srgbClr val="8086FC"/>
    <a:srgbClr val="6D6DFB"/>
    <a:srgbClr val="4E78F0"/>
    <a:srgbClr val="F0932C"/>
    <a:srgbClr val="92C610"/>
    <a:srgbClr val="9FD812"/>
    <a:srgbClr val="E05F2C"/>
    <a:srgbClr val="0ABE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D3354E-AACB-4BD6-A9FB-8961D8FF7320}" v="58" dt="2026-05-11T04:19:41.297"/>
  </p1510:revLst>
</p1510:revInfo>
</file>

<file path=ppt/tableStyles.xml><?xml version="1.0" encoding="utf-8"?>
<a:tblStyleLst xmlns:a="http://schemas.openxmlformats.org/drawingml/2006/main" def="{69CF1AB2-1976-4502-BF36-3FF5EA218861}">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guide orient="horz" pos="2160"/>
        <p:guide orient="horz" pos="4030"/>
        <p:guide orient="horz" pos="1152"/>
        <p:guide orient="horz" pos="1018"/>
        <p:guide orient="horz" pos="3886"/>
        <p:guide orient="horz" pos="2928"/>
        <p:guide orient="horz" pos="3072"/>
        <p:guide orient="horz" pos="407"/>
        <p:guide pos="3839"/>
        <p:guide pos="959"/>
        <p:guide pos="7151"/>
        <p:guide pos="671"/>
        <p:guide pos="4991"/>
        <p:guide pos="7007"/>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gs" Target="tags/tag1.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2800" b="1" dirty="0">
                <a:latin typeface="National"/>
              </a:rPr>
              <a:t>International Reserves</a:t>
            </a:r>
            <a:endParaRPr lang="en-US" sz="2800" b="1" i="0" u="none" strike="noStrike" baseline="0" dirty="0">
              <a:effectLst/>
              <a:latin typeface="National"/>
            </a:endParaRPr>
          </a:p>
          <a:p>
            <a:pPr>
              <a:defRPr/>
            </a:pPr>
            <a:r>
              <a:rPr lang="en-US" sz="2000" b="0" i="1" u="none" strike="noStrike" baseline="0" dirty="0">
                <a:effectLst/>
                <a:latin typeface="National"/>
              </a:rPr>
              <a:t>(Billions of US Dollars, 2024)</a:t>
            </a:r>
            <a:endParaRPr lang="en-US" sz="2800" b="0" i="1" dirty="0">
              <a:latin typeface="Nationa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cat>
            <c:strRef>
              <c:f>'International Reserves and For'!$M$2:$M$22</c:f>
              <c:strCache>
                <c:ptCount val="21"/>
                <c:pt idx="0">
                  <c:v>China</c:v>
                </c:pt>
                <c:pt idx="1">
                  <c:v>Japan</c:v>
                </c:pt>
                <c:pt idx="2">
                  <c:v>Switzerland</c:v>
                </c:pt>
                <c:pt idx="3">
                  <c:v>India</c:v>
                </c:pt>
                <c:pt idx="4">
                  <c:v>Russian Federation</c:v>
                </c:pt>
                <c:pt idx="5">
                  <c:v>Saudi Arabia</c:v>
                </c:pt>
                <c:pt idx="6">
                  <c:v>Hong Kong SAR, China</c:v>
                </c:pt>
                <c:pt idx="7">
                  <c:v>Korea, Rep.</c:v>
                </c:pt>
                <c:pt idx="8">
                  <c:v>Singapore</c:v>
                </c:pt>
                <c:pt idx="9">
                  <c:v>Brazil</c:v>
                </c:pt>
                <c:pt idx="10">
                  <c:v>United Arab Emirates</c:v>
                </c:pt>
                <c:pt idx="11">
                  <c:v>United States</c:v>
                </c:pt>
                <c:pt idx="12">
                  <c:v>Mexico</c:v>
                </c:pt>
                <c:pt idx="13">
                  <c:v>Thailand</c:v>
                </c:pt>
                <c:pt idx="14">
                  <c:v>Israel</c:v>
                </c:pt>
                <c:pt idx="15">
                  <c:v>Poland</c:v>
                </c:pt>
                <c:pt idx="16">
                  <c:v>Indonesia</c:v>
                </c:pt>
                <c:pt idx="17">
                  <c:v>United Kingdom</c:v>
                </c:pt>
                <c:pt idx="18">
                  <c:v>Czechia</c:v>
                </c:pt>
                <c:pt idx="19">
                  <c:v>Canada</c:v>
                </c:pt>
                <c:pt idx="20">
                  <c:v>Malaysia</c:v>
                </c:pt>
              </c:strCache>
            </c:strRef>
          </c:cat>
          <c:val>
            <c:numRef>
              <c:f>'International Reserves and For'!$N$2:$N$22</c:f>
              <c:numCache>
                <c:formatCode>#,##0.00</c:formatCode>
                <c:ptCount val="21"/>
                <c:pt idx="0">
                  <c:v>3264.8038700000002</c:v>
                </c:pt>
                <c:pt idx="1">
                  <c:v>1159.7023799999999</c:v>
                </c:pt>
                <c:pt idx="2">
                  <c:v>822.13049000000001</c:v>
                </c:pt>
                <c:pt idx="3">
                  <c:v>569.54428000000007</c:v>
                </c:pt>
                <c:pt idx="4">
                  <c:v>442.53706</c:v>
                </c:pt>
                <c:pt idx="5">
                  <c:v>436.76902000000001</c:v>
                </c:pt>
                <c:pt idx="6">
                  <c:v>425.41593</c:v>
                </c:pt>
                <c:pt idx="7">
                  <c:v>409.45724999999999</c:v>
                </c:pt>
                <c:pt idx="8">
                  <c:v>365.49440000000004</c:v>
                </c:pt>
                <c:pt idx="9">
                  <c:v>318.85651000000001</c:v>
                </c:pt>
                <c:pt idx="10">
                  <c:v>231.69012000000001</c:v>
                </c:pt>
                <c:pt idx="11">
                  <c:v>227.75970000000001</c:v>
                </c:pt>
                <c:pt idx="12">
                  <c:v>221.94417999999999</c:v>
                </c:pt>
                <c:pt idx="13">
                  <c:v>217.26136</c:v>
                </c:pt>
                <c:pt idx="14">
                  <c:v>214.54367999999999</c:v>
                </c:pt>
                <c:pt idx="15">
                  <c:v>185.51488000000001</c:v>
                </c:pt>
                <c:pt idx="16">
                  <c:v>149.11768000000001</c:v>
                </c:pt>
                <c:pt idx="17">
                  <c:v>148.56935000000001</c:v>
                </c:pt>
                <c:pt idx="18">
                  <c:v>141.98832000000002</c:v>
                </c:pt>
                <c:pt idx="19">
                  <c:v>119.77847</c:v>
                </c:pt>
                <c:pt idx="20">
                  <c:v>112.96783000000001</c:v>
                </c:pt>
              </c:numCache>
            </c:numRef>
          </c:val>
          <c:extLst>
            <c:ext xmlns:c16="http://schemas.microsoft.com/office/drawing/2014/chart" uri="{C3380CC4-5D6E-409C-BE32-E72D297353CC}">
              <c16:uniqueId val="{00000000-BCC1-4A55-A5EA-D129036E8258}"/>
            </c:ext>
          </c:extLst>
        </c:ser>
        <c:dLbls>
          <c:showLegendKey val="0"/>
          <c:showVal val="0"/>
          <c:showCatName val="0"/>
          <c:showSerName val="0"/>
          <c:showPercent val="0"/>
          <c:showBubbleSize val="0"/>
        </c:dLbls>
        <c:gapWidth val="80"/>
        <c:overlap val="-62"/>
        <c:axId val="1700565472"/>
        <c:axId val="2015173808"/>
      </c:barChart>
      <c:catAx>
        <c:axId val="17005654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National"/>
                <a:ea typeface="+mn-ea"/>
                <a:cs typeface="+mn-cs"/>
              </a:defRPr>
            </a:pPr>
            <a:endParaRPr lang="en-US"/>
          </a:p>
        </c:txPr>
        <c:crossAx val="2015173808"/>
        <c:crosses val="autoZero"/>
        <c:auto val="1"/>
        <c:lblAlgn val="ctr"/>
        <c:lblOffset val="100"/>
        <c:noMultiLvlLbl val="0"/>
      </c:catAx>
      <c:valAx>
        <c:axId val="2015173808"/>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National"/>
                <a:ea typeface="+mn-ea"/>
                <a:cs typeface="+mn-cs"/>
              </a:defRPr>
            </a:pPr>
            <a:endParaRPr lang="en-US"/>
          </a:p>
        </c:txPr>
        <c:crossAx val="1700565472"/>
        <c:crosses val="autoZero"/>
        <c:crossBetween val="between"/>
      </c:valAx>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2400" b="1"/>
              <a:t>Inflation and Peso</a:t>
            </a:r>
            <a:r>
              <a:rPr lang="en-US" sz="2400" b="1" baseline="0"/>
              <a:t> </a:t>
            </a:r>
            <a:r>
              <a:rPr lang="en-US" sz="2400" b="1"/>
              <a:t>depreciation in Argentina</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7.6487003829725703E-2"/>
          <c:y val="0.16148260360216313"/>
          <c:w val="0.89642314889276997"/>
          <c:h val="0.80926295994531716"/>
        </c:manualLayout>
      </c:layout>
      <c:lineChart>
        <c:grouping val="standard"/>
        <c:varyColors val="0"/>
        <c:ser>
          <c:idx val="0"/>
          <c:order val="0"/>
          <c:tx>
            <c:strRef>
              <c:f>Data!$H$64</c:f>
              <c:strCache>
                <c:ptCount val="1"/>
                <c:pt idx="0">
                  <c:v>Inflation</c:v>
                </c:pt>
              </c:strCache>
            </c:strRef>
          </c:tx>
          <c:spPr>
            <a:ln w="28575" cap="rnd">
              <a:solidFill>
                <a:schemeClr val="accent1"/>
              </a:solidFill>
              <a:round/>
            </a:ln>
            <a:effectLst/>
          </c:spPr>
          <c:marker>
            <c:symbol val="none"/>
          </c:marker>
          <c:cat>
            <c:numRef>
              <c:f>Data!$G$65:$G$114</c:f>
              <c:numCache>
                <c:formatCode>General</c:formatCode>
                <c:ptCount val="50"/>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numCache>
            </c:numRef>
          </c:cat>
          <c:val>
            <c:numRef>
              <c:f>Data!$H$65:$H$114</c:f>
              <c:numCache>
                <c:formatCode>General</c:formatCode>
                <c:ptCount val="50"/>
                <c:pt idx="0">
                  <c:v>6.4678746393797439</c:v>
                </c:pt>
                <c:pt idx="1">
                  <c:v>31.271063882575334</c:v>
                </c:pt>
                <c:pt idx="2">
                  <c:v>64.244785918175495</c:v>
                </c:pt>
                <c:pt idx="3">
                  <c:v>65.535287366171275</c:v>
                </c:pt>
                <c:pt idx="4">
                  <c:v>30.630441371577234</c:v>
                </c:pt>
                <c:pt idx="5">
                  <c:v>197.69736454037627</c:v>
                </c:pt>
                <c:pt idx="6">
                  <c:v>438.32277972421832</c:v>
                </c:pt>
                <c:pt idx="7">
                  <c:v>159.42717770570755</c:v>
                </c:pt>
                <c:pt idx="8">
                  <c:v>161.37217200577425</c:v>
                </c:pt>
                <c:pt idx="9">
                  <c:v>147.37704403869438</c:v>
                </c:pt>
                <c:pt idx="10">
                  <c:v>95.790424611122631</c:v>
                </c:pt>
                <c:pt idx="11">
                  <c:v>105.27636637455987</c:v>
                </c:pt>
                <c:pt idx="12">
                  <c:v>194.53529967142396</c:v>
                </c:pt>
                <c:pt idx="13">
                  <c:v>380.15852852050818</c:v>
                </c:pt>
                <c:pt idx="14">
                  <c:v>611.19630388904261</c:v>
                </c:pt>
                <c:pt idx="15">
                  <c:v>607.44749782050587</c:v>
                </c:pt>
                <c:pt idx="16">
                  <c:v>77.29223668643229</c:v>
                </c:pt>
                <c:pt idx="17">
                  <c:v>127.53991806284537</c:v>
                </c:pt>
                <c:pt idx="18">
                  <c:v>381.24634441143417</c:v>
                </c:pt>
                <c:pt idx="19">
                  <c:v>3046.0911519966248</c:v>
                </c:pt>
                <c:pt idx="20">
                  <c:v>2078.3168180311436</c:v>
                </c:pt>
                <c:pt idx="21">
                  <c:v>140.50237866363182</c:v>
                </c:pt>
                <c:pt idx="22">
                  <c:v>16.071993535694546</c:v>
                </c:pt>
                <c:pt idx="23">
                  <c:v>-3.5610955757657763</c:v>
                </c:pt>
                <c:pt idx="24">
                  <c:v>2.8493397150930235</c:v>
                </c:pt>
                <c:pt idx="25">
                  <c:v>3.1651233901651921</c:v>
                </c:pt>
                <c:pt idx="26">
                  <c:v>-5.2375496590414627E-2</c:v>
                </c:pt>
                <c:pt idx="27">
                  <c:v>-0.46391313116428989</c:v>
                </c:pt>
                <c:pt idx="28">
                  <c:v>-1.7052796240008803</c:v>
                </c:pt>
                <c:pt idx="29">
                  <c:v>-1.8365583922066264</c:v>
                </c:pt>
                <c:pt idx="30">
                  <c:v>1.0372871007317457</c:v>
                </c:pt>
                <c:pt idx="31">
                  <c:v>-1.0957677183367878</c:v>
                </c:pt>
                <c:pt idx="32">
                  <c:v>30.555204053902969</c:v>
                </c:pt>
                <c:pt idx="33">
                  <c:v>10.495703021549602</c:v>
                </c:pt>
                <c:pt idx="34">
                  <c:v>18.363354249203255</c:v>
                </c:pt>
                <c:pt idx="35">
                  <c:v>10.317511198240581</c:v>
                </c:pt>
                <c:pt idx="36">
                  <c:v>13.741052485915233</c:v>
                </c:pt>
                <c:pt idx="37">
                  <c:v>14.939925024583459</c:v>
                </c:pt>
                <c:pt idx="38">
                  <c:v>23.171164981312415</c:v>
                </c:pt>
                <c:pt idx="39">
                  <c:v>15.377649370892115</c:v>
                </c:pt>
                <c:pt idx="40">
                  <c:v>20.915124272046981</c:v>
                </c:pt>
                <c:pt idx="41">
                  <c:v>23.703472183959335</c:v>
                </c:pt>
                <c:pt idx="42">
                  <c:v>22.31488067330487</c:v>
                </c:pt>
                <c:pt idx="43">
                  <c:v>23.948798416274641</c:v>
                </c:pt>
                <c:pt idx="44">
                  <c:v>40.282971631550623</c:v>
                </c:pt>
                <c:pt idx="45">
                  <c:v>26.579991602470685</c:v>
                </c:pt>
                <c:pt idx="46">
                  <c:v>41.119379988227905</c:v>
                </c:pt>
                <c:pt idx="47">
                  <c:v>26.007483145852902</c:v>
                </c:pt>
                <c:pt idx="48">
                  <c:v>40.702790688954536</c:v>
                </c:pt>
                <c:pt idx="49">
                  <c:v>51.508337518122147</c:v>
                </c:pt>
              </c:numCache>
            </c:numRef>
          </c:val>
          <c:smooth val="0"/>
          <c:extLst>
            <c:ext xmlns:c16="http://schemas.microsoft.com/office/drawing/2014/chart" uri="{C3380CC4-5D6E-409C-BE32-E72D297353CC}">
              <c16:uniqueId val="{00000000-5C08-49AC-A3FA-2C981CE3F764}"/>
            </c:ext>
          </c:extLst>
        </c:ser>
        <c:ser>
          <c:idx val="1"/>
          <c:order val="1"/>
          <c:tx>
            <c:strRef>
              <c:f>Data!$I$64</c:f>
              <c:strCache>
                <c:ptCount val="1"/>
                <c:pt idx="0">
                  <c:v>Peso depreciation</c:v>
                </c:pt>
              </c:strCache>
            </c:strRef>
          </c:tx>
          <c:spPr>
            <a:ln w="28575" cap="rnd">
              <a:noFill/>
              <a:round/>
            </a:ln>
            <a:effectLst/>
          </c:spPr>
          <c:marker>
            <c:symbol val="none"/>
          </c:marker>
          <c:cat>
            <c:numRef>
              <c:f>Data!$G$65:$G$114</c:f>
              <c:numCache>
                <c:formatCode>General</c:formatCode>
                <c:ptCount val="50"/>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numCache>
            </c:numRef>
          </c:cat>
          <c:val>
            <c:numRef>
              <c:f>Data!$I$65:$I$114</c:f>
              <c:numCache>
                <c:formatCode>General</c:formatCode>
                <c:ptCount val="50"/>
                <c:pt idx="0">
                  <c:v>8.3333333047619806</c:v>
                </c:pt>
                <c:pt idx="1">
                  <c:v>19.252747257824886</c:v>
                </c:pt>
                <c:pt idx="2">
                  <c:v>10.578695173736463</c:v>
                </c:pt>
                <c:pt idx="3">
                  <c:v>0</c:v>
                </c:pt>
                <c:pt idx="4">
                  <c:v>0</c:v>
                </c:pt>
                <c:pt idx="5">
                  <c:v>631.50000013629995</c:v>
                </c:pt>
                <c:pt idx="6">
                  <c:v>282.7295511553811</c:v>
                </c:pt>
                <c:pt idx="7">
                  <c:v>191.20133349207103</c:v>
                </c:pt>
                <c:pt idx="8">
                  <c:v>95.21220050712887</c:v>
                </c:pt>
                <c:pt idx="9">
                  <c:v>65.500052361265489</c:v>
                </c:pt>
                <c:pt idx="10">
                  <c:v>39.499228024186259</c:v>
                </c:pt>
                <c:pt idx="11">
                  <c:v>139.64682775499369</c:v>
                </c:pt>
                <c:pt idx="12">
                  <c:v>488.78829806742152</c:v>
                </c:pt>
                <c:pt idx="13">
                  <c:v>306.20865885999916</c:v>
                </c:pt>
                <c:pt idx="14">
                  <c:v>542.44434670008809</c:v>
                </c:pt>
                <c:pt idx="15">
                  <c:v>789.60363366054889</c:v>
                </c:pt>
                <c:pt idx="16">
                  <c:v>56.699495465615655</c:v>
                </c:pt>
                <c:pt idx="17">
                  <c:v>127.38349189405049</c:v>
                </c:pt>
                <c:pt idx="18">
                  <c:v>308.18033715768792</c:v>
                </c:pt>
                <c:pt idx="19">
                  <c:v>4736.7274501636366</c:v>
                </c:pt>
                <c:pt idx="20">
                  <c:v>1051.7681637514311</c:v>
                </c:pt>
                <c:pt idx="21">
                  <c:v>95.565169373323243</c:v>
                </c:pt>
                <c:pt idx="22">
                  <c:v>3.8893690125882507</c:v>
                </c:pt>
                <c:pt idx="23">
                  <c:v>0.83826139623301987</c:v>
                </c:pt>
                <c:pt idx="24">
                  <c:v>6.2565954944249214E-3</c:v>
                </c:pt>
                <c:pt idx="25">
                  <c:v>7.424028828590945E-2</c:v>
                </c:pt>
                <c:pt idx="26">
                  <c:v>-8.752188047012055E-3</c:v>
                </c:pt>
                <c:pt idx="27">
                  <c:v>-1.6255486226601779E-2</c:v>
                </c:pt>
                <c:pt idx="28">
                  <c:v>0</c:v>
                </c:pt>
                <c:pt idx="29">
                  <c:v>0</c:v>
                </c:pt>
                <c:pt idx="30">
                  <c:v>0</c:v>
                </c:pt>
                <c:pt idx="31">
                  <c:v>0</c:v>
                </c:pt>
                <c:pt idx="32">
                  <c:v>206.47890611972684</c:v>
                </c:pt>
                <c:pt idx="33">
                  <c:v>-5.3089740004374271</c:v>
                </c:pt>
                <c:pt idx="34">
                  <c:v>0.78161153784106485</c:v>
                </c:pt>
                <c:pt idx="35">
                  <c:v>-0.67195680910763222</c:v>
                </c:pt>
                <c:pt idx="36">
                  <c:v>5.1884849825893697</c:v>
                </c:pt>
                <c:pt idx="37">
                  <c:v>1.3533488991422038</c:v>
                </c:pt>
                <c:pt idx="38">
                  <c:v>1.5672226741947348</c:v>
                </c:pt>
                <c:pt idx="39">
                  <c:v>17.999766229140967</c:v>
                </c:pt>
                <c:pt idx="40">
                  <c:v>5.0184086995942234</c:v>
                </c:pt>
                <c:pt idx="41">
                  <c:v>5.4884040675768908</c:v>
                </c:pt>
                <c:pt idx="42">
                  <c:v>10.38394867279453</c:v>
                </c:pt>
                <c:pt idx="43">
                  <c:v>20.331312539233348</c:v>
                </c:pt>
                <c:pt idx="44">
                  <c:v>47.916364610246973</c:v>
                </c:pt>
                <c:pt idx="45">
                  <c:v>14.338946841463262</c:v>
                </c:pt>
                <c:pt idx="46">
                  <c:v>59.838389988164906</c:v>
                </c:pt>
                <c:pt idx="47">
                  <c:v>12.227337235953573</c:v>
                </c:pt>
                <c:pt idx="48">
                  <c:v>69.628019101275967</c:v>
                </c:pt>
                <c:pt idx="49">
                  <c:v>71.375354860103982</c:v>
                </c:pt>
              </c:numCache>
            </c:numRef>
          </c:val>
          <c:smooth val="0"/>
          <c:extLst>
            <c:ext xmlns:c16="http://schemas.microsoft.com/office/drawing/2014/chart" uri="{C3380CC4-5D6E-409C-BE32-E72D297353CC}">
              <c16:uniqueId val="{00000001-5C08-49AC-A3FA-2C981CE3F764}"/>
            </c:ext>
          </c:extLst>
        </c:ser>
        <c:dLbls>
          <c:showLegendKey val="0"/>
          <c:showVal val="0"/>
          <c:showCatName val="0"/>
          <c:showSerName val="0"/>
          <c:showPercent val="0"/>
          <c:showBubbleSize val="0"/>
        </c:dLbls>
        <c:smooth val="0"/>
        <c:axId val="126779216"/>
        <c:axId val="1979125392"/>
      </c:lineChart>
      <c:catAx>
        <c:axId val="126779216"/>
        <c:scaling>
          <c:orientation val="minMax"/>
        </c:scaling>
        <c:delete val="0"/>
        <c:axPos val="b"/>
        <c:numFmt formatCode="General" sourceLinked="1"/>
        <c:majorTickMark val="none"/>
        <c:minorTickMark val="none"/>
        <c:tickLblPos val="nextTo"/>
        <c:spPr>
          <a:noFill/>
          <a:ln w="19050" cap="flat" cmpd="sng" algn="ctr">
            <a:solidFill>
              <a:schemeClr val="tx1"/>
            </a:solidFill>
            <a:round/>
            <a:tailEnd type="triangle"/>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National"/>
                <a:ea typeface="+mn-ea"/>
                <a:cs typeface="+mn-cs"/>
              </a:defRPr>
            </a:pPr>
            <a:endParaRPr lang="en-US"/>
          </a:p>
        </c:txPr>
        <c:crossAx val="1979125392"/>
        <c:crosses val="autoZero"/>
        <c:auto val="1"/>
        <c:lblAlgn val="ctr"/>
        <c:lblOffset val="100"/>
        <c:tickLblSkip val="5"/>
        <c:tickMarkSkip val="10"/>
        <c:noMultiLvlLbl val="0"/>
      </c:catAx>
      <c:valAx>
        <c:axId val="1979125392"/>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w="19050">
            <a:solidFill>
              <a:schemeClr val="tx1"/>
            </a:solidFill>
            <a:tailEnd type="triangle"/>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National"/>
                <a:ea typeface="+mn-ea"/>
                <a:cs typeface="+mn-cs"/>
              </a:defRPr>
            </a:pPr>
            <a:endParaRPr lang="en-US"/>
          </a:p>
        </c:txPr>
        <c:crossAx val="1267792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2400" b="1"/>
              <a:t>Inflation and Peso</a:t>
            </a:r>
            <a:r>
              <a:rPr lang="en-US" sz="2400" b="1" baseline="0"/>
              <a:t> </a:t>
            </a:r>
            <a:r>
              <a:rPr lang="en-US" sz="2400" b="1"/>
              <a:t>depreciation in Argentina</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7.6487003829725703E-2"/>
          <c:y val="0.16148260360216313"/>
          <c:w val="0.89642314889276997"/>
          <c:h val="0.80926295994531716"/>
        </c:manualLayout>
      </c:layout>
      <c:lineChart>
        <c:grouping val="standard"/>
        <c:varyColors val="0"/>
        <c:ser>
          <c:idx val="0"/>
          <c:order val="0"/>
          <c:tx>
            <c:strRef>
              <c:f>Data!$H$64</c:f>
              <c:strCache>
                <c:ptCount val="1"/>
                <c:pt idx="0">
                  <c:v>Inflation</c:v>
                </c:pt>
              </c:strCache>
            </c:strRef>
          </c:tx>
          <c:spPr>
            <a:ln w="28575" cap="rnd">
              <a:solidFill>
                <a:schemeClr val="accent1"/>
              </a:solidFill>
              <a:round/>
            </a:ln>
            <a:effectLst/>
          </c:spPr>
          <c:marker>
            <c:symbol val="none"/>
          </c:marker>
          <c:cat>
            <c:numRef>
              <c:f>Data!$G$65:$G$114</c:f>
              <c:numCache>
                <c:formatCode>General</c:formatCode>
                <c:ptCount val="50"/>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numCache>
            </c:numRef>
          </c:cat>
          <c:val>
            <c:numRef>
              <c:f>Data!$H$65:$H$114</c:f>
              <c:numCache>
                <c:formatCode>General</c:formatCode>
                <c:ptCount val="50"/>
                <c:pt idx="0">
                  <c:v>6.4678746393797439</c:v>
                </c:pt>
                <c:pt idx="1">
                  <c:v>31.271063882575334</c:v>
                </c:pt>
                <c:pt idx="2">
                  <c:v>64.244785918175495</c:v>
                </c:pt>
                <c:pt idx="3">
                  <c:v>65.535287366171275</c:v>
                </c:pt>
                <c:pt idx="4">
                  <c:v>30.630441371577234</c:v>
                </c:pt>
                <c:pt idx="5">
                  <c:v>197.69736454037627</c:v>
                </c:pt>
                <c:pt idx="6">
                  <c:v>438.32277972421832</c:v>
                </c:pt>
                <c:pt idx="7">
                  <c:v>159.42717770570755</c:v>
                </c:pt>
                <c:pt idx="8">
                  <c:v>161.37217200577425</c:v>
                </c:pt>
                <c:pt idx="9">
                  <c:v>147.37704403869438</c:v>
                </c:pt>
                <c:pt idx="10">
                  <c:v>95.790424611122631</c:v>
                </c:pt>
                <c:pt idx="11">
                  <c:v>105.27636637455987</c:v>
                </c:pt>
                <c:pt idx="12">
                  <c:v>194.53529967142396</c:v>
                </c:pt>
                <c:pt idx="13">
                  <c:v>380.15852852050818</c:v>
                </c:pt>
                <c:pt idx="14">
                  <c:v>611.19630388904261</c:v>
                </c:pt>
                <c:pt idx="15">
                  <c:v>607.44749782050587</c:v>
                </c:pt>
                <c:pt idx="16">
                  <c:v>77.29223668643229</c:v>
                </c:pt>
                <c:pt idx="17">
                  <c:v>127.53991806284537</c:v>
                </c:pt>
                <c:pt idx="18">
                  <c:v>381.24634441143417</c:v>
                </c:pt>
                <c:pt idx="19">
                  <c:v>3046.0911519966248</c:v>
                </c:pt>
                <c:pt idx="20">
                  <c:v>2078.3168180311436</c:v>
                </c:pt>
                <c:pt idx="21">
                  <c:v>140.50237866363182</c:v>
                </c:pt>
                <c:pt idx="22">
                  <c:v>16.071993535694546</c:v>
                </c:pt>
                <c:pt idx="23">
                  <c:v>-3.5610955757657763</c:v>
                </c:pt>
                <c:pt idx="24">
                  <c:v>2.8493397150930235</c:v>
                </c:pt>
                <c:pt idx="25">
                  <c:v>3.1651233901651921</c:v>
                </c:pt>
                <c:pt idx="26">
                  <c:v>-5.2375496590414627E-2</c:v>
                </c:pt>
                <c:pt idx="27">
                  <c:v>-0.46391313116428989</c:v>
                </c:pt>
                <c:pt idx="28">
                  <c:v>-1.7052796240008803</c:v>
                </c:pt>
                <c:pt idx="29">
                  <c:v>-1.8365583922066264</c:v>
                </c:pt>
                <c:pt idx="30">
                  <c:v>1.0372871007317457</c:v>
                </c:pt>
                <c:pt idx="31">
                  <c:v>-1.0957677183367878</c:v>
                </c:pt>
                <c:pt idx="32">
                  <c:v>30.555204053902969</c:v>
                </c:pt>
                <c:pt idx="33">
                  <c:v>10.495703021549602</c:v>
                </c:pt>
                <c:pt idx="34">
                  <c:v>18.363354249203255</c:v>
                </c:pt>
                <c:pt idx="35">
                  <c:v>10.317511198240581</c:v>
                </c:pt>
                <c:pt idx="36">
                  <c:v>13.741052485915233</c:v>
                </c:pt>
                <c:pt idx="37">
                  <c:v>14.939925024583459</c:v>
                </c:pt>
                <c:pt idx="38">
                  <c:v>23.171164981312415</c:v>
                </c:pt>
                <c:pt idx="39">
                  <c:v>15.377649370892115</c:v>
                </c:pt>
                <c:pt idx="40">
                  <c:v>20.915124272046981</c:v>
                </c:pt>
                <c:pt idx="41">
                  <c:v>23.703472183959335</c:v>
                </c:pt>
                <c:pt idx="42">
                  <c:v>22.31488067330487</c:v>
                </c:pt>
                <c:pt idx="43">
                  <c:v>23.948798416274641</c:v>
                </c:pt>
                <c:pt idx="44">
                  <c:v>40.282971631550623</c:v>
                </c:pt>
                <c:pt idx="45">
                  <c:v>26.579991602470685</c:v>
                </c:pt>
                <c:pt idx="46">
                  <c:v>41.119379988227905</c:v>
                </c:pt>
                <c:pt idx="47">
                  <c:v>26.007483145852902</c:v>
                </c:pt>
                <c:pt idx="48">
                  <c:v>40.702790688954536</c:v>
                </c:pt>
                <c:pt idx="49">
                  <c:v>51.508337518122147</c:v>
                </c:pt>
              </c:numCache>
            </c:numRef>
          </c:val>
          <c:smooth val="0"/>
          <c:extLst>
            <c:ext xmlns:c16="http://schemas.microsoft.com/office/drawing/2014/chart" uri="{C3380CC4-5D6E-409C-BE32-E72D297353CC}">
              <c16:uniqueId val="{00000000-30B9-4ABE-B140-925B0D8DFE05}"/>
            </c:ext>
          </c:extLst>
        </c:ser>
        <c:ser>
          <c:idx val="1"/>
          <c:order val="1"/>
          <c:tx>
            <c:strRef>
              <c:f>Data!$I$64</c:f>
              <c:strCache>
                <c:ptCount val="1"/>
                <c:pt idx="0">
                  <c:v>Peso depreciation</c:v>
                </c:pt>
              </c:strCache>
            </c:strRef>
          </c:tx>
          <c:spPr>
            <a:ln w="28575" cap="rnd">
              <a:solidFill>
                <a:schemeClr val="accent2"/>
              </a:solidFill>
              <a:round/>
            </a:ln>
            <a:effectLst/>
          </c:spPr>
          <c:marker>
            <c:symbol val="none"/>
          </c:marker>
          <c:cat>
            <c:numRef>
              <c:f>Data!$G$65:$G$114</c:f>
              <c:numCache>
                <c:formatCode>General</c:formatCode>
                <c:ptCount val="50"/>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numCache>
            </c:numRef>
          </c:cat>
          <c:val>
            <c:numRef>
              <c:f>Data!$I$65:$I$114</c:f>
              <c:numCache>
                <c:formatCode>General</c:formatCode>
                <c:ptCount val="50"/>
                <c:pt idx="0">
                  <c:v>8.3333333047619806</c:v>
                </c:pt>
                <c:pt idx="1">
                  <c:v>19.252747257824886</c:v>
                </c:pt>
                <c:pt idx="2">
                  <c:v>10.578695173736463</c:v>
                </c:pt>
                <c:pt idx="3">
                  <c:v>0</c:v>
                </c:pt>
                <c:pt idx="4">
                  <c:v>0</c:v>
                </c:pt>
                <c:pt idx="5">
                  <c:v>631.50000013629995</c:v>
                </c:pt>
                <c:pt idx="6">
                  <c:v>282.7295511553811</c:v>
                </c:pt>
                <c:pt idx="7">
                  <c:v>191.20133349207103</c:v>
                </c:pt>
                <c:pt idx="8">
                  <c:v>95.21220050712887</c:v>
                </c:pt>
                <c:pt idx="9">
                  <c:v>65.500052361265489</c:v>
                </c:pt>
                <c:pt idx="10">
                  <c:v>39.499228024186259</c:v>
                </c:pt>
                <c:pt idx="11">
                  <c:v>139.64682775499369</c:v>
                </c:pt>
                <c:pt idx="12">
                  <c:v>488.78829806742152</c:v>
                </c:pt>
                <c:pt idx="13">
                  <c:v>306.20865885999916</c:v>
                </c:pt>
                <c:pt idx="14">
                  <c:v>542.44434670008809</c:v>
                </c:pt>
                <c:pt idx="15">
                  <c:v>789.60363366054889</c:v>
                </c:pt>
                <c:pt idx="16">
                  <c:v>56.699495465615655</c:v>
                </c:pt>
                <c:pt idx="17">
                  <c:v>127.38349189405049</c:v>
                </c:pt>
                <c:pt idx="18">
                  <c:v>308.18033715768792</c:v>
                </c:pt>
                <c:pt idx="19">
                  <c:v>4736.7274501636366</c:v>
                </c:pt>
                <c:pt idx="20">
                  <c:v>1051.7681637514311</c:v>
                </c:pt>
                <c:pt idx="21">
                  <c:v>95.565169373323243</c:v>
                </c:pt>
                <c:pt idx="22">
                  <c:v>3.8893690125882507</c:v>
                </c:pt>
                <c:pt idx="23">
                  <c:v>0.83826139623301987</c:v>
                </c:pt>
                <c:pt idx="24">
                  <c:v>6.2565954944249214E-3</c:v>
                </c:pt>
                <c:pt idx="25">
                  <c:v>7.424028828590945E-2</c:v>
                </c:pt>
                <c:pt idx="26">
                  <c:v>-8.752188047012055E-3</c:v>
                </c:pt>
                <c:pt idx="27">
                  <c:v>-1.6255486226601779E-2</c:v>
                </c:pt>
                <c:pt idx="28">
                  <c:v>0</c:v>
                </c:pt>
                <c:pt idx="29">
                  <c:v>0</c:v>
                </c:pt>
                <c:pt idx="30">
                  <c:v>0</c:v>
                </c:pt>
                <c:pt idx="31">
                  <c:v>0</c:v>
                </c:pt>
                <c:pt idx="32">
                  <c:v>206.47890611972684</c:v>
                </c:pt>
                <c:pt idx="33">
                  <c:v>-5.3089740004374271</c:v>
                </c:pt>
                <c:pt idx="34">
                  <c:v>0.78161153784106485</c:v>
                </c:pt>
                <c:pt idx="35">
                  <c:v>-0.67195680910763222</c:v>
                </c:pt>
                <c:pt idx="36">
                  <c:v>5.1884849825893697</c:v>
                </c:pt>
                <c:pt idx="37">
                  <c:v>1.3533488991422038</c:v>
                </c:pt>
                <c:pt idx="38">
                  <c:v>1.5672226741947348</c:v>
                </c:pt>
                <c:pt idx="39">
                  <c:v>17.999766229140967</c:v>
                </c:pt>
                <c:pt idx="40">
                  <c:v>5.0184086995942234</c:v>
                </c:pt>
                <c:pt idx="41">
                  <c:v>5.4884040675768908</c:v>
                </c:pt>
                <c:pt idx="42">
                  <c:v>10.38394867279453</c:v>
                </c:pt>
                <c:pt idx="43">
                  <c:v>20.331312539233348</c:v>
                </c:pt>
                <c:pt idx="44">
                  <c:v>47.916364610246973</c:v>
                </c:pt>
                <c:pt idx="45">
                  <c:v>14.338946841463262</c:v>
                </c:pt>
                <c:pt idx="46">
                  <c:v>59.838389988164906</c:v>
                </c:pt>
                <c:pt idx="47">
                  <c:v>12.227337235953573</c:v>
                </c:pt>
                <c:pt idx="48">
                  <c:v>69.628019101275967</c:v>
                </c:pt>
                <c:pt idx="49">
                  <c:v>71.375354860103982</c:v>
                </c:pt>
              </c:numCache>
            </c:numRef>
          </c:val>
          <c:smooth val="0"/>
          <c:extLst>
            <c:ext xmlns:c16="http://schemas.microsoft.com/office/drawing/2014/chart" uri="{C3380CC4-5D6E-409C-BE32-E72D297353CC}">
              <c16:uniqueId val="{00000001-30B9-4ABE-B140-925B0D8DFE05}"/>
            </c:ext>
          </c:extLst>
        </c:ser>
        <c:dLbls>
          <c:showLegendKey val="0"/>
          <c:showVal val="0"/>
          <c:showCatName val="0"/>
          <c:showSerName val="0"/>
          <c:showPercent val="0"/>
          <c:showBubbleSize val="0"/>
        </c:dLbls>
        <c:smooth val="0"/>
        <c:axId val="126779216"/>
        <c:axId val="1979125392"/>
      </c:lineChart>
      <c:catAx>
        <c:axId val="126779216"/>
        <c:scaling>
          <c:orientation val="minMax"/>
        </c:scaling>
        <c:delete val="0"/>
        <c:axPos val="b"/>
        <c:numFmt formatCode="General" sourceLinked="1"/>
        <c:majorTickMark val="none"/>
        <c:minorTickMark val="none"/>
        <c:tickLblPos val="nextTo"/>
        <c:spPr>
          <a:noFill/>
          <a:ln w="19050" cap="flat" cmpd="sng" algn="ctr">
            <a:solidFill>
              <a:schemeClr val="tx1"/>
            </a:solidFill>
            <a:round/>
            <a:tailEnd type="triangle"/>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National"/>
                <a:ea typeface="+mn-ea"/>
                <a:cs typeface="+mn-cs"/>
              </a:defRPr>
            </a:pPr>
            <a:endParaRPr lang="en-US"/>
          </a:p>
        </c:txPr>
        <c:crossAx val="1979125392"/>
        <c:crosses val="autoZero"/>
        <c:auto val="1"/>
        <c:lblAlgn val="ctr"/>
        <c:lblOffset val="100"/>
        <c:tickLblSkip val="5"/>
        <c:tickMarkSkip val="10"/>
        <c:noMultiLvlLbl val="0"/>
      </c:catAx>
      <c:valAx>
        <c:axId val="1979125392"/>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w="19050">
            <a:solidFill>
              <a:schemeClr val="tx1"/>
            </a:solidFill>
            <a:tailEnd type="triangle"/>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National"/>
                <a:ea typeface="+mn-ea"/>
                <a:cs typeface="+mn-cs"/>
              </a:defRPr>
            </a:pPr>
            <a:endParaRPr lang="en-US"/>
          </a:p>
        </c:txPr>
        <c:crossAx val="1267792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69AFDC-7658-4951-B0FF-52DFF2A93C0A}" type="datetimeFigureOut">
              <a:rPr lang="en-US" smtClean="0"/>
              <a:t>5/10/2026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8ED99B-9732-49FC-9C16-B56FEB1B1092}" type="slidenum">
              <a:rPr lang="en-US" smtClean="0"/>
              <a:t>‹#›</a:t>
            </a:fld>
            <a:endParaRPr lang="en-US"/>
          </a:p>
        </p:txBody>
      </p:sp>
    </p:spTree>
    <p:extLst>
      <p:ext uri="{BB962C8B-B14F-4D97-AF65-F5344CB8AC3E}">
        <p14:creationId xmlns:p14="http://schemas.microsoft.com/office/powerpoint/2010/main" val="131466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D2D7A-D230-4F91-BD59-0A39C2703BA8}" type="datetimeFigureOut">
              <a:rPr lang="en-US" smtClean="0"/>
              <a:t>5/10/2026</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3199CD-3E1B-4AE6-990F-76F925F5EA9F}" type="slidenum">
              <a:rPr lang="en-US" smtClean="0"/>
              <a:t>‹#›</a:t>
            </a:fld>
            <a:endParaRPr lang="en-US"/>
          </a:p>
        </p:txBody>
      </p:sp>
    </p:spTree>
    <p:extLst>
      <p:ext uri="{BB962C8B-B14F-4D97-AF65-F5344CB8AC3E}">
        <p14:creationId xmlns:p14="http://schemas.microsoft.com/office/powerpoint/2010/main" val="42765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3199CD-3E1B-4AE6-990F-76F925F5EA9F}" type="slidenum">
              <a:rPr lang="en-US" smtClean="0"/>
              <a:t>1</a:t>
            </a:fld>
            <a:endParaRPr lang="en-US"/>
          </a:p>
        </p:txBody>
      </p:sp>
    </p:spTree>
    <p:extLst>
      <p:ext uri="{BB962C8B-B14F-4D97-AF65-F5344CB8AC3E}">
        <p14:creationId xmlns:p14="http://schemas.microsoft.com/office/powerpoint/2010/main" val="37727688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3199CD-3E1B-4AE6-990F-76F925F5EA9F}" type="slidenum">
              <a:rPr lang="en-US" smtClean="0"/>
              <a:t>9</a:t>
            </a:fld>
            <a:endParaRPr lang="en-US"/>
          </a:p>
        </p:txBody>
      </p:sp>
    </p:spTree>
    <p:extLst>
      <p:ext uri="{BB962C8B-B14F-4D97-AF65-F5344CB8AC3E}">
        <p14:creationId xmlns:p14="http://schemas.microsoft.com/office/powerpoint/2010/main" val="39319791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10</a:t>
            </a:fld>
            <a:endParaRPr lang="en-US" sz="1300"/>
          </a:p>
        </p:txBody>
      </p:sp>
    </p:spTree>
    <p:extLst>
      <p:ext uri="{BB962C8B-B14F-4D97-AF65-F5344CB8AC3E}">
        <p14:creationId xmlns:p14="http://schemas.microsoft.com/office/powerpoint/2010/main" val="3472845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3199CD-3E1B-4AE6-990F-76F925F5EA9F}" type="slidenum">
              <a:rPr lang="en-US" smtClean="0"/>
              <a:t>11</a:t>
            </a:fld>
            <a:endParaRPr lang="en-US"/>
          </a:p>
        </p:txBody>
      </p:sp>
    </p:spTree>
    <p:extLst>
      <p:ext uri="{BB962C8B-B14F-4D97-AF65-F5344CB8AC3E}">
        <p14:creationId xmlns:p14="http://schemas.microsoft.com/office/powerpoint/2010/main" val="3570375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3199CD-3E1B-4AE6-990F-76F925F5EA9F}" type="slidenum">
              <a:rPr lang="en-US" smtClean="0"/>
              <a:t>12</a:t>
            </a:fld>
            <a:endParaRPr lang="en-US"/>
          </a:p>
        </p:txBody>
      </p:sp>
    </p:spTree>
    <p:extLst>
      <p:ext uri="{BB962C8B-B14F-4D97-AF65-F5344CB8AC3E}">
        <p14:creationId xmlns:p14="http://schemas.microsoft.com/office/powerpoint/2010/main" val="30389827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srgbClr val="303030"/>
                </a:solidFill>
                <a:effectLst/>
                <a:uLnTx/>
                <a:uFillTx/>
                <a:latin typeface="Cambr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srgbClr val="303030"/>
              </a:solidFill>
              <a:effectLst/>
              <a:uLnTx/>
              <a:uFillTx/>
              <a:latin typeface="Cambria"/>
              <a:ea typeface="+mn-ea"/>
              <a:cs typeface="+mn-cs"/>
            </a:endParaRPr>
          </a:p>
        </p:txBody>
      </p:sp>
    </p:spTree>
    <p:extLst>
      <p:ext uri="{BB962C8B-B14F-4D97-AF65-F5344CB8AC3E}">
        <p14:creationId xmlns:p14="http://schemas.microsoft.com/office/powerpoint/2010/main" val="6233590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srgbClr val="303030"/>
                </a:solidFill>
                <a:effectLst/>
                <a:uLnTx/>
                <a:uFillTx/>
                <a:latin typeface="Cambr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srgbClr val="303030"/>
              </a:solidFill>
              <a:effectLst/>
              <a:uLnTx/>
              <a:uFillTx/>
              <a:latin typeface="Cambria"/>
              <a:ea typeface="+mn-ea"/>
              <a:cs typeface="+mn-cs"/>
            </a:endParaRPr>
          </a:p>
        </p:txBody>
      </p:sp>
    </p:spTree>
    <p:extLst>
      <p:ext uri="{BB962C8B-B14F-4D97-AF65-F5344CB8AC3E}">
        <p14:creationId xmlns:p14="http://schemas.microsoft.com/office/powerpoint/2010/main" val="30471405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srgbClr val="303030"/>
                </a:solidFill>
                <a:effectLst/>
                <a:uLnTx/>
                <a:uFillTx/>
                <a:latin typeface="Cambr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srgbClr val="303030"/>
              </a:solidFill>
              <a:effectLst/>
              <a:uLnTx/>
              <a:uFillTx/>
              <a:latin typeface="Cambria"/>
              <a:ea typeface="+mn-ea"/>
              <a:cs typeface="+mn-cs"/>
            </a:endParaRPr>
          </a:p>
        </p:txBody>
      </p:sp>
    </p:spTree>
    <p:extLst>
      <p:ext uri="{BB962C8B-B14F-4D97-AF65-F5344CB8AC3E}">
        <p14:creationId xmlns:p14="http://schemas.microsoft.com/office/powerpoint/2010/main" val="4086082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srgbClr val="303030"/>
                </a:solidFill>
                <a:effectLst/>
                <a:uLnTx/>
                <a:uFillTx/>
                <a:latin typeface="Cambr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srgbClr val="303030"/>
              </a:solidFill>
              <a:effectLst/>
              <a:uLnTx/>
              <a:uFillTx/>
              <a:latin typeface="Cambria"/>
              <a:ea typeface="+mn-ea"/>
              <a:cs typeface="+mn-cs"/>
            </a:endParaRPr>
          </a:p>
        </p:txBody>
      </p:sp>
    </p:spTree>
    <p:extLst>
      <p:ext uri="{BB962C8B-B14F-4D97-AF65-F5344CB8AC3E}">
        <p14:creationId xmlns:p14="http://schemas.microsoft.com/office/powerpoint/2010/main" val="21499528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srgbClr val="303030"/>
                </a:solidFill>
                <a:effectLst/>
                <a:uLnTx/>
                <a:uFillTx/>
                <a:latin typeface="Cambr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srgbClr val="303030"/>
              </a:solidFill>
              <a:effectLst/>
              <a:uLnTx/>
              <a:uFillTx/>
              <a:latin typeface="Cambria"/>
              <a:ea typeface="+mn-ea"/>
              <a:cs typeface="+mn-cs"/>
            </a:endParaRPr>
          </a:p>
        </p:txBody>
      </p:sp>
    </p:spTree>
    <p:extLst>
      <p:ext uri="{BB962C8B-B14F-4D97-AF65-F5344CB8AC3E}">
        <p14:creationId xmlns:p14="http://schemas.microsoft.com/office/powerpoint/2010/main" val="29193883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srgbClr val="303030"/>
                </a:solidFill>
                <a:effectLst/>
                <a:uLnTx/>
                <a:uFillTx/>
                <a:latin typeface="Cambr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srgbClr val="303030"/>
              </a:solidFill>
              <a:effectLst/>
              <a:uLnTx/>
              <a:uFillTx/>
              <a:latin typeface="Cambria"/>
              <a:ea typeface="+mn-ea"/>
              <a:cs typeface="+mn-cs"/>
            </a:endParaRPr>
          </a:p>
        </p:txBody>
      </p:sp>
    </p:spTree>
    <p:extLst>
      <p:ext uri="{BB962C8B-B14F-4D97-AF65-F5344CB8AC3E}">
        <p14:creationId xmlns:p14="http://schemas.microsoft.com/office/powerpoint/2010/main" val="17829134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3199CD-3E1B-4AE6-990F-76F925F5EA9F}" type="slidenum">
              <a:rPr lang="en-US" smtClean="0"/>
              <a:t>20</a:t>
            </a:fld>
            <a:endParaRPr lang="en-US"/>
          </a:p>
        </p:txBody>
      </p:sp>
    </p:spTree>
    <p:extLst>
      <p:ext uri="{BB962C8B-B14F-4D97-AF65-F5344CB8AC3E}">
        <p14:creationId xmlns:p14="http://schemas.microsoft.com/office/powerpoint/2010/main" val="1873332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31</a:t>
            </a:fld>
            <a:endParaRPr lang="en-US" sz="1300"/>
          </a:p>
        </p:txBody>
      </p:sp>
    </p:spTree>
    <p:extLst>
      <p:ext uri="{BB962C8B-B14F-4D97-AF65-F5344CB8AC3E}">
        <p14:creationId xmlns:p14="http://schemas.microsoft.com/office/powerpoint/2010/main" val="33499920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p:cNvSpPr>
            <a:spLocks noGrp="1" noRot="1" noChangeAspect="1" noTextEdit="1"/>
          </p:cNvSpPr>
          <p:nvPr>
            <p:ph type="sldImg"/>
          </p:nvPr>
        </p:nvSpPr>
        <p:spPr>
          <a:ln/>
        </p:spPr>
      </p:sp>
      <p:sp>
        <p:nvSpPr>
          <p:cNvPr id="1310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10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E4CE49FC-7958-4A5B-9D9C-1BF52FC442BC}" type="slidenum">
              <a:rPr lang="en-US" sz="1300" smtClean="0"/>
              <a:pPr/>
              <a:t>32</a:t>
            </a:fld>
            <a:endParaRPr lang="en-US" sz="1300"/>
          </a:p>
        </p:txBody>
      </p:sp>
    </p:spTree>
    <p:extLst>
      <p:ext uri="{BB962C8B-B14F-4D97-AF65-F5344CB8AC3E}">
        <p14:creationId xmlns:p14="http://schemas.microsoft.com/office/powerpoint/2010/main" val="26669743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33</a:t>
            </a:fld>
            <a:endParaRPr lang="en-US" sz="1300"/>
          </a:p>
        </p:txBody>
      </p:sp>
    </p:spTree>
    <p:extLst>
      <p:ext uri="{BB962C8B-B14F-4D97-AF65-F5344CB8AC3E}">
        <p14:creationId xmlns:p14="http://schemas.microsoft.com/office/powerpoint/2010/main" val="42091688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36</a:t>
            </a:fld>
            <a:endParaRPr lang="en-US" sz="1300"/>
          </a:p>
        </p:txBody>
      </p:sp>
    </p:spTree>
    <p:extLst>
      <p:ext uri="{BB962C8B-B14F-4D97-AF65-F5344CB8AC3E}">
        <p14:creationId xmlns:p14="http://schemas.microsoft.com/office/powerpoint/2010/main" val="13938125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37</a:t>
            </a:fld>
            <a:endParaRPr lang="en-US" sz="1300"/>
          </a:p>
        </p:txBody>
      </p:sp>
    </p:spTree>
    <p:extLst>
      <p:ext uri="{BB962C8B-B14F-4D97-AF65-F5344CB8AC3E}">
        <p14:creationId xmlns:p14="http://schemas.microsoft.com/office/powerpoint/2010/main" val="38456398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38</a:t>
            </a:fld>
            <a:endParaRPr lang="en-US" sz="1300"/>
          </a:p>
        </p:txBody>
      </p:sp>
    </p:spTree>
    <p:extLst>
      <p:ext uri="{BB962C8B-B14F-4D97-AF65-F5344CB8AC3E}">
        <p14:creationId xmlns:p14="http://schemas.microsoft.com/office/powerpoint/2010/main" val="29374919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srgbClr val="303030"/>
                </a:solidFill>
                <a:effectLst/>
                <a:uLnTx/>
                <a:uFillTx/>
                <a:latin typeface="Cambr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srgbClr val="303030"/>
              </a:solidFill>
              <a:effectLst/>
              <a:uLnTx/>
              <a:uFillTx/>
              <a:latin typeface="Cambria"/>
              <a:ea typeface="+mn-ea"/>
              <a:cs typeface="+mn-cs"/>
            </a:endParaRPr>
          </a:p>
        </p:txBody>
      </p:sp>
    </p:spTree>
    <p:extLst>
      <p:ext uri="{BB962C8B-B14F-4D97-AF65-F5344CB8AC3E}">
        <p14:creationId xmlns:p14="http://schemas.microsoft.com/office/powerpoint/2010/main" val="12698077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p:cNvSpPr>
            <a:spLocks noGrp="1" noRot="1" noChangeAspect="1" noTextEdit="1"/>
          </p:cNvSpPr>
          <p:nvPr>
            <p:ph type="sldImg"/>
          </p:nvPr>
        </p:nvSpPr>
        <p:spPr>
          <a:ln/>
        </p:spPr>
      </p:sp>
      <p:sp>
        <p:nvSpPr>
          <p:cNvPr id="1310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10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E4CE49FC-7958-4A5B-9D9C-1BF52FC442BC}" type="slidenum">
              <a:rPr lang="en-US" sz="1300" smtClean="0"/>
              <a:pPr/>
              <a:t>40</a:t>
            </a:fld>
            <a:endParaRPr lang="en-US" sz="1300"/>
          </a:p>
        </p:txBody>
      </p:sp>
    </p:spTree>
    <p:extLst>
      <p:ext uri="{BB962C8B-B14F-4D97-AF65-F5344CB8AC3E}">
        <p14:creationId xmlns:p14="http://schemas.microsoft.com/office/powerpoint/2010/main" val="9544578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p:cNvSpPr>
            <a:spLocks noGrp="1" noRot="1" noChangeAspect="1" noTextEdit="1"/>
          </p:cNvSpPr>
          <p:nvPr>
            <p:ph type="sldImg"/>
          </p:nvPr>
        </p:nvSpPr>
        <p:spPr>
          <a:ln/>
        </p:spPr>
      </p:sp>
      <p:sp>
        <p:nvSpPr>
          <p:cNvPr id="1310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10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E4CE49FC-7958-4A5B-9D9C-1BF52FC442BC}" type="slidenum">
              <a:rPr lang="en-US" sz="1300" smtClean="0"/>
              <a:pPr/>
              <a:t>41</a:t>
            </a:fld>
            <a:endParaRPr lang="en-US" sz="1300"/>
          </a:p>
        </p:txBody>
      </p:sp>
    </p:spTree>
    <p:extLst>
      <p:ext uri="{BB962C8B-B14F-4D97-AF65-F5344CB8AC3E}">
        <p14:creationId xmlns:p14="http://schemas.microsoft.com/office/powerpoint/2010/main" val="22246048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srgbClr val="303030"/>
                </a:solidFill>
                <a:effectLst/>
                <a:uLnTx/>
                <a:uFillTx/>
                <a:latin typeface="Cambr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srgbClr val="303030"/>
              </a:solidFill>
              <a:effectLst/>
              <a:uLnTx/>
              <a:uFillTx/>
              <a:latin typeface="Cambria"/>
              <a:ea typeface="+mn-ea"/>
              <a:cs typeface="+mn-cs"/>
            </a:endParaRPr>
          </a:p>
        </p:txBody>
      </p:sp>
    </p:spTree>
    <p:extLst>
      <p:ext uri="{BB962C8B-B14F-4D97-AF65-F5344CB8AC3E}">
        <p14:creationId xmlns:p14="http://schemas.microsoft.com/office/powerpoint/2010/main" val="5926442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CC514-3B99-5DEF-BFF3-173114544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B5E955-5E5B-70C3-4560-196A58413A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D48977-5121-D4CD-B10C-E413179E49C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07E5691-48E9-DFF9-096B-8200C3E035F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srgbClr val="303030"/>
                </a:solidFill>
                <a:effectLst/>
                <a:uLnTx/>
                <a:uFillTx/>
                <a:latin typeface="Cambr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srgbClr val="303030"/>
              </a:solidFill>
              <a:effectLst/>
              <a:uLnTx/>
              <a:uFillTx/>
              <a:latin typeface="Cambria"/>
              <a:ea typeface="+mn-ea"/>
              <a:cs typeface="+mn-cs"/>
            </a:endParaRPr>
          </a:p>
        </p:txBody>
      </p:sp>
    </p:spTree>
    <p:extLst>
      <p:ext uri="{BB962C8B-B14F-4D97-AF65-F5344CB8AC3E}">
        <p14:creationId xmlns:p14="http://schemas.microsoft.com/office/powerpoint/2010/main" val="25975266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F7F0F-D05E-035E-E0BA-792AFE6CB3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6EDC12-6E7C-1A74-C748-F2F37742A0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F86BA6-039B-6499-F436-5B5EE883413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692608-F30C-E060-30A8-A080F80D07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srgbClr val="303030"/>
                </a:solidFill>
                <a:effectLst/>
                <a:uLnTx/>
                <a:uFillTx/>
                <a:latin typeface="Cambr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srgbClr val="303030"/>
              </a:solidFill>
              <a:effectLst/>
              <a:uLnTx/>
              <a:uFillTx/>
              <a:latin typeface="Cambria"/>
              <a:ea typeface="+mn-ea"/>
              <a:cs typeface="+mn-cs"/>
            </a:endParaRPr>
          </a:p>
        </p:txBody>
      </p:sp>
    </p:spTree>
    <p:extLst>
      <p:ext uri="{BB962C8B-B14F-4D97-AF65-F5344CB8AC3E}">
        <p14:creationId xmlns:p14="http://schemas.microsoft.com/office/powerpoint/2010/main" val="5381331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3199CD-3E1B-4AE6-990F-76F925F5EA9F}" type="slidenum">
              <a:rPr lang="en-US" smtClean="0"/>
              <a:t>54</a:t>
            </a:fld>
            <a:endParaRPr lang="en-US"/>
          </a:p>
        </p:txBody>
      </p:sp>
    </p:spTree>
    <p:extLst>
      <p:ext uri="{BB962C8B-B14F-4D97-AF65-F5344CB8AC3E}">
        <p14:creationId xmlns:p14="http://schemas.microsoft.com/office/powerpoint/2010/main" val="5926442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3199CD-3E1B-4AE6-990F-76F925F5EA9F}" type="slidenum">
              <a:rPr lang="en-US" smtClean="0"/>
              <a:t>55</a:t>
            </a:fld>
            <a:endParaRPr lang="en-US"/>
          </a:p>
        </p:txBody>
      </p:sp>
    </p:spTree>
    <p:extLst>
      <p:ext uri="{BB962C8B-B14F-4D97-AF65-F5344CB8AC3E}">
        <p14:creationId xmlns:p14="http://schemas.microsoft.com/office/powerpoint/2010/main" val="10125113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3199CD-3E1B-4AE6-990F-76F925F5EA9F}" type="slidenum">
              <a:rPr lang="en-US" smtClean="0"/>
              <a:t>56</a:t>
            </a:fld>
            <a:endParaRPr lang="en-US"/>
          </a:p>
        </p:txBody>
      </p:sp>
    </p:spTree>
    <p:extLst>
      <p:ext uri="{BB962C8B-B14F-4D97-AF65-F5344CB8AC3E}">
        <p14:creationId xmlns:p14="http://schemas.microsoft.com/office/powerpoint/2010/main" val="42845695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3199CD-3E1B-4AE6-990F-76F925F5EA9F}" type="slidenum">
              <a:rPr lang="en-US" smtClean="0"/>
              <a:t>57</a:t>
            </a:fld>
            <a:endParaRPr lang="en-US"/>
          </a:p>
        </p:txBody>
      </p:sp>
    </p:spTree>
    <p:extLst>
      <p:ext uri="{BB962C8B-B14F-4D97-AF65-F5344CB8AC3E}">
        <p14:creationId xmlns:p14="http://schemas.microsoft.com/office/powerpoint/2010/main" val="25137443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3199CD-3E1B-4AE6-990F-76F925F5EA9F}" type="slidenum">
              <a:rPr lang="en-US" smtClean="0"/>
              <a:t>59</a:t>
            </a:fld>
            <a:endParaRPr lang="en-US"/>
          </a:p>
        </p:txBody>
      </p:sp>
    </p:spTree>
    <p:extLst>
      <p:ext uri="{BB962C8B-B14F-4D97-AF65-F5344CB8AC3E}">
        <p14:creationId xmlns:p14="http://schemas.microsoft.com/office/powerpoint/2010/main" val="1429739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0824" y="1600200"/>
            <a:ext cx="5945188" cy="3048000"/>
          </a:xfrm>
        </p:spPr>
        <p:txBody>
          <a:bodyPr anchor="b">
            <a:normAutofit/>
          </a:bodyPr>
          <a:lstStyle>
            <a:lvl1pPr>
              <a:lnSpc>
                <a:spcPct val="80000"/>
              </a:lnSpc>
              <a:defRPr sz="6600">
                <a:solidFill>
                  <a:schemeClr val="tx1"/>
                </a:solidFill>
              </a:defRPr>
            </a:lvl1pPr>
          </a:lstStyle>
          <a:p>
            <a:r>
              <a:rPr lang="en-US"/>
              <a:t>Click to edit Master title style</a:t>
            </a:r>
            <a:endParaRPr/>
          </a:p>
        </p:txBody>
      </p:sp>
      <p:sp>
        <p:nvSpPr>
          <p:cNvPr id="3" name="Subtitle 2"/>
          <p:cNvSpPr>
            <a:spLocks noGrp="1"/>
          </p:cNvSpPr>
          <p:nvPr>
            <p:ph type="subTitle" idx="1" hasCustomPrompt="1"/>
          </p:nvPr>
        </p:nvSpPr>
        <p:spPr>
          <a:xfrm>
            <a:off x="1520825" y="4898572"/>
            <a:ext cx="5945187" cy="1270453"/>
          </a:xfrm>
        </p:spPr>
        <p:txBody>
          <a:bodyPr>
            <a:noAutofit/>
          </a:bodyPr>
          <a:lstStyle>
            <a:lvl1pPr marL="0" indent="0" algn="l">
              <a:spcBef>
                <a:spcPts val="0"/>
              </a:spcBef>
              <a:buNone/>
              <a:defRPr sz="2800" cap="none" baseline="0">
                <a:solidFill>
                  <a:schemeClr val="accent1">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E</a:t>
            </a:r>
            <a:r>
              <a:t>dit Master subtitle style</a:t>
            </a:r>
          </a:p>
        </p:txBody>
      </p:sp>
      <p:cxnSp>
        <p:nvCxnSpPr>
          <p:cNvPr id="6" name="Straight Connector 5"/>
          <p:cNvCxnSpPr/>
          <p:nvPr/>
        </p:nvCxnSpPr>
        <p:spPr>
          <a:xfrm>
            <a:off x="1658936" y="4782971"/>
            <a:ext cx="56546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grpSp>
        <p:nvGrpSpPr>
          <p:cNvPr id="5" name="Group 4"/>
          <p:cNvGrpSpPr/>
          <p:nvPr userDrawn="1"/>
        </p:nvGrpSpPr>
        <p:grpSpPr>
          <a:xfrm>
            <a:off x="7923213" y="0"/>
            <a:ext cx="4265612" cy="6858000"/>
            <a:chOff x="7923213" y="0"/>
            <a:chExt cx="4265612" cy="685800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7923213" y="0"/>
              <a:ext cx="4265612" cy="6858000"/>
            </a:xfrm>
            <a:prstGeom prst="rect">
              <a:avLst/>
            </a:prstGeom>
          </p:spPr>
        </p:pic>
        <p:sp>
          <p:nvSpPr>
            <p:cNvPr id="13" name="Rectangle 12"/>
            <p:cNvSpPr/>
            <p:nvPr/>
          </p:nvSpPr>
          <p:spPr>
            <a:xfrm>
              <a:off x="7923213" y="0"/>
              <a:ext cx="1065213" cy="6858000"/>
            </a:xfrm>
            <a:prstGeom prst="rect">
              <a:avLst/>
            </a:prstGeom>
            <a:gradFill flip="none" rotWithShape="1">
              <a:gsLst>
                <a:gs pos="75000">
                  <a:schemeClr val="tx2">
                    <a:alpha val="0"/>
                  </a:schemeClr>
                </a:gs>
                <a:gs pos="100000">
                  <a:schemeClr val="tx2">
                    <a:alpha val="2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9499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5/10/2026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7" name="Straight Connector 6"/>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8254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0" y="2237096"/>
            <a:ext cx="8229601" cy="2411103"/>
          </a:xfrm>
        </p:spPr>
        <p:txBody>
          <a:bodyPr anchor="b">
            <a:normAutofit/>
          </a:bodyPr>
          <a:lstStyle>
            <a:lvl1pPr algn="l">
              <a:lnSpc>
                <a:spcPct val="80000"/>
              </a:lnSpc>
              <a:defRPr sz="4800" b="0" cap="none" baseline="0">
                <a:solidFill>
                  <a:schemeClr val="tx1"/>
                </a:solidFill>
              </a:defRPr>
            </a:lvl1pPr>
          </a:lstStyle>
          <a:p>
            <a:r>
              <a:rPr lang="en-US"/>
              <a:t>Click to edit Master title style</a:t>
            </a:r>
            <a:endParaRPr/>
          </a:p>
        </p:txBody>
      </p:sp>
      <p:sp>
        <p:nvSpPr>
          <p:cNvPr id="3" name="Text Placeholder 2"/>
          <p:cNvSpPr>
            <a:spLocks noGrp="1"/>
          </p:cNvSpPr>
          <p:nvPr>
            <p:ph type="body" idx="1"/>
          </p:nvPr>
        </p:nvSpPr>
        <p:spPr>
          <a:xfrm>
            <a:off x="1522412" y="4876800"/>
            <a:ext cx="8229601" cy="1292225"/>
          </a:xfrm>
        </p:spPr>
        <p:txBody>
          <a:bodyPr anchor="t">
            <a:normAutofit/>
          </a:bodyPr>
          <a:lstStyle>
            <a:lvl1pPr marL="0" indent="0">
              <a:spcBef>
                <a:spcPts val="0"/>
              </a:spcBef>
              <a:buNone/>
              <a:defRPr sz="2800" cap="none" baseline="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grpSp>
        <p:nvGrpSpPr>
          <p:cNvPr id="7" name="Group 6"/>
          <p:cNvGrpSpPr/>
          <p:nvPr userDrawn="1"/>
        </p:nvGrpSpPr>
        <p:grpSpPr>
          <a:xfrm>
            <a:off x="11123611" y="0"/>
            <a:ext cx="1065214" cy="6868886"/>
            <a:chOff x="11123611" y="0"/>
            <a:chExt cx="1065214" cy="6868886"/>
          </a:xfrm>
        </p:grpSpPr>
        <p:pic>
          <p:nvPicPr>
            <p:cNvPr id="10" name="Picture 9"/>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11123611" y="0"/>
              <a:ext cx="1065213" cy="6858000"/>
            </a:xfrm>
            <a:prstGeom prst="rect">
              <a:avLst/>
            </a:prstGeom>
          </p:spPr>
        </p:pic>
        <p:sp>
          <p:nvSpPr>
            <p:cNvPr id="12" name="Rectangle 11"/>
            <p:cNvSpPr/>
            <p:nvPr/>
          </p:nvSpPr>
          <p:spPr>
            <a:xfrm>
              <a:off x="11123612" y="10886"/>
              <a:ext cx="1065213" cy="6858000"/>
            </a:xfrm>
            <a:prstGeom prst="rect">
              <a:avLst/>
            </a:prstGeom>
            <a:gradFill flip="none" rotWithShape="1">
              <a:gsLst>
                <a:gs pos="75000">
                  <a:schemeClr val="tx2">
                    <a:alpha val="0"/>
                  </a:schemeClr>
                </a:gs>
                <a:gs pos="100000">
                  <a:schemeClr val="tx2">
                    <a:alpha val="2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5/10/2026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9" name="Straight Connector 8"/>
          <p:cNvCxnSpPr/>
          <p:nvPr/>
        </p:nvCxnSpPr>
        <p:spPr>
          <a:xfrm>
            <a:off x="1658936" y="4782971"/>
            <a:ext cx="80168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81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3" y="381000"/>
            <a:ext cx="9829798" cy="1219200"/>
          </a:xfrm>
        </p:spPr>
        <p:txBody>
          <a:bodyPr/>
          <a:lstStyle>
            <a:lvl1pPr>
              <a:defRPr>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sz="half" idx="1"/>
          </p:nvPr>
        </p:nvSpPr>
        <p:spPr>
          <a:xfrm>
            <a:off x="1488168" y="1984248"/>
            <a:ext cx="4800600" cy="4187952"/>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51612" y="1984248"/>
            <a:ext cx="4800601" cy="4187952"/>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a:t>Add a footer</a:t>
            </a:r>
          </a:p>
        </p:txBody>
      </p:sp>
      <p:sp>
        <p:nvSpPr>
          <p:cNvPr id="5" name="Date Placeholder 4"/>
          <p:cNvSpPr>
            <a:spLocks noGrp="1"/>
          </p:cNvSpPr>
          <p:nvPr>
            <p:ph type="dt" sz="half" idx="10"/>
          </p:nvPr>
        </p:nvSpPr>
        <p:spPr/>
        <p:txBody>
          <a:bodyPr/>
          <a:lstStyle/>
          <a:p>
            <a:fld id="{03F41C87-7AD9-4845-A077-840E4A0F3F06}" type="datetimeFigureOut">
              <a:rPr lang="en-US"/>
              <a:t>5/10/2026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cxnSp>
        <p:nvCxnSpPr>
          <p:cNvPr id="8" name="Straight Connector 7"/>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5340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3" y="381000"/>
            <a:ext cx="9829798" cy="1219200"/>
          </a:xfrm>
        </p:spPr>
        <p:txBody>
          <a:bodyPr/>
          <a:lstStyle>
            <a:lvl1pPr>
              <a:defRPr>
                <a:solidFill>
                  <a:schemeClr val="accent1">
                    <a:lumMod val="50000"/>
                  </a:schemeClr>
                </a:solidFill>
              </a:defRPr>
            </a:lvl1pPr>
          </a:lstStyle>
          <a:p>
            <a:r>
              <a:rPr lang="en-US"/>
              <a:t>Click to edit Master title style</a:t>
            </a:r>
            <a:endParaRPr/>
          </a:p>
        </p:txBody>
      </p:sp>
      <p:sp>
        <p:nvSpPr>
          <p:cNvPr id="3" name="Text Placeholder 2"/>
          <p:cNvSpPr>
            <a:spLocks noGrp="1"/>
          </p:cNvSpPr>
          <p:nvPr>
            <p:ph type="body" idx="1"/>
          </p:nvPr>
        </p:nvSpPr>
        <p:spPr>
          <a:xfrm>
            <a:off x="1522413" y="1828800"/>
            <a:ext cx="4800600" cy="838200"/>
          </a:xfrm>
        </p:spPr>
        <p:txBody>
          <a:bodyPr anchor="ctr">
            <a:noAutofit/>
          </a:bodyPr>
          <a:lstStyle>
            <a:lvl1pPr marL="0" indent="0">
              <a:spcBef>
                <a:spcPts val="0"/>
              </a:spcBef>
              <a:buNone/>
              <a:defRPr sz="2400" b="0" cap="none"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743200"/>
            <a:ext cx="4800600" cy="342582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551613" y="1828800"/>
            <a:ext cx="4800600" cy="838200"/>
          </a:xfrm>
        </p:spPr>
        <p:txBody>
          <a:bodyPr anchor="ctr">
            <a:noAutofit/>
          </a:bodyPr>
          <a:lstStyle>
            <a:lvl1pPr marL="0" indent="0">
              <a:spcBef>
                <a:spcPts val="0"/>
              </a:spcBef>
              <a:buNone/>
              <a:defRPr sz="2400" b="0" cap="none"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51613" y="2743200"/>
            <a:ext cx="4800600" cy="342582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a:t>Add a footer</a:t>
            </a:r>
          </a:p>
        </p:txBody>
      </p:sp>
      <p:sp>
        <p:nvSpPr>
          <p:cNvPr id="7" name="Date Placeholder 6"/>
          <p:cNvSpPr>
            <a:spLocks noGrp="1"/>
          </p:cNvSpPr>
          <p:nvPr>
            <p:ph type="dt" sz="half" idx="10"/>
          </p:nvPr>
        </p:nvSpPr>
        <p:spPr/>
        <p:txBody>
          <a:bodyPr/>
          <a:lstStyle/>
          <a:p>
            <a:fld id="{03F41C87-7AD9-4845-A077-840E4A0F3F06}" type="datetimeFigureOut">
              <a:rPr lang="en-US"/>
              <a:t>5/10/2026</a:t>
            </a:fld>
            <a:endParaRPr/>
          </a:p>
        </p:txBody>
      </p:sp>
      <p:sp>
        <p:nvSpPr>
          <p:cNvPr id="9" name="Slide Number Placeholder 8"/>
          <p:cNvSpPr>
            <a:spLocks noGrp="1"/>
          </p:cNvSpPr>
          <p:nvPr>
            <p:ph type="sldNum" sz="quarter" idx="12"/>
          </p:nvPr>
        </p:nvSpPr>
        <p:spPr/>
        <p:txBody>
          <a:bodyPr/>
          <a:lstStyle/>
          <a:p>
            <a:fld id="{2A013F82-EE5E-44EE-A61D-E31C6657F26F}" type="slidenum">
              <a:rPr/>
              <a:t>‹#›</a:t>
            </a:fld>
            <a:endParaRPr/>
          </a:p>
        </p:txBody>
      </p:sp>
      <p:cxnSp>
        <p:nvCxnSpPr>
          <p:cNvPr id="10" name="Straight Connector 9"/>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841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a:t>Add a footer</a:t>
            </a:r>
          </a:p>
        </p:txBody>
      </p:sp>
      <p:sp>
        <p:nvSpPr>
          <p:cNvPr id="3" name="Date Placeholder 2"/>
          <p:cNvSpPr>
            <a:spLocks noGrp="1"/>
          </p:cNvSpPr>
          <p:nvPr>
            <p:ph type="dt" sz="half" idx="10"/>
          </p:nvPr>
        </p:nvSpPr>
        <p:spPr/>
        <p:txBody>
          <a:bodyPr/>
          <a:lstStyle/>
          <a:p>
            <a:fld id="{03F41C87-7AD9-4845-A077-840E4A0F3F06}" type="datetimeFigureOut">
              <a:rPr lang="en-US"/>
              <a:t>5/10/2026</a:t>
            </a:fld>
            <a:endParaRPr/>
          </a:p>
        </p:txBody>
      </p:sp>
      <p:sp>
        <p:nvSpPr>
          <p:cNvPr id="5" name="Slide Number Placeholder 4"/>
          <p:cNvSpPr>
            <a:spLocks noGrp="1"/>
          </p:cNvSpPr>
          <p:nvPr>
            <p:ph type="sldNum" sz="quarter" idx="12"/>
          </p:nvPr>
        </p:nvSpPr>
        <p:spPr/>
        <p:txBody>
          <a:bodyPr/>
          <a:lstStyle/>
          <a:p>
            <a:fld id="{2A013F82-EE5E-44EE-A61D-E31C6657F26F}" type="slidenum">
              <a:rPr/>
              <a:t>‹#›</a:t>
            </a:fld>
            <a:endParaRPr/>
          </a:p>
        </p:txBody>
      </p:sp>
      <p:cxnSp>
        <p:nvCxnSpPr>
          <p:cNvPr id="6" name="Straight Connector 5"/>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63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Add a footer</a:t>
            </a:r>
          </a:p>
        </p:txBody>
      </p:sp>
      <p:sp>
        <p:nvSpPr>
          <p:cNvPr id="2" name="Date Placeholder 1"/>
          <p:cNvSpPr>
            <a:spLocks noGrp="1"/>
          </p:cNvSpPr>
          <p:nvPr>
            <p:ph type="dt" sz="half" idx="10"/>
          </p:nvPr>
        </p:nvSpPr>
        <p:spPr/>
        <p:txBody>
          <a:bodyPr/>
          <a:lstStyle/>
          <a:p>
            <a:fld id="{03F41C87-7AD9-4845-A077-840E4A0F3F06}" type="datetimeFigureOut">
              <a:rPr lang="en-US"/>
              <a:t>5/10/2026</a:t>
            </a:fld>
            <a:endParaRPr/>
          </a:p>
        </p:txBody>
      </p:sp>
      <p:sp>
        <p:nvSpPr>
          <p:cNvPr id="4" name="Slide Number Placeholder 3"/>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3607540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3" y="685800"/>
            <a:ext cx="4114800" cy="1925637"/>
          </a:xfrm>
        </p:spPr>
        <p:txBody>
          <a:bodyPr anchor="b">
            <a:noAutofit/>
          </a:bodyPr>
          <a:lstStyle>
            <a:lvl1pPr algn="l">
              <a:lnSpc>
                <a:spcPct val="80000"/>
              </a:lnSpc>
              <a:defRPr sz="4000" b="0">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idx="1"/>
          </p:nvPr>
        </p:nvSpPr>
        <p:spPr>
          <a:xfrm>
            <a:off x="6094414" y="685800"/>
            <a:ext cx="5257799"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522413" y="2895599"/>
            <a:ext cx="4114800" cy="1752601"/>
          </a:xfrm>
        </p:spPr>
        <p:txBody>
          <a:bodyPr>
            <a:normAutofit/>
          </a:bodyPr>
          <a:lstStyle>
            <a:lvl1pPr marL="0" indent="0">
              <a:lnSpc>
                <a:spcPct val="90000"/>
              </a:lnSpc>
              <a:spcBef>
                <a:spcPts val="18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Add a footer</a:t>
            </a:r>
          </a:p>
        </p:txBody>
      </p:sp>
      <p:sp>
        <p:nvSpPr>
          <p:cNvPr id="5" name="Date Placeholder 4"/>
          <p:cNvSpPr>
            <a:spLocks noGrp="1"/>
          </p:cNvSpPr>
          <p:nvPr>
            <p:ph type="dt" sz="half" idx="10"/>
          </p:nvPr>
        </p:nvSpPr>
        <p:spPr/>
        <p:txBody>
          <a:bodyPr/>
          <a:lstStyle/>
          <a:p>
            <a:fld id="{03F41C87-7AD9-4845-A077-840E4A0F3F06}" type="datetimeFigureOut">
              <a:rPr lang="en-US"/>
              <a:t>5/10/2026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cxnSp>
        <p:nvCxnSpPr>
          <p:cNvPr id="8" name="Straight Connector 7"/>
          <p:cNvCxnSpPr/>
          <p:nvPr/>
        </p:nvCxnSpPr>
        <p:spPr>
          <a:xfrm>
            <a:off x="1658936" y="2743200"/>
            <a:ext cx="3902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498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3" y="685800"/>
            <a:ext cx="4114800" cy="1925638"/>
          </a:xfrm>
        </p:spPr>
        <p:txBody>
          <a:bodyPr anchor="b">
            <a:normAutofit/>
          </a:bodyPr>
          <a:lstStyle>
            <a:lvl1pPr algn="l">
              <a:lnSpc>
                <a:spcPct val="80000"/>
              </a:lnSpc>
              <a:defRPr sz="4000" b="0" i="0" baseline="0">
                <a:solidFill>
                  <a:schemeClr val="accent1">
                    <a:lumMod val="50000"/>
                  </a:schemeClr>
                </a:solidFill>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6025925" y="-50118"/>
            <a:ext cx="6172198" cy="6857999"/>
          </a:xfrm>
          <a:solidFill>
            <a:schemeClr val="bg2"/>
          </a:solidFill>
          <a:effectLst>
            <a:outerShdw blurRad="152400" dist="50800" dir="10800000" algn="r" rotWithShape="0">
              <a:prstClr val="black">
                <a:alpha val="25000"/>
              </a:prstClr>
            </a:outerShdw>
          </a:effectLst>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1522413" y="2895599"/>
            <a:ext cx="4114800" cy="1752601"/>
          </a:xfrm>
        </p:spPr>
        <p:txBody>
          <a:bodyPr>
            <a:normAutofit/>
          </a:bodyPr>
          <a:lstStyle>
            <a:lvl1pPr marL="0" indent="0">
              <a:lnSpc>
                <a:spcPct val="90000"/>
              </a:lnSpc>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0" name="Straight Connector 9"/>
          <p:cNvCxnSpPr/>
          <p:nvPr/>
        </p:nvCxnSpPr>
        <p:spPr>
          <a:xfrm>
            <a:off x="1658936" y="2743200"/>
            <a:ext cx="3902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9172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5/10/2026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60095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23412" y="646112"/>
            <a:ext cx="1828801" cy="5522913"/>
          </a:xfrm>
        </p:spPr>
        <p:txBody>
          <a:bodyPr vert="eaVert"/>
          <a:lstStyle>
            <a:lvl1pPr>
              <a:defRPr>
                <a:solidFill>
                  <a:schemeClr val="accent1">
                    <a:lumMod val="50000"/>
                  </a:schemeClr>
                </a:solidFill>
              </a:defRPr>
            </a:lvl1pPr>
          </a:lstStyle>
          <a:p>
            <a:r>
              <a:rPr lang="en-US"/>
              <a:t>Click to edit Master title style</a:t>
            </a:r>
            <a:endParaRPr/>
          </a:p>
        </p:txBody>
      </p:sp>
      <p:sp>
        <p:nvSpPr>
          <p:cNvPr id="3" name="Vertical Text Placeholder 2"/>
          <p:cNvSpPr>
            <a:spLocks noGrp="1"/>
          </p:cNvSpPr>
          <p:nvPr>
            <p:ph type="body" orient="vert" idx="1"/>
          </p:nvPr>
        </p:nvSpPr>
        <p:spPr>
          <a:xfrm>
            <a:off x="1522412" y="646112"/>
            <a:ext cx="7620000" cy="55229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5/10/2026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7" name="Straight Connector 6"/>
          <p:cNvCxnSpPr/>
          <p:nvPr/>
        </p:nvCxnSpPr>
        <p:spPr>
          <a:xfrm>
            <a:off x="9371012" y="762000"/>
            <a:ext cx="0" cy="533400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903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3" y="381000"/>
            <a:ext cx="9829799" cy="12192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3" y="1981200"/>
            <a:ext cx="9829799" cy="41878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522413" y="6400800"/>
            <a:ext cx="5954834" cy="276228"/>
          </a:xfrm>
          <a:prstGeom prst="rect">
            <a:avLst/>
          </a:prstGeom>
        </p:spPr>
        <p:txBody>
          <a:bodyPr vert="horz" lIns="91440" tIns="45720" rIns="91440" bIns="45720" rtlCol="0" anchor="ctr"/>
          <a:lstStyle>
            <a:lvl1pPr algn="l">
              <a:defRPr sz="1100">
                <a:solidFill>
                  <a:schemeClr val="tx1"/>
                </a:solidFill>
              </a:defRPr>
            </a:lvl1pPr>
          </a:lstStyle>
          <a:p>
            <a:r>
              <a:rPr lang="en-US"/>
              <a:t>Add a footer</a:t>
            </a:r>
          </a:p>
        </p:txBody>
      </p:sp>
      <p:sp>
        <p:nvSpPr>
          <p:cNvPr id="4" name="Date Placeholder 3"/>
          <p:cNvSpPr>
            <a:spLocks noGrp="1"/>
          </p:cNvSpPr>
          <p:nvPr>
            <p:ph type="dt" sz="half" idx="2"/>
          </p:nvPr>
        </p:nvSpPr>
        <p:spPr>
          <a:xfrm>
            <a:off x="8228011" y="6400800"/>
            <a:ext cx="1548659" cy="276228"/>
          </a:xfrm>
          <a:prstGeom prst="rect">
            <a:avLst/>
          </a:prstGeom>
        </p:spPr>
        <p:txBody>
          <a:bodyPr vert="horz" lIns="91440" tIns="45720" rIns="91440" bIns="45720" rtlCol="0" anchor="ctr"/>
          <a:lstStyle>
            <a:lvl1pPr algn="r">
              <a:defRPr sz="1100">
                <a:solidFill>
                  <a:schemeClr val="tx1"/>
                </a:solidFill>
              </a:defRPr>
            </a:lvl1pPr>
          </a:lstStyle>
          <a:p>
            <a:fld id="{03F41C87-7AD9-4845-A077-840E4A0F3F06}" type="datetimeFigureOut">
              <a:rPr lang="en-US" smtClean="0"/>
              <a:pPr/>
              <a:t>5/10/2026</a:t>
            </a:fld>
            <a:endParaRPr lang="en-US"/>
          </a:p>
        </p:txBody>
      </p:sp>
      <p:sp>
        <p:nvSpPr>
          <p:cNvPr id="6" name="Slide Number Placeholder 5"/>
          <p:cNvSpPr>
            <a:spLocks noGrp="1"/>
          </p:cNvSpPr>
          <p:nvPr>
            <p:ph type="sldNum" sz="quarter" idx="4"/>
          </p:nvPr>
        </p:nvSpPr>
        <p:spPr>
          <a:xfrm>
            <a:off x="10285411" y="6400800"/>
            <a:ext cx="1066802" cy="276228"/>
          </a:xfrm>
          <a:prstGeom prst="rect">
            <a:avLst/>
          </a:prstGeom>
        </p:spPr>
        <p:txBody>
          <a:bodyPr vert="horz" lIns="91440" tIns="45720" rIns="91440" bIns="45720" rtlCol="0" anchor="ctr"/>
          <a:lstStyle>
            <a:lvl1pPr algn="r">
              <a:defRPr sz="1100">
                <a:solidFill>
                  <a:schemeClr val="tx1"/>
                </a:solidFill>
              </a:defRPr>
            </a:lvl1pPr>
          </a:lstStyle>
          <a:p>
            <a:fld id="{2A013F82-EE5E-44EE-A61D-E31C6657F26F}" type="slidenum">
              <a:rPr lang="en-US" smtClean="0"/>
              <a:pPr/>
              <a:t>‹#›</a:t>
            </a:fld>
            <a:endParaRPr lang="en-US"/>
          </a:p>
        </p:txBody>
      </p:sp>
      <p:pic>
        <p:nvPicPr>
          <p:cNvPr id="9" name="Picture 8"/>
          <p:cNvPicPr>
            <a:picLocks noChangeAspect="1"/>
          </p:cNvPicPr>
          <p:nvPr/>
        </p:nvPicPr>
        <p:blipFill rotWithShape="1">
          <a:blip r:embed="rId13" cstate="print">
            <a:extLst>
              <a:ext uri="{28A0092B-C50C-407E-A947-70E740481C1C}">
                <a14:useLocalDpi xmlns:a14="http://schemas.microsoft.com/office/drawing/2010/main" val="0"/>
              </a:ext>
            </a:extLst>
          </a:blip>
          <a:srcRect/>
          <a:stretch/>
        </p:blipFill>
        <p:spPr>
          <a:xfrm>
            <a:off x="1" y="0"/>
            <a:ext cx="1065213" cy="6858000"/>
          </a:xfrm>
          <a:prstGeom prst="rect">
            <a:avLst/>
          </a:prstGeom>
        </p:spPr>
      </p:pic>
      <p:sp>
        <p:nvSpPr>
          <p:cNvPr id="10" name="Rectangle 9"/>
          <p:cNvSpPr/>
          <p:nvPr/>
        </p:nvSpPr>
        <p:spPr>
          <a:xfrm>
            <a:off x="1" y="0"/>
            <a:ext cx="1065213" cy="6858000"/>
          </a:xfrm>
          <a:prstGeom prst="rect">
            <a:avLst/>
          </a:prstGeom>
          <a:gradFill flip="none" rotWithShape="1">
            <a:gsLst>
              <a:gs pos="75000">
                <a:schemeClr val="tx2">
                  <a:alpha val="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403059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p:titleStyle>
    <p:bodyStyle>
      <a:lvl1pPr marL="223838" indent="-223838" algn="l" defTabSz="914400" rtl="0" eaLnBrk="1" latinLnBrk="0" hangingPunct="1">
        <a:lnSpc>
          <a:spcPct val="90000"/>
        </a:lnSpc>
        <a:spcBef>
          <a:spcPts val="1800"/>
        </a:spcBef>
        <a:buClr>
          <a:schemeClr val="tx1">
            <a:lumMod val="90000"/>
            <a:lumOff val="10000"/>
          </a:schemeClr>
        </a:buClr>
        <a:buSzPct val="80000"/>
        <a:buFont typeface="Arial" pitchFamily="34" charset="0"/>
        <a:buChar char="•"/>
        <a:defRPr sz="2400" kern="1200">
          <a:solidFill>
            <a:schemeClr val="tx1"/>
          </a:solidFill>
          <a:latin typeface="+mn-lt"/>
          <a:ea typeface="+mn-ea"/>
          <a:cs typeface="+mn-cs"/>
        </a:defRPr>
      </a:lvl1pPr>
      <a:lvl2pPr marL="511175" indent="-228600" algn="l" defTabSz="914400" rtl="0" eaLnBrk="1" latinLnBrk="0" hangingPunct="1">
        <a:lnSpc>
          <a:spcPct val="90000"/>
        </a:lnSpc>
        <a:spcBef>
          <a:spcPts val="1000"/>
        </a:spcBef>
        <a:buClr>
          <a:schemeClr val="tx1">
            <a:lumMod val="90000"/>
            <a:lumOff val="10000"/>
          </a:schemeClr>
        </a:buClr>
        <a:buSzPct val="80000"/>
        <a:buFont typeface="Arial" pitchFamily="34" charset="0"/>
        <a:buChar char="•"/>
        <a:defRPr sz="2000" kern="1200">
          <a:solidFill>
            <a:schemeClr val="tx1"/>
          </a:solidFill>
          <a:latin typeface="+mn-lt"/>
          <a:ea typeface="+mn-ea"/>
          <a:cs typeface="+mn-cs"/>
        </a:defRPr>
      </a:lvl2pPr>
      <a:lvl3pPr marL="685800"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800" kern="1200">
          <a:solidFill>
            <a:schemeClr val="tx1"/>
          </a:solidFill>
          <a:latin typeface="+mn-lt"/>
          <a:ea typeface="+mn-ea"/>
          <a:cs typeface="+mn-cs"/>
        </a:defRPr>
      </a:lvl3pPr>
      <a:lvl4pPr marL="860425"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4pPr>
      <a:lvl5pPr marL="1033463" indent="-173038"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pxhere.com/en/photo/1281983" TargetMode="External"/><Relationship Id="rId2" Type="http://schemas.openxmlformats.org/officeDocument/2006/relationships/image" Target="../media/image4.jpeg"/><Relationship Id="rId1" Type="http://schemas.openxmlformats.org/officeDocument/2006/relationships/slideLayout" Target="../slideLayouts/slideLayout4.xml"/><Relationship Id="rId5" Type="http://schemas.openxmlformats.org/officeDocument/2006/relationships/image" Target="../media/image6.jpg"/><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hyperlink" Target="https://en.wikipedia.org/wiki/Accounting" TargetMode="External"/><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3" Type="http://schemas.openxmlformats.org/officeDocument/2006/relationships/hyperlink" Target="https://www.flickr.com/photos/imtfi/5867465135" TargetMode="External"/><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pixabay.com/en/dollar-currency-money-us-dollar-2584988/" TargetMode="External"/><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hyperlink" Target="http://www.stockpicturesforeveryone.com/2012/07/british-pound-or-gbp-images-and.html" TargetMode="Externa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en.uncyclopedia.co/wiki/Johnny_Foreigner" TargetMode="External"/><Relationship Id="rId2" Type="http://schemas.openxmlformats.org/officeDocument/2006/relationships/image" Target="../media/image19.jpg"/><Relationship Id="rId1" Type="http://schemas.openxmlformats.org/officeDocument/2006/relationships/slideLayout" Target="../slideLayouts/slideLayout2.xml"/><Relationship Id="rId5" Type="http://schemas.openxmlformats.org/officeDocument/2006/relationships/hyperlink" Target="https://pixabay.com/en/pound-coins-currency-bank-note-414418/" TargetMode="External"/><Relationship Id="rId4" Type="http://schemas.openxmlformats.org/officeDocument/2006/relationships/image" Target="../media/image20.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en.uncyclopedia.co/wiki/Johnny_Foreigner" TargetMode="External"/><Relationship Id="rId2" Type="http://schemas.openxmlformats.org/officeDocument/2006/relationships/image" Target="../media/image19.jpg"/><Relationship Id="rId1" Type="http://schemas.openxmlformats.org/officeDocument/2006/relationships/slideLayout" Target="../slideLayouts/slideLayout2.xml"/><Relationship Id="rId5" Type="http://schemas.openxmlformats.org/officeDocument/2006/relationships/hyperlink" Target="https://pixabay.com/en/pound-coins-currency-bank-note-414418/" TargetMode="External"/><Relationship Id="rId4" Type="http://schemas.openxmlformats.org/officeDocument/2006/relationships/image" Target="../media/image20.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sz="3200" dirty="0">
                <a:latin typeface="National semibold" panose="02000503000000020004"/>
              </a:rPr>
              <a:t>Digital tokens and the functions of money</a:t>
            </a:r>
          </a:p>
        </p:txBody>
      </p:sp>
      <p:sp>
        <p:nvSpPr>
          <p:cNvPr id="6" name="Title 1">
            <a:extLst>
              <a:ext uri="{FF2B5EF4-FFF2-40B4-BE49-F238E27FC236}">
                <a16:creationId xmlns:a16="http://schemas.microsoft.com/office/drawing/2014/main" id="{A13F27D6-7D3A-6073-B1B3-AEBB8329CECD}"/>
              </a:ext>
            </a:extLst>
          </p:cNvPr>
          <p:cNvSpPr>
            <a:spLocks noGrp="1"/>
          </p:cNvSpPr>
          <p:nvPr>
            <p:ph type="ctrTitle"/>
          </p:nvPr>
        </p:nvSpPr>
        <p:spPr>
          <a:xfrm>
            <a:off x="1520823" y="1600200"/>
            <a:ext cx="6290765" cy="3048000"/>
          </a:xfrm>
        </p:spPr>
        <p:txBody>
          <a:bodyPr/>
          <a:lstStyle/>
          <a:p>
            <a:r>
              <a:rPr lang="en-US" sz="5400" b="1" dirty="0">
                <a:latin typeface="National semibold" panose="02000503000000020004"/>
              </a:rPr>
              <a:t>Introduction to </a:t>
            </a:r>
            <a:br>
              <a:rPr lang="en-US" sz="5400" b="1" dirty="0">
                <a:latin typeface="National semibold" panose="02000503000000020004"/>
              </a:rPr>
            </a:br>
            <a:r>
              <a:rPr lang="en-US" sz="5400" b="1" dirty="0">
                <a:latin typeface="National semibold" panose="02000503000000020004"/>
              </a:rPr>
              <a:t>Decentralized Finance </a:t>
            </a:r>
            <a:br>
              <a:rPr lang="en-US" sz="5400" b="1" dirty="0">
                <a:latin typeface="National semibold" panose="02000503000000020004"/>
              </a:rPr>
            </a:br>
            <a:endParaRPr lang="en-US" sz="4800" dirty="0"/>
          </a:p>
        </p:txBody>
      </p:sp>
    </p:spTree>
    <p:extLst>
      <p:ext uri="{BB962C8B-B14F-4D97-AF65-F5344CB8AC3E}">
        <p14:creationId xmlns:p14="http://schemas.microsoft.com/office/powerpoint/2010/main" val="935251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dirty="0">
                <a:latin typeface="National semibold" panose="02000503000000020004"/>
              </a:rPr>
              <a:t>What is a digital token?</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fontScale="92500" lnSpcReduction="10000"/>
          </a:bodyPr>
          <a:lstStyle/>
          <a:p>
            <a:r>
              <a:rPr lang="en-US" dirty="0">
                <a:latin typeface="National semibold" panose="02000503000000020004"/>
              </a:rPr>
              <a:t>A digital token is an object that is stored and traded in digital form. </a:t>
            </a:r>
          </a:p>
          <a:p>
            <a:r>
              <a:rPr lang="en-US" dirty="0">
                <a:latin typeface="National semibold" panose="02000503000000020004"/>
              </a:rPr>
              <a:t>A more precise definition can be provided after classifying them in three categories:</a:t>
            </a:r>
          </a:p>
          <a:p>
            <a:pPr marL="744537" lvl="1" indent="-457200">
              <a:buFont typeface="+mj-lt"/>
              <a:buAutoNum type="arabicPeriod"/>
            </a:pPr>
            <a:r>
              <a:rPr lang="en-US" b="1" u="sng" dirty="0">
                <a:latin typeface="National semibold" panose="02000503000000020004"/>
              </a:rPr>
              <a:t>Payment tokens</a:t>
            </a:r>
            <a:r>
              <a:rPr lang="en-US" dirty="0">
                <a:latin typeface="National semibold" panose="02000503000000020004"/>
              </a:rPr>
              <a:t>: They are a form of digital currency that act as a medium of exchange and as a store of value. Mathematical properties and governance mechanisms are used to generate new units (supply) and verify the transfer of units. </a:t>
            </a:r>
          </a:p>
          <a:p>
            <a:pPr marL="744537" lvl="1" indent="-457200">
              <a:buFont typeface="+mj-lt"/>
              <a:buAutoNum type="arabicPeriod"/>
            </a:pPr>
            <a:r>
              <a:rPr lang="en-US" b="1" u="sng" dirty="0">
                <a:latin typeface="National semibold" panose="02000503000000020004"/>
              </a:rPr>
              <a:t>Utility tokens</a:t>
            </a:r>
            <a:r>
              <a:rPr lang="en-US" dirty="0">
                <a:latin typeface="National semibold" panose="02000503000000020004"/>
              </a:rPr>
              <a:t>: They enable their holders to interact with or gain utility from a platform. They are similar to those used in an amusement park. They can be used to receive well defined services. </a:t>
            </a:r>
          </a:p>
          <a:p>
            <a:pPr marL="744537" lvl="1" indent="-457200">
              <a:buFont typeface="+mj-lt"/>
              <a:buAutoNum type="arabicPeriod"/>
            </a:pPr>
            <a:r>
              <a:rPr lang="en-US" b="1" u="sng" dirty="0">
                <a:latin typeface="National semibold" panose="02000503000000020004"/>
              </a:rPr>
              <a:t>Asset or security tokens</a:t>
            </a:r>
            <a:r>
              <a:rPr lang="en-US" dirty="0">
                <a:latin typeface="National semibold" panose="02000503000000020004"/>
              </a:rPr>
              <a:t>: They are linked to and constitute an economic claim to a real-world asset. Security token holders are entitled to certain rights and privileges of the underlying property. An example of privileges is the payment of dividends, proceeds from the sale of the underlying asset, etc. </a:t>
            </a:r>
          </a:p>
          <a:p>
            <a:r>
              <a:rPr lang="en-US" dirty="0">
                <a:latin typeface="National semibold" panose="02000503000000020004"/>
              </a:rPr>
              <a:t>Payment tokens are the least regulated while security tokens tend to be the most regulated. </a:t>
            </a:r>
          </a:p>
        </p:txBody>
      </p:sp>
    </p:spTree>
    <p:extLst>
      <p:ext uri="{BB962C8B-B14F-4D97-AF65-F5344CB8AC3E}">
        <p14:creationId xmlns:p14="http://schemas.microsoft.com/office/powerpoint/2010/main" val="3163500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dirty="0">
                <a:latin typeface="National semibold" panose="02000503000000020004"/>
              </a:rPr>
              <a:t>Tokenization</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a:bodyPr>
          <a:lstStyle/>
          <a:p>
            <a:r>
              <a:rPr lang="en-US" dirty="0">
                <a:latin typeface="National semibold" panose="02000503000000020004"/>
              </a:rPr>
              <a:t>Process whereby the rights to a real-world asset are converted into a </a:t>
            </a:r>
            <a:r>
              <a:rPr lang="en-US" b="1" u="sng" dirty="0">
                <a:latin typeface="National semibold" panose="02000503000000020004"/>
              </a:rPr>
              <a:t>digital security</a:t>
            </a:r>
            <a:r>
              <a:rPr lang="en-US" dirty="0">
                <a:latin typeface="National semibold" panose="02000503000000020004"/>
              </a:rPr>
              <a:t> that is housed, subdivided, and traded on a blockchain system. </a:t>
            </a:r>
          </a:p>
          <a:p>
            <a:r>
              <a:rPr lang="en-US" dirty="0">
                <a:latin typeface="National semibold" panose="02000503000000020004"/>
              </a:rPr>
              <a:t>Through this process, the ownership of the asset is digitally linked and tracked through the token.   </a:t>
            </a:r>
          </a:p>
          <a:p>
            <a:r>
              <a:rPr lang="en-US" dirty="0">
                <a:latin typeface="National semibold" panose="02000503000000020004"/>
              </a:rPr>
              <a:t>Tokenization does not change the nature of the asset itself but rather enhances the way the ownership is tracked, managed and transferred. </a:t>
            </a:r>
          </a:p>
        </p:txBody>
      </p:sp>
    </p:spTree>
    <p:extLst>
      <p:ext uri="{BB962C8B-B14F-4D97-AF65-F5344CB8AC3E}">
        <p14:creationId xmlns:p14="http://schemas.microsoft.com/office/powerpoint/2010/main" val="594513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D44EF-8293-0D2C-978E-691AB9DB2EBC}"/>
              </a:ext>
            </a:extLst>
          </p:cNvPr>
          <p:cNvSpPr>
            <a:spLocks noGrp="1"/>
          </p:cNvSpPr>
          <p:nvPr>
            <p:ph type="title"/>
          </p:nvPr>
        </p:nvSpPr>
        <p:spPr>
          <a:xfrm>
            <a:off x="1249218" y="2597202"/>
            <a:ext cx="9829799" cy="1219200"/>
          </a:xfrm>
        </p:spPr>
        <p:txBody>
          <a:bodyPr anchor="ctr">
            <a:normAutofit/>
          </a:bodyPr>
          <a:lstStyle/>
          <a:p>
            <a:pPr algn="ctr"/>
            <a:r>
              <a:rPr lang="en-US" sz="5400" b="1">
                <a:latin typeface="National semibold" panose="02000503000000020004"/>
              </a:rPr>
              <a:t>Payment </a:t>
            </a:r>
            <a:r>
              <a:rPr lang="en-US" sz="5400" b="1" dirty="0">
                <a:latin typeface="National semibold" panose="02000503000000020004"/>
              </a:rPr>
              <a:t>tokens</a:t>
            </a:r>
          </a:p>
        </p:txBody>
      </p:sp>
    </p:spTree>
    <p:extLst>
      <p:ext uri="{BB962C8B-B14F-4D97-AF65-F5344CB8AC3E}">
        <p14:creationId xmlns:p14="http://schemas.microsoft.com/office/powerpoint/2010/main" val="1312533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674812" y="381000"/>
            <a:ext cx="9677400" cy="1219200"/>
          </a:xfrm>
        </p:spPr>
        <p:txBody>
          <a:bodyPr anchor="ctr">
            <a:normAutofit/>
          </a:bodyPr>
          <a:lstStyle/>
          <a:p>
            <a:r>
              <a:rPr lang="en-US" sz="4000" b="1" dirty="0">
                <a:latin typeface="National semibold" panose="02000503000000020004"/>
              </a:rPr>
              <a:t>What is money?</a:t>
            </a:r>
          </a:p>
        </p:txBody>
      </p:sp>
      <p:sp>
        <p:nvSpPr>
          <p:cNvPr id="4" name="Rectangle 3">
            <a:extLst>
              <a:ext uri="{FF2B5EF4-FFF2-40B4-BE49-F238E27FC236}">
                <a16:creationId xmlns:a16="http://schemas.microsoft.com/office/drawing/2014/main" id="{31F25BA7-3CBF-4684-B7E8-E943A458A465}"/>
              </a:ext>
            </a:extLst>
          </p:cNvPr>
          <p:cNvSpPr>
            <a:spLocks noGrp="1" noChangeArrowheads="1"/>
          </p:cNvSpPr>
          <p:nvPr>
            <p:ph idx="1"/>
          </p:nvPr>
        </p:nvSpPr>
        <p:spPr>
          <a:xfrm>
            <a:off x="2513013" y="2362200"/>
            <a:ext cx="7924799" cy="2362200"/>
          </a:xfrm>
          <a:solidFill>
            <a:schemeClr val="accent1">
              <a:lumMod val="20000"/>
              <a:lumOff val="80000"/>
            </a:schemeClr>
          </a:solidFill>
          <a:ln w="38100">
            <a:solidFill>
              <a:schemeClr val="tx1"/>
            </a:solidFill>
          </a:ln>
        </p:spPr>
        <p:txBody>
          <a:bodyPr>
            <a:noAutofit/>
          </a:bodyPr>
          <a:lstStyle/>
          <a:p>
            <a:pPr marL="0" indent="0" eaLnBrk="1" hangingPunct="1">
              <a:buNone/>
            </a:pPr>
            <a:endParaRPr lang="en-US" altLang="en-US" sz="800" dirty="0">
              <a:latin typeface="National Semibold" panose="02000503000000020004" pitchFamily="50" charset="0"/>
              <a:ea typeface="National Semibold" panose="02000503000000020004" pitchFamily="50" charset="0"/>
            </a:endParaRPr>
          </a:p>
          <a:p>
            <a:pPr marL="0" indent="0" eaLnBrk="1" hangingPunct="1">
              <a:spcBef>
                <a:spcPts val="0"/>
              </a:spcBef>
              <a:buNone/>
            </a:pPr>
            <a:r>
              <a:rPr lang="en-US" altLang="en-US" sz="3200" b="1" dirty="0">
                <a:latin typeface="National semibold" panose="02000503000000020004"/>
                <a:ea typeface="National Semibold" panose="02000503000000020004" pitchFamily="50" charset="0"/>
              </a:rPr>
              <a:t>Money</a:t>
            </a:r>
            <a:r>
              <a:rPr lang="en-US" altLang="en-US" sz="3200" dirty="0">
                <a:latin typeface="National semibold" panose="02000503000000020004"/>
                <a:ea typeface="National Semibold" panose="02000503000000020004" pitchFamily="50" charset="0"/>
              </a:rPr>
              <a:t> is:</a:t>
            </a:r>
          </a:p>
          <a:p>
            <a:pPr marL="287337" lvl="1" indent="0">
              <a:lnSpc>
                <a:spcPct val="150000"/>
              </a:lnSpc>
              <a:buNone/>
            </a:pPr>
            <a:r>
              <a:rPr lang="en-US" sz="3200" dirty="0">
                <a:latin typeface="National semibold" panose="02000503000000020004"/>
              </a:rPr>
              <a:t>Any asset that is widely used and accepted as payment</a:t>
            </a:r>
            <a:r>
              <a:rPr lang="en-US" altLang="en-US" sz="3200" dirty="0">
                <a:latin typeface="National semibold" panose="02000503000000020004"/>
                <a:ea typeface="National Semibold" panose="02000503000000020004" pitchFamily="50" charset="0"/>
              </a:rPr>
              <a:t>.</a:t>
            </a:r>
          </a:p>
        </p:txBody>
      </p:sp>
    </p:spTree>
    <p:extLst>
      <p:ext uri="{BB962C8B-B14F-4D97-AF65-F5344CB8AC3E}">
        <p14:creationId xmlns:p14="http://schemas.microsoft.com/office/powerpoint/2010/main" val="164219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522413" y="381000"/>
            <a:ext cx="9829798" cy="1219200"/>
          </a:xfrm>
        </p:spPr>
        <p:txBody>
          <a:bodyPr anchor="ctr">
            <a:normAutofit/>
          </a:bodyPr>
          <a:lstStyle/>
          <a:p>
            <a:r>
              <a:rPr lang="en-US" altLang="en-US" b="1" dirty="0">
                <a:latin typeface="National semibold" panose="02000503000000020004"/>
              </a:rPr>
              <a:t>What are the functions of money?</a:t>
            </a:r>
          </a:p>
        </p:txBody>
      </p:sp>
      <p:sp>
        <p:nvSpPr>
          <p:cNvPr id="5123" name="Rectangle 3"/>
          <p:cNvSpPr>
            <a:spLocks noGrp="1" noChangeArrowheads="1"/>
          </p:cNvSpPr>
          <p:nvPr>
            <p:ph sz="half" idx="1"/>
          </p:nvPr>
        </p:nvSpPr>
        <p:spPr>
          <a:xfrm>
            <a:off x="1488168" y="1984248"/>
            <a:ext cx="4800600" cy="4187952"/>
          </a:xfrm>
        </p:spPr>
        <p:txBody>
          <a:bodyPr>
            <a:normAutofit/>
          </a:bodyPr>
          <a:lstStyle/>
          <a:p>
            <a:pPr marL="282575" lvl="1" indent="0">
              <a:buNone/>
              <a:defRPr/>
            </a:pPr>
            <a:endParaRPr lang="en-US" sz="2800" dirty="0">
              <a:latin typeface="National semibold" panose="02000503000000020004"/>
            </a:endParaRPr>
          </a:p>
          <a:p>
            <a:pPr marL="739775" lvl="1" indent="-457200">
              <a:buFont typeface="+mj-lt"/>
              <a:buAutoNum type="arabicPeriod"/>
              <a:defRPr/>
            </a:pPr>
            <a:r>
              <a:rPr lang="en-US" sz="2800" dirty="0">
                <a:latin typeface="National semibold" panose="02000503000000020004"/>
              </a:rPr>
              <a:t>Medium of exchange</a:t>
            </a:r>
          </a:p>
          <a:p>
            <a:pPr marL="739775" lvl="1" indent="-457200">
              <a:buFont typeface="+mj-lt"/>
              <a:buAutoNum type="arabicPeriod"/>
              <a:defRPr/>
            </a:pPr>
            <a:endParaRPr lang="en-US" sz="2800" dirty="0">
              <a:latin typeface="National semibold" panose="02000503000000020004"/>
            </a:endParaRPr>
          </a:p>
          <a:p>
            <a:pPr marL="282575" lvl="1" indent="0">
              <a:buNone/>
              <a:defRPr/>
            </a:pPr>
            <a:endParaRPr lang="en-US" sz="2800" dirty="0">
              <a:latin typeface="National semibold" panose="02000503000000020004"/>
            </a:endParaRPr>
          </a:p>
        </p:txBody>
      </p:sp>
      <p:sp>
        <p:nvSpPr>
          <p:cNvPr id="5" name="Arrow: Right 4">
            <a:extLst>
              <a:ext uri="{FF2B5EF4-FFF2-40B4-BE49-F238E27FC236}">
                <a16:creationId xmlns:a16="http://schemas.microsoft.com/office/drawing/2014/main" id="{468FDF55-A520-4765-8119-69531607CA05}"/>
              </a:ext>
            </a:extLst>
          </p:cNvPr>
          <p:cNvSpPr/>
          <p:nvPr/>
        </p:nvSpPr>
        <p:spPr>
          <a:xfrm>
            <a:off x="7792209" y="2779812"/>
            <a:ext cx="978408" cy="355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erson wearing a suit and tie&#10;&#10;Description automatically generated">
            <a:extLst>
              <a:ext uri="{FF2B5EF4-FFF2-40B4-BE49-F238E27FC236}">
                <a16:creationId xmlns:a16="http://schemas.microsoft.com/office/drawing/2014/main" id="{0268B8BC-64FE-4B80-85B5-4E5CF1D0C2A8}"/>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173014" y="2293040"/>
            <a:ext cx="1943100" cy="1295400"/>
          </a:xfrm>
          <a:prstGeom prst="rect">
            <a:avLst/>
          </a:prstGeom>
        </p:spPr>
      </p:pic>
      <p:sp>
        <p:nvSpPr>
          <p:cNvPr id="17" name="Arrow: Right 16">
            <a:extLst>
              <a:ext uri="{FF2B5EF4-FFF2-40B4-BE49-F238E27FC236}">
                <a16:creationId xmlns:a16="http://schemas.microsoft.com/office/drawing/2014/main" id="{0700E29A-FC6A-45D8-B3BC-9D262EEB7261}"/>
              </a:ext>
            </a:extLst>
          </p:cNvPr>
          <p:cNvSpPr/>
          <p:nvPr/>
        </p:nvSpPr>
        <p:spPr>
          <a:xfrm>
            <a:off x="7923212" y="4800600"/>
            <a:ext cx="978408" cy="3559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CCFF51E-EA7D-0151-53F4-7C20B4A09F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9506" y="2138362"/>
            <a:ext cx="2202622" cy="1743075"/>
          </a:xfrm>
          <a:prstGeom prst="rect">
            <a:avLst/>
          </a:prstGeom>
        </p:spPr>
      </p:pic>
      <p:pic>
        <p:nvPicPr>
          <p:cNvPr id="6" name="Picture 5">
            <a:extLst>
              <a:ext uri="{FF2B5EF4-FFF2-40B4-BE49-F238E27FC236}">
                <a16:creationId xmlns:a16="http://schemas.microsoft.com/office/drawing/2014/main" id="{B6EBD80E-8F88-5680-E4BF-7184E5AD70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9506" y="4089339"/>
            <a:ext cx="2202622" cy="1743075"/>
          </a:xfrm>
          <a:prstGeom prst="rect">
            <a:avLst/>
          </a:prstGeom>
        </p:spPr>
      </p:pic>
      <p:pic>
        <p:nvPicPr>
          <p:cNvPr id="9" name="Picture 8">
            <a:extLst>
              <a:ext uri="{FF2B5EF4-FFF2-40B4-BE49-F238E27FC236}">
                <a16:creationId xmlns:a16="http://schemas.microsoft.com/office/drawing/2014/main" id="{6DC38F42-50FC-8A1F-2B75-1727785EF81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73013" y="4494746"/>
            <a:ext cx="1943101" cy="129540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uiExpand="1" build="p"/>
      <p:bldP spid="5"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522413" y="381000"/>
            <a:ext cx="9829798" cy="1219200"/>
          </a:xfrm>
        </p:spPr>
        <p:txBody>
          <a:bodyPr anchor="ctr">
            <a:normAutofit/>
          </a:bodyPr>
          <a:lstStyle/>
          <a:p>
            <a:r>
              <a:rPr lang="en-US" altLang="en-US" b="1" dirty="0">
                <a:latin typeface="National semibold"/>
              </a:rPr>
              <a:t>What are the functions of money?</a:t>
            </a:r>
          </a:p>
        </p:txBody>
      </p:sp>
      <p:sp>
        <p:nvSpPr>
          <p:cNvPr id="5123" name="Rectangle 3"/>
          <p:cNvSpPr>
            <a:spLocks noGrp="1" noChangeArrowheads="1"/>
          </p:cNvSpPr>
          <p:nvPr>
            <p:ph sz="half" idx="1"/>
          </p:nvPr>
        </p:nvSpPr>
        <p:spPr>
          <a:xfrm>
            <a:off x="1488168" y="1984248"/>
            <a:ext cx="4800600" cy="4187952"/>
          </a:xfrm>
        </p:spPr>
        <p:txBody>
          <a:bodyPr>
            <a:normAutofit/>
          </a:bodyPr>
          <a:lstStyle/>
          <a:p>
            <a:pPr marL="739775" lvl="1" indent="-457200">
              <a:buFont typeface="+mj-lt"/>
              <a:buAutoNum type="arabicPeriod"/>
              <a:defRPr/>
            </a:pPr>
            <a:endParaRPr lang="en-US" sz="2800" dirty="0">
              <a:latin typeface="National semibold"/>
            </a:endParaRPr>
          </a:p>
          <a:p>
            <a:pPr marL="739775" lvl="1" indent="-457200">
              <a:buFont typeface="+mj-lt"/>
              <a:buAutoNum type="arabicPeriod"/>
              <a:defRPr/>
            </a:pPr>
            <a:r>
              <a:rPr lang="en-US" sz="2800" dirty="0">
                <a:latin typeface="National semibold"/>
              </a:rPr>
              <a:t>Medium of exchange</a:t>
            </a:r>
          </a:p>
          <a:p>
            <a:pPr marL="739775" lvl="1" indent="-457200">
              <a:buFont typeface="+mj-lt"/>
              <a:buAutoNum type="arabicPeriod"/>
              <a:defRPr/>
            </a:pPr>
            <a:endParaRPr lang="en-US" sz="2800" dirty="0">
              <a:latin typeface="National semibold"/>
            </a:endParaRPr>
          </a:p>
          <a:p>
            <a:pPr marL="739775" lvl="1" indent="-457200">
              <a:buFont typeface="+mj-lt"/>
              <a:buAutoNum type="arabicPeriod"/>
              <a:defRPr/>
            </a:pPr>
            <a:endParaRPr lang="en-US" sz="2800" dirty="0">
              <a:latin typeface="National semibold"/>
            </a:endParaRPr>
          </a:p>
          <a:p>
            <a:pPr marL="739775" lvl="1" indent="-457200">
              <a:buFont typeface="+mj-lt"/>
              <a:buAutoNum type="arabicPeriod"/>
              <a:defRPr/>
            </a:pPr>
            <a:r>
              <a:rPr lang="en-US" sz="2800" dirty="0">
                <a:latin typeface="National semibold"/>
              </a:rPr>
              <a:t>Unit of account</a:t>
            </a:r>
          </a:p>
          <a:p>
            <a:pPr marL="739775" lvl="1" indent="-457200">
              <a:buFont typeface="+mj-lt"/>
              <a:buAutoNum type="arabicPeriod"/>
              <a:defRPr/>
            </a:pPr>
            <a:endParaRPr lang="en-US" sz="2800" dirty="0">
              <a:latin typeface="National semibold"/>
            </a:endParaRPr>
          </a:p>
          <a:p>
            <a:pPr marL="739775" lvl="1" indent="-457200">
              <a:buFont typeface="+mj-lt"/>
              <a:buAutoNum type="arabicPeriod"/>
              <a:defRPr/>
            </a:pPr>
            <a:endParaRPr lang="en-US" sz="2800" dirty="0">
              <a:latin typeface="National semibold"/>
            </a:endParaRPr>
          </a:p>
        </p:txBody>
      </p:sp>
      <p:pic>
        <p:nvPicPr>
          <p:cNvPr id="3" name="Picture 2" descr="A picture containing wooden, table&#10;&#10;Description automatically generated">
            <a:extLst>
              <a:ext uri="{FF2B5EF4-FFF2-40B4-BE49-F238E27FC236}">
                <a16:creationId xmlns:a16="http://schemas.microsoft.com/office/drawing/2014/main" id="{180D4911-C83E-44C4-8630-376D6F754767}"/>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370592" y="4371410"/>
            <a:ext cx="3981619" cy="2090350"/>
          </a:xfrm>
          <a:prstGeom prst="rect">
            <a:avLst/>
          </a:prstGeom>
        </p:spPr>
      </p:pic>
      <p:pic>
        <p:nvPicPr>
          <p:cNvPr id="4" name="Picture 3">
            <a:extLst>
              <a:ext uri="{FF2B5EF4-FFF2-40B4-BE49-F238E27FC236}">
                <a16:creationId xmlns:a16="http://schemas.microsoft.com/office/drawing/2014/main" id="{E8B1BB64-6708-9C9A-63BC-CB19BA7DCF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37930" y="2114267"/>
            <a:ext cx="3289300" cy="1743075"/>
          </a:xfrm>
          <a:prstGeom prst="rect">
            <a:avLst/>
          </a:prstGeom>
        </p:spPr>
      </p:pic>
    </p:spTree>
    <p:extLst>
      <p:ext uri="{BB962C8B-B14F-4D97-AF65-F5344CB8AC3E}">
        <p14:creationId xmlns:p14="http://schemas.microsoft.com/office/powerpoint/2010/main" val="1671835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522413" y="381000"/>
            <a:ext cx="9829798" cy="1219200"/>
          </a:xfrm>
        </p:spPr>
        <p:txBody>
          <a:bodyPr anchor="ctr">
            <a:normAutofit/>
          </a:bodyPr>
          <a:lstStyle/>
          <a:p>
            <a:r>
              <a:rPr lang="en-US" altLang="en-US" b="1" dirty="0">
                <a:latin typeface="National semibold"/>
              </a:rPr>
              <a:t>What are the functions of money?</a:t>
            </a:r>
          </a:p>
        </p:txBody>
      </p:sp>
      <p:sp>
        <p:nvSpPr>
          <p:cNvPr id="5123" name="Rectangle 3"/>
          <p:cNvSpPr>
            <a:spLocks noGrp="1" noChangeArrowheads="1"/>
          </p:cNvSpPr>
          <p:nvPr>
            <p:ph sz="half" idx="1"/>
          </p:nvPr>
        </p:nvSpPr>
        <p:spPr>
          <a:xfrm>
            <a:off x="1488168" y="1984248"/>
            <a:ext cx="4800600" cy="4187952"/>
          </a:xfrm>
        </p:spPr>
        <p:txBody>
          <a:bodyPr>
            <a:normAutofit/>
          </a:bodyPr>
          <a:lstStyle/>
          <a:p>
            <a:pPr marL="739775" lvl="1" indent="-457200">
              <a:buFont typeface="+mj-lt"/>
              <a:buAutoNum type="arabicPeriod"/>
              <a:defRPr/>
            </a:pPr>
            <a:endParaRPr lang="en-US" sz="2800" dirty="0">
              <a:latin typeface="National semibold"/>
            </a:endParaRPr>
          </a:p>
          <a:p>
            <a:pPr marL="739775" lvl="1" indent="-457200">
              <a:buFont typeface="+mj-lt"/>
              <a:buAutoNum type="arabicPeriod"/>
              <a:defRPr/>
            </a:pPr>
            <a:r>
              <a:rPr lang="en-US" sz="2800" dirty="0">
                <a:latin typeface="National semibold"/>
              </a:rPr>
              <a:t>Medium of exchange</a:t>
            </a:r>
          </a:p>
          <a:p>
            <a:pPr marL="739775" lvl="1" indent="-457200">
              <a:buFont typeface="+mj-lt"/>
              <a:buAutoNum type="arabicPeriod"/>
              <a:defRPr/>
            </a:pPr>
            <a:endParaRPr lang="en-US" sz="2800" dirty="0">
              <a:latin typeface="National semibold"/>
            </a:endParaRPr>
          </a:p>
          <a:p>
            <a:pPr marL="739775" lvl="1" indent="-457200">
              <a:buFont typeface="+mj-lt"/>
              <a:buAutoNum type="arabicPeriod"/>
              <a:defRPr/>
            </a:pPr>
            <a:endParaRPr lang="en-US" sz="2800" dirty="0">
              <a:latin typeface="National semibold"/>
            </a:endParaRPr>
          </a:p>
          <a:p>
            <a:pPr marL="739775" lvl="1" indent="-457200">
              <a:buFont typeface="+mj-lt"/>
              <a:buAutoNum type="arabicPeriod"/>
              <a:defRPr/>
            </a:pPr>
            <a:r>
              <a:rPr lang="en-US" sz="2800" dirty="0">
                <a:latin typeface="National semibold"/>
              </a:rPr>
              <a:t>Unit of account</a:t>
            </a:r>
          </a:p>
          <a:p>
            <a:pPr marL="739775" lvl="1" indent="-457200">
              <a:buFont typeface="+mj-lt"/>
              <a:buAutoNum type="arabicPeriod"/>
              <a:defRPr/>
            </a:pPr>
            <a:endParaRPr lang="en-US" sz="2800" dirty="0">
              <a:latin typeface="National semibold"/>
            </a:endParaRPr>
          </a:p>
          <a:p>
            <a:pPr marL="739775" lvl="1" indent="-457200">
              <a:buFont typeface="+mj-lt"/>
              <a:buAutoNum type="arabicPeriod"/>
              <a:defRPr/>
            </a:pPr>
            <a:endParaRPr lang="en-US" sz="2800" dirty="0">
              <a:latin typeface="National semibold"/>
            </a:endParaRPr>
          </a:p>
          <a:p>
            <a:pPr marL="739775" lvl="1" indent="-457200">
              <a:buFont typeface="+mj-lt"/>
              <a:buAutoNum type="arabicPeriod"/>
              <a:defRPr/>
            </a:pPr>
            <a:r>
              <a:rPr lang="en-US" sz="2800" dirty="0">
                <a:latin typeface="National semibold"/>
              </a:rPr>
              <a:t>Store of value</a:t>
            </a:r>
          </a:p>
        </p:txBody>
      </p:sp>
      <p:pic>
        <p:nvPicPr>
          <p:cNvPr id="16" name="Picture 15" descr="Text, letter&#10;&#10;Description automatically generated">
            <a:extLst>
              <a:ext uri="{FF2B5EF4-FFF2-40B4-BE49-F238E27FC236}">
                <a16:creationId xmlns:a16="http://schemas.microsoft.com/office/drawing/2014/main" id="{C31C183C-FF61-45C7-8BAC-4ABBE0AC5422}"/>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653212" y="3581400"/>
            <a:ext cx="3860800" cy="2895600"/>
          </a:xfrm>
          <a:prstGeom prst="rect">
            <a:avLst/>
          </a:prstGeom>
        </p:spPr>
      </p:pic>
    </p:spTree>
    <p:extLst>
      <p:ext uri="{BB962C8B-B14F-4D97-AF65-F5344CB8AC3E}">
        <p14:creationId xmlns:p14="http://schemas.microsoft.com/office/powerpoint/2010/main" val="2092610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chor="ctr"/>
          <a:lstStyle/>
          <a:p>
            <a:r>
              <a:rPr lang="en-US" altLang="en-US" b="1" dirty="0">
                <a:latin typeface="National semibold"/>
              </a:rPr>
              <a:t>The market for “traditional” money</a:t>
            </a:r>
            <a:endParaRPr lang="en-US" altLang="en-US" sz="2800" b="1" dirty="0">
              <a:latin typeface="National semibold"/>
            </a:endParaRPr>
          </a:p>
        </p:txBody>
      </p:sp>
      <p:sp>
        <p:nvSpPr>
          <p:cNvPr id="9219" name="Rectangle 3"/>
          <p:cNvSpPr>
            <a:spLocks noGrp="1" noChangeArrowheads="1"/>
          </p:cNvSpPr>
          <p:nvPr>
            <p:ph type="body" idx="4294967295"/>
          </p:nvPr>
        </p:nvSpPr>
        <p:spPr>
          <a:xfrm>
            <a:off x="1751012" y="2209800"/>
            <a:ext cx="8915400" cy="4111625"/>
          </a:xfrm>
        </p:spPr>
        <p:txBody>
          <a:bodyPr>
            <a:normAutofit fontScale="92500" lnSpcReduction="10000"/>
          </a:bodyPr>
          <a:lstStyle/>
          <a:p>
            <a:endParaRPr lang="en-US" altLang="en-US" dirty="0"/>
          </a:p>
          <a:p>
            <a:pPr marL="0" indent="0">
              <a:buNone/>
            </a:pPr>
            <a:r>
              <a:rPr lang="en-US" altLang="en-US" sz="3500" u="sng" dirty="0">
                <a:latin typeface="National semibold"/>
              </a:rPr>
              <a:t>Supply of money </a:t>
            </a:r>
          </a:p>
          <a:p>
            <a:pPr marL="744537" lvl="1" indent="-457200"/>
            <a:r>
              <a:rPr lang="en-US" altLang="en-US" sz="3100" dirty="0">
                <a:latin typeface="National semibold"/>
              </a:rPr>
              <a:t>Money in circulation controlled by the central bank.</a:t>
            </a:r>
          </a:p>
          <a:p>
            <a:pPr marL="0" indent="0">
              <a:buNone/>
            </a:pPr>
            <a:endParaRPr lang="en-US" altLang="en-US" sz="3500" dirty="0">
              <a:latin typeface="National semibold"/>
            </a:endParaRPr>
          </a:p>
          <a:p>
            <a:pPr marL="0" indent="0">
              <a:buNone/>
            </a:pPr>
            <a:r>
              <a:rPr lang="en-US" altLang="en-US" sz="3500" u="sng" dirty="0">
                <a:latin typeface="National semibold"/>
              </a:rPr>
              <a:t>Demand for money</a:t>
            </a:r>
            <a:r>
              <a:rPr lang="en-US" altLang="en-US" sz="3500" dirty="0">
                <a:latin typeface="National semibold"/>
              </a:rPr>
              <a:t> </a:t>
            </a:r>
          </a:p>
          <a:p>
            <a:pPr lvl="1"/>
            <a:r>
              <a:rPr lang="en-US" altLang="en-US" sz="3100" dirty="0">
                <a:latin typeface="National semibold"/>
              </a:rPr>
              <a:t>Money that the public would like to hold.</a:t>
            </a:r>
          </a:p>
          <a:p>
            <a:endParaRPr lang="en-US" altLang="en-US" dirty="0"/>
          </a:p>
          <a:p>
            <a:pPr marL="457200" lvl="1" indent="0">
              <a:buNone/>
            </a:pPr>
            <a:r>
              <a:rPr lang="en-US" altLang="en-US" dirty="0"/>
              <a:t>     </a:t>
            </a:r>
          </a:p>
        </p:txBody>
      </p:sp>
    </p:spTree>
    <p:extLst>
      <p:ext uri="{BB962C8B-B14F-4D97-AF65-F5344CB8AC3E}">
        <p14:creationId xmlns:p14="http://schemas.microsoft.com/office/powerpoint/2010/main" val="3279834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19">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219">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2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sp>
        <p:nvSpPr>
          <p:cNvPr id="8" name="Title 12">
            <a:extLst>
              <a:ext uri="{FF2B5EF4-FFF2-40B4-BE49-F238E27FC236}">
                <a16:creationId xmlns:a16="http://schemas.microsoft.com/office/drawing/2014/main" id="{33096AFE-3342-4A4F-AB91-093892287DCE}"/>
              </a:ext>
            </a:extLst>
          </p:cNvPr>
          <p:cNvSpPr txBox="1">
            <a:spLocks/>
          </p:cNvSpPr>
          <p:nvPr/>
        </p:nvSpPr>
        <p:spPr>
          <a:xfrm>
            <a:off x="1522413" y="152400"/>
            <a:ext cx="9829799" cy="1219200"/>
          </a:xfrm>
          <a:prstGeom prst="rect">
            <a:avLst/>
          </a:prstGeom>
        </p:spPr>
        <p:txBody>
          <a:bodyPr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sz="4000" b="1" dirty="0">
                <a:latin typeface="National semibold" panose="02000503000000020004"/>
              </a:rPr>
              <a:t>The quantity theory of money</a:t>
            </a:r>
            <a:endParaRPr lang="en-US" sz="4000" i="1" dirty="0">
              <a:latin typeface="National semibold" panose="02000503000000020004"/>
            </a:endParaRPr>
          </a:p>
        </p:txBody>
      </p:sp>
      <mc:AlternateContent xmlns:mc="http://schemas.openxmlformats.org/markup-compatibility/2006" xmlns:a14="http://schemas.microsoft.com/office/drawing/2010/main">
        <mc:Choice Requires="a14">
          <p:sp>
            <p:nvSpPr>
              <p:cNvPr id="6" name="Object 4">
                <a:extLst>
                  <a:ext uri="{FF2B5EF4-FFF2-40B4-BE49-F238E27FC236}">
                    <a16:creationId xmlns:a16="http://schemas.microsoft.com/office/drawing/2014/main" id="{BDDAF33B-5761-42EA-B819-9EC2AB66613E}"/>
                  </a:ext>
                </a:extLst>
              </p:cNvPr>
              <p:cNvSpPr txBox="1"/>
              <p:nvPr/>
            </p:nvSpPr>
            <p:spPr bwMode="auto">
              <a:xfrm>
                <a:off x="4628140" y="2330450"/>
                <a:ext cx="2881024" cy="1174750"/>
              </a:xfrm>
              <a:prstGeom prst="rect">
                <a:avLst/>
              </a:prstGeom>
              <a:solidFill>
                <a:schemeClr val="accent1">
                  <a:lumMod val="20000"/>
                  <a:lumOff val="80000"/>
                </a:schemeClr>
              </a:solidFill>
              <a:ln w="19050">
                <a:solidFill>
                  <a:srgbClr val="000000"/>
                </a:solidFill>
                <a:miter lim="800000"/>
                <a:headEnd/>
                <a:tailEnd/>
              </a:ln>
              <a:effectLst/>
            </p:spPr>
            <p:txBody>
              <a:bodyPr anchor="ctr">
                <a:noAutofit/>
              </a:bodyPr>
              <a:lstStyle/>
              <a:p>
                <a:pPr algn="ctr"/>
                <a14:m>
                  <m:oMathPara xmlns:m="http://schemas.openxmlformats.org/officeDocument/2006/math">
                    <m:oMathParaPr>
                      <m:jc m:val="left"/>
                    </m:oMathParaPr>
                    <m:oMath xmlns:m="http://schemas.openxmlformats.org/officeDocument/2006/math">
                      <m:r>
                        <a:rPr lang="en-US" sz="2800" b="0" i="1" smtClean="0">
                          <a:latin typeface="Cambria Math" panose="02040503050406030204" pitchFamily="18" charset="0"/>
                        </a:rPr>
                        <m:t>𝑀</m:t>
                      </m:r>
                      <m:r>
                        <a:rPr lang="en-US" sz="2800" i="1">
                          <a:latin typeface="Cambria Math" panose="02040503050406030204" pitchFamily="18" charset="0"/>
                        </a:rPr>
                        <m:t>=</m:t>
                      </m:r>
                      <m:r>
                        <a:rPr lang="en-US" sz="2800" b="0" i="1" smtClean="0">
                          <a:latin typeface="Cambria Math" panose="02040503050406030204" pitchFamily="18" charset="0"/>
                        </a:rPr>
                        <m:t>   </m:t>
                      </m:r>
                      <m:r>
                        <a:rPr lang="en-US" sz="2800" b="0" i="1" smtClean="0">
                          <a:latin typeface="Cambria Math" panose="02040503050406030204" pitchFamily="18" charset="0"/>
                        </a:rPr>
                        <m:t>𝑘</m:t>
                      </m:r>
                      <m:r>
                        <a:rPr lang="en-US" sz="2800" b="0" i="1" smtClean="0">
                          <a:latin typeface="Cambria Math" panose="02040503050406030204" pitchFamily="18" charset="0"/>
                        </a:rPr>
                        <m:t>  ∙ </m:t>
                      </m:r>
                      <m:r>
                        <a:rPr lang="en-US" sz="2800" i="1" dirty="0">
                          <a:latin typeface="Cambria Math" panose="02040503050406030204" pitchFamily="18" charset="0"/>
                          <a:ea typeface="Cambria Math" panose="02040503050406030204" pitchFamily="18" charset="0"/>
                        </a:rPr>
                        <m:t>𝑃</m:t>
                      </m:r>
                      <m:r>
                        <a:rPr lang="en-US" sz="2800" b="0" i="1" dirty="0" smtClean="0">
                          <a:latin typeface="Cambria Math" panose="02040503050406030204" pitchFamily="18" charset="0"/>
                          <a:ea typeface="Cambria Math" panose="02040503050406030204" pitchFamily="18" charset="0"/>
                        </a:rPr>
                        <m:t> </m:t>
                      </m:r>
                      <m:r>
                        <a:rPr lang="en-US" sz="2800" i="1" dirty="0">
                          <a:latin typeface="Cambria Math" panose="02040503050406030204" pitchFamily="18" charset="0"/>
                          <a:ea typeface="Cambria Math" panose="02040503050406030204" pitchFamily="18" charset="0"/>
                        </a:rPr>
                        <m:t>∙</m:t>
                      </m:r>
                      <m:r>
                        <a:rPr lang="en-US" sz="2800" b="0" i="1" dirty="0" smtClean="0">
                          <a:latin typeface="Cambria Math" panose="02040503050406030204" pitchFamily="18" charset="0"/>
                          <a:ea typeface="Cambria Math" panose="02040503050406030204" pitchFamily="18" charset="0"/>
                        </a:rPr>
                        <m:t> </m:t>
                      </m:r>
                      <m:r>
                        <a:rPr lang="en-US" sz="2800" b="0" i="1" dirty="0" smtClean="0">
                          <a:latin typeface="Cambria Math" panose="02040503050406030204" pitchFamily="18" charset="0"/>
                          <a:ea typeface="Cambria Math" panose="02040503050406030204" pitchFamily="18" charset="0"/>
                        </a:rPr>
                        <m:t>𝑌</m:t>
                      </m:r>
                    </m:oMath>
                  </m:oMathPara>
                </a14:m>
                <a:endParaRPr lang="en-US" sz="2800" dirty="0">
                  <a:latin typeface="National semibold" panose="02000503000000020004"/>
                </a:endParaRPr>
              </a:p>
            </p:txBody>
          </p:sp>
        </mc:Choice>
        <mc:Fallback xmlns="">
          <p:sp>
            <p:nvSpPr>
              <p:cNvPr id="6" name="Object 4">
                <a:extLst>
                  <a:ext uri="{FF2B5EF4-FFF2-40B4-BE49-F238E27FC236}">
                    <a16:creationId xmlns:a16="http://schemas.microsoft.com/office/drawing/2014/main" id="{BDDAF33B-5761-42EA-B819-9EC2AB66613E}"/>
                  </a:ext>
                </a:extLst>
              </p:cNvPr>
              <p:cNvSpPr txBox="1">
                <a:spLocks noRot="1" noChangeAspect="1" noMove="1" noResize="1" noEditPoints="1" noAdjustHandles="1" noChangeArrowheads="1" noChangeShapeType="1" noTextEdit="1"/>
              </p:cNvSpPr>
              <p:nvPr/>
            </p:nvSpPr>
            <p:spPr bwMode="auto">
              <a:xfrm>
                <a:off x="4628140" y="2330450"/>
                <a:ext cx="2881024" cy="1174750"/>
              </a:xfrm>
              <a:prstGeom prst="rect">
                <a:avLst/>
              </a:prstGeom>
              <a:blipFill>
                <a:blip r:embed="rId3"/>
                <a:stretch>
                  <a:fillRect/>
                </a:stretch>
              </a:blipFill>
              <a:ln w="19050">
                <a:solidFill>
                  <a:srgbClr val="000000"/>
                </a:solidFill>
                <a:miter lim="800000"/>
                <a:headEnd/>
                <a:tailEnd/>
              </a:ln>
              <a:effectLst/>
            </p:spPr>
            <p:txBody>
              <a:bodyPr/>
              <a:lstStyle/>
              <a:p>
                <a:r>
                  <a:rPr lang="en-US">
                    <a:noFill/>
                  </a:rPr>
                  <a:t> </a:t>
                </a:r>
              </a:p>
            </p:txBody>
          </p:sp>
        </mc:Fallback>
      </mc:AlternateContent>
      <p:sp>
        <p:nvSpPr>
          <p:cNvPr id="2" name="Object 3">
            <a:extLst>
              <a:ext uri="{FF2B5EF4-FFF2-40B4-BE49-F238E27FC236}">
                <a16:creationId xmlns:a16="http://schemas.microsoft.com/office/drawing/2014/main" id="{19124CDA-471A-4CB1-BD38-F1AB020E671D}"/>
              </a:ext>
            </a:extLst>
          </p:cNvPr>
          <p:cNvSpPr txBox="1"/>
          <p:nvPr/>
        </p:nvSpPr>
        <p:spPr bwMode="auto">
          <a:xfrm>
            <a:off x="4183793" y="4038600"/>
            <a:ext cx="3653047" cy="1343025"/>
          </a:xfrm>
          <a:prstGeom prst="rect">
            <a:avLst/>
          </a:prstGeom>
          <a:noFill/>
          <a:ln>
            <a:noFill/>
          </a:ln>
          <a:effectLst/>
        </p:spPr>
        <p:txBody>
          <a:bodyPr>
            <a:noAutofit/>
          </a:bodyPr>
          <a:lstStyle/>
          <a:p>
            <a:r>
              <a:rPr lang="en-US" sz="2000" i="1" dirty="0">
                <a:latin typeface="National semibold" panose="02000503000000020004"/>
              </a:rPr>
              <a:t>M</a:t>
            </a:r>
            <a:r>
              <a:rPr lang="en-US" sz="2000" dirty="0">
                <a:latin typeface="National semibold" panose="02000503000000020004"/>
              </a:rPr>
              <a:t> = Money in circulation (supply)</a:t>
            </a:r>
          </a:p>
          <a:p>
            <a:r>
              <a:rPr lang="en-US" sz="2000" i="1" dirty="0">
                <a:latin typeface="National semibold" panose="02000503000000020004"/>
              </a:rPr>
              <a:t>k</a:t>
            </a:r>
            <a:r>
              <a:rPr lang="en-US" sz="2000" dirty="0">
                <a:latin typeface="National semibold" panose="02000503000000020004"/>
              </a:rPr>
              <a:t>  = Inverse of velocity of money</a:t>
            </a:r>
          </a:p>
          <a:p>
            <a:r>
              <a:rPr lang="en-US" sz="2000" i="1" dirty="0">
                <a:latin typeface="National semibold" panose="02000503000000020004"/>
              </a:rPr>
              <a:t>P</a:t>
            </a:r>
            <a:r>
              <a:rPr lang="en-US" sz="2000" dirty="0">
                <a:latin typeface="National semibold" panose="02000503000000020004"/>
              </a:rPr>
              <a:t>  = Nominal price</a:t>
            </a:r>
          </a:p>
          <a:p>
            <a:r>
              <a:rPr lang="en-US" sz="2000" i="1" dirty="0">
                <a:latin typeface="National semibold" panose="02000503000000020004"/>
              </a:rPr>
              <a:t>Y</a:t>
            </a:r>
            <a:r>
              <a:rPr lang="en-US" sz="2000" dirty="0">
                <a:latin typeface="National semibold" panose="02000503000000020004"/>
              </a:rPr>
              <a:t>  = Production</a:t>
            </a:r>
          </a:p>
        </p:txBody>
      </p:sp>
      <p:cxnSp>
        <p:nvCxnSpPr>
          <p:cNvPr id="10" name="Straight Arrow Connector 9">
            <a:extLst>
              <a:ext uri="{FF2B5EF4-FFF2-40B4-BE49-F238E27FC236}">
                <a16:creationId xmlns:a16="http://schemas.microsoft.com/office/drawing/2014/main" id="{05FB22D6-B1A7-4746-A475-BE12BD63EFBD}"/>
              </a:ext>
            </a:extLst>
          </p:cNvPr>
          <p:cNvCxnSpPr>
            <a:cxnSpLocks/>
          </p:cNvCxnSpPr>
          <p:nvPr/>
        </p:nvCxnSpPr>
        <p:spPr>
          <a:xfrm flipV="1">
            <a:off x="4904708" y="2399562"/>
            <a:ext cx="0" cy="365760"/>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5BBDD7B-3054-405C-97DF-F70F0A485007}"/>
              </a:ext>
            </a:extLst>
          </p:cNvPr>
          <p:cNvCxnSpPr>
            <a:cxnSpLocks/>
          </p:cNvCxnSpPr>
          <p:nvPr/>
        </p:nvCxnSpPr>
        <p:spPr>
          <a:xfrm flipV="1">
            <a:off x="6544238" y="2399070"/>
            <a:ext cx="0" cy="365760"/>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9CDFCC28-612F-4C73-B886-D010DDC6CEC5}"/>
              </a:ext>
            </a:extLst>
          </p:cNvPr>
          <p:cNvSpPr/>
          <p:nvPr/>
        </p:nvSpPr>
        <p:spPr>
          <a:xfrm>
            <a:off x="5540229" y="2540001"/>
            <a:ext cx="562894" cy="7620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85F6824-6A2A-40B1-9FB5-7110091C28E5}"/>
              </a:ext>
            </a:extLst>
          </p:cNvPr>
          <p:cNvSpPr/>
          <p:nvPr/>
        </p:nvSpPr>
        <p:spPr>
          <a:xfrm>
            <a:off x="6308443" y="2536230"/>
            <a:ext cx="430192" cy="7620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F0A3935-48DB-46DB-A321-4B5DC6795F8D}"/>
              </a:ext>
            </a:extLst>
          </p:cNvPr>
          <p:cNvSpPr/>
          <p:nvPr/>
        </p:nvSpPr>
        <p:spPr>
          <a:xfrm>
            <a:off x="6930302" y="2536230"/>
            <a:ext cx="430192" cy="7620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0056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p:bldP spid="13" grpId="0" animBg="1"/>
      <p:bldP spid="15" grpId="0" animBg="1"/>
      <p:bldP spid="1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284412" y="381000"/>
            <a:ext cx="9067800" cy="1219200"/>
          </a:xfrm>
        </p:spPr>
        <p:txBody>
          <a:bodyPr anchor="ctr"/>
          <a:lstStyle/>
          <a:p>
            <a:r>
              <a:rPr lang="en-US" altLang="en-US" sz="3200" b="1" dirty="0">
                <a:latin typeface="National semibold" panose="02000503000000020004"/>
              </a:rPr>
              <a:t>Money growth and inflation</a:t>
            </a:r>
          </a:p>
        </p:txBody>
      </p:sp>
      <p:pic>
        <p:nvPicPr>
          <p:cNvPr id="4" name="Picture 2" descr="• Y-Axis shows the inflation rate in percent per year from 0 to 140 in increments of 20 percent. X-Axis shows the money growth in percent per year from 0 to 180 in increments of 20 percent.&#10;• Each country is represented by a dot on the scatter plot and some countries are clustered together, while others are a little too far.&#10;• Macedonia, Malta and Cyprus are all very less on the Y-axis. &#10;• Poland, Estonia, Albania and Slovenia are all very closely clustered, along with Latvia and Lithuania, which are a little to the left on the plot.&#10;• The European countries in transition are plotted in the graph at approximately the following coordinates.&#10;• Macedonia (1:1)&#10;• Malta (5:1)&#10;• Czech Republic (6:6)&#10;• Cyprus (10:1)&#10;• Latvia (15:9)&#10;• Lithuania (18:11)&#10;• Croatia (22:3)&#10;• Slovenia (22:10)&#10;• Albania (23:11)&#10;• Estonia (24:14)&#10;• Poland (22:18)&#10;• Moldova (30:22)&#10;• Armenia (33:25)&#10;• Kazakhstan (30:37)&#10;• Russia (61:39)&#10;• Romania (58:64)&#10;• Turkey (90:88)&#10;• Bulgaria (100:98)&#10;• Belarus (168:12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4412" y="1821110"/>
            <a:ext cx="6858000" cy="5036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1088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chor="ctr"/>
          <a:lstStyle/>
          <a:p>
            <a:r>
              <a:rPr lang="en-US" altLang="en-US" b="1" dirty="0">
                <a:latin typeface="National semibold"/>
              </a:rPr>
              <a:t>Same principle applies to payment tokens</a:t>
            </a:r>
            <a:endParaRPr lang="en-US" altLang="en-US" sz="2800" b="1" dirty="0">
              <a:latin typeface="National semibold"/>
            </a:endParaRPr>
          </a:p>
        </p:txBody>
      </p:sp>
      <p:sp>
        <p:nvSpPr>
          <p:cNvPr id="9219" name="Rectangle 3"/>
          <p:cNvSpPr>
            <a:spLocks noGrp="1" noChangeArrowheads="1"/>
          </p:cNvSpPr>
          <p:nvPr>
            <p:ph type="body" idx="4294967295"/>
          </p:nvPr>
        </p:nvSpPr>
        <p:spPr>
          <a:xfrm>
            <a:off x="1751012" y="2209800"/>
            <a:ext cx="8915400" cy="4111625"/>
          </a:xfrm>
        </p:spPr>
        <p:txBody>
          <a:bodyPr>
            <a:normAutofit fontScale="85000" lnSpcReduction="20000"/>
          </a:bodyPr>
          <a:lstStyle/>
          <a:p>
            <a:pPr marL="287337" lvl="1" indent="0">
              <a:buNone/>
            </a:pPr>
            <a:r>
              <a:rPr lang="en-US" altLang="en-US" sz="3100" dirty="0">
                <a:latin typeface="National semibold"/>
              </a:rPr>
              <a:t>Scarce supply increases its value.</a:t>
            </a:r>
          </a:p>
          <a:p>
            <a:pPr marL="919162" lvl="2" indent="-457200"/>
            <a:r>
              <a:rPr lang="en-US" altLang="en-US" sz="2600" dirty="0">
                <a:latin typeface="National semibold"/>
              </a:rPr>
              <a:t>Similar to scarce commodities such as gold.</a:t>
            </a:r>
          </a:p>
          <a:p>
            <a:pPr marL="744537" lvl="1" indent="-457200"/>
            <a:endParaRPr lang="en-US" altLang="en-US" sz="3100" dirty="0">
              <a:latin typeface="National semibold"/>
            </a:endParaRPr>
          </a:p>
          <a:p>
            <a:pPr marL="287337" lvl="1" indent="0">
              <a:buNone/>
            </a:pPr>
            <a:r>
              <a:rPr lang="en-US" altLang="en-US" sz="3100" dirty="0">
                <a:latin typeface="National semibold"/>
              </a:rPr>
              <a:t>How can we make sure that the supply is scarce?</a:t>
            </a:r>
          </a:p>
          <a:p>
            <a:pPr marL="919162" lvl="2" indent="-457200"/>
            <a:r>
              <a:rPr lang="en-US" altLang="en-US" sz="2600" dirty="0">
                <a:latin typeface="National semibold"/>
              </a:rPr>
              <a:t>With national currencies this is guaranteed by the monetary authority (central bank).</a:t>
            </a:r>
          </a:p>
          <a:p>
            <a:pPr marL="744537" lvl="1" indent="-457200"/>
            <a:endParaRPr lang="en-US" altLang="en-US" sz="3100" dirty="0">
              <a:latin typeface="National semibold"/>
            </a:endParaRPr>
          </a:p>
          <a:p>
            <a:pPr marL="287337" lvl="1" indent="0">
              <a:buNone/>
            </a:pPr>
            <a:r>
              <a:rPr lang="en-US" altLang="en-US" sz="3100" dirty="0">
                <a:latin typeface="National semibold"/>
              </a:rPr>
              <a:t>Bitcoin platform has a governing system for which creating more bitcoins becomes more difficult as circulation increases.</a:t>
            </a:r>
          </a:p>
          <a:p>
            <a:pPr marL="744537" lvl="1" indent="-457200"/>
            <a:r>
              <a:rPr lang="en-US" altLang="en-US" sz="2600" dirty="0">
                <a:latin typeface="National semibold"/>
              </a:rPr>
              <a:t>As for precious metals, mining becomes more and more difficult (requires more computer processing to mine new bitcoins).</a:t>
            </a:r>
            <a:endParaRPr lang="en-US" altLang="en-US" sz="2900" dirty="0"/>
          </a:p>
          <a:p>
            <a:pPr marL="457200" lvl="1" indent="0">
              <a:buNone/>
            </a:pPr>
            <a:endParaRPr lang="en-US" altLang="en-US" sz="2900" dirty="0"/>
          </a:p>
        </p:txBody>
      </p:sp>
    </p:spTree>
    <p:extLst>
      <p:ext uri="{BB962C8B-B14F-4D97-AF65-F5344CB8AC3E}">
        <p14:creationId xmlns:p14="http://schemas.microsoft.com/office/powerpoint/2010/main" val="2643699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1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21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21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19">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2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C0F63-9DA5-4835-93AC-0C559649AFED}"/>
              </a:ext>
            </a:extLst>
          </p:cNvPr>
          <p:cNvSpPr>
            <a:spLocks noGrp="1"/>
          </p:cNvSpPr>
          <p:nvPr>
            <p:ph type="title"/>
          </p:nvPr>
        </p:nvSpPr>
        <p:spPr>
          <a:xfrm>
            <a:off x="1279137" y="381000"/>
            <a:ext cx="9829799" cy="1219200"/>
          </a:xfrm>
        </p:spPr>
        <p:txBody>
          <a:bodyPr anchor="ctr"/>
          <a:lstStyle/>
          <a:p>
            <a:r>
              <a:rPr lang="en-US" sz="4000" b="1" u="sng" dirty="0">
                <a:latin typeface="National semibold" panose="02000503000000020004"/>
              </a:rPr>
              <a:t>Problem</a:t>
            </a:r>
            <a:r>
              <a:rPr lang="en-US" b="1" dirty="0">
                <a:latin typeface="National semibold" panose="02000503000000020004"/>
              </a:rPr>
              <a:t>: </a:t>
            </a:r>
            <a:br>
              <a:rPr lang="en-US" b="1" dirty="0">
                <a:latin typeface="National semibold" panose="02000503000000020004"/>
              </a:rPr>
            </a:br>
            <a:r>
              <a:rPr lang="en-US" b="1" dirty="0">
                <a:latin typeface="National semibold" panose="02000503000000020004"/>
              </a:rPr>
              <a:t>The value of cryptocurrencies is too volatile</a:t>
            </a:r>
          </a:p>
        </p:txBody>
      </p:sp>
      <p:pic>
        <p:nvPicPr>
          <p:cNvPr id="5" name="Picture 4">
            <a:extLst>
              <a:ext uri="{FF2B5EF4-FFF2-40B4-BE49-F238E27FC236}">
                <a16:creationId xmlns:a16="http://schemas.microsoft.com/office/drawing/2014/main" id="{FBC6FD90-275F-3EFD-AD3D-7197DEE8A34B}"/>
              </a:ext>
            </a:extLst>
          </p:cNvPr>
          <p:cNvPicPr>
            <a:picLocks noChangeAspect="1"/>
          </p:cNvPicPr>
          <p:nvPr/>
        </p:nvPicPr>
        <p:blipFill>
          <a:blip r:embed="rId2"/>
          <a:stretch>
            <a:fillRect/>
          </a:stretch>
        </p:blipFill>
        <p:spPr>
          <a:xfrm>
            <a:off x="1196012" y="2260512"/>
            <a:ext cx="5455963" cy="3447555"/>
          </a:xfrm>
          <a:prstGeom prst="rect">
            <a:avLst/>
          </a:prstGeom>
        </p:spPr>
      </p:pic>
      <p:pic>
        <p:nvPicPr>
          <p:cNvPr id="7" name="Picture 6">
            <a:extLst>
              <a:ext uri="{FF2B5EF4-FFF2-40B4-BE49-F238E27FC236}">
                <a16:creationId xmlns:a16="http://schemas.microsoft.com/office/drawing/2014/main" id="{B100D915-25DC-6D47-916B-8784921C69E4}"/>
              </a:ext>
            </a:extLst>
          </p:cNvPr>
          <p:cNvPicPr>
            <a:picLocks noChangeAspect="1"/>
          </p:cNvPicPr>
          <p:nvPr/>
        </p:nvPicPr>
        <p:blipFill>
          <a:blip r:embed="rId3"/>
          <a:stretch>
            <a:fillRect/>
          </a:stretch>
        </p:blipFill>
        <p:spPr>
          <a:xfrm>
            <a:off x="6643592" y="2253673"/>
            <a:ext cx="5353408" cy="3493871"/>
          </a:xfrm>
          <a:prstGeom prst="rect">
            <a:avLst/>
          </a:prstGeom>
        </p:spPr>
      </p:pic>
    </p:spTree>
    <p:extLst>
      <p:ext uri="{BB962C8B-B14F-4D97-AF65-F5344CB8AC3E}">
        <p14:creationId xmlns:p14="http://schemas.microsoft.com/office/powerpoint/2010/main" val="3041948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674812" y="381000"/>
            <a:ext cx="9677400" cy="1219200"/>
          </a:xfrm>
        </p:spPr>
        <p:txBody>
          <a:bodyPr anchor="ctr"/>
          <a:lstStyle/>
          <a:p>
            <a:r>
              <a:rPr lang="en-US" altLang="en-US" b="1" dirty="0">
                <a:latin typeface="National semibold"/>
              </a:rPr>
              <a:t>What are stablecoins?</a:t>
            </a:r>
          </a:p>
        </p:txBody>
      </p:sp>
      <p:sp>
        <p:nvSpPr>
          <p:cNvPr id="10243" name="Rectangle 3"/>
          <p:cNvSpPr>
            <a:spLocks noGrp="1" noChangeArrowheads="1"/>
          </p:cNvSpPr>
          <p:nvPr>
            <p:ph type="body" idx="4294967295"/>
          </p:nvPr>
        </p:nvSpPr>
        <p:spPr>
          <a:xfrm>
            <a:off x="1487978" y="2057400"/>
            <a:ext cx="9799253" cy="4187825"/>
          </a:xfrm>
        </p:spPr>
        <p:txBody>
          <a:bodyPr/>
          <a:lstStyle/>
          <a:p>
            <a:pPr lvl="1"/>
            <a:r>
              <a:rPr lang="en-US" altLang="en-US" sz="2400" dirty="0">
                <a:latin typeface="National semibold"/>
              </a:rPr>
              <a:t>Cryptocurrencies designed to have reduced volatility as their price is linked to a “stable” asset. For example, the US dollar.</a:t>
            </a:r>
          </a:p>
          <a:p>
            <a:pPr lvl="1"/>
            <a:endParaRPr lang="en-US" altLang="en-US" sz="2400" dirty="0">
              <a:latin typeface="National semibold"/>
            </a:endParaRPr>
          </a:p>
          <a:p>
            <a:pPr lvl="1"/>
            <a:endParaRPr lang="en-US" altLang="en-US" sz="2400" dirty="0">
              <a:latin typeface="National semibold"/>
            </a:endParaRPr>
          </a:p>
          <a:p>
            <a:pPr lvl="1"/>
            <a:r>
              <a:rPr lang="en-US" altLang="en-US" sz="2400" dirty="0">
                <a:latin typeface="National semibold"/>
              </a:rPr>
              <a:t>Many Stablecoins have redemption features for their underlying assets. They are said to be “backed” by these assets. </a:t>
            </a:r>
          </a:p>
          <a:p>
            <a:pPr lvl="1"/>
            <a:endParaRPr lang="en-US" altLang="en-US" sz="2400" dirty="0">
              <a:latin typeface="National semibold"/>
            </a:endParaRPr>
          </a:p>
          <a:p>
            <a:pPr lvl="1"/>
            <a:endParaRPr lang="en-US" altLang="en-US" sz="2400" dirty="0">
              <a:latin typeface="National semibold"/>
            </a:endParaRPr>
          </a:p>
          <a:p>
            <a:pPr lvl="1"/>
            <a:r>
              <a:rPr lang="en-US" altLang="en-US" sz="2400" dirty="0">
                <a:latin typeface="National semibold"/>
              </a:rPr>
              <a:t>Most stablecoins have a controlling body that manages and monitors the underlying asset that serves as the peg for issued tokens.  </a:t>
            </a:r>
            <a:endParaRPr lang="en-US" altLang="en-US" sz="2400" u="sng" dirty="0">
              <a:latin typeface="National semibold"/>
            </a:endParaRPr>
          </a:p>
        </p:txBody>
      </p:sp>
    </p:spTree>
    <p:extLst>
      <p:ext uri="{BB962C8B-B14F-4D97-AF65-F5344CB8AC3E}">
        <p14:creationId xmlns:p14="http://schemas.microsoft.com/office/powerpoint/2010/main" val="2693155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674812" y="381000"/>
            <a:ext cx="9677400" cy="1219200"/>
          </a:xfrm>
        </p:spPr>
        <p:txBody>
          <a:bodyPr anchor="ctr"/>
          <a:lstStyle/>
          <a:p>
            <a:r>
              <a:rPr lang="en-US" altLang="en-US" b="1" dirty="0">
                <a:latin typeface="National semibold"/>
              </a:rPr>
              <a:t>How do stablecoins work?</a:t>
            </a:r>
            <a:br>
              <a:rPr lang="en-US" altLang="en-US" b="1" dirty="0">
                <a:latin typeface="National semibold"/>
              </a:rPr>
            </a:br>
            <a:r>
              <a:rPr lang="en-US" altLang="en-US" b="1" dirty="0">
                <a:latin typeface="National semibold"/>
              </a:rPr>
              <a:t>An example</a:t>
            </a:r>
          </a:p>
        </p:txBody>
      </p:sp>
      <p:sp>
        <p:nvSpPr>
          <p:cNvPr id="10243" name="Rectangle 3"/>
          <p:cNvSpPr>
            <a:spLocks noGrp="1" noChangeArrowheads="1"/>
          </p:cNvSpPr>
          <p:nvPr>
            <p:ph type="body" idx="4294967295"/>
          </p:nvPr>
        </p:nvSpPr>
        <p:spPr>
          <a:xfrm>
            <a:off x="1521230" y="2057400"/>
            <a:ext cx="9766002" cy="4546600"/>
          </a:xfrm>
        </p:spPr>
        <p:txBody>
          <a:bodyPr>
            <a:normAutofit/>
          </a:bodyPr>
          <a:lstStyle/>
          <a:p>
            <a:pPr lvl="1"/>
            <a:r>
              <a:rPr lang="en-US" altLang="en-US" sz="2400" dirty="0">
                <a:latin typeface="National semibold"/>
              </a:rPr>
              <a:t>Suppose that every token (stablecoin) in circulation is collateralized one-to-one with US Dollars.</a:t>
            </a:r>
          </a:p>
          <a:p>
            <a:pPr lvl="1"/>
            <a:r>
              <a:rPr lang="en-US" altLang="en-US" sz="2400" dirty="0">
                <a:latin typeface="National semibold"/>
              </a:rPr>
              <a:t>The collateral is given by Dollars deposited in affiliated financial institutions. These reserves ensure that tokens are backed one-to-one with deposited cash. </a:t>
            </a:r>
          </a:p>
          <a:p>
            <a:pPr lvl="1"/>
            <a:r>
              <a:rPr lang="en-US" altLang="en-US" sz="2400" dirty="0">
                <a:latin typeface="National semibold"/>
              </a:rPr>
              <a:t>A new stablecoin is created by an investor with the deposit of one dollar in an affiliated financial institution. In exchange of the dollar deposit, the investor receives one token (the stablecoin).</a:t>
            </a:r>
          </a:p>
          <a:p>
            <a:pPr lvl="1"/>
            <a:r>
              <a:rPr lang="en-US" altLang="en-US" sz="2400" dirty="0">
                <a:latin typeface="National semibold"/>
              </a:rPr>
              <a:t>The financial institution will hold the deposit until the token is redeemed.</a:t>
            </a:r>
          </a:p>
          <a:p>
            <a:pPr lvl="1"/>
            <a:r>
              <a:rPr lang="en-US" altLang="en-US" sz="2400" dirty="0">
                <a:latin typeface="National semibold"/>
              </a:rPr>
              <a:t>Tokens are burned when redeemed in exchange of the cash deposit.</a:t>
            </a:r>
          </a:p>
        </p:txBody>
      </p:sp>
    </p:spTree>
    <p:extLst>
      <p:ext uri="{BB962C8B-B14F-4D97-AF65-F5344CB8AC3E}">
        <p14:creationId xmlns:p14="http://schemas.microsoft.com/office/powerpoint/2010/main" val="1846157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674812" y="381000"/>
            <a:ext cx="9677400" cy="1219200"/>
          </a:xfrm>
        </p:spPr>
        <p:txBody>
          <a:bodyPr anchor="ctr"/>
          <a:lstStyle/>
          <a:p>
            <a:r>
              <a:rPr lang="en-US" altLang="en-US" b="1" dirty="0">
                <a:latin typeface="National semibold"/>
              </a:rPr>
              <a:t>Balance sheet of affiliated financial institution</a:t>
            </a:r>
          </a:p>
        </p:txBody>
      </p:sp>
      <p:pic>
        <p:nvPicPr>
          <p:cNvPr id="5" name="Picture 4">
            <a:extLst>
              <a:ext uri="{FF2B5EF4-FFF2-40B4-BE49-F238E27FC236}">
                <a16:creationId xmlns:a16="http://schemas.microsoft.com/office/drawing/2014/main" id="{BC6BF31E-C5FC-4E97-B29A-A6DDD806C1F8}"/>
              </a:ext>
            </a:extLst>
          </p:cNvPr>
          <p:cNvPicPr>
            <a:picLocks noChangeAspect="1"/>
          </p:cNvPicPr>
          <p:nvPr/>
        </p:nvPicPr>
        <p:blipFill>
          <a:blip r:embed="rId3"/>
          <a:stretch>
            <a:fillRect/>
          </a:stretch>
        </p:blipFill>
        <p:spPr>
          <a:xfrm>
            <a:off x="4101736" y="2370183"/>
            <a:ext cx="4794069" cy="1910457"/>
          </a:xfrm>
          <a:prstGeom prst="rect">
            <a:avLst/>
          </a:prstGeom>
        </p:spPr>
      </p:pic>
    </p:spTree>
    <p:extLst>
      <p:ext uri="{BB962C8B-B14F-4D97-AF65-F5344CB8AC3E}">
        <p14:creationId xmlns:p14="http://schemas.microsoft.com/office/powerpoint/2010/main" val="3821339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674812" y="381000"/>
            <a:ext cx="9978708" cy="1219200"/>
          </a:xfrm>
        </p:spPr>
        <p:txBody>
          <a:bodyPr anchor="ctr"/>
          <a:lstStyle/>
          <a:p>
            <a:r>
              <a:rPr lang="en-US" altLang="en-US" b="1" dirty="0">
                <a:latin typeface="National semibold"/>
              </a:rPr>
              <a:t>What guarantees that the price remains 1?</a:t>
            </a:r>
            <a:br>
              <a:rPr lang="en-US" altLang="en-US" b="1" dirty="0">
                <a:latin typeface="National semibold"/>
              </a:rPr>
            </a:br>
            <a:r>
              <a:rPr lang="en-US" altLang="en-US" sz="4000" b="1" i="1" dirty="0">
                <a:latin typeface="National semibold"/>
              </a:rPr>
              <a:t>Arbitrage</a:t>
            </a:r>
            <a:endParaRPr lang="en-US" altLang="en-US" b="1" i="1" dirty="0">
              <a:latin typeface="National semibold"/>
            </a:endParaRPr>
          </a:p>
        </p:txBody>
      </p:sp>
      <p:sp>
        <p:nvSpPr>
          <p:cNvPr id="10243" name="Rectangle 3"/>
          <p:cNvSpPr>
            <a:spLocks noGrp="1" noChangeArrowheads="1"/>
          </p:cNvSpPr>
          <p:nvPr>
            <p:ph type="body" idx="4294967295"/>
          </p:nvPr>
        </p:nvSpPr>
        <p:spPr>
          <a:xfrm>
            <a:off x="1570757" y="1946031"/>
            <a:ext cx="9677399" cy="4712677"/>
          </a:xfrm>
        </p:spPr>
        <p:txBody>
          <a:bodyPr>
            <a:normAutofit/>
          </a:bodyPr>
          <a:lstStyle/>
          <a:p>
            <a:pPr lvl="1"/>
            <a:endParaRPr lang="en-US" altLang="en-US" sz="2400" dirty="0">
              <a:latin typeface="National semibold"/>
            </a:endParaRPr>
          </a:p>
          <a:p>
            <a:pPr lvl="1"/>
            <a:r>
              <a:rPr lang="en-US" altLang="en-US" sz="2400" dirty="0">
                <a:latin typeface="National semibold"/>
              </a:rPr>
              <a:t>If market price is 95 cents, someone will buy at that price and redeem for 1 Dollar, making a profit of 5 cents. Because many will do that, the demand for stablecoins increases, raising the price back to 1 Dollar. </a:t>
            </a:r>
          </a:p>
          <a:p>
            <a:pPr lvl="1"/>
            <a:endParaRPr lang="en-US" altLang="en-US" sz="2400" dirty="0">
              <a:latin typeface="National semibold"/>
            </a:endParaRPr>
          </a:p>
          <a:p>
            <a:pPr lvl="1"/>
            <a:r>
              <a:rPr lang="en-US" altLang="en-US" sz="2400" dirty="0">
                <a:latin typeface="National semibold"/>
              </a:rPr>
              <a:t>If the price is 1.05 Dollars, an investor can create a new stablecoin by depositing 1 Dollar and then immediately selling it at 1.05 Dollars. Because many will do that the supply of stablecoins increases, driving the price down to 1 Dollar.   </a:t>
            </a:r>
          </a:p>
          <a:p>
            <a:pPr lvl="1"/>
            <a:endParaRPr lang="en-US" altLang="en-US" sz="2400" dirty="0">
              <a:latin typeface="National semibold"/>
            </a:endParaRPr>
          </a:p>
        </p:txBody>
      </p:sp>
    </p:spTree>
    <p:extLst>
      <p:ext uri="{BB962C8B-B14F-4D97-AF65-F5344CB8AC3E}">
        <p14:creationId xmlns:p14="http://schemas.microsoft.com/office/powerpoint/2010/main" val="3318094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BB4EF9-0E9E-2A93-4E12-B6BC5AD1957D}"/>
              </a:ext>
            </a:extLst>
          </p:cNvPr>
          <p:cNvPicPr>
            <a:picLocks noChangeAspect="1"/>
          </p:cNvPicPr>
          <p:nvPr/>
        </p:nvPicPr>
        <p:blipFill rotWithShape="1">
          <a:blip r:embed="rId3"/>
          <a:srcRect b="95620"/>
          <a:stretch/>
        </p:blipFill>
        <p:spPr>
          <a:xfrm>
            <a:off x="637308" y="74635"/>
            <a:ext cx="9649691" cy="483211"/>
          </a:xfrm>
          <a:prstGeom prst="rect">
            <a:avLst/>
          </a:prstGeom>
        </p:spPr>
      </p:pic>
      <p:pic>
        <p:nvPicPr>
          <p:cNvPr id="4" name="Picture 3">
            <a:extLst>
              <a:ext uri="{FF2B5EF4-FFF2-40B4-BE49-F238E27FC236}">
                <a16:creationId xmlns:a16="http://schemas.microsoft.com/office/drawing/2014/main" id="{29255808-FC38-61CB-8FE5-40075389B2E8}"/>
              </a:ext>
            </a:extLst>
          </p:cNvPr>
          <p:cNvPicPr>
            <a:picLocks noChangeAspect="1"/>
          </p:cNvPicPr>
          <p:nvPr/>
        </p:nvPicPr>
        <p:blipFill>
          <a:blip r:embed="rId4"/>
          <a:stretch>
            <a:fillRect/>
          </a:stretch>
        </p:blipFill>
        <p:spPr>
          <a:xfrm>
            <a:off x="1052945" y="649460"/>
            <a:ext cx="9408090" cy="6051833"/>
          </a:xfrm>
          <a:prstGeom prst="rect">
            <a:avLst/>
          </a:prstGeom>
        </p:spPr>
      </p:pic>
    </p:spTree>
    <p:extLst>
      <p:ext uri="{BB962C8B-B14F-4D97-AF65-F5344CB8AC3E}">
        <p14:creationId xmlns:p14="http://schemas.microsoft.com/office/powerpoint/2010/main" val="3272717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390332" y="350520"/>
            <a:ext cx="10141268" cy="1219200"/>
          </a:xfrm>
        </p:spPr>
        <p:txBody>
          <a:bodyPr anchor="ctr"/>
          <a:lstStyle/>
          <a:p>
            <a:r>
              <a:rPr lang="en-US" altLang="en-US" b="1" dirty="0">
                <a:latin typeface="National semibold"/>
              </a:rPr>
              <a:t>But the backing asset does not have to be the dollar</a:t>
            </a:r>
          </a:p>
        </p:txBody>
      </p:sp>
      <p:pic>
        <p:nvPicPr>
          <p:cNvPr id="3" name="Picture 2">
            <a:extLst>
              <a:ext uri="{FF2B5EF4-FFF2-40B4-BE49-F238E27FC236}">
                <a16:creationId xmlns:a16="http://schemas.microsoft.com/office/drawing/2014/main" id="{1129A774-C73A-4D0E-89E0-663C6E055A2B}"/>
              </a:ext>
            </a:extLst>
          </p:cNvPr>
          <p:cNvPicPr>
            <a:picLocks noChangeAspect="1"/>
          </p:cNvPicPr>
          <p:nvPr/>
        </p:nvPicPr>
        <p:blipFill>
          <a:blip r:embed="rId3"/>
          <a:stretch>
            <a:fillRect/>
          </a:stretch>
        </p:blipFill>
        <p:spPr>
          <a:xfrm>
            <a:off x="3712266" y="2436016"/>
            <a:ext cx="5158409" cy="2066294"/>
          </a:xfrm>
          <a:prstGeom prst="rect">
            <a:avLst/>
          </a:prstGeom>
        </p:spPr>
      </p:pic>
    </p:spTree>
    <p:extLst>
      <p:ext uri="{BB962C8B-B14F-4D97-AF65-F5344CB8AC3E}">
        <p14:creationId xmlns:p14="http://schemas.microsoft.com/office/powerpoint/2010/main" val="1424049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217535" y="2022152"/>
            <a:ext cx="9677400" cy="2597332"/>
          </a:xfrm>
        </p:spPr>
        <p:txBody>
          <a:bodyPr anchor="ctr">
            <a:noAutofit/>
          </a:bodyPr>
          <a:lstStyle/>
          <a:p>
            <a:pPr algn="ctr"/>
            <a:r>
              <a:rPr lang="en-US" altLang="en-US" sz="4400" b="1" dirty="0">
                <a:latin typeface="National semibold"/>
              </a:rPr>
              <a:t>Stablecoins mechanism is similar to fixed exchange rate for a national currency</a:t>
            </a:r>
          </a:p>
        </p:txBody>
      </p:sp>
    </p:spTree>
    <p:extLst>
      <p:ext uri="{BB962C8B-B14F-4D97-AF65-F5344CB8AC3E}">
        <p14:creationId xmlns:p14="http://schemas.microsoft.com/office/powerpoint/2010/main" val="1284104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chor="ctr">
            <a:normAutofit/>
          </a:bodyPr>
          <a:lstStyle/>
          <a:p>
            <a:r>
              <a:rPr lang="en-US" sz="4000" b="1" dirty="0">
                <a:latin typeface="National semibold" panose="02000503000000020004"/>
              </a:rPr>
              <a:t>Foreign exchange market</a:t>
            </a:r>
          </a:p>
        </p:txBody>
      </p:sp>
      <p:sp>
        <p:nvSpPr>
          <p:cNvPr id="4" name="Rectangle 3">
            <a:extLst>
              <a:ext uri="{FF2B5EF4-FFF2-40B4-BE49-F238E27FC236}">
                <a16:creationId xmlns:a16="http://schemas.microsoft.com/office/drawing/2014/main" id="{31F25BA7-3CBF-4684-B7E8-E943A458A465}"/>
              </a:ext>
            </a:extLst>
          </p:cNvPr>
          <p:cNvSpPr>
            <a:spLocks noGrp="1" noChangeArrowheads="1"/>
          </p:cNvSpPr>
          <p:nvPr>
            <p:ph idx="1"/>
          </p:nvPr>
        </p:nvSpPr>
        <p:spPr>
          <a:xfrm>
            <a:off x="2360613" y="2362200"/>
            <a:ext cx="7696199" cy="2362200"/>
          </a:xfrm>
          <a:solidFill>
            <a:schemeClr val="accent1">
              <a:lumMod val="20000"/>
              <a:lumOff val="80000"/>
            </a:schemeClr>
          </a:solidFill>
          <a:ln w="38100">
            <a:solidFill>
              <a:schemeClr val="tx1"/>
            </a:solidFill>
          </a:ln>
        </p:spPr>
        <p:txBody>
          <a:bodyPr>
            <a:noAutofit/>
          </a:bodyPr>
          <a:lstStyle/>
          <a:p>
            <a:pPr marL="0" indent="0" eaLnBrk="1" hangingPunct="1">
              <a:buNone/>
            </a:pPr>
            <a:endParaRPr lang="en-US" altLang="en-US" sz="800" dirty="0">
              <a:latin typeface="National Semibold" panose="02000503000000020004" pitchFamily="50" charset="0"/>
              <a:ea typeface="National Semibold" panose="02000503000000020004" pitchFamily="50" charset="0"/>
            </a:endParaRPr>
          </a:p>
          <a:p>
            <a:pPr marL="0" indent="0" eaLnBrk="1" hangingPunct="1">
              <a:spcBef>
                <a:spcPts val="0"/>
              </a:spcBef>
              <a:buNone/>
            </a:pPr>
            <a:r>
              <a:rPr lang="en-US" altLang="en-US" sz="3200" b="1" dirty="0">
                <a:latin typeface="National Semibold" panose="02000503000000020004" pitchFamily="50" charset="0"/>
                <a:ea typeface="National Semibold" panose="02000503000000020004" pitchFamily="50" charset="0"/>
              </a:rPr>
              <a:t>Exchange rate</a:t>
            </a:r>
            <a:r>
              <a:rPr lang="en-US" altLang="en-US" sz="3200" dirty="0">
                <a:latin typeface="National Semibold" panose="02000503000000020004" pitchFamily="50" charset="0"/>
                <a:ea typeface="National Semibold" panose="02000503000000020004" pitchFamily="50" charset="0"/>
              </a:rPr>
              <a:t> is:</a:t>
            </a:r>
          </a:p>
          <a:p>
            <a:pPr marL="287337" lvl="1" indent="0">
              <a:lnSpc>
                <a:spcPct val="150000"/>
              </a:lnSpc>
              <a:buNone/>
            </a:pPr>
            <a:r>
              <a:rPr lang="en-US" sz="3200" dirty="0">
                <a:solidFill>
                  <a:srgbClr val="000000"/>
                </a:solidFill>
                <a:latin typeface="Arial" charset="0"/>
              </a:rPr>
              <a:t>Price of one nation’s money in terms of another nation’s money</a:t>
            </a:r>
            <a:r>
              <a:rPr lang="en-US" altLang="en-US" sz="3200" dirty="0">
                <a:latin typeface="National Semibold" panose="02000503000000020004" pitchFamily="50" charset="0"/>
                <a:ea typeface="National Semibold" panose="02000503000000020004" pitchFamily="50" charset="0"/>
              </a:rPr>
              <a:t>.</a:t>
            </a:r>
          </a:p>
        </p:txBody>
      </p:sp>
    </p:spTree>
    <p:extLst>
      <p:ext uri="{BB962C8B-B14F-4D97-AF65-F5344CB8AC3E}">
        <p14:creationId xmlns:p14="http://schemas.microsoft.com/office/powerpoint/2010/main" val="2717604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chor="ctr">
            <a:normAutofit/>
          </a:bodyPr>
          <a:lstStyle/>
          <a:p>
            <a:r>
              <a:rPr lang="en-US" sz="4000" b="1" dirty="0">
                <a:latin typeface="National semibold" panose="02000503000000020004"/>
              </a:rPr>
              <a:t>Example: US Dollars and British Pounds</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448799" cy="4648200"/>
          </a:xfrm>
        </p:spPr>
        <p:txBody>
          <a:bodyPr>
            <a:normAutofit/>
          </a:bodyPr>
          <a:lstStyle/>
          <a:p>
            <a:pPr marL="0" indent="0">
              <a:buNone/>
            </a:pPr>
            <a:r>
              <a:rPr lang="en-US" sz="3200" dirty="0">
                <a:latin typeface="National semibold" panose="02000503000000020004"/>
              </a:rPr>
              <a:t>Exchange rate = 1.2 Dollars/Pound</a:t>
            </a:r>
          </a:p>
          <a:p>
            <a:pPr marL="0" indent="0">
              <a:buNone/>
            </a:pPr>
            <a:endParaRPr lang="en-US" sz="3500" dirty="0">
              <a:latin typeface="National semibold" panose="02000503000000020004"/>
            </a:endParaRPr>
          </a:p>
        </p:txBody>
      </p:sp>
      <p:pic>
        <p:nvPicPr>
          <p:cNvPr id="12" name="Picture 11" descr="A close up of text on a black background&#10;&#10;Description automatically generated">
            <a:extLst>
              <a:ext uri="{FF2B5EF4-FFF2-40B4-BE49-F238E27FC236}">
                <a16:creationId xmlns:a16="http://schemas.microsoft.com/office/drawing/2014/main" id="{08A05394-D35D-4C4B-80AA-575B2D066DAF}"/>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284412" y="2209800"/>
            <a:ext cx="2286000" cy="2286000"/>
          </a:xfrm>
          <a:prstGeom prst="rect">
            <a:avLst/>
          </a:prstGeom>
        </p:spPr>
      </p:pic>
      <p:sp>
        <p:nvSpPr>
          <p:cNvPr id="14" name="Arrow: Right 13">
            <a:extLst>
              <a:ext uri="{FF2B5EF4-FFF2-40B4-BE49-F238E27FC236}">
                <a16:creationId xmlns:a16="http://schemas.microsoft.com/office/drawing/2014/main" id="{965743FF-C1EA-4405-B392-847B60FAA256}"/>
              </a:ext>
            </a:extLst>
          </p:cNvPr>
          <p:cNvSpPr/>
          <p:nvPr/>
        </p:nvSpPr>
        <p:spPr>
          <a:xfrm>
            <a:off x="4776152" y="3341132"/>
            <a:ext cx="192786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1F1B52B-9A8D-4381-A0CD-0425C077C9EF}"/>
              </a:ext>
            </a:extLst>
          </p:cNvPr>
          <p:cNvSpPr txBox="1"/>
          <p:nvPr/>
        </p:nvSpPr>
        <p:spPr>
          <a:xfrm>
            <a:off x="4799012" y="2998708"/>
            <a:ext cx="1671996" cy="369332"/>
          </a:xfrm>
          <a:prstGeom prst="rect">
            <a:avLst/>
          </a:prstGeom>
          <a:noFill/>
        </p:spPr>
        <p:txBody>
          <a:bodyPr wrap="none" rtlCol="0">
            <a:spAutoFit/>
          </a:bodyPr>
          <a:lstStyle/>
          <a:p>
            <a:r>
              <a:rPr lang="en-US" dirty="0">
                <a:latin typeface="National semibold" panose="02000503000000020004"/>
              </a:rPr>
              <a:t>I pay 1.2 Dollars</a:t>
            </a:r>
          </a:p>
        </p:txBody>
      </p:sp>
      <p:sp>
        <p:nvSpPr>
          <p:cNvPr id="2" name="Arrow: Left 1">
            <a:extLst>
              <a:ext uri="{FF2B5EF4-FFF2-40B4-BE49-F238E27FC236}">
                <a16:creationId xmlns:a16="http://schemas.microsoft.com/office/drawing/2014/main" id="{2E0A160C-048E-482F-BDEE-8015B2850D67}"/>
              </a:ext>
            </a:extLst>
          </p:cNvPr>
          <p:cNvSpPr/>
          <p:nvPr/>
        </p:nvSpPr>
        <p:spPr>
          <a:xfrm>
            <a:off x="5399163" y="5410200"/>
            <a:ext cx="1914449" cy="3048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9FD6563-BAA9-4FE6-B912-3FAFED91B568}"/>
              </a:ext>
            </a:extLst>
          </p:cNvPr>
          <p:cNvSpPr txBox="1"/>
          <p:nvPr/>
        </p:nvSpPr>
        <p:spPr>
          <a:xfrm>
            <a:off x="5484812" y="5105400"/>
            <a:ext cx="1853136" cy="369332"/>
          </a:xfrm>
          <a:prstGeom prst="rect">
            <a:avLst/>
          </a:prstGeom>
          <a:noFill/>
        </p:spPr>
        <p:txBody>
          <a:bodyPr wrap="none" rtlCol="0">
            <a:spAutoFit/>
          </a:bodyPr>
          <a:lstStyle/>
          <a:p>
            <a:r>
              <a:rPr lang="en-US" dirty="0">
                <a:latin typeface="National semibold" panose="02000503000000020004"/>
              </a:rPr>
              <a:t>I receive 1 Pound</a:t>
            </a:r>
          </a:p>
        </p:txBody>
      </p:sp>
      <p:pic>
        <p:nvPicPr>
          <p:cNvPr id="5" name="Picture 4" descr="Text, calendar&#10;&#10;Description automatically generated">
            <a:extLst>
              <a:ext uri="{FF2B5EF4-FFF2-40B4-BE49-F238E27FC236}">
                <a16:creationId xmlns:a16="http://schemas.microsoft.com/office/drawing/2014/main" id="{85E71176-61D0-44DF-B54B-B52B1D0F18EB}"/>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605995" y="4648200"/>
            <a:ext cx="1917417" cy="1590275"/>
          </a:xfrm>
          <a:prstGeom prst="rect">
            <a:avLst/>
          </a:prstGeom>
        </p:spPr>
      </p:pic>
    </p:spTree>
    <p:extLst>
      <p:ext uri="{BB962C8B-B14F-4D97-AF65-F5344CB8AC3E}">
        <p14:creationId xmlns:p14="http://schemas.microsoft.com/office/powerpoint/2010/main" val="3748640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P spid="2" grpId="0" animBg="1"/>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chor="ctr">
            <a:normAutofit/>
          </a:bodyPr>
          <a:lstStyle/>
          <a:p>
            <a:r>
              <a:rPr lang="en-US" sz="4000" b="1" dirty="0">
                <a:latin typeface="National semibold" panose="02000503000000020004"/>
              </a:rPr>
              <a:t>How does the foreign exchange market work?</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2" y="1828800"/>
            <a:ext cx="9334193" cy="4648200"/>
          </a:xfrm>
        </p:spPr>
        <p:txBody>
          <a:bodyPr>
            <a:normAutofit/>
          </a:bodyPr>
          <a:lstStyle/>
          <a:p>
            <a:pPr marL="0" indent="0">
              <a:buNone/>
            </a:pPr>
            <a:endParaRPr lang="en-US" sz="3500" dirty="0">
              <a:latin typeface="National semibold" panose="02000503000000020004"/>
            </a:endParaRPr>
          </a:p>
          <a:p>
            <a:pPr marL="0" indent="0">
              <a:buNone/>
            </a:pPr>
            <a:r>
              <a:rPr lang="en-US" dirty="0">
                <a:latin typeface="National semibold" panose="02000503000000020004"/>
              </a:rPr>
              <a:t>As any other market, the foreign exchange market is characterized by the interaction of demand and supply. </a:t>
            </a:r>
          </a:p>
          <a:p>
            <a:pPr marL="0" indent="0">
              <a:buNone/>
            </a:pPr>
            <a:endParaRPr lang="en-US" dirty="0">
              <a:latin typeface="National semibold" panose="02000503000000020004"/>
            </a:endParaRPr>
          </a:p>
          <a:p>
            <a:pPr marL="0" indent="0">
              <a:buNone/>
            </a:pPr>
            <a:r>
              <a:rPr lang="en-US" dirty="0">
                <a:latin typeface="National semibold" panose="02000503000000020004"/>
              </a:rPr>
              <a:t>The price for the currency or foreign exchange rate equalizes demand and supply.</a:t>
            </a:r>
          </a:p>
        </p:txBody>
      </p:sp>
    </p:spTree>
    <p:extLst>
      <p:ext uri="{BB962C8B-B14F-4D97-AF65-F5344CB8AC3E}">
        <p14:creationId xmlns:p14="http://schemas.microsoft.com/office/powerpoint/2010/main" val="3869832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drawing&#10;&#10;Description automatically generated">
            <a:extLst>
              <a:ext uri="{FF2B5EF4-FFF2-40B4-BE49-F238E27FC236}">
                <a16:creationId xmlns:a16="http://schemas.microsoft.com/office/drawing/2014/main" id="{D770C4D7-23C8-4B44-8F1A-7E80EA0F7F9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665412" y="1828800"/>
            <a:ext cx="7848600" cy="4689291"/>
          </a:xfrm>
          <a:prstGeom prst="rect">
            <a:avLst/>
          </a:prstGeom>
        </p:spPr>
      </p:pic>
      <p:sp>
        <p:nvSpPr>
          <p:cNvPr id="15" name="Title 12">
            <a:extLst>
              <a:ext uri="{FF2B5EF4-FFF2-40B4-BE49-F238E27FC236}">
                <a16:creationId xmlns:a16="http://schemas.microsoft.com/office/drawing/2014/main" id="{57BD4C4E-151D-4911-B437-3C7B506C8D40}"/>
              </a:ext>
            </a:extLst>
          </p:cNvPr>
          <p:cNvSpPr>
            <a:spLocks noGrp="1"/>
          </p:cNvSpPr>
          <p:nvPr>
            <p:ph type="title"/>
          </p:nvPr>
        </p:nvSpPr>
        <p:spPr>
          <a:xfrm>
            <a:off x="1522413" y="381000"/>
            <a:ext cx="9829799" cy="1219200"/>
          </a:xfrm>
        </p:spPr>
        <p:txBody>
          <a:bodyPr anchor="ctr">
            <a:normAutofit/>
          </a:bodyPr>
          <a:lstStyle/>
          <a:p>
            <a:r>
              <a:rPr lang="en-US" sz="4000" b="1" dirty="0">
                <a:latin typeface="National semibold" panose="02000503000000020004"/>
              </a:rPr>
              <a:t>Demand for British Pounds, </a:t>
            </a:r>
            <a:r>
              <a:rPr lang="en-US" sz="4000" dirty="0">
                <a:latin typeface="National semibold" panose="02000503000000020004"/>
                <a:cs typeface="Times New Roman" pitchFamily="18" charset="0"/>
              </a:rPr>
              <a:t>£</a:t>
            </a:r>
            <a:endParaRPr lang="en-US" sz="4000" b="1" dirty="0">
              <a:latin typeface="National semibold" panose="02000503000000020004"/>
            </a:endParaRPr>
          </a:p>
        </p:txBody>
      </p:sp>
      <p:pic>
        <p:nvPicPr>
          <p:cNvPr id="17" name="Picture 16" descr="A picture containing calendar&#10;&#10;Description automatically generated">
            <a:extLst>
              <a:ext uri="{FF2B5EF4-FFF2-40B4-BE49-F238E27FC236}">
                <a16:creationId xmlns:a16="http://schemas.microsoft.com/office/drawing/2014/main" id="{0D15CB13-BC76-4098-82E8-0E9B64D00FCD}"/>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5789612" y="1905000"/>
            <a:ext cx="1600200" cy="1066800"/>
          </a:xfrm>
          <a:prstGeom prst="rect">
            <a:avLst/>
          </a:prstGeom>
        </p:spPr>
      </p:pic>
      <p:sp>
        <p:nvSpPr>
          <p:cNvPr id="18" name="Arrow: Curved Down 17" descr="Imports&#10;">
            <a:extLst>
              <a:ext uri="{FF2B5EF4-FFF2-40B4-BE49-F238E27FC236}">
                <a16:creationId xmlns:a16="http://schemas.microsoft.com/office/drawing/2014/main" id="{9CE1B942-33BA-4A28-94A6-6EC8DA91E1E3}"/>
              </a:ext>
            </a:extLst>
          </p:cNvPr>
          <p:cNvSpPr/>
          <p:nvPr/>
        </p:nvSpPr>
        <p:spPr>
          <a:xfrm rot="10112495">
            <a:off x="3958224" y="3988290"/>
            <a:ext cx="2590800" cy="285977"/>
          </a:xfrm>
          <a:prstGeom prst="curvedDownArrow">
            <a:avLst/>
          </a:prstGeom>
          <a:ln>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TextBox 18">
            <a:extLst>
              <a:ext uri="{FF2B5EF4-FFF2-40B4-BE49-F238E27FC236}">
                <a16:creationId xmlns:a16="http://schemas.microsoft.com/office/drawing/2014/main" id="{B90DEAB1-6C2A-4DF3-8A2E-595D83D101D5}"/>
              </a:ext>
            </a:extLst>
          </p:cNvPr>
          <p:cNvSpPr txBox="1"/>
          <p:nvPr/>
        </p:nvSpPr>
        <p:spPr>
          <a:xfrm rot="20911937">
            <a:off x="4123039" y="4205591"/>
            <a:ext cx="2506713" cy="523220"/>
          </a:xfrm>
          <a:prstGeom prst="rect">
            <a:avLst/>
          </a:prstGeom>
          <a:noFill/>
        </p:spPr>
        <p:txBody>
          <a:bodyPr wrap="none" rtlCol="0">
            <a:spAutoFit/>
          </a:bodyPr>
          <a:lstStyle/>
          <a:p>
            <a:pPr algn="ctr"/>
            <a:r>
              <a:rPr lang="en-US" sz="1400" dirty="0">
                <a:latin typeface="National semibold" panose="02000503000000020004"/>
              </a:rPr>
              <a:t>US Imports from UK; Purchases</a:t>
            </a:r>
          </a:p>
          <a:p>
            <a:pPr algn="ctr"/>
            <a:r>
              <a:rPr lang="en-US" sz="1400" dirty="0">
                <a:latin typeface="National semibold" panose="02000503000000020004"/>
              </a:rPr>
              <a:t>of shares of UK businesses; etc. </a:t>
            </a:r>
          </a:p>
        </p:txBody>
      </p:sp>
      <p:sp>
        <p:nvSpPr>
          <p:cNvPr id="20" name="Arrow: Curved Down 19" descr="Imports&#10;">
            <a:extLst>
              <a:ext uri="{FF2B5EF4-FFF2-40B4-BE49-F238E27FC236}">
                <a16:creationId xmlns:a16="http://schemas.microsoft.com/office/drawing/2014/main" id="{A8032A99-83B9-476D-AA9F-FB87DF6E15C0}"/>
              </a:ext>
            </a:extLst>
          </p:cNvPr>
          <p:cNvSpPr/>
          <p:nvPr/>
        </p:nvSpPr>
        <p:spPr>
          <a:xfrm rot="20843701">
            <a:off x="3906195" y="3563047"/>
            <a:ext cx="2590800" cy="285977"/>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TextBox 24">
            <a:extLst>
              <a:ext uri="{FF2B5EF4-FFF2-40B4-BE49-F238E27FC236}">
                <a16:creationId xmlns:a16="http://schemas.microsoft.com/office/drawing/2014/main" id="{82A4CDEE-EA33-44B9-899A-8388868C7C4E}"/>
              </a:ext>
            </a:extLst>
          </p:cNvPr>
          <p:cNvSpPr txBox="1"/>
          <p:nvPr/>
        </p:nvSpPr>
        <p:spPr>
          <a:xfrm rot="20911937">
            <a:off x="4743063" y="3513168"/>
            <a:ext cx="1107804" cy="523220"/>
          </a:xfrm>
          <a:prstGeom prst="rect">
            <a:avLst/>
          </a:prstGeom>
          <a:noFill/>
        </p:spPr>
        <p:txBody>
          <a:bodyPr wrap="none" rtlCol="0">
            <a:spAutoFit/>
          </a:bodyPr>
          <a:lstStyle/>
          <a:p>
            <a:pPr algn="ctr"/>
            <a:r>
              <a:rPr lang="en-US" sz="1400" dirty="0">
                <a:latin typeface="National semibold" panose="02000503000000020004"/>
              </a:rPr>
              <a:t>US payment </a:t>
            </a:r>
          </a:p>
          <a:p>
            <a:pPr algn="ctr"/>
            <a:r>
              <a:rPr lang="en-US" sz="1400" dirty="0">
                <a:latin typeface="National semibold" panose="02000503000000020004"/>
              </a:rPr>
              <a:t>in Pounds</a:t>
            </a:r>
          </a:p>
        </p:txBody>
      </p:sp>
    </p:spTree>
    <p:extLst>
      <p:ext uri="{BB962C8B-B14F-4D97-AF65-F5344CB8AC3E}">
        <p14:creationId xmlns:p14="http://schemas.microsoft.com/office/powerpoint/2010/main" val="2299017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20" grpId="0" animBg="1"/>
      <p:bldP spid="2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950C-7AF9-4E9F-9A10-E0F992107E85}"/>
              </a:ext>
            </a:extLst>
          </p:cNvPr>
          <p:cNvSpPr>
            <a:spLocks noGrp="1"/>
          </p:cNvSpPr>
          <p:nvPr>
            <p:ph type="title"/>
          </p:nvPr>
        </p:nvSpPr>
        <p:spPr>
          <a:xfrm>
            <a:off x="1674819" y="381000"/>
            <a:ext cx="9677393" cy="1219200"/>
          </a:xfrm>
        </p:spPr>
        <p:txBody>
          <a:bodyPr anchor="ctr"/>
          <a:lstStyle/>
          <a:p>
            <a:r>
              <a:rPr lang="en-US" dirty="0">
                <a:latin typeface="National semibold" panose="02000503000000020004"/>
              </a:rPr>
              <a:t>Demand for Pounds (</a:t>
            </a:r>
            <a:r>
              <a:rPr lang="en-US" dirty="0">
                <a:latin typeface="National semibold" panose="02000503000000020004"/>
                <a:cs typeface="Times New Roman" pitchFamily="18" charset="0"/>
              </a:rPr>
              <a:t>£)</a:t>
            </a:r>
            <a:r>
              <a:rPr lang="en-US" dirty="0">
                <a:latin typeface="National semibold" panose="02000503000000020004"/>
              </a:rPr>
              <a:t> in exchange of Dollars ($)</a:t>
            </a:r>
          </a:p>
        </p:txBody>
      </p:sp>
      <p:sp>
        <p:nvSpPr>
          <p:cNvPr id="5" name="Line 41">
            <a:extLst>
              <a:ext uri="{FF2B5EF4-FFF2-40B4-BE49-F238E27FC236}">
                <a16:creationId xmlns:a16="http://schemas.microsoft.com/office/drawing/2014/main" id="{CD87B30C-4474-4A46-AD25-97E0E04AC818}"/>
              </a:ext>
            </a:extLst>
          </p:cNvPr>
          <p:cNvSpPr>
            <a:spLocks noChangeShapeType="1"/>
          </p:cNvSpPr>
          <p:nvPr/>
        </p:nvSpPr>
        <p:spPr bwMode="auto">
          <a:xfrm flipV="1">
            <a:off x="4151312" y="2163762"/>
            <a:ext cx="0" cy="3810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 name="Line 42">
            <a:extLst>
              <a:ext uri="{FF2B5EF4-FFF2-40B4-BE49-F238E27FC236}">
                <a16:creationId xmlns:a16="http://schemas.microsoft.com/office/drawing/2014/main" id="{66D00810-EF65-45D7-A4CE-340ABC2ED3D2}"/>
              </a:ext>
            </a:extLst>
          </p:cNvPr>
          <p:cNvSpPr>
            <a:spLocks noChangeShapeType="1"/>
          </p:cNvSpPr>
          <p:nvPr/>
        </p:nvSpPr>
        <p:spPr bwMode="auto">
          <a:xfrm>
            <a:off x="3998912" y="5897562"/>
            <a:ext cx="44577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 name="Text Box 45">
            <a:extLst>
              <a:ext uri="{FF2B5EF4-FFF2-40B4-BE49-F238E27FC236}">
                <a16:creationId xmlns:a16="http://schemas.microsoft.com/office/drawing/2014/main" id="{22EAA22F-2BF7-4AD9-A119-0A2060E3A271}"/>
              </a:ext>
            </a:extLst>
          </p:cNvPr>
          <p:cNvSpPr txBox="1">
            <a:spLocks noChangeArrowheads="1"/>
          </p:cNvSpPr>
          <p:nvPr/>
        </p:nvSpPr>
        <p:spPr bwMode="auto">
          <a:xfrm>
            <a:off x="5049837" y="38512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endParaRPr lang="en-US" sz="1400">
              <a:latin typeface="Times New Roman" pitchFamily="18" charset="0"/>
            </a:endParaRPr>
          </a:p>
        </p:txBody>
      </p:sp>
      <p:sp>
        <p:nvSpPr>
          <p:cNvPr id="9" name="Line 46">
            <a:extLst>
              <a:ext uri="{FF2B5EF4-FFF2-40B4-BE49-F238E27FC236}">
                <a16:creationId xmlns:a16="http://schemas.microsoft.com/office/drawing/2014/main" id="{3CF29B7C-9803-4558-84FE-7DC724213532}"/>
              </a:ext>
            </a:extLst>
          </p:cNvPr>
          <p:cNvSpPr>
            <a:spLocks noChangeShapeType="1"/>
          </p:cNvSpPr>
          <p:nvPr/>
        </p:nvSpPr>
        <p:spPr bwMode="auto">
          <a:xfrm>
            <a:off x="4773612" y="3014662"/>
            <a:ext cx="19812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 name="Text Box 58">
            <a:extLst>
              <a:ext uri="{FF2B5EF4-FFF2-40B4-BE49-F238E27FC236}">
                <a16:creationId xmlns:a16="http://schemas.microsoft.com/office/drawing/2014/main" id="{EE484041-60AC-4B2D-A5F7-4FF1C6213010}"/>
              </a:ext>
            </a:extLst>
          </p:cNvPr>
          <p:cNvSpPr txBox="1">
            <a:spLocks noChangeArrowheads="1"/>
          </p:cNvSpPr>
          <p:nvPr/>
        </p:nvSpPr>
        <p:spPr bwMode="auto">
          <a:xfrm>
            <a:off x="7275512" y="5924550"/>
            <a:ext cx="1257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sz="1400" dirty="0">
                <a:latin typeface="National semibold" panose="02000503000000020004"/>
              </a:rPr>
              <a:t>Billions of </a:t>
            </a:r>
            <a:r>
              <a:rPr lang="en-US" dirty="0">
                <a:latin typeface="National semibold" panose="02000503000000020004"/>
                <a:cs typeface="Times New Roman" pitchFamily="18" charset="0"/>
              </a:rPr>
              <a:t>£</a:t>
            </a:r>
            <a:endParaRPr lang="en-US" sz="1400" dirty="0">
              <a:latin typeface="National semibold" panose="02000503000000020004"/>
            </a:endParaRPr>
          </a:p>
        </p:txBody>
      </p:sp>
      <p:sp>
        <p:nvSpPr>
          <p:cNvPr id="23" name="Text Box 60">
            <a:extLst>
              <a:ext uri="{FF2B5EF4-FFF2-40B4-BE49-F238E27FC236}">
                <a16:creationId xmlns:a16="http://schemas.microsoft.com/office/drawing/2014/main" id="{320C3676-344C-4764-8B4D-E12FD8F0FAB7}"/>
              </a:ext>
            </a:extLst>
          </p:cNvPr>
          <p:cNvSpPr txBox="1">
            <a:spLocks noChangeArrowheads="1"/>
          </p:cNvSpPr>
          <p:nvPr/>
        </p:nvSpPr>
        <p:spPr bwMode="auto">
          <a:xfrm>
            <a:off x="3101974" y="2362200"/>
            <a:ext cx="9124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dirty="0">
                <a:latin typeface="National semibold" panose="02000503000000020004"/>
                <a:cs typeface="Times New Roman" pitchFamily="18" charset="0"/>
              </a:rPr>
              <a:t>$ per £</a:t>
            </a:r>
            <a:endParaRPr lang="en-US" dirty="0">
              <a:latin typeface="National semibold" panose="02000503000000020004"/>
            </a:endParaRPr>
          </a:p>
        </p:txBody>
      </p:sp>
    </p:spTree>
    <p:extLst>
      <p:ext uri="{BB962C8B-B14F-4D97-AF65-F5344CB8AC3E}">
        <p14:creationId xmlns:p14="http://schemas.microsoft.com/office/powerpoint/2010/main" val="818217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drawing&#10;&#10;Description automatically generated">
            <a:extLst>
              <a:ext uri="{FF2B5EF4-FFF2-40B4-BE49-F238E27FC236}">
                <a16:creationId xmlns:a16="http://schemas.microsoft.com/office/drawing/2014/main" id="{D770C4D7-23C8-4B44-8F1A-7E80EA0F7F9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665412" y="1828800"/>
            <a:ext cx="7848600" cy="4689291"/>
          </a:xfrm>
          <a:prstGeom prst="rect">
            <a:avLst/>
          </a:prstGeom>
        </p:spPr>
      </p:pic>
      <p:sp>
        <p:nvSpPr>
          <p:cNvPr id="15" name="Title 12">
            <a:extLst>
              <a:ext uri="{FF2B5EF4-FFF2-40B4-BE49-F238E27FC236}">
                <a16:creationId xmlns:a16="http://schemas.microsoft.com/office/drawing/2014/main" id="{57BD4C4E-151D-4911-B437-3C7B506C8D40}"/>
              </a:ext>
            </a:extLst>
          </p:cNvPr>
          <p:cNvSpPr>
            <a:spLocks noGrp="1"/>
          </p:cNvSpPr>
          <p:nvPr>
            <p:ph type="title"/>
          </p:nvPr>
        </p:nvSpPr>
        <p:spPr>
          <a:xfrm>
            <a:off x="1522413" y="381000"/>
            <a:ext cx="9829799" cy="1219200"/>
          </a:xfrm>
        </p:spPr>
        <p:txBody>
          <a:bodyPr anchor="ctr">
            <a:normAutofit/>
          </a:bodyPr>
          <a:lstStyle/>
          <a:p>
            <a:r>
              <a:rPr lang="en-US" sz="4000" b="1" dirty="0">
                <a:latin typeface="National semibold" panose="02000503000000020004"/>
              </a:rPr>
              <a:t>Supply of British Pounds, </a:t>
            </a:r>
            <a:r>
              <a:rPr lang="en-US" sz="4000" dirty="0">
                <a:latin typeface="National semibold" panose="02000503000000020004"/>
                <a:cs typeface="Times New Roman" pitchFamily="18" charset="0"/>
              </a:rPr>
              <a:t>£</a:t>
            </a:r>
            <a:endParaRPr lang="en-US" sz="4000" b="1" dirty="0">
              <a:latin typeface="National semibold" panose="02000503000000020004"/>
            </a:endParaRPr>
          </a:p>
        </p:txBody>
      </p:sp>
      <p:pic>
        <p:nvPicPr>
          <p:cNvPr id="17" name="Picture 16" descr="A picture containing calendar&#10;&#10;Description automatically generated">
            <a:extLst>
              <a:ext uri="{FF2B5EF4-FFF2-40B4-BE49-F238E27FC236}">
                <a16:creationId xmlns:a16="http://schemas.microsoft.com/office/drawing/2014/main" id="{0D15CB13-BC76-4098-82E8-0E9B64D00FCD}"/>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5789612" y="1905000"/>
            <a:ext cx="1600200" cy="1066800"/>
          </a:xfrm>
          <a:prstGeom prst="rect">
            <a:avLst/>
          </a:prstGeom>
        </p:spPr>
      </p:pic>
      <p:sp>
        <p:nvSpPr>
          <p:cNvPr id="18" name="Arrow: Curved Down 17" descr="Imports&#10;">
            <a:extLst>
              <a:ext uri="{FF2B5EF4-FFF2-40B4-BE49-F238E27FC236}">
                <a16:creationId xmlns:a16="http://schemas.microsoft.com/office/drawing/2014/main" id="{9CE1B942-33BA-4A28-94A6-6EC8DA91E1E3}"/>
              </a:ext>
            </a:extLst>
          </p:cNvPr>
          <p:cNvSpPr/>
          <p:nvPr/>
        </p:nvSpPr>
        <p:spPr>
          <a:xfrm rot="10112495" flipV="1">
            <a:off x="3901153" y="3705422"/>
            <a:ext cx="2590800" cy="288593"/>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TextBox 18">
            <a:extLst>
              <a:ext uri="{FF2B5EF4-FFF2-40B4-BE49-F238E27FC236}">
                <a16:creationId xmlns:a16="http://schemas.microsoft.com/office/drawing/2014/main" id="{B90DEAB1-6C2A-4DF3-8A2E-595D83D101D5}"/>
              </a:ext>
            </a:extLst>
          </p:cNvPr>
          <p:cNvSpPr txBox="1"/>
          <p:nvPr/>
        </p:nvSpPr>
        <p:spPr>
          <a:xfrm rot="20911937">
            <a:off x="4219881" y="4285564"/>
            <a:ext cx="2508892" cy="523220"/>
          </a:xfrm>
          <a:prstGeom prst="rect">
            <a:avLst/>
          </a:prstGeom>
          <a:noFill/>
        </p:spPr>
        <p:txBody>
          <a:bodyPr wrap="none" rtlCol="0">
            <a:spAutoFit/>
          </a:bodyPr>
          <a:lstStyle/>
          <a:p>
            <a:pPr algn="ctr"/>
            <a:r>
              <a:rPr lang="en-US" sz="1400" dirty="0">
                <a:latin typeface="National semibold" panose="02000503000000020004"/>
              </a:rPr>
              <a:t>UK Imports from US; </a:t>
            </a:r>
          </a:p>
          <a:p>
            <a:pPr algn="ctr"/>
            <a:r>
              <a:rPr lang="en-US" sz="1400" dirty="0">
                <a:latin typeface="National semibold" panose="02000503000000020004"/>
              </a:rPr>
              <a:t>Purchases of US treasuries; etc. </a:t>
            </a:r>
          </a:p>
        </p:txBody>
      </p:sp>
      <p:sp>
        <p:nvSpPr>
          <p:cNvPr id="20" name="Arrow: Curved Down 19" descr="Imports&#10;">
            <a:extLst>
              <a:ext uri="{FF2B5EF4-FFF2-40B4-BE49-F238E27FC236}">
                <a16:creationId xmlns:a16="http://schemas.microsoft.com/office/drawing/2014/main" id="{A8032A99-83B9-476D-AA9F-FB87DF6E15C0}"/>
              </a:ext>
            </a:extLst>
          </p:cNvPr>
          <p:cNvSpPr/>
          <p:nvPr/>
        </p:nvSpPr>
        <p:spPr>
          <a:xfrm rot="20843701" flipV="1">
            <a:off x="4036905" y="4081847"/>
            <a:ext cx="2590800" cy="28712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TextBox 24">
            <a:extLst>
              <a:ext uri="{FF2B5EF4-FFF2-40B4-BE49-F238E27FC236}">
                <a16:creationId xmlns:a16="http://schemas.microsoft.com/office/drawing/2014/main" id="{82A4CDEE-EA33-44B9-899A-8388868C7C4E}"/>
              </a:ext>
            </a:extLst>
          </p:cNvPr>
          <p:cNvSpPr txBox="1"/>
          <p:nvPr/>
        </p:nvSpPr>
        <p:spPr>
          <a:xfrm rot="20911937">
            <a:off x="4702192" y="3630951"/>
            <a:ext cx="1189556" cy="523220"/>
          </a:xfrm>
          <a:prstGeom prst="rect">
            <a:avLst/>
          </a:prstGeom>
          <a:noFill/>
        </p:spPr>
        <p:txBody>
          <a:bodyPr wrap="none" rtlCol="0">
            <a:spAutoFit/>
          </a:bodyPr>
          <a:lstStyle/>
          <a:p>
            <a:pPr algn="ctr"/>
            <a:r>
              <a:rPr lang="en-US" sz="1400" dirty="0">
                <a:latin typeface="National semibold" panose="02000503000000020004"/>
              </a:rPr>
              <a:t> UK payments</a:t>
            </a:r>
          </a:p>
          <a:p>
            <a:pPr algn="ctr"/>
            <a:r>
              <a:rPr lang="en-US" sz="1400" dirty="0">
                <a:latin typeface="National semibold" panose="02000503000000020004"/>
              </a:rPr>
              <a:t>in Dollars</a:t>
            </a:r>
          </a:p>
        </p:txBody>
      </p:sp>
    </p:spTree>
    <p:extLst>
      <p:ext uri="{BB962C8B-B14F-4D97-AF65-F5344CB8AC3E}">
        <p14:creationId xmlns:p14="http://schemas.microsoft.com/office/powerpoint/2010/main" val="3405976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20" grpId="0" animBg="1"/>
      <p:bldP spid="2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950C-7AF9-4E9F-9A10-E0F992107E85}"/>
              </a:ext>
            </a:extLst>
          </p:cNvPr>
          <p:cNvSpPr>
            <a:spLocks noGrp="1"/>
          </p:cNvSpPr>
          <p:nvPr>
            <p:ph type="title"/>
          </p:nvPr>
        </p:nvSpPr>
        <p:spPr>
          <a:xfrm>
            <a:off x="1674819" y="381000"/>
            <a:ext cx="9677393" cy="1219200"/>
          </a:xfrm>
        </p:spPr>
        <p:txBody>
          <a:bodyPr anchor="ctr"/>
          <a:lstStyle/>
          <a:p>
            <a:r>
              <a:rPr lang="en-US" dirty="0">
                <a:latin typeface="National semibold" panose="02000503000000020004"/>
              </a:rPr>
              <a:t>Supply of Pounds (</a:t>
            </a:r>
            <a:r>
              <a:rPr lang="en-US" dirty="0">
                <a:latin typeface="National semibold" panose="02000503000000020004"/>
                <a:cs typeface="Times New Roman" pitchFamily="18" charset="0"/>
              </a:rPr>
              <a:t>£)</a:t>
            </a:r>
            <a:r>
              <a:rPr lang="en-US" dirty="0">
                <a:latin typeface="National semibold" panose="02000503000000020004"/>
              </a:rPr>
              <a:t> in exchange of Dollars ($)</a:t>
            </a:r>
          </a:p>
        </p:txBody>
      </p:sp>
      <p:sp>
        <p:nvSpPr>
          <p:cNvPr id="5" name="Line 41">
            <a:extLst>
              <a:ext uri="{FF2B5EF4-FFF2-40B4-BE49-F238E27FC236}">
                <a16:creationId xmlns:a16="http://schemas.microsoft.com/office/drawing/2014/main" id="{CD87B30C-4474-4A46-AD25-97E0E04AC818}"/>
              </a:ext>
            </a:extLst>
          </p:cNvPr>
          <p:cNvSpPr>
            <a:spLocks noChangeShapeType="1"/>
          </p:cNvSpPr>
          <p:nvPr/>
        </p:nvSpPr>
        <p:spPr bwMode="auto">
          <a:xfrm flipV="1">
            <a:off x="4151312" y="2163762"/>
            <a:ext cx="0" cy="3810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 name="Line 42">
            <a:extLst>
              <a:ext uri="{FF2B5EF4-FFF2-40B4-BE49-F238E27FC236}">
                <a16:creationId xmlns:a16="http://schemas.microsoft.com/office/drawing/2014/main" id="{66D00810-EF65-45D7-A4CE-340ABC2ED3D2}"/>
              </a:ext>
            </a:extLst>
          </p:cNvPr>
          <p:cNvSpPr>
            <a:spLocks noChangeShapeType="1"/>
          </p:cNvSpPr>
          <p:nvPr/>
        </p:nvSpPr>
        <p:spPr bwMode="auto">
          <a:xfrm>
            <a:off x="3998912" y="5897562"/>
            <a:ext cx="44577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 name="Text Box 45">
            <a:extLst>
              <a:ext uri="{FF2B5EF4-FFF2-40B4-BE49-F238E27FC236}">
                <a16:creationId xmlns:a16="http://schemas.microsoft.com/office/drawing/2014/main" id="{22EAA22F-2BF7-4AD9-A119-0A2060E3A271}"/>
              </a:ext>
            </a:extLst>
          </p:cNvPr>
          <p:cNvSpPr txBox="1">
            <a:spLocks noChangeArrowheads="1"/>
          </p:cNvSpPr>
          <p:nvPr/>
        </p:nvSpPr>
        <p:spPr bwMode="auto">
          <a:xfrm>
            <a:off x="5049837" y="38512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endParaRPr lang="en-US" sz="1400">
              <a:latin typeface="Times New Roman" pitchFamily="18" charset="0"/>
            </a:endParaRPr>
          </a:p>
        </p:txBody>
      </p:sp>
      <p:sp>
        <p:nvSpPr>
          <p:cNvPr id="21" name="Text Box 58">
            <a:extLst>
              <a:ext uri="{FF2B5EF4-FFF2-40B4-BE49-F238E27FC236}">
                <a16:creationId xmlns:a16="http://schemas.microsoft.com/office/drawing/2014/main" id="{EE484041-60AC-4B2D-A5F7-4FF1C6213010}"/>
              </a:ext>
            </a:extLst>
          </p:cNvPr>
          <p:cNvSpPr txBox="1">
            <a:spLocks noChangeArrowheads="1"/>
          </p:cNvSpPr>
          <p:nvPr/>
        </p:nvSpPr>
        <p:spPr bwMode="auto">
          <a:xfrm>
            <a:off x="7275512" y="5924550"/>
            <a:ext cx="1257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sz="1400" dirty="0">
                <a:latin typeface="National semibold" panose="02000503000000020004"/>
              </a:rPr>
              <a:t>Billions of </a:t>
            </a:r>
            <a:r>
              <a:rPr lang="en-US" dirty="0">
                <a:latin typeface="National semibold" panose="02000503000000020004"/>
                <a:cs typeface="Times New Roman" pitchFamily="18" charset="0"/>
              </a:rPr>
              <a:t>£</a:t>
            </a:r>
            <a:endParaRPr lang="en-US" sz="1400" dirty="0">
              <a:latin typeface="National semibold" panose="02000503000000020004"/>
            </a:endParaRPr>
          </a:p>
        </p:txBody>
      </p:sp>
      <p:sp>
        <p:nvSpPr>
          <p:cNvPr id="3" name="Line 47">
            <a:extLst>
              <a:ext uri="{FF2B5EF4-FFF2-40B4-BE49-F238E27FC236}">
                <a16:creationId xmlns:a16="http://schemas.microsoft.com/office/drawing/2014/main" id="{8EC01CAE-92CD-4C20-A1B4-AB57917BF0D6}"/>
              </a:ext>
            </a:extLst>
          </p:cNvPr>
          <p:cNvSpPr>
            <a:spLocks noChangeShapeType="1"/>
          </p:cNvSpPr>
          <p:nvPr/>
        </p:nvSpPr>
        <p:spPr bwMode="auto">
          <a:xfrm flipH="1">
            <a:off x="4697412" y="3001962"/>
            <a:ext cx="20574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 name="Text Box 60">
            <a:extLst>
              <a:ext uri="{FF2B5EF4-FFF2-40B4-BE49-F238E27FC236}">
                <a16:creationId xmlns:a16="http://schemas.microsoft.com/office/drawing/2014/main" id="{4DF17809-B595-44BF-93F2-2D6A6A899469}"/>
              </a:ext>
            </a:extLst>
          </p:cNvPr>
          <p:cNvSpPr txBox="1">
            <a:spLocks noChangeArrowheads="1"/>
          </p:cNvSpPr>
          <p:nvPr/>
        </p:nvSpPr>
        <p:spPr bwMode="auto">
          <a:xfrm>
            <a:off x="2970212" y="2286000"/>
            <a:ext cx="9124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dirty="0">
                <a:latin typeface="National semibold" panose="02000503000000020004"/>
                <a:cs typeface="Times New Roman" pitchFamily="18" charset="0"/>
              </a:rPr>
              <a:t>$ per £</a:t>
            </a:r>
            <a:endParaRPr lang="en-US" dirty="0">
              <a:latin typeface="National semibold" panose="02000503000000020004"/>
            </a:endParaRPr>
          </a:p>
        </p:txBody>
      </p:sp>
    </p:spTree>
    <p:extLst>
      <p:ext uri="{BB962C8B-B14F-4D97-AF65-F5344CB8AC3E}">
        <p14:creationId xmlns:p14="http://schemas.microsoft.com/office/powerpoint/2010/main" val="563238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950C-7AF9-4E9F-9A10-E0F992107E85}"/>
              </a:ext>
            </a:extLst>
          </p:cNvPr>
          <p:cNvSpPr>
            <a:spLocks noGrp="1"/>
          </p:cNvSpPr>
          <p:nvPr>
            <p:ph type="title"/>
          </p:nvPr>
        </p:nvSpPr>
        <p:spPr/>
        <p:txBody>
          <a:bodyPr anchor="ctr"/>
          <a:lstStyle/>
          <a:p>
            <a:r>
              <a:rPr lang="en-US" dirty="0">
                <a:latin typeface="National semibold" panose="02000503000000020004"/>
              </a:rPr>
              <a:t>Demand and supply together</a:t>
            </a:r>
          </a:p>
        </p:txBody>
      </p:sp>
      <p:sp>
        <p:nvSpPr>
          <p:cNvPr id="5" name="Line 41">
            <a:extLst>
              <a:ext uri="{FF2B5EF4-FFF2-40B4-BE49-F238E27FC236}">
                <a16:creationId xmlns:a16="http://schemas.microsoft.com/office/drawing/2014/main" id="{CD87B30C-4474-4A46-AD25-97E0E04AC818}"/>
              </a:ext>
            </a:extLst>
          </p:cNvPr>
          <p:cNvSpPr>
            <a:spLocks noChangeShapeType="1"/>
          </p:cNvSpPr>
          <p:nvPr/>
        </p:nvSpPr>
        <p:spPr bwMode="auto">
          <a:xfrm flipV="1">
            <a:off x="4151312" y="2163762"/>
            <a:ext cx="0" cy="3810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 name="Line 42">
            <a:extLst>
              <a:ext uri="{FF2B5EF4-FFF2-40B4-BE49-F238E27FC236}">
                <a16:creationId xmlns:a16="http://schemas.microsoft.com/office/drawing/2014/main" id="{66D00810-EF65-45D7-A4CE-340ABC2ED3D2}"/>
              </a:ext>
            </a:extLst>
          </p:cNvPr>
          <p:cNvSpPr>
            <a:spLocks noChangeShapeType="1"/>
          </p:cNvSpPr>
          <p:nvPr/>
        </p:nvSpPr>
        <p:spPr bwMode="auto">
          <a:xfrm>
            <a:off x="3998912" y="5897562"/>
            <a:ext cx="44577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 name="Text Box 43">
            <a:extLst>
              <a:ext uri="{FF2B5EF4-FFF2-40B4-BE49-F238E27FC236}">
                <a16:creationId xmlns:a16="http://schemas.microsoft.com/office/drawing/2014/main" id="{1F5D8E4D-7DBB-4E90-B001-3148AF5B4814}"/>
              </a:ext>
            </a:extLst>
          </p:cNvPr>
          <p:cNvSpPr txBox="1">
            <a:spLocks noChangeArrowheads="1"/>
          </p:cNvSpPr>
          <p:nvPr/>
        </p:nvSpPr>
        <p:spPr bwMode="auto">
          <a:xfrm>
            <a:off x="3656012" y="3992661"/>
            <a:ext cx="41229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sz="1400" dirty="0">
                <a:latin typeface="National semibold" panose="02000503000000020004"/>
              </a:rPr>
              <a:t>1.2</a:t>
            </a:r>
          </a:p>
        </p:txBody>
      </p:sp>
      <p:sp>
        <p:nvSpPr>
          <p:cNvPr id="8" name="Text Box 45">
            <a:extLst>
              <a:ext uri="{FF2B5EF4-FFF2-40B4-BE49-F238E27FC236}">
                <a16:creationId xmlns:a16="http://schemas.microsoft.com/office/drawing/2014/main" id="{22EAA22F-2BF7-4AD9-A119-0A2060E3A271}"/>
              </a:ext>
            </a:extLst>
          </p:cNvPr>
          <p:cNvSpPr txBox="1">
            <a:spLocks noChangeArrowheads="1"/>
          </p:cNvSpPr>
          <p:nvPr/>
        </p:nvSpPr>
        <p:spPr bwMode="auto">
          <a:xfrm>
            <a:off x="5049837" y="38512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endParaRPr lang="en-US" sz="1400">
              <a:latin typeface="Times New Roman" pitchFamily="18" charset="0"/>
            </a:endParaRPr>
          </a:p>
        </p:txBody>
      </p:sp>
      <p:sp>
        <p:nvSpPr>
          <p:cNvPr id="9" name="Line 46">
            <a:extLst>
              <a:ext uri="{FF2B5EF4-FFF2-40B4-BE49-F238E27FC236}">
                <a16:creationId xmlns:a16="http://schemas.microsoft.com/office/drawing/2014/main" id="{3CF29B7C-9803-4558-84FE-7DC724213532}"/>
              </a:ext>
            </a:extLst>
          </p:cNvPr>
          <p:cNvSpPr>
            <a:spLocks noChangeShapeType="1"/>
          </p:cNvSpPr>
          <p:nvPr/>
        </p:nvSpPr>
        <p:spPr bwMode="auto">
          <a:xfrm>
            <a:off x="4773612" y="3014662"/>
            <a:ext cx="19812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 name="Line 47">
            <a:extLst>
              <a:ext uri="{FF2B5EF4-FFF2-40B4-BE49-F238E27FC236}">
                <a16:creationId xmlns:a16="http://schemas.microsoft.com/office/drawing/2014/main" id="{7CF24E14-F443-4748-A7D2-868795AC9599}"/>
              </a:ext>
            </a:extLst>
          </p:cNvPr>
          <p:cNvSpPr>
            <a:spLocks noChangeShapeType="1"/>
          </p:cNvSpPr>
          <p:nvPr/>
        </p:nvSpPr>
        <p:spPr bwMode="auto">
          <a:xfrm flipH="1">
            <a:off x="4697412" y="3001962"/>
            <a:ext cx="20574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 name="Text Box 48">
            <a:extLst>
              <a:ext uri="{FF2B5EF4-FFF2-40B4-BE49-F238E27FC236}">
                <a16:creationId xmlns:a16="http://schemas.microsoft.com/office/drawing/2014/main" id="{0FC37BC5-4C9C-4985-B373-434585E7F153}"/>
              </a:ext>
            </a:extLst>
          </p:cNvPr>
          <p:cNvSpPr txBox="1">
            <a:spLocks noChangeArrowheads="1"/>
          </p:cNvSpPr>
          <p:nvPr/>
        </p:nvSpPr>
        <p:spPr bwMode="auto">
          <a:xfrm>
            <a:off x="6735762" y="2773362"/>
            <a:ext cx="692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dirty="0">
                <a:latin typeface="National semibold" panose="02000503000000020004"/>
                <a:cs typeface="Times New Roman" pitchFamily="18" charset="0"/>
              </a:rPr>
              <a:t>S</a:t>
            </a:r>
            <a:r>
              <a:rPr lang="en-US" baseline="-25000" dirty="0">
                <a:latin typeface="National semibold" panose="02000503000000020004"/>
                <a:cs typeface="Times New Roman" pitchFamily="18" charset="0"/>
              </a:rPr>
              <a:t>£</a:t>
            </a:r>
          </a:p>
        </p:txBody>
      </p:sp>
      <p:sp>
        <p:nvSpPr>
          <p:cNvPr id="12" name="Text Box 49">
            <a:extLst>
              <a:ext uri="{FF2B5EF4-FFF2-40B4-BE49-F238E27FC236}">
                <a16:creationId xmlns:a16="http://schemas.microsoft.com/office/drawing/2014/main" id="{AB78D95F-46DE-451D-83B7-3444EB1DA231}"/>
              </a:ext>
            </a:extLst>
          </p:cNvPr>
          <p:cNvSpPr txBox="1">
            <a:spLocks noChangeArrowheads="1"/>
          </p:cNvSpPr>
          <p:nvPr/>
        </p:nvSpPr>
        <p:spPr bwMode="auto">
          <a:xfrm>
            <a:off x="6742112" y="5135562"/>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dirty="0">
                <a:latin typeface="National semibold" panose="02000503000000020004"/>
                <a:cs typeface="Times New Roman" pitchFamily="18" charset="0"/>
              </a:rPr>
              <a:t>D</a:t>
            </a:r>
            <a:r>
              <a:rPr lang="en-US" baseline="-25000" dirty="0">
                <a:latin typeface="National semibold" panose="02000503000000020004"/>
                <a:cs typeface="Times New Roman" pitchFamily="18" charset="0"/>
              </a:rPr>
              <a:t>£</a:t>
            </a:r>
          </a:p>
        </p:txBody>
      </p:sp>
      <p:sp>
        <p:nvSpPr>
          <p:cNvPr id="13" name="Line 50">
            <a:extLst>
              <a:ext uri="{FF2B5EF4-FFF2-40B4-BE49-F238E27FC236}">
                <a16:creationId xmlns:a16="http://schemas.microsoft.com/office/drawing/2014/main" id="{3F98D22A-3239-4E62-B0CF-41225C5DA4A3}"/>
              </a:ext>
            </a:extLst>
          </p:cNvPr>
          <p:cNvSpPr>
            <a:spLocks noChangeShapeType="1"/>
          </p:cNvSpPr>
          <p:nvPr/>
        </p:nvSpPr>
        <p:spPr bwMode="auto">
          <a:xfrm>
            <a:off x="5736522" y="4144962"/>
            <a:ext cx="0" cy="1752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4" name="Line 51">
            <a:extLst>
              <a:ext uri="{FF2B5EF4-FFF2-40B4-BE49-F238E27FC236}">
                <a16:creationId xmlns:a16="http://schemas.microsoft.com/office/drawing/2014/main" id="{C7891EE1-E57E-481F-B7CD-BA9A4CAF5ADB}"/>
              </a:ext>
            </a:extLst>
          </p:cNvPr>
          <p:cNvSpPr>
            <a:spLocks noChangeShapeType="1"/>
          </p:cNvSpPr>
          <p:nvPr/>
        </p:nvSpPr>
        <p:spPr bwMode="auto">
          <a:xfrm flipH="1">
            <a:off x="4151312" y="4132262"/>
            <a:ext cx="16002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 name="Text Box 52">
            <a:extLst>
              <a:ext uri="{FF2B5EF4-FFF2-40B4-BE49-F238E27FC236}">
                <a16:creationId xmlns:a16="http://schemas.microsoft.com/office/drawing/2014/main" id="{FC7A9D66-5BEC-4973-AADF-FA721E09D25C}"/>
              </a:ext>
            </a:extLst>
          </p:cNvPr>
          <p:cNvSpPr txBox="1">
            <a:spLocks noChangeArrowheads="1"/>
          </p:cNvSpPr>
          <p:nvPr/>
        </p:nvSpPr>
        <p:spPr bwMode="auto">
          <a:xfrm>
            <a:off x="5522912" y="5972274"/>
            <a:ext cx="45878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sz="1400" dirty="0">
                <a:latin typeface="National semibold" panose="02000503000000020004"/>
              </a:rPr>
              <a:t>300</a:t>
            </a:r>
          </a:p>
        </p:txBody>
      </p:sp>
      <p:sp>
        <p:nvSpPr>
          <p:cNvPr id="21" name="Text Box 58">
            <a:extLst>
              <a:ext uri="{FF2B5EF4-FFF2-40B4-BE49-F238E27FC236}">
                <a16:creationId xmlns:a16="http://schemas.microsoft.com/office/drawing/2014/main" id="{EE484041-60AC-4B2D-A5F7-4FF1C6213010}"/>
              </a:ext>
            </a:extLst>
          </p:cNvPr>
          <p:cNvSpPr txBox="1">
            <a:spLocks noChangeArrowheads="1"/>
          </p:cNvSpPr>
          <p:nvPr/>
        </p:nvSpPr>
        <p:spPr bwMode="auto">
          <a:xfrm>
            <a:off x="7275512" y="5924550"/>
            <a:ext cx="1257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sz="1400" dirty="0">
                <a:latin typeface="National semibold" panose="02000503000000020004"/>
              </a:rPr>
              <a:t>Billions of </a:t>
            </a:r>
            <a:r>
              <a:rPr lang="en-US" dirty="0">
                <a:latin typeface="National semibold" panose="02000503000000020004"/>
                <a:cs typeface="Times New Roman" pitchFamily="18" charset="0"/>
              </a:rPr>
              <a:t>£</a:t>
            </a:r>
            <a:endParaRPr lang="en-US" sz="1400" dirty="0">
              <a:latin typeface="National semibold" panose="02000503000000020004"/>
            </a:endParaRPr>
          </a:p>
        </p:txBody>
      </p:sp>
      <p:sp>
        <p:nvSpPr>
          <p:cNvPr id="3" name="Text Box 60">
            <a:extLst>
              <a:ext uri="{FF2B5EF4-FFF2-40B4-BE49-F238E27FC236}">
                <a16:creationId xmlns:a16="http://schemas.microsoft.com/office/drawing/2014/main" id="{624B2AA7-EFAE-4D1A-A728-699A0203BE4E}"/>
              </a:ext>
            </a:extLst>
          </p:cNvPr>
          <p:cNvSpPr txBox="1">
            <a:spLocks noChangeArrowheads="1"/>
          </p:cNvSpPr>
          <p:nvPr/>
        </p:nvSpPr>
        <p:spPr bwMode="auto">
          <a:xfrm>
            <a:off x="2970212" y="2286000"/>
            <a:ext cx="9124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dirty="0">
                <a:latin typeface="National semibold" panose="02000503000000020004"/>
                <a:cs typeface="Times New Roman" pitchFamily="18" charset="0"/>
              </a:rPr>
              <a:t>$ per £</a:t>
            </a:r>
            <a:endParaRPr lang="en-US" dirty="0">
              <a:latin typeface="National semibold" panose="02000503000000020004"/>
            </a:endParaRPr>
          </a:p>
        </p:txBody>
      </p:sp>
    </p:spTree>
    <p:extLst>
      <p:ext uri="{BB962C8B-B14F-4D97-AF65-F5344CB8AC3E}">
        <p14:creationId xmlns:p14="http://schemas.microsoft.com/office/powerpoint/2010/main" val="1160797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animBg="1"/>
      <p:bldP spid="14" grpId="0" animBg="1"/>
      <p:bldP spid="1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950C-7AF9-4E9F-9A10-E0F992107E85}"/>
              </a:ext>
            </a:extLst>
          </p:cNvPr>
          <p:cNvSpPr>
            <a:spLocks noGrp="1"/>
          </p:cNvSpPr>
          <p:nvPr>
            <p:ph type="title"/>
          </p:nvPr>
        </p:nvSpPr>
        <p:spPr/>
        <p:txBody>
          <a:bodyPr anchor="ctr"/>
          <a:lstStyle/>
          <a:p>
            <a:r>
              <a:rPr lang="en-US" dirty="0">
                <a:latin typeface="National semibold" panose="02000503000000020004"/>
              </a:rPr>
              <a:t>Increase in the demand of Pounds</a:t>
            </a:r>
          </a:p>
        </p:txBody>
      </p:sp>
      <p:sp>
        <p:nvSpPr>
          <p:cNvPr id="5" name="Line 41">
            <a:extLst>
              <a:ext uri="{FF2B5EF4-FFF2-40B4-BE49-F238E27FC236}">
                <a16:creationId xmlns:a16="http://schemas.microsoft.com/office/drawing/2014/main" id="{CD87B30C-4474-4A46-AD25-97E0E04AC818}"/>
              </a:ext>
            </a:extLst>
          </p:cNvPr>
          <p:cNvSpPr>
            <a:spLocks noChangeShapeType="1"/>
          </p:cNvSpPr>
          <p:nvPr/>
        </p:nvSpPr>
        <p:spPr bwMode="auto">
          <a:xfrm flipV="1">
            <a:off x="4151312" y="2163762"/>
            <a:ext cx="0" cy="3810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National semibold" panose="02000503000000020004"/>
            </a:endParaRPr>
          </a:p>
        </p:txBody>
      </p:sp>
      <p:sp>
        <p:nvSpPr>
          <p:cNvPr id="6" name="Line 42">
            <a:extLst>
              <a:ext uri="{FF2B5EF4-FFF2-40B4-BE49-F238E27FC236}">
                <a16:creationId xmlns:a16="http://schemas.microsoft.com/office/drawing/2014/main" id="{66D00810-EF65-45D7-A4CE-340ABC2ED3D2}"/>
              </a:ext>
            </a:extLst>
          </p:cNvPr>
          <p:cNvSpPr>
            <a:spLocks noChangeShapeType="1"/>
          </p:cNvSpPr>
          <p:nvPr/>
        </p:nvSpPr>
        <p:spPr bwMode="auto">
          <a:xfrm>
            <a:off x="3998912" y="5897562"/>
            <a:ext cx="44577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National semibold" panose="02000503000000020004"/>
            </a:endParaRPr>
          </a:p>
        </p:txBody>
      </p:sp>
      <p:sp>
        <p:nvSpPr>
          <p:cNvPr id="7" name="Text Box 43">
            <a:extLst>
              <a:ext uri="{FF2B5EF4-FFF2-40B4-BE49-F238E27FC236}">
                <a16:creationId xmlns:a16="http://schemas.microsoft.com/office/drawing/2014/main" id="{1F5D8E4D-7DBB-4E90-B001-3148AF5B4814}"/>
              </a:ext>
            </a:extLst>
          </p:cNvPr>
          <p:cNvSpPr txBox="1">
            <a:spLocks noChangeArrowheads="1"/>
          </p:cNvSpPr>
          <p:nvPr/>
        </p:nvSpPr>
        <p:spPr bwMode="auto">
          <a:xfrm>
            <a:off x="3656012" y="3992661"/>
            <a:ext cx="41229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sz="1400" dirty="0">
                <a:latin typeface="National semibold" panose="02000503000000020004"/>
              </a:rPr>
              <a:t>1.2</a:t>
            </a:r>
          </a:p>
        </p:txBody>
      </p:sp>
      <p:sp>
        <p:nvSpPr>
          <p:cNvPr id="8" name="Text Box 45">
            <a:extLst>
              <a:ext uri="{FF2B5EF4-FFF2-40B4-BE49-F238E27FC236}">
                <a16:creationId xmlns:a16="http://schemas.microsoft.com/office/drawing/2014/main" id="{22EAA22F-2BF7-4AD9-A119-0A2060E3A271}"/>
              </a:ext>
            </a:extLst>
          </p:cNvPr>
          <p:cNvSpPr txBox="1">
            <a:spLocks noChangeArrowheads="1"/>
          </p:cNvSpPr>
          <p:nvPr/>
        </p:nvSpPr>
        <p:spPr bwMode="auto">
          <a:xfrm>
            <a:off x="5049837" y="38512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endParaRPr lang="en-US" sz="1400">
              <a:latin typeface="National semibold" panose="02000503000000020004"/>
            </a:endParaRPr>
          </a:p>
        </p:txBody>
      </p:sp>
      <p:sp>
        <p:nvSpPr>
          <p:cNvPr id="9" name="Line 46">
            <a:extLst>
              <a:ext uri="{FF2B5EF4-FFF2-40B4-BE49-F238E27FC236}">
                <a16:creationId xmlns:a16="http://schemas.microsoft.com/office/drawing/2014/main" id="{3CF29B7C-9803-4558-84FE-7DC724213532}"/>
              </a:ext>
            </a:extLst>
          </p:cNvPr>
          <p:cNvSpPr>
            <a:spLocks noChangeShapeType="1"/>
          </p:cNvSpPr>
          <p:nvPr/>
        </p:nvSpPr>
        <p:spPr bwMode="auto">
          <a:xfrm>
            <a:off x="4773612" y="3014662"/>
            <a:ext cx="19812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National semibold" panose="02000503000000020004"/>
            </a:endParaRPr>
          </a:p>
        </p:txBody>
      </p:sp>
      <p:sp>
        <p:nvSpPr>
          <p:cNvPr id="10" name="Line 47">
            <a:extLst>
              <a:ext uri="{FF2B5EF4-FFF2-40B4-BE49-F238E27FC236}">
                <a16:creationId xmlns:a16="http://schemas.microsoft.com/office/drawing/2014/main" id="{7CF24E14-F443-4748-A7D2-868795AC9599}"/>
              </a:ext>
            </a:extLst>
          </p:cNvPr>
          <p:cNvSpPr>
            <a:spLocks noChangeShapeType="1"/>
          </p:cNvSpPr>
          <p:nvPr/>
        </p:nvSpPr>
        <p:spPr bwMode="auto">
          <a:xfrm flipH="1">
            <a:off x="4697412" y="3001962"/>
            <a:ext cx="20574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National semibold" panose="02000503000000020004"/>
            </a:endParaRPr>
          </a:p>
        </p:txBody>
      </p:sp>
      <p:sp>
        <p:nvSpPr>
          <p:cNvPr id="11" name="Text Box 48">
            <a:extLst>
              <a:ext uri="{FF2B5EF4-FFF2-40B4-BE49-F238E27FC236}">
                <a16:creationId xmlns:a16="http://schemas.microsoft.com/office/drawing/2014/main" id="{0FC37BC5-4C9C-4985-B373-434585E7F153}"/>
              </a:ext>
            </a:extLst>
          </p:cNvPr>
          <p:cNvSpPr txBox="1">
            <a:spLocks noChangeArrowheads="1"/>
          </p:cNvSpPr>
          <p:nvPr/>
        </p:nvSpPr>
        <p:spPr bwMode="auto">
          <a:xfrm>
            <a:off x="6735762" y="2773362"/>
            <a:ext cx="692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a:latin typeface="National semibold" panose="02000503000000020004"/>
                <a:cs typeface="Times New Roman" pitchFamily="18" charset="0"/>
              </a:rPr>
              <a:t>S</a:t>
            </a:r>
            <a:r>
              <a:rPr lang="en-US" baseline="-25000">
                <a:latin typeface="National semibold" panose="02000503000000020004"/>
                <a:cs typeface="Times New Roman" pitchFamily="18" charset="0"/>
              </a:rPr>
              <a:t>£</a:t>
            </a:r>
          </a:p>
        </p:txBody>
      </p:sp>
      <p:sp>
        <p:nvSpPr>
          <p:cNvPr id="12" name="Text Box 49">
            <a:extLst>
              <a:ext uri="{FF2B5EF4-FFF2-40B4-BE49-F238E27FC236}">
                <a16:creationId xmlns:a16="http://schemas.microsoft.com/office/drawing/2014/main" id="{AB78D95F-46DE-451D-83B7-3444EB1DA231}"/>
              </a:ext>
            </a:extLst>
          </p:cNvPr>
          <p:cNvSpPr txBox="1">
            <a:spLocks noChangeArrowheads="1"/>
          </p:cNvSpPr>
          <p:nvPr/>
        </p:nvSpPr>
        <p:spPr bwMode="auto">
          <a:xfrm>
            <a:off x="6742112" y="5135562"/>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a:latin typeface="National semibold" panose="02000503000000020004"/>
                <a:cs typeface="Times New Roman" pitchFamily="18" charset="0"/>
              </a:rPr>
              <a:t>D</a:t>
            </a:r>
            <a:r>
              <a:rPr lang="en-US" baseline="-25000">
                <a:latin typeface="National semibold" panose="02000503000000020004"/>
                <a:cs typeface="Times New Roman" pitchFamily="18" charset="0"/>
              </a:rPr>
              <a:t>£</a:t>
            </a:r>
          </a:p>
        </p:txBody>
      </p:sp>
      <p:sp>
        <p:nvSpPr>
          <p:cNvPr id="13" name="Line 50">
            <a:extLst>
              <a:ext uri="{FF2B5EF4-FFF2-40B4-BE49-F238E27FC236}">
                <a16:creationId xmlns:a16="http://schemas.microsoft.com/office/drawing/2014/main" id="{3F98D22A-3239-4E62-B0CF-41225C5DA4A3}"/>
              </a:ext>
            </a:extLst>
          </p:cNvPr>
          <p:cNvSpPr>
            <a:spLocks noChangeShapeType="1"/>
          </p:cNvSpPr>
          <p:nvPr/>
        </p:nvSpPr>
        <p:spPr bwMode="auto">
          <a:xfrm>
            <a:off x="5736522" y="4144962"/>
            <a:ext cx="0" cy="1752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latin typeface="National semibold" panose="02000503000000020004"/>
            </a:endParaRPr>
          </a:p>
        </p:txBody>
      </p:sp>
      <p:sp>
        <p:nvSpPr>
          <p:cNvPr id="14" name="Line 51">
            <a:extLst>
              <a:ext uri="{FF2B5EF4-FFF2-40B4-BE49-F238E27FC236}">
                <a16:creationId xmlns:a16="http://schemas.microsoft.com/office/drawing/2014/main" id="{C7891EE1-E57E-481F-B7CD-BA9A4CAF5ADB}"/>
              </a:ext>
            </a:extLst>
          </p:cNvPr>
          <p:cNvSpPr>
            <a:spLocks noChangeShapeType="1"/>
          </p:cNvSpPr>
          <p:nvPr/>
        </p:nvSpPr>
        <p:spPr bwMode="auto">
          <a:xfrm flipH="1">
            <a:off x="4151312" y="4132262"/>
            <a:ext cx="16002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latin typeface="National semibold" panose="02000503000000020004"/>
            </a:endParaRPr>
          </a:p>
        </p:txBody>
      </p:sp>
      <p:sp>
        <p:nvSpPr>
          <p:cNvPr id="15" name="Text Box 52">
            <a:extLst>
              <a:ext uri="{FF2B5EF4-FFF2-40B4-BE49-F238E27FC236}">
                <a16:creationId xmlns:a16="http://schemas.microsoft.com/office/drawing/2014/main" id="{FC7A9D66-5BEC-4973-AADF-FA721E09D25C}"/>
              </a:ext>
            </a:extLst>
          </p:cNvPr>
          <p:cNvSpPr txBox="1">
            <a:spLocks noChangeArrowheads="1"/>
          </p:cNvSpPr>
          <p:nvPr/>
        </p:nvSpPr>
        <p:spPr bwMode="auto">
          <a:xfrm>
            <a:off x="5522912" y="5972274"/>
            <a:ext cx="45878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sz="1400">
                <a:latin typeface="National semibold" panose="02000503000000020004"/>
              </a:rPr>
              <a:t>300</a:t>
            </a:r>
          </a:p>
        </p:txBody>
      </p:sp>
      <p:sp>
        <p:nvSpPr>
          <p:cNvPr id="16" name="Line 53">
            <a:extLst>
              <a:ext uri="{FF2B5EF4-FFF2-40B4-BE49-F238E27FC236}">
                <a16:creationId xmlns:a16="http://schemas.microsoft.com/office/drawing/2014/main" id="{A8B3ABD2-3E2E-4FFF-A9D2-60FD5D581F6C}"/>
              </a:ext>
            </a:extLst>
          </p:cNvPr>
          <p:cNvSpPr>
            <a:spLocks noChangeShapeType="1"/>
          </p:cNvSpPr>
          <p:nvPr/>
        </p:nvSpPr>
        <p:spPr bwMode="auto">
          <a:xfrm>
            <a:off x="5446712" y="3001962"/>
            <a:ext cx="1981200" cy="228600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National semibold" panose="02000503000000020004"/>
            </a:endParaRPr>
          </a:p>
        </p:txBody>
      </p:sp>
      <p:sp>
        <p:nvSpPr>
          <p:cNvPr id="17" name="Line 54">
            <a:extLst>
              <a:ext uri="{FF2B5EF4-FFF2-40B4-BE49-F238E27FC236}">
                <a16:creationId xmlns:a16="http://schemas.microsoft.com/office/drawing/2014/main" id="{6B74C2F7-BF28-4626-8C17-72B73CB44663}"/>
              </a:ext>
            </a:extLst>
          </p:cNvPr>
          <p:cNvSpPr>
            <a:spLocks noChangeShapeType="1"/>
          </p:cNvSpPr>
          <p:nvPr/>
        </p:nvSpPr>
        <p:spPr bwMode="auto">
          <a:xfrm flipH="1">
            <a:off x="6081712" y="3751262"/>
            <a:ext cx="0" cy="214630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latin typeface="National semibold" panose="02000503000000020004"/>
            </a:endParaRPr>
          </a:p>
        </p:txBody>
      </p:sp>
      <p:sp>
        <p:nvSpPr>
          <p:cNvPr id="18" name="Line 55">
            <a:extLst>
              <a:ext uri="{FF2B5EF4-FFF2-40B4-BE49-F238E27FC236}">
                <a16:creationId xmlns:a16="http://schemas.microsoft.com/office/drawing/2014/main" id="{C7A10934-D020-42B0-8CA3-C2CD4A5CAA71}"/>
              </a:ext>
            </a:extLst>
          </p:cNvPr>
          <p:cNvSpPr>
            <a:spLocks noChangeShapeType="1"/>
          </p:cNvSpPr>
          <p:nvPr/>
        </p:nvSpPr>
        <p:spPr bwMode="auto">
          <a:xfrm flipH="1">
            <a:off x="4151312" y="3751263"/>
            <a:ext cx="1930400" cy="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latin typeface="National semibold" panose="02000503000000020004"/>
            </a:endParaRPr>
          </a:p>
        </p:txBody>
      </p:sp>
      <p:sp>
        <p:nvSpPr>
          <p:cNvPr id="19" name="Text Box 56">
            <a:extLst>
              <a:ext uri="{FF2B5EF4-FFF2-40B4-BE49-F238E27FC236}">
                <a16:creationId xmlns:a16="http://schemas.microsoft.com/office/drawing/2014/main" id="{0AE808A6-1163-4C84-8096-A01A40F150C6}"/>
              </a:ext>
            </a:extLst>
          </p:cNvPr>
          <p:cNvSpPr txBox="1">
            <a:spLocks noChangeArrowheads="1"/>
          </p:cNvSpPr>
          <p:nvPr/>
        </p:nvSpPr>
        <p:spPr bwMode="auto">
          <a:xfrm>
            <a:off x="3656012" y="3611661"/>
            <a:ext cx="41229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sz="1400" dirty="0">
                <a:solidFill>
                  <a:srgbClr val="FF0000"/>
                </a:solidFill>
                <a:latin typeface="National semibold" panose="02000503000000020004"/>
              </a:rPr>
              <a:t>1.3</a:t>
            </a:r>
          </a:p>
        </p:txBody>
      </p:sp>
      <p:sp>
        <p:nvSpPr>
          <p:cNvPr id="20" name="Text Box 57">
            <a:extLst>
              <a:ext uri="{FF2B5EF4-FFF2-40B4-BE49-F238E27FC236}">
                <a16:creationId xmlns:a16="http://schemas.microsoft.com/office/drawing/2014/main" id="{BBCF3177-A56F-4352-9D71-3563E6AB20C4}"/>
              </a:ext>
            </a:extLst>
          </p:cNvPr>
          <p:cNvSpPr txBox="1">
            <a:spLocks noChangeArrowheads="1"/>
          </p:cNvSpPr>
          <p:nvPr/>
        </p:nvSpPr>
        <p:spPr bwMode="auto">
          <a:xfrm>
            <a:off x="5903912" y="5972274"/>
            <a:ext cx="45878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sz="1400">
                <a:solidFill>
                  <a:srgbClr val="FF0000"/>
                </a:solidFill>
                <a:latin typeface="National semibold" panose="02000503000000020004"/>
              </a:rPr>
              <a:t>320</a:t>
            </a:r>
          </a:p>
        </p:txBody>
      </p:sp>
      <p:sp>
        <p:nvSpPr>
          <p:cNvPr id="21" name="Text Box 58">
            <a:extLst>
              <a:ext uri="{FF2B5EF4-FFF2-40B4-BE49-F238E27FC236}">
                <a16:creationId xmlns:a16="http://schemas.microsoft.com/office/drawing/2014/main" id="{EE484041-60AC-4B2D-A5F7-4FF1C6213010}"/>
              </a:ext>
            </a:extLst>
          </p:cNvPr>
          <p:cNvSpPr txBox="1">
            <a:spLocks noChangeArrowheads="1"/>
          </p:cNvSpPr>
          <p:nvPr/>
        </p:nvSpPr>
        <p:spPr bwMode="auto">
          <a:xfrm>
            <a:off x="7275512" y="5924550"/>
            <a:ext cx="1257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sz="1400">
                <a:latin typeface="National semibold" panose="02000503000000020004"/>
              </a:rPr>
              <a:t>Billions of </a:t>
            </a:r>
            <a:r>
              <a:rPr lang="en-US">
                <a:latin typeface="National semibold" panose="02000503000000020004"/>
                <a:cs typeface="Times New Roman" pitchFamily="18" charset="0"/>
              </a:rPr>
              <a:t>£</a:t>
            </a:r>
            <a:endParaRPr lang="en-US" sz="1400">
              <a:latin typeface="National semibold" panose="02000503000000020004"/>
            </a:endParaRPr>
          </a:p>
        </p:txBody>
      </p:sp>
      <p:sp>
        <p:nvSpPr>
          <p:cNvPr id="3" name="Text Box 60">
            <a:extLst>
              <a:ext uri="{FF2B5EF4-FFF2-40B4-BE49-F238E27FC236}">
                <a16:creationId xmlns:a16="http://schemas.microsoft.com/office/drawing/2014/main" id="{624D164C-438B-4B63-9F77-32CF92D35681}"/>
              </a:ext>
            </a:extLst>
          </p:cNvPr>
          <p:cNvSpPr txBox="1">
            <a:spLocks noChangeArrowheads="1"/>
          </p:cNvSpPr>
          <p:nvPr/>
        </p:nvSpPr>
        <p:spPr bwMode="auto">
          <a:xfrm>
            <a:off x="2970212" y="2286000"/>
            <a:ext cx="9124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dirty="0">
                <a:latin typeface="National semibold" panose="02000503000000020004"/>
                <a:cs typeface="Times New Roman" pitchFamily="18" charset="0"/>
              </a:rPr>
              <a:t>$ per £</a:t>
            </a:r>
            <a:endParaRPr lang="en-US" dirty="0">
              <a:latin typeface="National semibold" panose="02000503000000020004"/>
            </a:endParaRPr>
          </a:p>
        </p:txBody>
      </p:sp>
    </p:spTree>
    <p:extLst>
      <p:ext uri="{BB962C8B-B14F-4D97-AF65-F5344CB8AC3E}">
        <p14:creationId xmlns:p14="http://schemas.microsoft.com/office/powerpoint/2010/main" val="2627008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utoUpdateAnimBg="0"/>
      <p:bldP spid="20"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950C-7AF9-4E9F-9A10-E0F992107E85}"/>
              </a:ext>
            </a:extLst>
          </p:cNvPr>
          <p:cNvSpPr>
            <a:spLocks noGrp="1"/>
          </p:cNvSpPr>
          <p:nvPr>
            <p:ph type="title"/>
          </p:nvPr>
        </p:nvSpPr>
        <p:spPr/>
        <p:txBody>
          <a:bodyPr anchor="ctr"/>
          <a:lstStyle/>
          <a:p>
            <a:r>
              <a:rPr lang="en-US" dirty="0">
                <a:latin typeface="National semibold" panose="02000503000000020004"/>
              </a:rPr>
              <a:t>Increase in the supply of Pounds</a:t>
            </a:r>
          </a:p>
        </p:txBody>
      </p:sp>
      <p:sp>
        <p:nvSpPr>
          <p:cNvPr id="5" name="Line 41">
            <a:extLst>
              <a:ext uri="{FF2B5EF4-FFF2-40B4-BE49-F238E27FC236}">
                <a16:creationId xmlns:a16="http://schemas.microsoft.com/office/drawing/2014/main" id="{CD87B30C-4474-4A46-AD25-97E0E04AC818}"/>
              </a:ext>
            </a:extLst>
          </p:cNvPr>
          <p:cNvSpPr>
            <a:spLocks noChangeShapeType="1"/>
          </p:cNvSpPr>
          <p:nvPr/>
        </p:nvSpPr>
        <p:spPr bwMode="auto">
          <a:xfrm flipV="1">
            <a:off x="4151312" y="2163762"/>
            <a:ext cx="0" cy="3810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National semibold" panose="02000503000000020004"/>
            </a:endParaRPr>
          </a:p>
        </p:txBody>
      </p:sp>
      <p:sp>
        <p:nvSpPr>
          <p:cNvPr id="6" name="Line 42">
            <a:extLst>
              <a:ext uri="{FF2B5EF4-FFF2-40B4-BE49-F238E27FC236}">
                <a16:creationId xmlns:a16="http://schemas.microsoft.com/office/drawing/2014/main" id="{66D00810-EF65-45D7-A4CE-340ABC2ED3D2}"/>
              </a:ext>
            </a:extLst>
          </p:cNvPr>
          <p:cNvSpPr>
            <a:spLocks noChangeShapeType="1"/>
          </p:cNvSpPr>
          <p:nvPr/>
        </p:nvSpPr>
        <p:spPr bwMode="auto">
          <a:xfrm>
            <a:off x="3998912" y="5897562"/>
            <a:ext cx="44577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National semibold" panose="02000503000000020004"/>
            </a:endParaRPr>
          </a:p>
        </p:txBody>
      </p:sp>
      <p:sp>
        <p:nvSpPr>
          <p:cNvPr id="7" name="Text Box 43">
            <a:extLst>
              <a:ext uri="{FF2B5EF4-FFF2-40B4-BE49-F238E27FC236}">
                <a16:creationId xmlns:a16="http://schemas.microsoft.com/office/drawing/2014/main" id="{1F5D8E4D-7DBB-4E90-B001-3148AF5B4814}"/>
              </a:ext>
            </a:extLst>
          </p:cNvPr>
          <p:cNvSpPr txBox="1">
            <a:spLocks noChangeArrowheads="1"/>
          </p:cNvSpPr>
          <p:nvPr/>
        </p:nvSpPr>
        <p:spPr bwMode="auto">
          <a:xfrm>
            <a:off x="3656012" y="3992661"/>
            <a:ext cx="41229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sz="1400" dirty="0">
                <a:latin typeface="National semibold" panose="02000503000000020004"/>
              </a:rPr>
              <a:t>1.2</a:t>
            </a:r>
          </a:p>
        </p:txBody>
      </p:sp>
      <p:sp>
        <p:nvSpPr>
          <p:cNvPr id="8" name="Text Box 45">
            <a:extLst>
              <a:ext uri="{FF2B5EF4-FFF2-40B4-BE49-F238E27FC236}">
                <a16:creationId xmlns:a16="http://schemas.microsoft.com/office/drawing/2014/main" id="{22EAA22F-2BF7-4AD9-A119-0A2060E3A271}"/>
              </a:ext>
            </a:extLst>
          </p:cNvPr>
          <p:cNvSpPr txBox="1">
            <a:spLocks noChangeArrowheads="1"/>
          </p:cNvSpPr>
          <p:nvPr/>
        </p:nvSpPr>
        <p:spPr bwMode="auto">
          <a:xfrm>
            <a:off x="5049837" y="38512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endParaRPr lang="en-US" sz="1400">
              <a:latin typeface="National semibold" panose="02000503000000020004"/>
            </a:endParaRPr>
          </a:p>
        </p:txBody>
      </p:sp>
      <p:sp>
        <p:nvSpPr>
          <p:cNvPr id="9" name="Line 46">
            <a:extLst>
              <a:ext uri="{FF2B5EF4-FFF2-40B4-BE49-F238E27FC236}">
                <a16:creationId xmlns:a16="http://schemas.microsoft.com/office/drawing/2014/main" id="{3CF29B7C-9803-4558-84FE-7DC724213532}"/>
              </a:ext>
            </a:extLst>
          </p:cNvPr>
          <p:cNvSpPr>
            <a:spLocks noChangeShapeType="1"/>
          </p:cNvSpPr>
          <p:nvPr/>
        </p:nvSpPr>
        <p:spPr bwMode="auto">
          <a:xfrm>
            <a:off x="4773612" y="3014662"/>
            <a:ext cx="19812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National semibold" panose="02000503000000020004"/>
            </a:endParaRPr>
          </a:p>
        </p:txBody>
      </p:sp>
      <p:sp>
        <p:nvSpPr>
          <p:cNvPr id="10" name="Line 47">
            <a:extLst>
              <a:ext uri="{FF2B5EF4-FFF2-40B4-BE49-F238E27FC236}">
                <a16:creationId xmlns:a16="http://schemas.microsoft.com/office/drawing/2014/main" id="{7CF24E14-F443-4748-A7D2-868795AC9599}"/>
              </a:ext>
            </a:extLst>
          </p:cNvPr>
          <p:cNvSpPr>
            <a:spLocks noChangeShapeType="1"/>
          </p:cNvSpPr>
          <p:nvPr/>
        </p:nvSpPr>
        <p:spPr bwMode="auto">
          <a:xfrm flipH="1">
            <a:off x="4697412" y="3001962"/>
            <a:ext cx="20574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National semibold" panose="02000503000000020004"/>
            </a:endParaRPr>
          </a:p>
        </p:txBody>
      </p:sp>
      <p:sp>
        <p:nvSpPr>
          <p:cNvPr id="11" name="Text Box 48">
            <a:extLst>
              <a:ext uri="{FF2B5EF4-FFF2-40B4-BE49-F238E27FC236}">
                <a16:creationId xmlns:a16="http://schemas.microsoft.com/office/drawing/2014/main" id="{0FC37BC5-4C9C-4985-B373-434585E7F153}"/>
              </a:ext>
            </a:extLst>
          </p:cNvPr>
          <p:cNvSpPr txBox="1">
            <a:spLocks noChangeArrowheads="1"/>
          </p:cNvSpPr>
          <p:nvPr/>
        </p:nvSpPr>
        <p:spPr bwMode="auto">
          <a:xfrm>
            <a:off x="6735762" y="2773362"/>
            <a:ext cx="692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a:latin typeface="National semibold" panose="02000503000000020004"/>
                <a:cs typeface="Times New Roman" pitchFamily="18" charset="0"/>
              </a:rPr>
              <a:t>S</a:t>
            </a:r>
            <a:r>
              <a:rPr lang="en-US" baseline="-25000">
                <a:latin typeface="National semibold" panose="02000503000000020004"/>
                <a:cs typeface="Times New Roman" pitchFamily="18" charset="0"/>
              </a:rPr>
              <a:t>£</a:t>
            </a:r>
          </a:p>
        </p:txBody>
      </p:sp>
      <p:sp>
        <p:nvSpPr>
          <p:cNvPr id="12" name="Text Box 49">
            <a:extLst>
              <a:ext uri="{FF2B5EF4-FFF2-40B4-BE49-F238E27FC236}">
                <a16:creationId xmlns:a16="http://schemas.microsoft.com/office/drawing/2014/main" id="{AB78D95F-46DE-451D-83B7-3444EB1DA231}"/>
              </a:ext>
            </a:extLst>
          </p:cNvPr>
          <p:cNvSpPr txBox="1">
            <a:spLocks noChangeArrowheads="1"/>
          </p:cNvSpPr>
          <p:nvPr/>
        </p:nvSpPr>
        <p:spPr bwMode="auto">
          <a:xfrm>
            <a:off x="6742112" y="5135562"/>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a:latin typeface="National semibold" panose="02000503000000020004"/>
                <a:cs typeface="Times New Roman" pitchFamily="18" charset="0"/>
              </a:rPr>
              <a:t>D</a:t>
            </a:r>
            <a:r>
              <a:rPr lang="en-US" baseline="-25000">
                <a:latin typeface="National semibold" panose="02000503000000020004"/>
                <a:cs typeface="Times New Roman" pitchFamily="18" charset="0"/>
              </a:rPr>
              <a:t>£</a:t>
            </a:r>
          </a:p>
        </p:txBody>
      </p:sp>
      <p:sp>
        <p:nvSpPr>
          <p:cNvPr id="13" name="Line 50">
            <a:extLst>
              <a:ext uri="{FF2B5EF4-FFF2-40B4-BE49-F238E27FC236}">
                <a16:creationId xmlns:a16="http://schemas.microsoft.com/office/drawing/2014/main" id="{3F98D22A-3239-4E62-B0CF-41225C5DA4A3}"/>
              </a:ext>
            </a:extLst>
          </p:cNvPr>
          <p:cNvSpPr>
            <a:spLocks noChangeShapeType="1"/>
          </p:cNvSpPr>
          <p:nvPr/>
        </p:nvSpPr>
        <p:spPr bwMode="auto">
          <a:xfrm>
            <a:off x="5736522" y="4144962"/>
            <a:ext cx="0" cy="1752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latin typeface="National semibold" panose="02000503000000020004"/>
            </a:endParaRPr>
          </a:p>
        </p:txBody>
      </p:sp>
      <p:sp>
        <p:nvSpPr>
          <p:cNvPr id="14" name="Line 51">
            <a:extLst>
              <a:ext uri="{FF2B5EF4-FFF2-40B4-BE49-F238E27FC236}">
                <a16:creationId xmlns:a16="http://schemas.microsoft.com/office/drawing/2014/main" id="{C7891EE1-E57E-481F-B7CD-BA9A4CAF5ADB}"/>
              </a:ext>
            </a:extLst>
          </p:cNvPr>
          <p:cNvSpPr>
            <a:spLocks noChangeShapeType="1"/>
          </p:cNvSpPr>
          <p:nvPr/>
        </p:nvSpPr>
        <p:spPr bwMode="auto">
          <a:xfrm flipH="1">
            <a:off x="4151312" y="4132262"/>
            <a:ext cx="16002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latin typeface="National semibold" panose="02000503000000020004"/>
            </a:endParaRPr>
          </a:p>
        </p:txBody>
      </p:sp>
      <p:sp>
        <p:nvSpPr>
          <p:cNvPr id="15" name="Text Box 52">
            <a:extLst>
              <a:ext uri="{FF2B5EF4-FFF2-40B4-BE49-F238E27FC236}">
                <a16:creationId xmlns:a16="http://schemas.microsoft.com/office/drawing/2014/main" id="{FC7A9D66-5BEC-4973-AADF-FA721E09D25C}"/>
              </a:ext>
            </a:extLst>
          </p:cNvPr>
          <p:cNvSpPr txBox="1">
            <a:spLocks noChangeArrowheads="1"/>
          </p:cNvSpPr>
          <p:nvPr/>
        </p:nvSpPr>
        <p:spPr bwMode="auto">
          <a:xfrm>
            <a:off x="5522912" y="5972274"/>
            <a:ext cx="45878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sz="1400">
                <a:latin typeface="National semibold" panose="02000503000000020004"/>
              </a:rPr>
              <a:t>300</a:t>
            </a:r>
          </a:p>
        </p:txBody>
      </p:sp>
      <p:sp>
        <p:nvSpPr>
          <p:cNvPr id="16" name="Line 53">
            <a:extLst>
              <a:ext uri="{FF2B5EF4-FFF2-40B4-BE49-F238E27FC236}">
                <a16:creationId xmlns:a16="http://schemas.microsoft.com/office/drawing/2014/main" id="{A8B3ABD2-3E2E-4FFF-A9D2-60FD5D581F6C}"/>
              </a:ext>
            </a:extLst>
          </p:cNvPr>
          <p:cNvSpPr>
            <a:spLocks noChangeShapeType="1"/>
          </p:cNvSpPr>
          <p:nvPr/>
        </p:nvSpPr>
        <p:spPr bwMode="auto">
          <a:xfrm flipH="1">
            <a:off x="5124017" y="3295477"/>
            <a:ext cx="2044690" cy="2297103"/>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National semibold" panose="02000503000000020004"/>
            </a:endParaRPr>
          </a:p>
        </p:txBody>
      </p:sp>
      <p:sp>
        <p:nvSpPr>
          <p:cNvPr id="17" name="Line 54">
            <a:extLst>
              <a:ext uri="{FF2B5EF4-FFF2-40B4-BE49-F238E27FC236}">
                <a16:creationId xmlns:a16="http://schemas.microsoft.com/office/drawing/2014/main" id="{6B74C2F7-BF28-4626-8C17-72B73CB44663}"/>
              </a:ext>
            </a:extLst>
          </p:cNvPr>
          <p:cNvSpPr>
            <a:spLocks noChangeShapeType="1"/>
          </p:cNvSpPr>
          <p:nvPr/>
        </p:nvSpPr>
        <p:spPr bwMode="auto">
          <a:xfrm>
            <a:off x="6084002" y="4513262"/>
            <a:ext cx="12700" cy="1384299"/>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latin typeface="National semibold" panose="02000503000000020004"/>
            </a:endParaRPr>
          </a:p>
        </p:txBody>
      </p:sp>
      <p:sp>
        <p:nvSpPr>
          <p:cNvPr id="18" name="Line 55">
            <a:extLst>
              <a:ext uri="{FF2B5EF4-FFF2-40B4-BE49-F238E27FC236}">
                <a16:creationId xmlns:a16="http://schemas.microsoft.com/office/drawing/2014/main" id="{C7A10934-D020-42B0-8CA3-C2CD4A5CAA71}"/>
              </a:ext>
            </a:extLst>
          </p:cNvPr>
          <p:cNvSpPr>
            <a:spLocks noChangeShapeType="1"/>
          </p:cNvSpPr>
          <p:nvPr/>
        </p:nvSpPr>
        <p:spPr bwMode="auto">
          <a:xfrm flipH="1">
            <a:off x="4151312" y="4510790"/>
            <a:ext cx="1930400" cy="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latin typeface="National semibold" panose="02000503000000020004"/>
            </a:endParaRPr>
          </a:p>
        </p:txBody>
      </p:sp>
      <p:sp>
        <p:nvSpPr>
          <p:cNvPr id="19" name="Text Box 56">
            <a:extLst>
              <a:ext uri="{FF2B5EF4-FFF2-40B4-BE49-F238E27FC236}">
                <a16:creationId xmlns:a16="http://schemas.microsoft.com/office/drawing/2014/main" id="{0AE808A6-1163-4C84-8096-A01A40F150C6}"/>
              </a:ext>
            </a:extLst>
          </p:cNvPr>
          <p:cNvSpPr txBox="1">
            <a:spLocks noChangeArrowheads="1"/>
          </p:cNvSpPr>
          <p:nvPr/>
        </p:nvSpPr>
        <p:spPr bwMode="auto">
          <a:xfrm>
            <a:off x="3656012" y="4340423"/>
            <a:ext cx="41229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sz="1400" dirty="0">
                <a:solidFill>
                  <a:srgbClr val="FF0000"/>
                </a:solidFill>
                <a:latin typeface="National semibold" panose="02000503000000020004"/>
              </a:rPr>
              <a:t>1.1</a:t>
            </a:r>
          </a:p>
        </p:txBody>
      </p:sp>
      <p:sp>
        <p:nvSpPr>
          <p:cNvPr id="20" name="Text Box 57">
            <a:extLst>
              <a:ext uri="{FF2B5EF4-FFF2-40B4-BE49-F238E27FC236}">
                <a16:creationId xmlns:a16="http://schemas.microsoft.com/office/drawing/2014/main" id="{BBCF3177-A56F-4352-9D71-3563E6AB20C4}"/>
              </a:ext>
            </a:extLst>
          </p:cNvPr>
          <p:cNvSpPr txBox="1">
            <a:spLocks noChangeArrowheads="1"/>
          </p:cNvSpPr>
          <p:nvPr/>
        </p:nvSpPr>
        <p:spPr bwMode="auto">
          <a:xfrm>
            <a:off x="5903912" y="5972274"/>
            <a:ext cx="45878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sz="1400">
                <a:solidFill>
                  <a:srgbClr val="FF0000"/>
                </a:solidFill>
                <a:latin typeface="National semibold" panose="02000503000000020004"/>
              </a:rPr>
              <a:t>320</a:t>
            </a:r>
          </a:p>
        </p:txBody>
      </p:sp>
      <p:sp>
        <p:nvSpPr>
          <p:cNvPr id="21" name="Text Box 58">
            <a:extLst>
              <a:ext uri="{FF2B5EF4-FFF2-40B4-BE49-F238E27FC236}">
                <a16:creationId xmlns:a16="http://schemas.microsoft.com/office/drawing/2014/main" id="{EE484041-60AC-4B2D-A5F7-4FF1C6213010}"/>
              </a:ext>
            </a:extLst>
          </p:cNvPr>
          <p:cNvSpPr txBox="1">
            <a:spLocks noChangeArrowheads="1"/>
          </p:cNvSpPr>
          <p:nvPr/>
        </p:nvSpPr>
        <p:spPr bwMode="auto">
          <a:xfrm>
            <a:off x="7275512" y="5924550"/>
            <a:ext cx="1257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sz="1400">
                <a:latin typeface="National semibold" panose="02000503000000020004"/>
              </a:rPr>
              <a:t>Billions of </a:t>
            </a:r>
            <a:r>
              <a:rPr lang="en-US">
                <a:latin typeface="National semibold" panose="02000503000000020004"/>
                <a:cs typeface="Times New Roman" pitchFamily="18" charset="0"/>
              </a:rPr>
              <a:t>£</a:t>
            </a:r>
            <a:endParaRPr lang="en-US" sz="1400">
              <a:latin typeface="National semibold" panose="02000503000000020004"/>
            </a:endParaRPr>
          </a:p>
        </p:txBody>
      </p:sp>
      <p:sp>
        <p:nvSpPr>
          <p:cNvPr id="3" name="Text Box 60">
            <a:extLst>
              <a:ext uri="{FF2B5EF4-FFF2-40B4-BE49-F238E27FC236}">
                <a16:creationId xmlns:a16="http://schemas.microsoft.com/office/drawing/2014/main" id="{624D164C-438B-4B63-9F77-32CF92D35681}"/>
              </a:ext>
            </a:extLst>
          </p:cNvPr>
          <p:cNvSpPr txBox="1">
            <a:spLocks noChangeArrowheads="1"/>
          </p:cNvSpPr>
          <p:nvPr/>
        </p:nvSpPr>
        <p:spPr bwMode="auto">
          <a:xfrm>
            <a:off x="2970212" y="2286000"/>
            <a:ext cx="9124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FontTx/>
              <a:buNone/>
            </a:pPr>
            <a:r>
              <a:rPr lang="en-US" dirty="0">
                <a:latin typeface="National semibold" panose="02000503000000020004"/>
                <a:cs typeface="Times New Roman" pitchFamily="18" charset="0"/>
              </a:rPr>
              <a:t>$ per £</a:t>
            </a:r>
            <a:endParaRPr lang="en-US" dirty="0">
              <a:latin typeface="National semibold" panose="02000503000000020004"/>
            </a:endParaRPr>
          </a:p>
        </p:txBody>
      </p:sp>
    </p:spTree>
    <p:extLst>
      <p:ext uri="{BB962C8B-B14F-4D97-AF65-F5344CB8AC3E}">
        <p14:creationId xmlns:p14="http://schemas.microsoft.com/office/powerpoint/2010/main" val="75969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utoUpdateAnimBg="0"/>
      <p:bldP spid="20"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sp>
        <p:nvSpPr>
          <p:cNvPr id="8" name="Title 12">
            <a:extLst>
              <a:ext uri="{FF2B5EF4-FFF2-40B4-BE49-F238E27FC236}">
                <a16:creationId xmlns:a16="http://schemas.microsoft.com/office/drawing/2014/main" id="{33096AFE-3342-4A4F-AB91-093892287DCE}"/>
              </a:ext>
            </a:extLst>
          </p:cNvPr>
          <p:cNvSpPr txBox="1">
            <a:spLocks/>
          </p:cNvSpPr>
          <p:nvPr/>
        </p:nvSpPr>
        <p:spPr>
          <a:xfrm>
            <a:off x="1522413" y="152400"/>
            <a:ext cx="9829799" cy="1219200"/>
          </a:xfrm>
          <a:prstGeom prst="rect">
            <a:avLst/>
          </a:prstGeom>
        </p:spPr>
        <p:txBody>
          <a:bodyPr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sz="4000" b="1" dirty="0">
                <a:latin typeface="National semibold" panose="02000503000000020004"/>
              </a:rPr>
              <a:t>Policy regimes for the exchange rate</a:t>
            </a:r>
            <a:endParaRPr lang="en-US" sz="4000" i="1" dirty="0">
              <a:latin typeface="National semibold" panose="02000503000000020004"/>
            </a:endParaRPr>
          </a:p>
        </p:txBody>
      </p:sp>
      <p:sp>
        <p:nvSpPr>
          <p:cNvPr id="12" name="Rectangle 6">
            <a:extLst>
              <a:ext uri="{FF2B5EF4-FFF2-40B4-BE49-F238E27FC236}">
                <a16:creationId xmlns:a16="http://schemas.microsoft.com/office/drawing/2014/main" id="{ADC626A8-26FC-4AF1-A2D3-2E80CFA3AE1A}"/>
              </a:ext>
            </a:extLst>
          </p:cNvPr>
          <p:cNvSpPr>
            <a:spLocks noChangeArrowheads="1"/>
          </p:cNvSpPr>
          <p:nvPr/>
        </p:nvSpPr>
        <p:spPr bwMode="auto">
          <a:xfrm>
            <a:off x="1697804" y="1865314"/>
            <a:ext cx="9273407" cy="424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7200" indent="-457200">
              <a:lnSpc>
                <a:spcPct val="120000"/>
              </a:lnSpc>
              <a:spcBef>
                <a:spcPct val="20000"/>
              </a:spcBef>
              <a:buClr>
                <a:schemeClr val="tx1"/>
              </a:buClr>
              <a:buSzPct val="75000"/>
              <a:buFont typeface="+mj-lt"/>
              <a:buAutoNum type="arabicPeriod"/>
            </a:pPr>
            <a:endParaRPr lang="en-US" sz="2400" u="sng" dirty="0">
              <a:solidFill>
                <a:srgbClr val="FF0000"/>
              </a:solidFill>
              <a:latin typeface="National semibold" panose="02000503000000020004"/>
            </a:endParaRPr>
          </a:p>
          <a:p>
            <a:pPr marL="457200" indent="-457200">
              <a:lnSpc>
                <a:spcPct val="120000"/>
              </a:lnSpc>
              <a:spcBef>
                <a:spcPct val="20000"/>
              </a:spcBef>
              <a:buClr>
                <a:schemeClr val="tx1"/>
              </a:buClr>
              <a:buSzPct val="75000"/>
              <a:buFont typeface="+mj-lt"/>
              <a:buAutoNum type="arabicPeriod"/>
            </a:pPr>
            <a:r>
              <a:rPr lang="en-US" sz="2400" b="1" u="sng" dirty="0">
                <a:latin typeface="National semibold" panose="02000503000000020004"/>
              </a:rPr>
              <a:t>Floating or flexible exchange rates</a:t>
            </a:r>
          </a:p>
          <a:p>
            <a:pPr marL="742950" lvl="1" indent="-285750">
              <a:lnSpc>
                <a:spcPct val="120000"/>
              </a:lnSpc>
              <a:spcBef>
                <a:spcPct val="20000"/>
              </a:spcBef>
              <a:buClr>
                <a:schemeClr val="tx1"/>
              </a:buClr>
              <a:buSzPct val="75000"/>
              <a:buFontTx/>
              <a:buChar char="–"/>
            </a:pPr>
            <a:r>
              <a:rPr lang="en-US" sz="2000" dirty="0">
                <a:latin typeface="National semibold" panose="02000503000000020004"/>
              </a:rPr>
              <a:t>Policy authorities do not intervene systematically in the market to affect the exchange rate. </a:t>
            </a:r>
            <a:endParaRPr lang="en-US" sz="2400" u="sng" dirty="0">
              <a:solidFill>
                <a:srgbClr val="FF0000"/>
              </a:solidFill>
              <a:latin typeface="National semibold" panose="02000503000000020004"/>
            </a:endParaRPr>
          </a:p>
          <a:p>
            <a:pPr marL="457200" indent="-457200">
              <a:lnSpc>
                <a:spcPct val="120000"/>
              </a:lnSpc>
              <a:spcBef>
                <a:spcPct val="20000"/>
              </a:spcBef>
              <a:buClr>
                <a:schemeClr val="tx1"/>
              </a:buClr>
              <a:buSzPct val="75000"/>
              <a:buFont typeface="+mj-lt"/>
              <a:buAutoNum type="arabicPeriod"/>
            </a:pPr>
            <a:r>
              <a:rPr lang="en-US" sz="2400" b="1" u="sng" dirty="0">
                <a:latin typeface="National semibold" panose="02000503000000020004"/>
              </a:rPr>
              <a:t>Fixed exchange rates</a:t>
            </a:r>
          </a:p>
          <a:p>
            <a:pPr marL="742950" lvl="1" indent="-285750">
              <a:lnSpc>
                <a:spcPct val="120000"/>
              </a:lnSpc>
              <a:spcBef>
                <a:spcPct val="20000"/>
              </a:spcBef>
              <a:buClr>
                <a:schemeClr val="tx1"/>
              </a:buClr>
              <a:buSzPct val="75000"/>
              <a:buFontTx/>
              <a:buChar char="–"/>
            </a:pPr>
            <a:r>
              <a:rPr lang="en-US" sz="2000" dirty="0">
                <a:latin typeface="National semibold" panose="02000503000000020004"/>
              </a:rPr>
              <a:t>Policy authorities stand ready to purchase or sell foreign currency in order to balance the demand and supply at the targeted (fixed) exchange rate. </a:t>
            </a:r>
          </a:p>
        </p:txBody>
      </p:sp>
    </p:spTree>
    <p:extLst>
      <p:ext uri="{BB962C8B-B14F-4D97-AF65-F5344CB8AC3E}">
        <p14:creationId xmlns:p14="http://schemas.microsoft.com/office/powerpoint/2010/main" val="2385790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ChangeArrowheads="1"/>
          </p:cNvSpPr>
          <p:nvPr/>
        </p:nvSpPr>
        <p:spPr bwMode="auto">
          <a:xfrm>
            <a:off x="912818" y="76200"/>
            <a:ext cx="10363194" cy="1219200"/>
          </a:xfrm>
          <a:prstGeom prst="rect">
            <a:avLst/>
          </a:prstGeom>
          <a:noFill/>
          <a:ln>
            <a:noFill/>
          </a:ln>
        </p:spPr>
        <p:txBody>
          <a:bodyPr/>
          <a:lstStyle/>
          <a:p>
            <a:pPr marL="342900" indent="-342900" algn="ctr"/>
            <a:r>
              <a:rPr lang="en-US" sz="3200" b="1" dirty="0">
                <a:latin typeface="National semibold" panose="02000503000000020004"/>
              </a:rPr>
              <a:t>Defending a fixed exchange rate from depreciation </a:t>
            </a:r>
          </a:p>
          <a:p>
            <a:pPr marL="342900" indent="-342900" algn="ctr"/>
            <a:r>
              <a:rPr lang="en-US" sz="3200" b="1" dirty="0">
                <a:solidFill>
                  <a:srgbClr val="FF0000"/>
                </a:solidFill>
                <a:latin typeface="National semibold" panose="02000503000000020004"/>
              </a:rPr>
              <a:t>(peg Dollar/Pound)</a:t>
            </a:r>
            <a:endParaRPr lang="en-US" sz="2400" dirty="0">
              <a:solidFill>
                <a:srgbClr val="FF0000"/>
              </a:solidFill>
              <a:latin typeface="National semibold" panose="02000503000000020004"/>
            </a:endParaRPr>
          </a:p>
        </p:txBody>
      </p:sp>
      <p:sp>
        <p:nvSpPr>
          <p:cNvPr id="27" name="Line 4">
            <a:extLst>
              <a:ext uri="{FF2B5EF4-FFF2-40B4-BE49-F238E27FC236}">
                <a16:creationId xmlns:a16="http://schemas.microsoft.com/office/drawing/2014/main" id="{E89E6B68-A5AB-4015-8D29-4430D4508EFC}"/>
              </a:ext>
            </a:extLst>
          </p:cNvPr>
          <p:cNvSpPr>
            <a:spLocks noChangeShapeType="1"/>
          </p:cNvSpPr>
          <p:nvPr/>
        </p:nvSpPr>
        <p:spPr bwMode="auto">
          <a:xfrm flipV="1">
            <a:off x="4481512" y="1828800"/>
            <a:ext cx="0" cy="3810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 name="Line 5">
            <a:extLst>
              <a:ext uri="{FF2B5EF4-FFF2-40B4-BE49-F238E27FC236}">
                <a16:creationId xmlns:a16="http://schemas.microsoft.com/office/drawing/2014/main" id="{FF552537-F448-40DB-98D7-B99535DDA0E6}"/>
              </a:ext>
            </a:extLst>
          </p:cNvPr>
          <p:cNvSpPr>
            <a:spLocks noChangeShapeType="1"/>
          </p:cNvSpPr>
          <p:nvPr/>
        </p:nvSpPr>
        <p:spPr bwMode="auto">
          <a:xfrm>
            <a:off x="4329112" y="5562600"/>
            <a:ext cx="3962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 name="Text Box 6">
            <a:extLst>
              <a:ext uri="{FF2B5EF4-FFF2-40B4-BE49-F238E27FC236}">
                <a16:creationId xmlns:a16="http://schemas.microsoft.com/office/drawing/2014/main" id="{2B1B5EE2-FBB4-40AA-BE42-BC8B7FADD4E4}"/>
              </a:ext>
            </a:extLst>
          </p:cNvPr>
          <p:cNvSpPr txBox="1">
            <a:spLocks noChangeArrowheads="1"/>
          </p:cNvSpPr>
          <p:nvPr/>
        </p:nvSpPr>
        <p:spPr bwMode="auto">
          <a:xfrm>
            <a:off x="7123111" y="5589588"/>
            <a:ext cx="173350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latin typeface="Times New Roman" pitchFamily="18" charset="0"/>
              </a:rPr>
              <a:t>Billions of Pounds</a:t>
            </a:r>
          </a:p>
        </p:txBody>
      </p:sp>
      <p:sp>
        <p:nvSpPr>
          <p:cNvPr id="30" name="Text Box 7">
            <a:extLst>
              <a:ext uri="{FF2B5EF4-FFF2-40B4-BE49-F238E27FC236}">
                <a16:creationId xmlns:a16="http://schemas.microsoft.com/office/drawing/2014/main" id="{8C1E1A61-7C7C-4714-B322-5B79BF024872}"/>
              </a:ext>
            </a:extLst>
          </p:cNvPr>
          <p:cNvSpPr txBox="1">
            <a:spLocks noChangeArrowheads="1"/>
          </p:cNvSpPr>
          <p:nvPr/>
        </p:nvSpPr>
        <p:spPr bwMode="auto">
          <a:xfrm>
            <a:off x="3952738" y="3656112"/>
            <a:ext cx="40908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latin typeface="Times New Roman" pitchFamily="18" charset="0"/>
              </a:rPr>
              <a:t>1.2</a:t>
            </a:r>
          </a:p>
        </p:txBody>
      </p:sp>
      <p:sp>
        <p:nvSpPr>
          <p:cNvPr id="31" name="Text Box 9">
            <a:extLst>
              <a:ext uri="{FF2B5EF4-FFF2-40B4-BE49-F238E27FC236}">
                <a16:creationId xmlns:a16="http://schemas.microsoft.com/office/drawing/2014/main" id="{3C233AB9-6121-4A01-ABC2-D4445116EF44}"/>
              </a:ext>
            </a:extLst>
          </p:cNvPr>
          <p:cNvSpPr txBox="1">
            <a:spLocks noChangeArrowheads="1"/>
          </p:cNvSpPr>
          <p:nvPr/>
        </p:nvSpPr>
        <p:spPr bwMode="auto">
          <a:xfrm>
            <a:off x="5380037" y="351631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sz="1400">
              <a:latin typeface="Times New Roman" pitchFamily="18" charset="0"/>
            </a:endParaRPr>
          </a:p>
        </p:txBody>
      </p:sp>
      <p:sp>
        <p:nvSpPr>
          <p:cNvPr id="32" name="Line 10">
            <a:extLst>
              <a:ext uri="{FF2B5EF4-FFF2-40B4-BE49-F238E27FC236}">
                <a16:creationId xmlns:a16="http://schemas.microsoft.com/office/drawing/2014/main" id="{92CB46BD-BCB6-43AA-B3A3-463B8D5B66AE}"/>
              </a:ext>
            </a:extLst>
          </p:cNvPr>
          <p:cNvSpPr>
            <a:spLocks noChangeShapeType="1"/>
          </p:cNvSpPr>
          <p:nvPr/>
        </p:nvSpPr>
        <p:spPr bwMode="auto">
          <a:xfrm>
            <a:off x="5103812" y="2679700"/>
            <a:ext cx="19812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Text Box 11">
            <a:extLst>
              <a:ext uri="{FF2B5EF4-FFF2-40B4-BE49-F238E27FC236}">
                <a16:creationId xmlns:a16="http://schemas.microsoft.com/office/drawing/2014/main" id="{B9110961-EF04-44D5-B7A5-2D1056C8C53E}"/>
              </a:ext>
            </a:extLst>
          </p:cNvPr>
          <p:cNvSpPr txBox="1">
            <a:spLocks noChangeArrowheads="1"/>
          </p:cNvSpPr>
          <p:nvPr/>
        </p:nvSpPr>
        <p:spPr bwMode="auto">
          <a:xfrm>
            <a:off x="3342578" y="1828800"/>
            <a:ext cx="108234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sz="1600" dirty="0">
                <a:latin typeface="Times New Roman" pitchFamily="18" charset="0"/>
                <a:cs typeface="Times New Roman" pitchFamily="18" charset="0"/>
              </a:rPr>
              <a:t>Dollars for</a:t>
            </a:r>
          </a:p>
          <a:p>
            <a:pPr algn="ctr" eaLnBrk="1" hangingPunct="1">
              <a:spcBef>
                <a:spcPct val="0"/>
              </a:spcBef>
              <a:buFontTx/>
              <a:buNone/>
            </a:pPr>
            <a:r>
              <a:rPr lang="en-US" sz="1600" dirty="0">
                <a:latin typeface="Times New Roman" pitchFamily="18" charset="0"/>
                <a:cs typeface="Times New Roman" pitchFamily="18" charset="0"/>
              </a:rPr>
              <a:t>1 Pound</a:t>
            </a:r>
            <a:endParaRPr lang="en-US" sz="1600" dirty="0">
              <a:latin typeface="Times New Roman" pitchFamily="18" charset="0"/>
            </a:endParaRPr>
          </a:p>
        </p:txBody>
      </p:sp>
      <p:sp>
        <p:nvSpPr>
          <p:cNvPr id="34" name="Line 12">
            <a:extLst>
              <a:ext uri="{FF2B5EF4-FFF2-40B4-BE49-F238E27FC236}">
                <a16:creationId xmlns:a16="http://schemas.microsoft.com/office/drawing/2014/main" id="{7B52A592-A157-4A4D-AD2E-3C3AB0727F55}"/>
              </a:ext>
            </a:extLst>
          </p:cNvPr>
          <p:cNvSpPr>
            <a:spLocks noChangeShapeType="1"/>
          </p:cNvSpPr>
          <p:nvPr/>
        </p:nvSpPr>
        <p:spPr bwMode="auto">
          <a:xfrm flipH="1">
            <a:off x="5027612" y="2667000"/>
            <a:ext cx="20574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Text Box 13">
            <a:extLst>
              <a:ext uri="{FF2B5EF4-FFF2-40B4-BE49-F238E27FC236}">
                <a16:creationId xmlns:a16="http://schemas.microsoft.com/office/drawing/2014/main" id="{ADE19FD1-30C8-4F92-8602-355F841C7E50}"/>
              </a:ext>
            </a:extLst>
          </p:cNvPr>
          <p:cNvSpPr txBox="1">
            <a:spLocks noChangeArrowheads="1"/>
          </p:cNvSpPr>
          <p:nvPr/>
        </p:nvSpPr>
        <p:spPr bwMode="auto">
          <a:xfrm>
            <a:off x="7065961" y="2438401"/>
            <a:ext cx="7937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dirty="0" err="1">
                <a:latin typeface="Times New Roman" pitchFamily="18" charset="0"/>
                <a:cs typeface="Times New Roman" pitchFamily="18" charset="0"/>
              </a:rPr>
              <a:t>S</a:t>
            </a:r>
            <a:r>
              <a:rPr lang="en-US" sz="1800" baseline="-25000" dirty="0" err="1">
                <a:latin typeface="Times New Roman" pitchFamily="18" charset="0"/>
                <a:cs typeface="Times New Roman" pitchFamily="18" charset="0"/>
              </a:rPr>
              <a:t>Pound</a:t>
            </a:r>
            <a:endParaRPr lang="en-US" sz="1800" baseline="-25000" dirty="0">
              <a:latin typeface="Times New Roman" pitchFamily="18" charset="0"/>
              <a:cs typeface="Times New Roman" pitchFamily="18" charset="0"/>
            </a:endParaRPr>
          </a:p>
        </p:txBody>
      </p:sp>
      <p:sp>
        <p:nvSpPr>
          <p:cNvPr id="36" name="Text Box 14">
            <a:extLst>
              <a:ext uri="{FF2B5EF4-FFF2-40B4-BE49-F238E27FC236}">
                <a16:creationId xmlns:a16="http://schemas.microsoft.com/office/drawing/2014/main" id="{11961E5C-4B96-4DCB-9706-20877892F643}"/>
              </a:ext>
            </a:extLst>
          </p:cNvPr>
          <p:cNvSpPr txBox="1">
            <a:spLocks noChangeArrowheads="1"/>
          </p:cNvSpPr>
          <p:nvPr/>
        </p:nvSpPr>
        <p:spPr bwMode="auto">
          <a:xfrm>
            <a:off x="7072311" y="4800601"/>
            <a:ext cx="103536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dirty="0" err="1">
                <a:latin typeface="Times New Roman" pitchFamily="18" charset="0"/>
                <a:cs typeface="Times New Roman" pitchFamily="18" charset="0"/>
              </a:rPr>
              <a:t>D</a:t>
            </a:r>
            <a:r>
              <a:rPr lang="en-US" sz="1800" baseline="-25000" dirty="0" err="1">
                <a:latin typeface="Times New Roman" pitchFamily="18" charset="0"/>
                <a:cs typeface="Times New Roman" pitchFamily="18" charset="0"/>
              </a:rPr>
              <a:t>Pound</a:t>
            </a:r>
            <a:endParaRPr lang="en-US" sz="1800" baseline="-25000" dirty="0">
              <a:latin typeface="Times New Roman" pitchFamily="18" charset="0"/>
              <a:cs typeface="Times New Roman" pitchFamily="18" charset="0"/>
            </a:endParaRPr>
          </a:p>
        </p:txBody>
      </p:sp>
      <p:sp>
        <p:nvSpPr>
          <p:cNvPr id="37" name="Line 15">
            <a:extLst>
              <a:ext uri="{FF2B5EF4-FFF2-40B4-BE49-F238E27FC236}">
                <a16:creationId xmlns:a16="http://schemas.microsoft.com/office/drawing/2014/main" id="{E91693B6-9A80-4DDF-976C-FACEA65AFD44}"/>
              </a:ext>
            </a:extLst>
          </p:cNvPr>
          <p:cNvSpPr>
            <a:spLocks noChangeShapeType="1"/>
          </p:cNvSpPr>
          <p:nvPr/>
        </p:nvSpPr>
        <p:spPr bwMode="auto">
          <a:xfrm>
            <a:off x="6066472" y="3810000"/>
            <a:ext cx="0" cy="1752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Line 16">
            <a:extLst>
              <a:ext uri="{FF2B5EF4-FFF2-40B4-BE49-F238E27FC236}">
                <a16:creationId xmlns:a16="http://schemas.microsoft.com/office/drawing/2014/main" id="{FAF73411-3147-4F0F-B480-F6E819660447}"/>
              </a:ext>
            </a:extLst>
          </p:cNvPr>
          <p:cNvSpPr>
            <a:spLocks noChangeShapeType="1"/>
          </p:cNvSpPr>
          <p:nvPr/>
        </p:nvSpPr>
        <p:spPr bwMode="auto">
          <a:xfrm flipH="1">
            <a:off x="4481512" y="3797300"/>
            <a:ext cx="16002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Text Box 17">
            <a:extLst>
              <a:ext uri="{FF2B5EF4-FFF2-40B4-BE49-F238E27FC236}">
                <a16:creationId xmlns:a16="http://schemas.microsoft.com/office/drawing/2014/main" id="{07B5EDE8-A7DB-4C8C-8137-840A44B3160A}"/>
              </a:ext>
            </a:extLst>
          </p:cNvPr>
          <p:cNvSpPr txBox="1">
            <a:spLocks noChangeArrowheads="1"/>
          </p:cNvSpPr>
          <p:nvPr/>
        </p:nvSpPr>
        <p:spPr bwMode="auto">
          <a:xfrm>
            <a:off x="5929255" y="5572170"/>
            <a:ext cx="3642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latin typeface="Times New Roman" pitchFamily="18" charset="0"/>
              </a:rPr>
              <a:t>20</a:t>
            </a:r>
          </a:p>
        </p:txBody>
      </p:sp>
      <p:sp>
        <p:nvSpPr>
          <p:cNvPr id="40" name="Line 18">
            <a:extLst>
              <a:ext uri="{FF2B5EF4-FFF2-40B4-BE49-F238E27FC236}">
                <a16:creationId xmlns:a16="http://schemas.microsoft.com/office/drawing/2014/main" id="{68BF0D41-38D5-4EB4-9367-1DF73DE607C9}"/>
              </a:ext>
            </a:extLst>
          </p:cNvPr>
          <p:cNvSpPr>
            <a:spLocks noChangeShapeType="1"/>
          </p:cNvSpPr>
          <p:nvPr/>
        </p:nvSpPr>
        <p:spPr bwMode="auto">
          <a:xfrm>
            <a:off x="4496025" y="2732318"/>
            <a:ext cx="1981200" cy="228600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 name="Line 19">
            <a:extLst>
              <a:ext uri="{FF2B5EF4-FFF2-40B4-BE49-F238E27FC236}">
                <a16:creationId xmlns:a16="http://schemas.microsoft.com/office/drawing/2014/main" id="{EEF86C0D-9062-4812-AF56-F5235C350D88}"/>
              </a:ext>
            </a:extLst>
          </p:cNvPr>
          <p:cNvSpPr>
            <a:spLocks noChangeShapeType="1"/>
          </p:cNvSpPr>
          <p:nvPr/>
        </p:nvSpPr>
        <p:spPr bwMode="auto">
          <a:xfrm flipH="1">
            <a:off x="5422038" y="3791134"/>
            <a:ext cx="1" cy="1779812"/>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2" name="Line 20">
            <a:extLst>
              <a:ext uri="{FF2B5EF4-FFF2-40B4-BE49-F238E27FC236}">
                <a16:creationId xmlns:a16="http://schemas.microsoft.com/office/drawing/2014/main" id="{8B4AC317-FB52-4ABB-9C38-3F557216717C}"/>
              </a:ext>
            </a:extLst>
          </p:cNvPr>
          <p:cNvSpPr>
            <a:spLocks noChangeShapeType="1"/>
          </p:cNvSpPr>
          <p:nvPr/>
        </p:nvSpPr>
        <p:spPr bwMode="auto">
          <a:xfrm flipH="1" flipV="1">
            <a:off x="5436550" y="3801653"/>
            <a:ext cx="638637" cy="1"/>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3" name="Text Box 21">
            <a:extLst>
              <a:ext uri="{FF2B5EF4-FFF2-40B4-BE49-F238E27FC236}">
                <a16:creationId xmlns:a16="http://schemas.microsoft.com/office/drawing/2014/main" id="{D558B99E-1A35-484C-9E28-15A0D0B77ED7}"/>
              </a:ext>
            </a:extLst>
          </p:cNvPr>
          <p:cNvSpPr txBox="1">
            <a:spLocks noChangeArrowheads="1"/>
          </p:cNvSpPr>
          <p:nvPr/>
        </p:nvSpPr>
        <p:spPr bwMode="auto">
          <a:xfrm>
            <a:off x="5263996" y="5578533"/>
            <a:ext cx="3642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solidFill>
                  <a:srgbClr val="FF0000"/>
                </a:solidFill>
                <a:latin typeface="Times New Roman" pitchFamily="18" charset="0"/>
              </a:rPr>
              <a:t>17</a:t>
            </a:r>
          </a:p>
        </p:txBody>
      </p:sp>
      <p:sp>
        <p:nvSpPr>
          <p:cNvPr id="44" name="Line 20">
            <a:extLst>
              <a:ext uri="{FF2B5EF4-FFF2-40B4-BE49-F238E27FC236}">
                <a16:creationId xmlns:a16="http://schemas.microsoft.com/office/drawing/2014/main" id="{CC71D3FC-7E5F-4F98-AAAC-08D5A3E9434A}"/>
              </a:ext>
            </a:extLst>
          </p:cNvPr>
          <p:cNvSpPr>
            <a:spLocks noChangeShapeType="1"/>
          </p:cNvSpPr>
          <p:nvPr/>
        </p:nvSpPr>
        <p:spPr bwMode="auto">
          <a:xfrm flipH="1">
            <a:off x="4494212" y="4171417"/>
            <a:ext cx="1242058" cy="6516"/>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46" name="Right Brace 45">
            <a:extLst>
              <a:ext uri="{FF2B5EF4-FFF2-40B4-BE49-F238E27FC236}">
                <a16:creationId xmlns:a16="http://schemas.microsoft.com/office/drawing/2014/main" id="{71AA77CC-8539-4042-A845-BA5AF9334E16}"/>
              </a:ext>
            </a:extLst>
          </p:cNvPr>
          <p:cNvSpPr/>
          <p:nvPr/>
        </p:nvSpPr>
        <p:spPr>
          <a:xfrm rot="5400000">
            <a:off x="5683924" y="5706463"/>
            <a:ext cx="86624" cy="71329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Text Box 6">
            <a:extLst>
              <a:ext uri="{FF2B5EF4-FFF2-40B4-BE49-F238E27FC236}">
                <a16:creationId xmlns:a16="http://schemas.microsoft.com/office/drawing/2014/main" id="{E7A256B7-08D3-4A3F-A000-4F3833075C74}"/>
              </a:ext>
            </a:extLst>
          </p:cNvPr>
          <p:cNvSpPr txBox="1">
            <a:spLocks noChangeArrowheads="1"/>
          </p:cNvSpPr>
          <p:nvPr/>
        </p:nvSpPr>
        <p:spPr bwMode="auto">
          <a:xfrm>
            <a:off x="4100001" y="6075878"/>
            <a:ext cx="32413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sz="1400" dirty="0">
                <a:solidFill>
                  <a:srgbClr val="FF0000"/>
                </a:solidFill>
                <a:latin typeface="Times New Roman" pitchFamily="18" charset="0"/>
              </a:rPr>
              <a:t>Bank of England purchases 3 Billions Pounds (and sells 3.6 Billion Dollars)</a:t>
            </a:r>
          </a:p>
        </p:txBody>
      </p:sp>
      <p:sp>
        <p:nvSpPr>
          <p:cNvPr id="50" name="Line 12">
            <a:extLst>
              <a:ext uri="{FF2B5EF4-FFF2-40B4-BE49-F238E27FC236}">
                <a16:creationId xmlns:a16="http://schemas.microsoft.com/office/drawing/2014/main" id="{59EDECFF-304D-4584-9089-9DAF4637A51B}"/>
              </a:ext>
            </a:extLst>
          </p:cNvPr>
          <p:cNvSpPr>
            <a:spLocks noChangeShapeType="1"/>
          </p:cNvSpPr>
          <p:nvPr/>
        </p:nvSpPr>
        <p:spPr bwMode="auto">
          <a:xfrm flipH="1">
            <a:off x="4543196" y="2524397"/>
            <a:ext cx="2057400" cy="228600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51" name="Straight Arrow Connector 50">
            <a:extLst>
              <a:ext uri="{FF2B5EF4-FFF2-40B4-BE49-F238E27FC236}">
                <a16:creationId xmlns:a16="http://schemas.microsoft.com/office/drawing/2014/main" id="{06205B2E-0572-478A-A131-D1D089A5BADC}"/>
              </a:ext>
            </a:extLst>
          </p:cNvPr>
          <p:cNvCxnSpPr>
            <a:cxnSpLocks/>
          </p:cNvCxnSpPr>
          <p:nvPr/>
        </p:nvCxnSpPr>
        <p:spPr>
          <a:xfrm flipH="1">
            <a:off x="6094412" y="3243942"/>
            <a:ext cx="385715"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206D1F21-6ADF-4C7E-81A0-F7D6754BC064}"/>
              </a:ext>
            </a:extLst>
          </p:cNvPr>
          <p:cNvCxnSpPr>
            <a:cxnSpLocks/>
          </p:cNvCxnSpPr>
          <p:nvPr/>
        </p:nvCxnSpPr>
        <p:spPr>
          <a:xfrm flipH="1">
            <a:off x="4930804" y="4495800"/>
            <a:ext cx="416848"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4" name="Text Box 31">
            <a:extLst>
              <a:ext uri="{FF2B5EF4-FFF2-40B4-BE49-F238E27FC236}">
                <a16:creationId xmlns:a16="http://schemas.microsoft.com/office/drawing/2014/main" id="{C0A2C1F2-2EEB-46AC-86E3-A7F261B54A77}"/>
              </a:ext>
            </a:extLst>
          </p:cNvPr>
          <p:cNvSpPr txBox="1">
            <a:spLocks noChangeArrowheads="1"/>
          </p:cNvSpPr>
          <p:nvPr/>
        </p:nvSpPr>
        <p:spPr bwMode="auto">
          <a:xfrm>
            <a:off x="5946359" y="2050868"/>
            <a:ext cx="25876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dirty="0" err="1">
                <a:solidFill>
                  <a:srgbClr val="FF0000"/>
                </a:solidFill>
                <a:latin typeface="National semibold" panose="02000503000000020004"/>
                <a:cs typeface="Times New Roman" pitchFamily="18" charset="0"/>
              </a:rPr>
              <a:t>S</a:t>
            </a:r>
            <a:r>
              <a:rPr lang="en-US" sz="1800" baseline="-25000" dirty="0" err="1">
                <a:solidFill>
                  <a:srgbClr val="FF0000"/>
                </a:solidFill>
                <a:latin typeface="Times New Roman" pitchFamily="18" charset="0"/>
                <a:cs typeface="Times New Roman" pitchFamily="18" charset="0"/>
              </a:rPr>
              <a:t>Pound</a:t>
            </a:r>
            <a:r>
              <a:rPr lang="en-US" sz="1800" dirty="0">
                <a:solidFill>
                  <a:srgbClr val="FF0000"/>
                </a:solidFill>
                <a:latin typeface="National semibold" panose="02000503000000020004"/>
                <a:cs typeface="Times New Roman" pitchFamily="18" charset="0"/>
              </a:rPr>
              <a:t> after intervention</a:t>
            </a:r>
            <a:r>
              <a:rPr lang="en-US" sz="1800" dirty="0">
                <a:latin typeface="Times New Roman" pitchFamily="18" charset="0"/>
                <a:cs typeface="Times New Roman" pitchFamily="18" charset="0"/>
              </a:rPr>
              <a:t> </a:t>
            </a:r>
            <a:endParaRPr lang="en-US" sz="1800" baseline="-25000" dirty="0">
              <a:latin typeface="Times New Roman" pitchFamily="18" charset="0"/>
              <a:cs typeface="Times New Roman" pitchFamily="18" charset="0"/>
            </a:endParaRPr>
          </a:p>
        </p:txBody>
      </p:sp>
    </p:spTree>
    <p:extLst>
      <p:ext uri="{BB962C8B-B14F-4D97-AF65-F5344CB8AC3E}">
        <p14:creationId xmlns:p14="http://schemas.microsoft.com/office/powerpoint/2010/main" val="456992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subTnLst>
                                    <p:set>
                                      <p:cBhvr override="childStyle">
                                        <p:cTn dur="1" fill="hold" display="0" masterRel="nextClick" afterEffect="1"/>
                                        <p:tgtEl>
                                          <p:spTgt spid="44"/>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P spid="43" grpId="0"/>
      <p:bldP spid="44" grpId="0" animBg="1"/>
      <p:bldP spid="46" grpId="0" animBg="1"/>
      <p:bldP spid="49" grpId="0"/>
      <p:bldP spid="50" grpId="0" animBg="1"/>
      <p:bldP spid="5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sp>
        <p:nvSpPr>
          <p:cNvPr id="8" name="Title 12">
            <a:extLst>
              <a:ext uri="{FF2B5EF4-FFF2-40B4-BE49-F238E27FC236}">
                <a16:creationId xmlns:a16="http://schemas.microsoft.com/office/drawing/2014/main" id="{33096AFE-3342-4A4F-AB91-093892287DCE}"/>
              </a:ext>
            </a:extLst>
          </p:cNvPr>
          <p:cNvSpPr txBox="1">
            <a:spLocks/>
          </p:cNvSpPr>
          <p:nvPr/>
        </p:nvSpPr>
        <p:spPr>
          <a:xfrm>
            <a:off x="1522413" y="152400"/>
            <a:ext cx="9829799" cy="1219200"/>
          </a:xfrm>
          <a:prstGeom prst="rect">
            <a:avLst/>
          </a:prstGeom>
        </p:spPr>
        <p:txBody>
          <a:bodyPr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sz="4000" dirty="0">
                <a:latin typeface="National semibold" panose="02000503000000020004"/>
              </a:rPr>
              <a:t>Where does the monetary authority get the foreign currency to intervene?</a:t>
            </a:r>
            <a:endParaRPr lang="en-US" sz="4000" i="1" dirty="0">
              <a:latin typeface="National semibold" panose="02000503000000020004"/>
            </a:endParaRPr>
          </a:p>
        </p:txBody>
      </p:sp>
      <p:sp>
        <p:nvSpPr>
          <p:cNvPr id="12" name="Rectangle 6">
            <a:extLst>
              <a:ext uri="{FF2B5EF4-FFF2-40B4-BE49-F238E27FC236}">
                <a16:creationId xmlns:a16="http://schemas.microsoft.com/office/drawing/2014/main" id="{ADC626A8-26FC-4AF1-A2D3-2E80CFA3AE1A}"/>
              </a:ext>
            </a:extLst>
          </p:cNvPr>
          <p:cNvSpPr>
            <a:spLocks noChangeArrowheads="1"/>
          </p:cNvSpPr>
          <p:nvPr/>
        </p:nvSpPr>
        <p:spPr bwMode="auto">
          <a:xfrm>
            <a:off x="1751012" y="2076449"/>
            <a:ext cx="9982200" cy="424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buFont typeface="Arial" panose="020B0604020202020204" pitchFamily="34" charset="0"/>
              <a:buChar char="•"/>
            </a:pPr>
            <a:endParaRPr lang="en-US" sz="2400" dirty="0">
              <a:latin typeface="National semibold" panose="02000503000000020004"/>
            </a:endParaRPr>
          </a:p>
          <a:p>
            <a:pPr marL="342900" indent="-342900">
              <a:lnSpc>
                <a:spcPct val="120000"/>
              </a:lnSpc>
              <a:buFont typeface="Arial" panose="020B0604020202020204" pitchFamily="34" charset="0"/>
              <a:buChar char="•"/>
            </a:pPr>
            <a:r>
              <a:rPr lang="en-US" sz="2400" dirty="0">
                <a:latin typeface="National semibold" panose="02000503000000020004"/>
              </a:rPr>
              <a:t>The monetary authority owns assets in foreign currencies (</a:t>
            </a:r>
            <a:r>
              <a:rPr lang="en-US" sz="2400" dirty="0">
                <a:solidFill>
                  <a:srgbClr val="FF0000"/>
                </a:solidFill>
                <a:latin typeface="National semibold" panose="02000503000000020004"/>
              </a:rPr>
              <a:t>foreign reserves</a:t>
            </a:r>
            <a:r>
              <a:rPr lang="en-US" sz="2400" dirty="0">
                <a:latin typeface="National semibold" panose="02000503000000020004"/>
              </a:rPr>
              <a:t>).</a:t>
            </a:r>
          </a:p>
          <a:p>
            <a:pPr marL="990600" lvl="1" indent="-533400">
              <a:lnSpc>
                <a:spcPct val="120000"/>
              </a:lnSpc>
            </a:pPr>
            <a:endParaRPr lang="en-US" sz="2400" dirty="0">
              <a:latin typeface="National semibold" panose="02000503000000020004"/>
            </a:endParaRPr>
          </a:p>
          <a:p>
            <a:pPr marL="990600" lvl="1" indent="-533400">
              <a:lnSpc>
                <a:spcPct val="120000"/>
              </a:lnSpc>
            </a:pPr>
            <a:endParaRPr lang="en-US" sz="2400" dirty="0">
              <a:latin typeface="National semibold" panose="02000503000000020004"/>
            </a:endParaRPr>
          </a:p>
          <a:p>
            <a:pPr marL="990600" lvl="1" indent="-533400">
              <a:lnSpc>
                <a:spcPct val="120000"/>
              </a:lnSpc>
            </a:pPr>
            <a:endParaRPr lang="en-US" sz="2400" dirty="0">
              <a:latin typeface="National semibold" panose="02000503000000020004"/>
            </a:endParaRPr>
          </a:p>
          <a:p>
            <a:pPr marL="342900" indent="-342900">
              <a:lnSpc>
                <a:spcPct val="120000"/>
              </a:lnSpc>
              <a:buFont typeface="Arial" panose="020B0604020202020204" pitchFamily="34" charset="0"/>
              <a:buChar char="•"/>
            </a:pPr>
            <a:r>
              <a:rPr lang="en-US" sz="2400" dirty="0">
                <a:latin typeface="National semibold" panose="02000503000000020004"/>
              </a:rPr>
              <a:t>If countries are short of foreign reserves, they can borrow from other countries or international institutions.</a:t>
            </a:r>
          </a:p>
          <a:p>
            <a:pPr>
              <a:lnSpc>
                <a:spcPct val="120000"/>
              </a:lnSpc>
              <a:spcBef>
                <a:spcPct val="20000"/>
              </a:spcBef>
              <a:buClr>
                <a:schemeClr val="tx1"/>
              </a:buClr>
              <a:buSzPct val="75000"/>
            </a:pPr>
            <a:endParaRPr lang="en-US" sz="2400" u="sng" dirty="0">
              <a:solidFill>
                <a:srgbClr val="FF0000"/>
              </a:solidFill>
              <a:latin typeface="National semibold" panose="02000503000000020004"/>
            </a:endParaRPr>
          </a:p>
        </p:txBody>
      </p:sp>
    </p:spTree>
    <p:extLst>
      <p:ext uri="{BB962C8B-B14F-4D97-AF65-F5344CB8AC3E}">
        <p14:creationId xmlns:p14="http://schemas.microsoft.com/office/powerpoint/2010/main" val="2825410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Box 3"/>
          <p:cNvSpPr txBox="1">
            <a:spLocks noChangeArrowheads="1"/>
          </p:cNvSpPr>
          <p:nvPr/>
        </p:nvSpPr>
        <p:spPr bwMode="auto">
          <a:xfrm>
            <a:off x="521651" y="2633619"/>
            <a:ext cx="2333396"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buFontTx/>
              <a:buNone/>
            </a:pPr>
            <a:r>
              <a:rPr lang="en-US" sz="3600" b="1" dirty="0">
                <a:solidFill>
                  <a:srgbClr val="000099"/>
                </a:solidFill>
                <a:latin typeface="National semibold" panose="02000503000000020004"/>
              </a:rPr>
              <a:t>Who owns </a:t>
            </a:r>
          </a:p>
          <a:p>
            <a:pPr algn="ctr">
              <a:buFontTx/>
              <a:buNone/>
            </a:pPr>
            <a:r>
              <a:rPr lang="en-US" sz="3600" b="1" dirty="0">
                <a:solidFill>
                  <a:srgbClr val="000099"/>
                </a:solidFill>
                <a:latin typeface="National semibold" panose="02000503000000020004"/>
              </a:rPr>
              <a:t>foreign</a:t>
            </a:r>
          </a:p>
          <a:p>
            <a:pPr algn="ctr">
              <a:buFontTx/>
              <a:buNone/>
            </a:pPr>
            <a:r>
              <a:rPr lang="en-US" sz="3600" b="1" dirty="0">
                <a:solidFill>
                  <a:srgbClr val="000099"/>
                </a:solidFill>
                <a:latin typeface="National semibold" panose="02000503000000020004"/>
              </a:rPr>
              <a:t>reserves?</a:t>
            </a:r>
          </a:p>
        </p:txBody>
      </p:sp>
      <p:graphicFrame>
        <p:nvGraphicFramePr>
          <p:cNvPr id="9" name="Chart 8">
            <a:extLst>
              <a:ext uri="{FF2B5EF4-FFF2-40B4-BE49-F238E27FC236}">
                <a16:creationId xmlns:a16="http://schemas.microsoft.com/office/drawing/2014/main" id="{C8910A2F-C127-4B8B-B210-3894CCB0AD0F}"/>
              </a:ext>
            </a:extLst>
          </p:cNvPr>
          <p:cNvGraphicFramePr>
            <a:graphicFrameLocks noGrp="1"/>
          </p:cNvGraphicFramePr>
          <p:nvPr/>
        </p:nvGraphicFramePr>
        <p:xfrm>
          <a:off x="3427412" y="289442"/>
          <a:ext cx="8735827" cy="626375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96156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Box 3"/>
          <p:cNvSpPr txBox="1">
            <a:spLocks noChangeArrowheads="1"/>
          </p:cNvSpPr>
          <p:nvPr/>
        </p:nvSpPr>
        <p:spPr bwMode="auto">
          <a:xfrm>
            <a:off x="537537" y="2961382"/>
            <a:ext cx="280076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buFontTx/>
              <a:buNone/>
            </a:pPr>
            <a:r>
              <a:rPr lang="en-US" sz="3600" b="1" dirty="0">
                <a:solidFill>
                  <a:srgbClr val="000099"/>
                </a:solidFill>
              </a:rPr>
              <a:t>In what </a:t>
            </a:r>
          </a:p>
          <a:p>
            <a:pPr algn="ctr">
              <a:buFontTx/>
              <a:buNone/>
            </a:pPr>
            <a:r>
              <a:rPr lang="en-US" sz="3600" b="1" dirty="0">
                <a:solidFill>
                  <a:srgbClr val="000099"/>
                </a:solidFill>
              </a:rPr>
              <a:t>currencies?</a:t>
            </a:r>
          </a:p>
        </p:txBody>
      </p:sp>
      <p:pic>
        <p:nvPicPr>
          <p:cNvPr id="5" name="Picture 4">
            <a:extLst>
              <a:ext uri="{FF2B5EF4-FFF2-40B4-BE49-F238E27FC236}">
                <a16:creationId xmlns:a16="http://schemas.microsoft.com/office/drawing/2014/main" id="{FDB58706-7116-8557-6C89-FDEF861D07CD}"/>
              </a:ext>
            </a:extLst>
          </p:cNvPr>
          <p:cNvPicPr>
            <a:picLocks noChangeAspect="1"/>
          </p:cNvPicPr>
          <p:nvPr/>
        </p:nvPicPr>
        <p:blipFill>
          <a:blip r:embed="rId2"/>
          <a:stretch>
            <a:fillRect/>
          </a:stretch>
        </p:blipFill>
        <p:spPr>
          <a:xfrm>
            <a:off x="3474549" y="66205"/>
            <a:ext cx="8221222" cy="6725589"/>
          </a:xfrm>
          <a:prstGeom prst="rect">
            <a:avLst/>
          </a:prstGeom>
        </p:spPr>
      </p:pic>
    </p:spTree>
    <p:extLst>
      <p:ext uri="{BB962C8B-B14F-4D97-AF65-F5344CB8AC3E}">
        <p14:creationId xmlns:p14="http://schemas.microsoft.com/office/powerpoint/2010/main" val="513847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graphicFrame>
        <p:nvGraphicFramePr>
          <p:cNvPr id="5" name="Chart 4">
            <a:extLst>
              <a:ext uri="{FF2B5EF4-FFF2-40B4-BE49-F238E27FC236}">
                <a16:creationId xmlns:a16="http://schemas.microsoft.com/office/drawing/2014/main" id="{CD6F0299-5F04-4EAF-A1BD-EEB9F65AB10C}"/>
              </a:ext>
            </a:extLst>
          </p:cNvPr>
          <p:cNvGraphicFramePr>
            <a:graphicFrameLocks noGrp="1"/>
          </p:cNvGraphicFramePr>
          <p:nvPr/>
        </p:nvGraphicFramePr>
        <p:xfrm>
          <a:off x="1764598" y="289442"/>
          <a:ext cx="8659628" cy="6279116"/>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23ABD9C4-FA85-426F-862A-81CF89A62D21}"/>
              </a:ext>
            </a:extLst>
          </p:cNvPr>
          <p:cNvSpPr txBox="1"/>
          <p:nvPr/>
        </p:nvSpPr>
        <p:spPr>
          <a:xfrm>
            <a:off x="6299678" y="3535125"/>
            <a:ext cx="1394934" cy="369332"/>
          </a:xfrm>
          <a:prstGeom prst="rect">
            <a:avLst/>
          </a:prstGeom>
          <a:noFill/>
        </p:spPr>
        <p:txBody>
          <a:bodyPr wrap="none" rtlCol="0">
            <a:spAutoFit/>
          </a:bodyPr>
          <a:lstStyle/>
          <a:p>
            <a:r>
              <a:rPr lang="en-US" dirty="0">
                <a:latin typeface="National semibold" panose="02000503000000020004"/>
              </a:rPr>
              <a:t>Inflation rate</a:t>
            </a:r>
          </a:p>
        </p:txBody>
      </p:sp>
      <p:cxnSp>
        <p:nvCxnSpPr>
          <p:cNvPr id="4" name="Connector: Curved 3">
            <a:extLst>
              <a:ext uri="{FF2B5EF4-FFF2-40B4-BE49-F238E27FC236}">
                <a16:creationId xmlns:a16="http://schemas.microsoft.com/office/drawing/2014/main" id="{B691385F-D08D-4F08-BE08-11298888DF8A}"/>
              </a:ext>
            </a:extLst>
          </p:cNvPr>
          <p:cNvCxnSpPr>
            <a:cxnSpLocks/>
          </p:cNvCxnSpPr>
          <p:nvPr/>
        </p:nvCxnSpPr>
        <p:spPr>
          <a:xfrm rot="10800000" flipV="1">
            <a:off x="5789613" y="3881597"/>
            <a:ext cx="1207533" cy="623332"/>
          </a:xfrm>
          <a:prstGeom prst="curved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6313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graphicFrame>
        <p:nvGraphicFramePr>
          <p:cNvPr id="6" name="Chart 5">
            <a:extLst>
              <a:ext uri="{FF2B5EF4-FFF2-40B4-BE49-F238E27FC236}">
                <a16:creationId xmlns:a16="http://schemas.microsoft.com/office/drawing/2014/main" id="{F2B0CE99-F116-41A5-8D68-01963C092CB2}"/>
              </a:ext>
            </a:extLst>
          </p:cNvPr>
          <p:cNvGraphicFramePr>
            <a:graphicFrameLocks noGrp="1"/>
          </p:cNvGraphicFramePr>
          <p:nvPr/>
        </p:nvGraphicFramePr>
        <p:xfrm>
          <a:off x="1764598" y="289442"/>
          <a:ext cx="8659628" cy="6279116"/>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5ABECDC9-CEA1-4E58-9CE9-5D76E725E931}"/>
              </a:ext>
            </a:extLst>
          </p:cNvPr>
          <p:cNvSpPr txBox="1"/>
          <p:nvPr/>
        </p:nvSpPr>
        <p:spPr>
          <a:xfrm>
            <a:off x="6299678" y="3535125"/>
            <a:ext cx="1394934" cy="369332"/>
          </a:xfrm>
          <a:prstGeom prst="rect">
            <a:avLst/>
          </a:prstGeom>
          <a:noFill/>
        </p:spPr>
        <p:txBody>
          <a:bodyPr wrap="none" rtlCol="0">
            <a:spAutoFit/>
          </a:bodyPr>
          <a:lstStyle/>
          <a:p>
            <a:r>
              <a:rPr lang="en-US" dirty="0">
                <a:latin typeface="National semibold" panose="02000503000000020004"/>
              </a:rPr>
              <a:t>Inflation rate</a:t>
            </a:r>
          </a:p>
        </p:txBody>
      </p:sp>
      <p:cxnSp>
        <p:nvCxnSpPr>
          <p:cNvPr id="8" name="Connector: Curved 7">
            <a:extLst>
              <a:ext uri="{FF2B5EF4-FFF2-40B4-BE49-F238E27FC236}">
                <a16:creationId xmlns:a16="http://schemas.microsoft.com/office/drawing/2014/main" id="{CC509048-5DD3-44A5-9A6B-137490019F83}"/>
              </a:ext>
            </a:extLst>
          </p:cNvPr>
          <p:cNvCxnSpPr>
            <a:cxnSpLocks/>
          </p:cNvCxnSpPr>
          <p:nvPr/>
        </p:nvCxnSpPr>
        <p:spPr>
          <a:xfrm rot="10800000" flipV="1">
            <a:off x="5789613" y="3881597"/>
            <a:ext cx="1207533" cy="623332"/>
          </a:xfrm>
          <a:prstGeom prst="curved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ABB8B86-2689-44E1-913D-E7DC8D289504}"/>
              </a:ext>
            </a:extLst>
          </p:cNvPr>
          <p:cNvSpPr txBox="1"/>
          <p:nvPr/>
        </p:nvSpPr>
        <p:spPr>
          <a:xfrm>
            <a:off x="6452078" y="1535668"/>
            <a:ext cx="1862882" cy="369332"/>
          </a:xfrm>
          <a:prstGeom prst="rect">
            <a:avLst/>
          </a:prstGeom>
          <a:noFill/>
        </p:spPr>
        <p:txBody>
          <a:bodyPr wrap="none" rtlCol="0">
            <a:spAutoFit/>
          </a:bodyPr>
          <a:lstStyle/>
          <a:p>
            <a:r>
              <a:rPr lang="en-US" dirty="0">
                <a:latin typeface="National semibold" panose="02000503000000020004"/>
              </a:rPr>
              <a:t>Peso depreciation</a:t>
            </a:r>
          </a:p>
        </p:txBody>
      </p:sp>
      <p:cxnSp>
        <p:nvCxnSpPr>
          <p:cNvPr id="11" name="Connector: Curved 10">
            <a:extLst>
              <a:ext uri="{FF2B5EF4-FFF2-40B4-BE49-F238E27FC236}">
                <a16:creationId xmlns:a16="http://schemas.microsoft.com/office/drawing/2014/main" id="{B32DEFA3-A7EF-436A-B1D3-8E93AA871A02}"/>
              </a:ext>
            </a:extLst>
          </p:cNvPr>
          <p:cNvCxnSpPr>
            <a:cxnSpLocks/>
          </p:cNvCxnSpPr>
          <p:nvPr/>
        </p:nvCxnSpPr>
        <p:spPr>
          <a:xfrm rot="10800000" flipV="1">
            <a:off x="5561013" y="1905000"/>
            <a:ext cx="1828801" cy="762000"/>
          </a:xfrm>
          <a:prstGeom prst="curved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AB9F61DF-F751-4912-940B-EEF82F003C3E}"/>
              </a:ext>
            </a:extLst>
          </p:cNvPr>
          <p:cNvSpPr/>
          <p:nvPr/>
        </p:nvSpPr>
        <p:spPr>
          <a:xfrm>
            <a:off x="5698172" y="1319490"/>
            <a:ext cx="1615440" cy="4547909"/>
          </a:xfrm>
          <a:prstGeom prst="rect">
            <a:avLst/>
          </a:prstGeom>
          <a:solidFill>
            <a:schemeClr val="accent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Left Brace 12">
            <a:extLst>
              <a:ext uri="{FF2B5EF4-FFF2-40B4-BE49-F238E27FC236}">
                <a16:creationId xmlns:a16="http://schemas.microsoft.com/office/drawing/2014/main" id="{76838CFB-0013-4E11-933B-5ECEEFEB7889}"/>
              </a:ext>
            </a:extLst>
          </p:cNvPr>
          <p:cNvSpPr/>
          <p:nvPr/>
        </p:nvSpPr>
        <p:spPr>
          <a:xfrm rot="16200000">
            <a:off x="6429692" y="5204460"/>
            <a:ext cx="152399" cy="1615441"/>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42FCBF59-B2E4-441A-8822-1FA152208503}"/>
              </a:ext>
            </a:extLst>
          </p:cNvPr>
          <p:cNvSpPr txBox="1"/>
          <p:nvPr/>
        </p:nvSpPr>
        <p:spPr>
          <a:xfrm>
            <a:off x="5681351" y="6084808"/>
            <a:ext cx="1650837" cy="646331"/>
          </a:xfrm>
          <a:prstGeom prst="rect">
            <a:avLst/>
          </a:prstGeom>
          <a:noFill/>
        </p:spPr>
        <p:txBody>
          <a:bodyPr wrap="none" rtlCol="0">
            <a:spAutoFit/>
          </a:bodyPr>
          <a:lstStyle/>
          <a:p>
            <a:pPr algn="ctr"/>
            <a:r>
              <a:rPr lang="en-US" b="1" dirty="0">
                <a:solidFill>
                  <a:srgbClr val="FF0000"/>
                </a:solidFill>
                <a:latin typeface="National semibold" panose="02000503000000020004"/>
              </a:rPr>
              <a:t>Currency board</a:t>
            </a:r>
          </a:p>
          <a:p>
            <a:pPr algn="ctr"/>
            <a:r>
              <a:rPr lang="en-US" b="1" dirty="0">
                <a:solidFill>
                  <a:srgbClr val="FF0000"/>
                </a:solidFill>
                <a:latin typeface="National semibold" panose="02000503000000020004"/>
              </a:rPr>
              <a:t>1991-2001</a:t>
            </a:r>
          </a:p>
        </p:txBody>
      </p:sp>
    </p:spTree>
    <p:extLst>
      <p:ext uri="{BB962C8B-B14F-4D97-AF65-F5344CB8AC3E}">
        <p14:creationId xmlns:p14="http://schemas.microsoft.com/office/powerpoint/2010/main" val="846594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sp>
        <p:nvSpPr>
          <p:cNvPr id="8" name="Title 12">
            <a:extLst>
              <a:ext uri="{FF2B5EF4-FFF2-40B4-BE49-F238E27FC236}">
                <a16:creationId xmlns:a16="http://schemas.microsoft.com/office/drawing/2014/main" id="{33096AFE-3342-4A4F-AB91-093892287DCE}"/>
              </a:ext>
            </a:extLst>
          </p:cNvPr>
          <p:cNvSpPr txBox="1">
            <a:spLocks/>
          </p:cNvSpPr>
          <p:nvPr/>
        </p:nvSpPr>
        <p:spPr>
          <a:xfrm>
            <a:off x="1522413" y="152400"/>
            <a:ext cx="10210799" cy="1219200"/>
          </a:xfrm>
          <a:prstGeom prst="rect">
            <a:avLst/>
          </a:prstGeom>
        </p:spPr>
        <p:txBody>
          <a:bodyPr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sz="4000" b="1" dirty="0">
                <a:latin typeface="National semibold" panose="02000503000000020004"/>
              </a:rPr>
              <a:t>A similar mechanism operates with </a:t>
            </a:r>
            <a:r>
              <a:rPr lang="en-US" sz="4000" b="1" dirty="0" err="1">
                <a:latin typeface="National semibold" panose="02000503000000020004"/>
              </a:rPr>
              <a:t>stablecoins</a:t>
            </a:r>
            <a:endParaRPr lang="en-US" sz="4000" b="1" dirty="0">
              <a:latin typeface="National semibold" panose="02000503000000020004"/>
            </a:endParaRPr>
          </a:p>
        </p:txBody>
      </p:sp>
      <p:sp>
        <p:nvSpPr>
          <p:cNvPr id="12" name="Rectangle 6">
            <a:extLst>
              <a:ext uri="{FF2B5EF4-FFF2-40B4-BE49-F238E27FC236}">
                <a16:creationId xmlns:a16="http://schemas.microsoft.com/office/drawing/2014/main" id="{ADC626A8-26FC-4AF1-A2D3-2E80CFA3AE1A}"/>
              </a:ext>
            </a:extLst>
          </p:cNvPr>
          <p:cNvSpPr>
            <a:spLocks noChangeArrowheads="1"/>
          </p:cNvSpPr>
          <p:nvPr/>
        </p:nvSpPr>
        <p:spPr bwMode="auto">
          <a:xfrm>
            <a:off x="1733940" y="2105788"/>
            <a:ext cx="9982200" cy="424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buFont typeface="Arial" panose="020B0604020202020204" pitchFamily="34" charset="0"/>
              <a:buChar char="•"/>
            </a:pPr>
            <a:r>
              <a:rPr lang="en-US" sz="2400" dirty="0">
                <a:latin typeface="National semibold" panose="02000503000000020004"/>
              </a:rPr>
              <a:t>The governing body of a </a:t>
            </a:r>
            <a:r>
              <a:rPr lang="en-US" sz="2400" dirty="0" err="1">
                <a:latin typeface="National semibold" panose="02000503000000020004"/>
              </a:rPr>
              <a:t>stablecoin</a:t>
            </a:r>
            <a:r>
              <a:rPr lang="en-US" sz="2400" dirty="0">
                <a:latin typeface="National semibold" panose="02000503000000020004"/>
              </a:rPr>
              <a:t> is the equivalent of a monetary authority.</a:t>
            </a:r>
          </a:p>
          <a:p>
            <a:pPr marL="342900" indent="-342900">
              <a:lnSpc>
                <a:spcPct val="120000"/>
              </a:lnSpc>
              <a:buFont typeface="Arial" panose="020B0604020202020204" pitchFamily="34" charset="0"/>
              <a:buChar char="•"/>
            </a:pPr>
            <a:endParaRPr lang="en-US" sz="2400" dirty="0">
              <a:latin typeface="National semibold" panose="02000503000000020004"/>
            </a:endParaRPr>
          </a:p>
          <a:p>
            <a:pPr marL="342900" indent="-342900">
              <a:lnSpc>
                <a:spcPct val="120000"/>
              </a:lnSpc>
              <a:buFont typeface="Arial" panose="020B0604020202020204" pitchFamily="34" charset="0"/>
              <a:buChar char="•"/>
            </a:pPr>
            <a:endParaRPr lang="en-US" sz="2400" dirty="0">
              <a:latin typeface="National semibold" panose="02000503000000020004"/>
            </a:endParaRPr>
          </a:p>
          <a:p>
            <a:pPr marL="342900" indent="-342900">
              <a:lnSpc>
                <a:spcPct val="120000"/>
              </a:lnSpc>
              <a:buFont typeface="Arial" panose="020B0604020202020204" pitchFamily="34" charset="0"/>
              <a:buChar char="•"/>
            </a:pPr>
            <a:r>
              <a:rPr lang="en-US" sz="2400" dirty="0">
                <a:latin typeface="National semibold" panose="02000503000000020004"/>
              </a:rPr>
              <a:t>The governing body has control over assets they can use to maintain the stability of the coin (</a:t>
            </a:r>
            <a:r>
              <a:rPr lang="en-US" sz="2400" dirty="0">
                <a:solidFill>
                  <a:srgbClr val="FF0000"/>
                </a:solidFill>
                <a:latin typeface="National semibold" panose="02000503000000020004"/>
              </a:rPr>
              <a:t>reserves</a:t>
            </a:r>
            <a:r>
              <a:rPr lang="en-US" sz="2400" dirty="0">
                <a:latin typeface="National semibold" panose="02000503000000020004"/>
              </a:rPr>
              <a:t>).</a:t>
            </a:r>
          </a:p>
          <a:p>
            <a:pPr marL="990600" lvl="1" indent="-533400">
              <a:lnSpc>
                <a:spcPct val="120000"/>
              </a:lnSpc>
            </a:pPr>
            <a:endParaRPr lang="en-US" sz="2400" dirty="0">
              <a:latin typeface="National semibold" panose="02000503000000020004"/>
            </a:endParaRPr>
          </a:p>
          <a:p>
            <a:pPr marL="990600" lvl="1" indent="-533400">
              <a:lnSpc>
                <a:spcPct val="120000"/>
              </a:lnSpc>
            </a:pPr>
            <a:endParaRPr lang="en-US" sz="2400" dirty="0">
              <a:latin typeface="National semibold" panose="02000503000000020004"/>
            </a:endParaRPr>
          </a:p>
          <a:p>
            <a:pPr marL="342900" indent="-342900">
              <a:lnSpc>
                <a:spcPct val="120000"/>
              </a:lnSpc>
              <a:buFont typeface="Arial" panose="020B0604020202020204" pitchFamily="34" charset="0"/>
              <a:buChar char="•"/>
            </a:pPr>
            <a:r>
              <a:rPr lang="en-US" sz="2400" dirty="0">
                <a:latin typeface="National semibold" panose="02000503000000020004"/>
              </a:rPr>
              <a:t>If there is shortage of liquid reserves, liquidity can be increased by borrowing.</a:t>
            </a:r>
          </a:p>
          <a:p>
            <a:pPr>
              <a:lnSpc>
                <a:spcPct val="120000"/>
              </a:lnSpc>
              <a:spcBef>
                <a:spcPct val="20000"/>
              </a:spcBef>
              <a:buClr>
                <a:schemeClr val="tx1"/>
              </a:buClr>
              <a:buSzPct val="75000"/>
            </a:pPr>
            <a:endParaRPr lang="en-US" sz="2400" u="sng" dirty="0">
              <a:solidFill>
                <a:srgbClr val="FF0000"/>
              </a:solidFill>
              <a:latin typeface="National semibold" panose="02000503000000020004"/>
            </a:endParaRPr>
          </a:p>
        </p:txBody>
      </p:sp>
    </p:spTree>
    <p:extLst>
      <p:ext uri="{BB962C8B-B14F-4D97-AF65-F5344CB8AC3E}">
        <p14:creationId xmlns:p14="http://schemas.microsoft.com/office/powerpoint/2010/main" val="2369116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674812" y="381000"/>
            <a:ext cx="9677400" cy="1219200"/>
          </a:xfrm>
        </p:spPr>
        <p:txBody>
          <a:bodyPr anchor="ctr"/>
          <a:lstStyle/>
          <a:p>
            <a:r>
              <a:rPr lang="en-US" altLang="en-US" b="1" dirty="0" err="1">
                <a:latin typeface="National semibold"/>
              </a:rPr>
              <a:t>Stablecoins</a:t>
            </a:r>
            <a:endParaRPr lang="en-US" altLang="en-US" b="1" dirty="0">
              <a:latin typeface="National semibold"/>
            </a:endParaRPr>
          </a:p>
        </p:txBody>
      </p:sp>
      <p:sp>
        <p:nvSpPr>
          <p:cNvPr id="10243" name="Rectangle 3"/>
          <p:cNvSpPr>
            <a:spLocks noGrp="1" noChangeArrowheads="1"/>
          </p:cNvSpPr>
          <p:nvPr>
            <p:ph type="body" idx="4294967295"/>
          </p:nvPr>
        </p:nvSpPr>
        <p:spPr>
          <a:xfrm>
            <a:off x="1751012" y="2057400"/>
            <a:ext cx="9536219" cy="4187825"/>
          </a:xfrm>
        </p:spPr>
        <p:txBody>
          <a:bodyPr>
            <a:normAutofit fontScale="85000" lnSpcReduction="10000"/>
          </a:bodyPr>
          <a:lstStyle/>
          <a:p>
            <a:r>
              <a:rPr lang="en-US" altLang="en-US" sz="2800" dirty="0">
                <a:latin typeface="National semibold"/>
              </a:rPr>
              <a:t>They are cryptocurrencies designed to have reduced volatility as their price is often linked to a stated “stable” asset or basked of assets.</a:t>
            </a:r>
          </a:p>
          <a:p>
            <a:pPr lvl="1"/>
            <a:endParaRPr lang="en-US" altLang="en-US" sz="2400" dirty="0">
              <a:latin typeface="National semibold"/>
            </a:endParaRPr>
          </a:p>
          <a:p>
            <a:r>
              <a:rPr lang="en-US" altLang="en-US" sz="2800" dirty="0">
                <a:latin typeface="National semibold"/>
              </a:rPr>
              <a:t>In some cases, </a:t>
            </a:r>
            <a:r>
              <a:rPr lang="en-US" altLang="en-US" sz="2800" dirty="0" err="1">
                <a:latin typeface="National semibold"/>
              </a:rPr>
              <a:t>stablecoins</a:t>
            </a:r>
            <a:r>
              <a:rPr lang="en-US" altLang="en-US" sz="2800" dirty="0">
                <a:latin typeface="National semibold"/>
              </a:rPr>
              <a:t> are pegged to fiat money (for example US Dollars) or commodities. </a:t>
            </a:r>
          </a:p>
          <a:p>
            <a:pPr lvl="1"/>
            <a:endParaRPr lang="en-US" altLang="en-US" sz="2400" dirty="0">
              <a:latin typeface="National semibold"/>
            </a:endParaRPr>
          </a:p>
          <a:p>
            <a:r>
              <a:rPr lang="en-US" altLang="en-US" sz="2800" dirty="0">
                <a:latin typeface="National semibold"/>
              </a:rPr>
              <a:t>Most </a:t>
            </a:r>
            <a:r>
              <a:rPr lang="en-US" altLang="en-US" sz="2800" dirty="0" err="1">
                <a:latin typeface="National semibold"/>
              </a:rPr>
              <a:t>stablecoins</a:t>
            </a:r>
            <a:r>
              <a:rPr lang="en-US" altLang="en-US" sz="2800" dirty="0">
                <a:latin typeface="National semibold"/>
              </a:rPr>
              <a:t> have a controlling body that manages and monitors the underlying asset that serves as the peg for issued tokens.  </a:t>
            </a:r>
          </a:p>
          <a:p>
            <a:endParaRPr lang="en-US" altLang="en-US" sz="2800" dirty="0">
              <a:latin typeface="National semibold"/>
            </a:endParaRPr>
          </a:p>
          <a:p>
            <a:r>
              <a:rPr lang="en-US" altLang="en-US" sz="2800" i="1" dirty="0">
                <a:latin typeface="National semibold"/>
              </a:rPr>
              <a:t>Reserves</a:t>
            </a:r>
            <a:r>
              <a:rPr lang="en-US" altLang="en-US" sz="2800" dirty="0">
                <a:latin typeface="National semibold"/>
              </a:rPr>
              <a:t> are kept and used to stabilize the price of the coin.</a:t>
            </a:r>
          </a:p>
        </p:txBody>
      </p:sp>
    </p:spTree>
    <p:extLst>
      <p:ext uri="{BB962C8B-B14F-4D97-AF65-F5344CB8AC3E}">
        <p14:creationId xmlns:p14="http://schemas.microsoft.com/office/powerpoint/2010/main" val="1933608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ChangeArrowheads="1"/>
          </p:cNvSpPr>
          <p:nvPr/>
        </p:nvSpPr>
        <p:spPr bwMode="auto">
          <a:xfrm>
            <a:off x="912818" y="76200"/>
            <a:ext cx="10363194" cy="1219200"/>
          </a:xfrm>
          <a:prstGeom prst="rect">
            <a:avLst/>
          </a:prstGeom>
          <a:noFill/>
          <a:ln>
            <a:noFill/>
          </a:ln>
        </p:spPr>
        <p:txBody>
          <a:bodyPr/>
          <a:lstStyle/>
          <a:p>
            <a:pPr marL="342900" indent="-342900" algn="ctr"/>
            <a:r>
              <a:rPr lang="en-US" sz="3200" b="1" dirty="0">
                <a:latin typeface="National semibold" panose="02000503000000020004"/>
              </a:rPr>
              <a:t>Defending the peg for </a:t>
            </a:r>
            <a:r>
              <a:rPr lang="en-US" sz="3200" b="1" dirty="0">
                <a:solidFill>
                  <a:srgbClr val="FF0000"/>
                </a:solidFill>
                <a:latin typeface="National semibold" panose="02000503000000020004"/>
              </a:rPr>
              <a:t>Tether</a:t>
            </a:r>
          </a:p>
          <a:p>
            <a:pPr marL="342900" indent="-342900" algn="ctr"/>
            <a:r>
              <a:rPr lang="en-US" sz="3200" b="1" dirty="0">
                <a:solidFill>
                  <a:srgbClr val="FF0000"/>
                </a:solidFill>
                <a:latin typeface="National semibold" panose="02000503000000020004"/>
              </a:rPr>
              <a:t>(The case of “Burning existing Tether”)</a:t>
            </a:r>
            <a:endParaRPr lang="en-US" sz="2400" dirty="0">
              <a:solidFill>
                <a:srgbClr val="FF0000"/>
              </a:solidFill>
              <a:latin typeface="National semibold" panose="02000503000000020004"/>
            </a:endParaRPr>
          </a:p>
        </p:txBody>
      </p:sp>
      <p:sp>
        <p:nvSpPr>
          <p:cNvPr id="53252" name="Line 4"/>
          <p:cNvSpPr>
            <a:spLocks noChangeShapeType="1"/>
          </p:cNvSpPr>
          <p:nvPr/>
        </p:nvSpPr>
        <p:spPr bwMode="auto">
          <a:xfrm flipV="1">
            <a:off x="4481512" y="1828800"/>
            <a:ext cx="0" cy="3810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3253" name="Line 5"/>
          <p:cNvSpPr>
            <a:spLocks noChangeShapeType="1"/>
          </p:cNvSpPr>
          <p:nvPr/>
        </p:nvSpPr>
        <p:spPr bwMode="auto">
          <a:xfrm>
            <a:off x="4329112" y="5562600"/>
            <a:ext cx="3962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3254" name="Text Box 6"/>
          <p:cNvSpPr txBox="1">
            <a:spLocks noChangeArrowheads="1"/>
          </p:cNvSpPr>
          <p:nvPr/>
        </p:nvSpPr>
        <p:spPr bwMode="auto">
          <a:xfrm>
            <a:off x="7123111" y="5589588"/>
            <a:ext cx="173350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latin typeface="Times New Roman" pitchFamily="18" charset="0"/>
              </a:rPr>
              <a:t>Million of Tether</a:t>
            </a:r>
          </a:p>
        </p:txBody>
      </p:sp>
      <p:sp>
        <p:nvSpPr>
          <p:cNvPr id="53255" name="Text Box 7"/>
          <p:cNvSpPr txBox="1">
            <a:spLocks noChangeArrowheads="1"/>
          </p:cNvSpPr>
          <p:nvPr/>
        </p:nvSpPr>
        <p:spPr bwMode="auto">
          <a:xfrm>
            <a:off x="4052887" y="3656112"/>
            <a:ext cx="27443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latin typeface="Times New Roman" pitchFamily="18" charset="0"/>
              </a:rPr>
              <a:t>1</a:t>
            </a:r>
          </a:p>
        </p:txBody>
      </p:sp>
      <p:sp>
        <p:nvSpPr>
          <p:cNvPr id="53257" name="Text Box 9"/>
          <p:cNvSpPr txBox="1">
            <a:spLocks noChangeArrowheads="1"/>
          </p:cNvSpPr>
          <p:nvPr/>
        </p:nvSpPr>
        <p:spPr bwMode="auto">
          <a:xfrm>
            <a:off x="5380037" y="351631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sz="1400">
              <a:latin typeface="Times New Roman" pitchFamily="18" charset="0"/>
            </a:endParaRPr>
          </a:p>
        </p:txBody>
      </p:sp>
      <p:sp>
        <p:nvSpPr>
          <p:cNvPr id="53258" name="Line 10"/>
          <p:cNvSpPr>
            <a:spLocks noChangeShapeType="1"/>
          </p:cNvSpPr>
          <p:nvPr/>
        </p:nvSpPr>
        <p:spPr bwMode="auto">
          <a:xfrm>
            <a:off x="5103812" y="2679700"/>
            <a:ext cx="19812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59" name="Text Box 11"/>
          <p:cNvSpPr txBox="1">
            <a:spLocks noChangeArrowheads="1"/>
          </p:cNvSpPr>
          <p:nvPr/>
        </p:nvSpPr>
        <p:spPr bwMode="auto">
          <a:xfrm>
            <a:off x="3342578" y="1828800"/>
            <a:ext cx="108234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sz="1600" dirty="0">
                <a:latin typeface="Times New Roman" pitchFamily="18" charset="0"/>
                <a:cs typeface="Times New Roman" pitchFamily="18" charset="0"/>
              </a:rPr>
              <a:t>Dollars for</a:t>
            </a:r>
          </a:p>
          <a:p>
            <a:pPr algn="ctr" eaLnBrk="1" hangingPunct="1">
              <a:spcBef>
                <a:spcPct val="0"/>
              </a:spcBef>
              <a:buFontTx/>
              <a:buNone/>
            </a:pPr>
            <a:r>
              <a:rPr lang="en-US" sz="1600" dirty="0">
                <a:latin typeface="Times New Roman" pitchFamily="18" charset="0"/>
                <a:cs typeface="Times New Roman" pitchFamily="18" charset="0"/>
              </a:rPr>
              <a:t>1 Tether</a:t>
            </a:r>
            <a:endParaRPr lang="en-US" sz="1600" dirty="0">
              <a:latin typeface="Times New Roman" pitchFamily="18" charset="0"/>
            </a:endParaRPr>
          </a:p>
        </p:txBody>
      </p:sp>
      <p:sp>
        <p:nvSpPr>
          <p:cNvPr id="53260" name="Line 12"/>
          <p:cNvSpPr>
            <a:spLocks noChangeShapeType="1"/>
          </p:cNvSpPr>
          <p:nvPr/>
        </p:nvSpPr>
        <p:spPr bwMode="auto">
          <a:xfrm flipH="1">
            <a:off x="5027612" y="2667000"/>
            <a:ext cx="20574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61" name="Text Box 13"/>
          <p:cNvSpPr txBox="1">
            <a:spLocks noChangeArrowheads="1"/>
          </p:cNvSpPr>
          <p:nvPr/>
        </p:nvSpPr>
        <p:spPr bwMode="auto">
          <a:xfrm>
            <a:off x="7065961" y="2438401"/>
            <a:ext cx="7937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dirty="0" err="1">
                <a:latin typeface="Times New Roman" pitchFamily="18" charset="0"/>
                <a:cs typeface="Times New Roman" pitchFamily="18" charset="0"/>
              </a:rPr>
              <a:t>S</a:t>
            </a:r>
            <a:r>
              <a:rPr lang="en-US" sz="1800" baseline="-25000" dirty="0" err="1">
                <a:latin typeface="Times New Roman" pitchFamily="18" charset="0"/>
                <a:cs typeface="Times New Roman" pitchFamily="18" charset="0"/>
              </a:rPr>
              <a:t>Tether</a:t>
            </a:r>
            <a:endParaRPr lang="en-US" sz="1800" baseline="-25000" dirty="0">
              <a:latin typeface="Times New Roman" pitchFamily="18" charset="0"/>
              <a:cs typeface="Times New Roman" pitchFamily="18" charset="0"/>
            </a:endParaRPr>
          </a:p>
        </p:txBody>
      </p:sp>
      <p:sp>
        <p:nvSpPr>
          <p:cNvPr id="53262" name="Text Box 14"/>
          <p:cNvSpPr txBox="1">
            <a:spLocks noChangeArrowheads="1"/>
          </p:cNvSpPr>
          <p:nvPr/>
        </p:nvSpPr>
        <p:spPr bwMode="auto">
          <a:xfrm>
            <a:off x="7072311" y="4800601"/>
            <a:ext cx="103536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dirty="0" err="1">
                <a:latin typeface="Times New Roman" pitchFamily="18" charset="0"/>
                <a:cs typeface="Times New Roman" pitchFamily="18" charset="0"/>
              </a:rPr>
              <a:t>D</a:t>
            </a:r>
            <a:r>
              <a:rPr lang="en-US" sz="1800" baseline="-25000" dirty="0" err="1">
                <a:latin typeface="Times New Roman" pitchFamily="18" charset="0"/>
                <a:cs typeface="Times New Roman" pitchFamily="18" charset="0"/>
              </a:rPr>
              <a:t>Tether</a:t>
            </a:r>
            <a:endParaRPr lang="en-US" sz="1800" baseline="-25000" dirty="0">
              <a:latin typeface="Times New Roman" pitchFamily="18" charset="0"/>
              <a:cs typeface="Times New Roman" pitchFamily="18" charset="0"/>
            </a:endParaRPr>
          </a:p>
        </p:txBody>
      </p:sp>
      <p:sp>
        <p:nvSpPr>
          <p:cNvPr id="53263" name="Line 15"/>
          <p:cNvSpPr>
            <a:spLocks noChangeShapeType="1"/>
          </p:cNvSpPr>
          <p:nvPr/>
        </p:nvSpPr>
        <p:spPr bwMode="auto">
          <a:xfrm>
            <a:off x="6066472" y="3810000"/>
            <a:ext cx="0" cy="1752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3264" name="Line 16"/>
          <p:cNvSpPr>
            <a:spLocks noChangeShapeType="1"/>
          </p:cNvSpPr>
          <p:nvPr/>
        </p:nvSpPr>
        <p:spPr bwMode="auto">
          <a:xfrm flipH="1">
            <a:off x="4481512" y="3797300"/>
            <a:ext cx="16002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3265" name="Text Box 17"/>
          <p:cNvSpPr txBox="1">
            <a:spLocks noChangeArrowheads="1"/>
          </p:cNvSpPr>
          <p:nvPr/>
        </p:nvSpPr>
        <p:spPr bwMode="auto">
          <a:xfrm>
            <a:off x="5929255" y="5572170"/>
            <a:ext cx="27443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latin typeface="Times New Roman" pitchFamily="18" charset="0"/>
              </a:rPr>
              <a:t>7</a:t>
            </a:r>
          </a:p>
        </p:txBody>
      </p:sp>
      <p:sp>
        <p:nvSpPr>
          <p:cNvPr id="374802" name="Line 18"/>
          <p:cNvSpPr>
            <a:spLocks noChangeShapeType="1"/>
          </p:cNvSpPr>
          <p:nvPr/>
        </p:nvSpPr>
        <p:spPr bwMode="auto">
          <a:xfrm>
            <a:off x="4496025" y="2732318"/>
            <a:ext cx="1981200" cy="228600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4803" name="Line 19"/>
          <p:cNvSpPr>
            <a:spLocks noChangeShapeType="1"/>
          </p:cNvSpPr>
          <p:nvPr/>
        </p:nvSpPr>
        <p:spPr bwMode="auto">
          <a:xfrm flipH="1">
            <a:off x="5422038" y="3791134"/>
            <a:ext cx="1" cy="1779812"/>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74804" name="Line 20"/>
          <p:cNvSpPr>
            <a:spLocks noChangeShapeType="1"/>
          </p:cNvSpPr>
          <p:nvPr/>
        </p:nvSpPr>
        <p:spPr bwMode="auto">
          <a:xfrm flipH="1" flipV="1">
            <a:off x="5436550" y="3801653"/>
            <a:ext cx="638637" cy="1"/>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74805" name="Text Box 21"/>
          <p:cNvSpPr txBox="1">
            <a:spLocks noChangeArrowheads="1"/>
          </p:cNvSpPr>
          <p:nvPr/>
        </p:nvSpPr>
        <p:spPr bwMode="auto">
          <a:xfrm>
            <a:off x="5263996" y="5578533"/>
            <a:ext cx="27443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solidFill>
                  <a:srgbClr val="FF0000"/>
                </a:solidFill>
                <a:latin typeface="Times New Roman" pitchFamily="18" charset="0"/>
              </a:rPr>
              <a:t>4</a:t>
            </a:r>
          </a:p>
        </p:txBody>
      </p:sp>
      <p:sp>
        <p:nvSpPr>
          <p:cNvPr id="45" name="Line 20">
            <a:extLst>
              <a:ext uri="{FF2B5EF4-FFF2-40B4-BE49-F238E27FC236}">
                <a16:creationId xmlns:a16="http://schemas.microsoft.com/office/drawing/2014/main" id="{43ACB8EF-2459-4366-86BF-08088E8C179A}"/>
              </a:ext>
            </a:extLst>
          </p:cNvPr>
          <p:cNvSpPr>
            <a:spLocks noChangeShapeType="1"/>
          </p:cNvSpPr>
          <p:nvPr/>
        </p:nvSpPr>
        <p:spPr bwMode="auto">
          <a:xfrm flipH="1">
            <a:off x="4494212" y="4171417"/>
            <a:ext cx="1242058" cy="6516"/>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 name="Right Brace 1">
            <a:extLst>
              <a:ext uri="{FF2B5EF4-FFF2-40B4-BE49-F238E27FC236}">
                <a16:creationId xmlns:a16="http://schemas.microsoft.com/office/drawing/2014/main" id="{2106ACA6-B8C0-4517-BA84-AE4DCF8CA660}"/>
              </a:ext>
            </a:extLst>
          </p:cNvPr>
          <p:cNvSpPr/>
          <p:nvPr/>
        </p:nvSpPr>
        <p:spPr>
          <a:xfrm rot="5400000">
            <a:off x="5683924" y="5706463"/>
            <a:ext cx="86624" cy="71329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Text Box 6">
            <a:extLst>
              <a:ext uri="{FF2B5EF4-FFF2-40B4-BE49-F238E27FC236}">
                <a16:creationId xmlns:a16="http://schemas.microsoft.com/office/drawing/2014/main" id="{C198B714-E3E5-469E-9919-F5F4DECA7D8C}"/>
              </a:ext>
            </a:extLst>
          </p:cNvPr>
          <p:cNvSpPr txBox="1">
            <a:spLocks noChangeArrowheads="1"/>
          </p:cNvSpPr>
          <p:nvPr/>
        </p:nvSpPr>
        <p:spPr bwMode="auto">
          <a:xfrm>
            <a:off x="4914260" y="6075878"/>
            <a:ext cx="1656326"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sz="1400" dirty="0">
                <a:solidFill>
                  <a:srgbClr val="FF0000"/>
                </a:solidFill>
                <a:latin typeface="Times New Roman" pitchFamily="18" charset="0"/>
              </a:rPr>
              <a:t>Governing body</a:t>
            </a:r>
          </a:p>
          <a:p>
            <a:pPr algn="ctr" eaLnBrk="1" hangingPunct="1">
              <a:spcBef>
                <a:spcPct val="0"/>
              </a:spcBef>
              <a:buFontTx/>
              <a:buNone/>
            </a:pPr>
            <a:r>
              <a:rPr lang="en-US" sz="1400" dirty="0">
                <a:solidFill>
                  <a:srgbClr val="FF0000"/>
                </a:solidFill>
                <a:latin typeface="Times New Roman" pitchFamily="18" charset="0"/>
              </a:rPr>
              <a:t>redeems (burns)  </a:t>
            </a:r>
          </a:p>
          <a:p>
            <a:pPr algn="ctr" eaLnBrk="1" hangingPunct="1">
              <a:spcBef>
                <a:spcPct val="0"/>
              </a:spcBef>
              <a:buFontTx/>
              <a:buNone/>
            </a:pPr>
            <a:r>
              <a:rPr lang="en-US" sz="1400" dirty="0">
                <a:solidFill>
                  <a:srgbClr val="FF0000"/>
                </a:solidFill>
                <a:latin typeface="Times New Roman" pitchFamily="18" charset="0"/>
              </a:rPr>
              <a:t>3 Millions Tether</a:t>
            </a:r>
          </a:p>
        </p:txBody>
      </p:sp>
      <p:sp>
        <p:nvSpPr>
          <p:cNvPr id="48" name="Line 12">
            <a:extLst>
              <a:ext uri="{FF2B5EF4-FFF2-40B4-BE49-F238E27FC236}">
                <a16:creationId xmlns:a16="http://schemas.microsoft.com/office/drawing/2014/main" id="{26697F40-965D-4515-AC40-AB3703A02BFB}"/>
              </a:ext>
            </a:extLst>
          </p:cNvPr>
          <p:cNvSpPr>
            <a:spLocks noChangeShapeType="1"/>
          </p:cNvSpPr>
          <p:nvPr/>
        </p:nvSpPr>
        <p:spPr bwMode="auto">
          <a:xfrm flipH="1">
            <a:off x="4543196" y="2524397"/>
            <a:ext cx="2057400" cy="228600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4" name="Straight Arrow Connector 3">
            <a:extLst>
              <a:ext uri="{FF2B5EF4-FFF2-40B4-BE49-F238E27FC236}">
                <a16:creationId xmlns:a16="http://schemas.microsoft.com/office/drawing/2014/main" id="{42A8BCB2-D392-4035-BF66-66CF54149D5C}"/>
              </a:ext>
            </a:extLst>
          </p:cNvPr>
          <p:cNvCxnSpPr>
            <a:cxnSpLocks/>
          </p:cNvCxnSpPr>
          <p:nvPr/>
        </p:nvCxnSpPr>
        <p:spPr>
          <a:xfrm flipH="1">
            <a:off x="6094412" y="3243942"/>
            <a:ext cx="385715"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467DFECB-F065-499E-A583-358540902001}"/>
              </a:ext>
            </a:extLst>
          </p:cNvPr>
          <p:cNvCxnSpPr>
            <a:cxnSpLocks/>
          </p:cNvCxnSpPr>
          <p:nvPr/>
        </p:nvCxnSpPr>
        <p:spPr>
          <a:xfrm flipH="1">
            <a:off x="4930804" y="4495800"/>
            <a:ext cx="416848"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5" name="Text Box 31">
            <a:extLst>
              <a:ext uri="{FF2B5EF4-FFF2-40B4-BE49-F238E27FC236}">
                <a16:creationId xmlns:a16="http://schemas.microsoft.com/office/drawing/2014/main" id="{E2CA976F-4461-4510-91EF-FC1569059FC5}"/>
              </a:ext>
            </a:extLst>
          </p:cNvPr>
          <p:cNvSpPr txBox="1">
            <a:spLocks noChangeArrowheads="1"/>
          </p:cNvSpPr>
          <p:nvPr/>
        </p:nvSpPr>
        <p:spPr bwMode="auto">
          <a:xfrm>
            <a:off x="6158373" y="2050868"/>
            <a:ext cx="25876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dirty="0" err="1">
                <a:solidFill>
                  <a:srgbClr val="FF0000"/>
                </a:solidFill>
                <a:latin typeface="National semibold" panose="02000503000000020004"/>
                <a:cs typeface="Times New Roman" pitchFamily="18" charset="0"/>
              </a:rPr>
              <a:t>S</a:t>
            </a:r>
            <a:r>
              <a:rPr lang="en-US" sz="1800" baseline="-25000" dirty="0" err="1">
                <a:solidFill>
                  <a:srgbClr val="FF0000"/>
                </a:solidFill>
                <a:latin typeface="Times New Roman" pitchFamily="18" charset="0"/>
                <a:cs typeface="Times New Roman" pitchFamily="18" charset="0"/>
              </a:rPr>
              <a:t>Tether</a:t>
            </a:r>
            <a:r>
              <a:rPr lang="en-US" sz="1800" dirty="0">
                <a:solidFill>
                  <a:srgbClr val="FF0000"/>
                </a:solidFill>
                <a:latin typeface="National semibold" panose="02000503000000020004"/>
                <a:cs typeface="Times New Roman" pitchFamily="18" charset="0"/>
              </a:rPr>
              <a:t> after intervention</a:t>
            </a:r>
            <a:r>
              <a:rPr lang="en-US" sz="1800" dirty="0">
                <a:latin typeface="Times New Roman" pitchFamily="18" charset="0"/>
                <a:cs typeface="Times New Roman" pitchFamily="18" charset="0"/>
              </a:rPr>
              <a:t> </a:t>
            </a:r>
            <a:endParaRPr lang="en-US" sz="1800" baseline="-25000" dirty="0">
              <a:latin typeface="Times New Roman" pitchFamily="18" charset="0"/>
              <a:cs typeface="Times New Roman" pitchFamily="18" charset="0"/>
            </a:endParaRPr>
          </a:p>
        </p:txBody>
      </p:sp>
    </p:spTree>
    <p:extLst>
      <p:ext uri="{BB962C8B-B14F-4D97-AF65-F5344CB8AC3E}">
        <p14:creationId xmlns:p14="http://schemas.microsoft.com/office/powerpoint/2010/main" val="2274343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48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subTnLst>
                                    <p:set>
                                      <p:cBhvr override="childStyle">
                                        <p:cTn dur="1" fill="hold" display="0" masterRel="nextClick" afterEffect="1"/>
                                        <p:tgtEl>
                                          <p:spTgt spid="45"/>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480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480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480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802" grpId="0" animBg="1"/>
      <p:bldP spid="374803" grpId="0" animBg="1"/>
      <p:bldP spid="374804" grpId="0" animBg="1"/>
      <p:bldP spid="374805" grpId="0"/>
      <p:bldP spid="45" grpId="0" animBg="1"/>
      <p:bldP spid="2" grpId="0" animBg="1"/>
      <p:bldP spid="47" grpId="0"/>
      <p:bldP spid="48" grpId="0" animBg="1"/>
      <p:bldP spid="5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ChangeArrowheads="1"/>
          </p:cNvSpPr>
          <p:nvPr/>
        </p:nvSpPr>
        <p:spPr bwMode="auto">
          <a:xfrm>
            <a:off x="912818" y="76200"/>
            <a:ext cx="10363194" cy="1219200"/>
          </a:xfrm>
          <a:prstGeom prst="rect">
            <a:avLst/>
          </a:prstGeom>
          <a:noFill/>
          <a:ln>
            <a:noFill/>
          </a:ln>
        </p:spPr>
        <p:txBody>
          <a:bodyPr/>
          <a:lstStyle/>
          <a:p>
            <a:pPr marL="342900" indent="-342900" algn="ctr"/>
            <a:r>
              <a:rPr lang="en-US" sz="3200" b="1" dirty="0">
                <a:latin typeface="National semibold" panose="02000503000000020004"/>
              </a:rPr>
              <a:t>Defending the peg for </a:t>
            </a:r>
            <a:r>
              <a:rPr lang="en-US" sz="3200" b="1" dirty="0">
                <a:solidFill>
                  <a:srgbClr val="FF0000"/>
                </a:solidFill>
                <a:latin typeface="National semibold" panose="02000503000000020004"/>
              </a:rPr>
              <a:t>Tether</a:t>
            </a:r>
          </a:p>
          <a:p>
            <a:pPr marL="342900" indent="-342900" algn="ctr"/>
            <a:r>
              <a:rPr lang="en-US" sz="3200" b="1" dirty="0">
                <a:solidFill>
                  <a:srgbClr val="FF0000"/>
                </a:solidFill>
                <a:latin typeface="National semibold" panose="02000503000000020004"/>
              </a:rPr>
              <a:t>(The case of “Minting new Tether”)</a:t>
            </a:r>
            <a:endParaRPr lang="en-US" sz="2400" dirty="0">
              <a:solidFill>
                <a:srgbClr val="FF0000"/>
              </a:solidFill>
              <a:latin typeface="National semibold" panose="02000503000000020004"/>
            </a:endParaRPr>
          </a:p>
        </p:txBody>
      </p:sp>
      <p:sp>
        <p:nvSpPr>
          <p:cNvPr id="53252" name="Line 4"/>
          <p:cNvSpPr>
            <a:spLocks noChangeShapeType="1"/>
          </p:cNvSpPr>
          <p:nvPr/>
        </p:nvSpPr>
        <p:spPr bwMode="auto">
          <a:xfrm flipV="1">
            <a:off x="4481512" y="1828800"/>
            <a:ext cx="0" cy="3810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3253" name="Line 5"/>
          <p:cNvSpPr>
            <a:spLocks noChangeShapeType="1"/>
          </p:cNvSpPr>
          <p:nvPr/>
        </p:nvSpPr>
        <p:spPr bwMode="auto">
          <a:xfrm>
            <a:off x="4329112" y="5562600"/>
            <a:ext cx="3962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3254" name="Text Box 6"/>
          <p:cNvSpPr txBox="1">
            <a:spLocks noChangeArrowheads="1"/>
          </p:cNvSpPr>
          <p:nvPr/>
        </p:nvSpPr>
        <p:spPr bwMode="auto">
          <a:xfrm>
            <a:off x="7123111" y="5589588"/>
            <a:ext cx="173350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latin typeface="Times New Roman" pitchFamily="18" charset="0"/>
              </a:rPr>
              <a:t>Millions of Tether</a:t>
            </a:r>
          </a:p>
        </p:txBody>
      </p:sp>
      <p:sp>
        <p:nvSpPr>
          <p:cNvPr id="53255" name="Text Box 7"/>
          <p:cNvSpPr txBox="1">
            <a:spLocks noChangeArrowheads="1"/>
          </p:cNvSpPr>
          <p:nvPr/>
        </p:nvSpPr>
        <p:spPr bwMode="auto">
          <a:xfrm>
            <a:off x="4052887" y="3656112"/>
            <a:ext cx="27443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latin typeface="Times New Roman" pitchFamily="18" charset="0"/>
              </a:rPr>
              <a:t>1</a:t>
            </a:r>
          </a:p>
        </p:txBody>
      </p:sp>
      <p:sp>
        <p:nvSpPr>
          <p:cNvPr id="53257" name="Text Box 9"/>
          <p:cNvSpPr txBox="1">
            <a:spLocks noChangeArrowheads="1"/>
          </p:cNvSpPr>
          <p:nvPr/>
        </p:nvSpPr>
        <p:spPr bwMode="auto">
          <a:xfrm>
            <a:off x="5380037" y="351631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sz="1400">
              <a:latin typeface="Times New Roman" pitchFamily="18" charset="0"/>
            </a:endParaRPr>
          </a:p>
        </p:txBody>
      </p:sp>
      <p:sp>
        <p:nvSpPr>
          <p:cNvPr id="53258" name="Line 10"/>
          <p:cNvSpPr>
            <a:spLocks noChangeShapeType="1"/>
          </p:cNvSpPr>
          <p:nvPr/>
        </p:nvSpPr>
        <p:spPr bwMode="auto">
          <a:xfrm>
            <a:off x="5103812" y="2679700"/>
            <a:ext cx="19812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59" name="Text Box 11"/>
          <p:cNvSpPr txBox="1">
            <a:spLocks noChangeArrowheads="1"/>
          </p:cNvSpPr>
          <p:nvPr/>
        </p:nvSpPr>
        <p:spPr bwMode="auto">
          <a:xfrm>
            <a:off x="3342578" y="1828800"/>
            <a:ext cx="108234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sz="1600" dirty="0">
                <a:latin typeface="Times New Roman" pitchFamily="18" charset="0"/>
                <a:cs typeface="Times New Roman" pitchFamily="18" charset="0"/>
              </a:rPr>
              <a:t>Dollars for</a:t>
            </a:r>
          </a:p>
          <a:p>
            <a:pPr algn="ctr" eaLnBrk="1" hangingPunct="1">
              <a:spcBef>
                <a:spcPct val="0"/>
              </a:spcBef>
              <a:buFontTx/>
              <a:buNone/>
            </a:pPr>
            <a:r>
              <a:rPr lang="en-US" sz="1600" dirty="0">
                <a:latin typeface="Times New Roman" pitchFamily="18" charset="0"/>
                <a:cs typeface="Times New Roman" pitchFamily="18" charset="0"/>
              </a:rPr>
              <a:t>1 Tether</a:t>
            </a:r>
            <a:endParaRPr lang="en-US" sz="1600" dirty="0">
              <a:latin typeface="Times New Roman" pitchFamily="18" charset="0"/>
            </a:endParaRPr>
          </a:p>
        </p:txBody>
      </p:sp>
      <p:sp>
        <p:nvSpPr>
          <p:cNvPr id="53260" name="Line 12"/>
          <p:cNvSpPr>
            <a:spLocks noChangeShapeType="1"/>
          </p:cNvSpPr>
          <p:nvPr/>
        </p:nvSpPr>
        <p:spPr bwMode="auto">
          <a:xfrm flipH="1">
            <a:off x="5027612" y="2667000"/>
            <a:ext cx="20574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61" name="Text Box 13"/>
          <p:cNvSpPr txBox="1">
            <a:spLocks noChangeArrowheads="1"/>
          </p:cNvSpPr>
          <p:nvPr/>
        </p:nvSpPr>
        <p:spPr bwMode="auto">
          <a:xfrm>
            <a:off x="7065961" y="2438401"/>
            <a:ext cx="7937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dirty="0" err="1">
                <a:latin typeface="Times New Roman" pitchFamily="18" charset="0"/>
                <a:cs typeface="Times New Roman" pitchFamily="18" charset="0"/>
              </a:rPr>
              <a:t>S</a:t>
            </a:r>
            <a:r>
              <a:rPr lang="en-US" sz="1800" baseline="-25000" dirty="0" err="1">
                <a:latin typeface="Times New Roman" pitchFamily="18" charset="0"/>
                <a:cs typeface="Times New Roman" pitchFamily="18" charset="0"/>
              </a:rPr>
              <a:t>Tether</a:t>
            </a:r>
            <a:endParaRPr lang="en-US" sz="1800" baseline="-25000" dirty="0">
              <a:latin typeface="Times New Roman" pitchFamily="18" charset="0"/>
              <a:cs typeface="Times New Roman" pitchFamily="18" charset="0"/>
            </a:endParaRPr>
          </a:p>
        </p:txBody>
      </p:sp>
      <p:sp>
        <p:nvSpPr>
          <p:cNvPr id="53262" name="Text Box 14"/>
          <p:cNvSpPr txBox="1">
            <a:spLocks noChangeArrowheads="1"/>
          </p:cNvSpPr>
          <p:nvPr/>
        </p:nvSpPr>
        <p:spPr bwMode="auto">
          <a:xfrm>
            <a:off x="7072311" y="4800601"/>
            <a:ext cx="103536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dirty="0" err="1">
                <a:latin typeface="Times New Roman" pitchFamily="18" charset="0"/>
                <a:cs typeface="Times New Roman" pitchFamily="18" charset="0"/>
              </a:rPr>
              <a:t>D</a:t>
            </a:r>
            <a:r>
              <a:rPr lang="en-US" sz="1800" baseline="-25000" dirty="0" err="1">
                <a:latin typeface="Times New Roman" pitchFamily="18" charset="0"/>
                <a:cs typeface="Times New Roman" pitchFamily="18" charset="0"/>
              </a:rPr>
              <a:t>Tether</a:t>
            </a:r>
            <a:endParaRPr lang="en-US" sz="1800" baseline="-25000" dirty="0">
              <a:latin typeface="Times New Roman" pitchFamily="18" charset="0"/>
              <a:cs typeface="Times New Roman" pitchFamily="18" charset="0"/>
            </a:endParaRPr>
          </a:p>
        </p:txBody>
      </p:sp>
      <p:sp>
        <p:nvSpPr>
          <p:cNvPr id="53263" name="Line 15"/>
          <p:cNvSpPr>
            <a:spLocks noChangeShapeType="1"/>
          </p:cNvSpPr>
          <p:nvPr/>
        </p:nvSpPr>
        <p:spPr bwMode="auto">
          <a:xfrm>
            <a:off x="6066472" y="3810000"/>
            <a:ext cx="0" cy="1752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3264" name="Line 16"/>
          <p:cNvSpPr>
            <a:spLocks noChangeShapeType="1"/>
          </p:cNvSpPr>
          <p:nvPr/>
        </p:nvSpPr>
        <p:spPr bwMode="auto">
          <a:xfrm flipH="1">
            <a:off x="4481512" y="3797300"/>
            <a:ext cx="16002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3265" name="Text Box 17"/>
          <p:cNvSpPr txBox="1">
            <a:spLocks noChangeArrowheads="1"/>
          </p:cNvSpPr>
          <p:nvPr/>
        </p:nvSpPr>
        <p:spPr bwMode="auto">
          <a:xfrm>
            <a:off x="5897562" y="5637312"/>
            <a:ext cx="27443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latin typeface="Times New Roman" pitchFamily="18" charset="0"/>
              </a:rPr>
              <a:t>7</a:t>
            </a:r>
          </a:p>
        </p:txBody>
      </p:sp>
      <p:sp>
        <p:nvSpPr>
          <p:cNvPr id="374802" name="Line 18"/>
          <p:cNvSpPr>
            <a:spLocks noChangeShapeType="1"/>
          </p:cNvSpPr>
          <p:nvPr/>
        </p:nvSpPr>
        <p:spPr bwMode="auto">
          <a:xfrm>
            <a:off x="5802312" y="2667000"/>
            <a:ext cx="1981200" cy="228600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4803" name="Line 19"/>
          <p:cNvSpPr>
            <a:spLocks noChangeShapeType="1"/>
          </p:cNvSpPr>
          <p:nvPr/>
        </p:nvSpPr>
        <p:spPr bwMode="auto">
          <a:xfrm flipH="1">
            <a:off x="6767512" y="3810000"/>
            <a:ext cx="0" cy="176530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74804" name="Line 20"/>
          <p:cNvSpPr>
            <a:spLocks noChangeShapeType="1"/>
          </p:cNvSpPr>
          <p:nvPr/>
        </p:nvSpPr>
        <p:spPr bwMode="auto">
          <a:xfrm flipH="1">
            <a:off x="6069012" y="3797300"/>
            <a:ext cx="698500" cy="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74805" name="Text Box 21"/>
          <p:cNvSpPr txBox="1">
            <a:spLocks noChangeArrowheads="1"/>
          </p:cNvSpPr>
          <p:nvPr/>
        </p:nvSpPr>
        <p:spPr bwMode="auto">
          <a:xfrm>
            <a:off x="6583362" y="5637312"/>
            <a:ext cx="3642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solidFill>
                  <a:srgbClr val="FF0000"/>
                </a:solidFill>
                <a:latin typeface="Times New Roman" pitchFamily="18" charset="0"/>
              </a:rPr>
              <a:t>10</a:t>
            </a:r>
          </a:p>
        </p:txBody>
      </p:sp>
      <p:sp>
        <p:nvSpPr>
          <p:cNvPr id="45" name="Line 20">
            <a:extLst>
              <a:ext uri="{FF2B5EF4-FFF2-40B4-BE49-F238E27FC236}">
                <a16:creationId xmlns:a16="http://schemas.microsoft.com/office/drawing/2014/main" id="{43ACB8EF-2459-4366-86BF-08088E8C179A}"/>
              </a:ext>
            </a:extLst>
          </p:cNvPr>
          <p:cNvSpPr>
            <a:spLocks noChangeShapeType="1"/>
          </p:cNvSpPr>
          <p:nvPr/>
        </p:nvSpPr>
        <p:spPr bwMode="auto">
          <a:xfrm flipH="1">
            <a:off x="4494212" y="3398521"/>
            <a:ext cx="1920240" cy="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 name="Right Brace 1">
            <a:extLst>
              <a:ext uri="{FF2B5EF4-FFF2-40B4-BE49-F238E27FC236}">
                <a16:creationId xmlns:a16="http://schemas.microsoft.com/office/drawing/2014/main" id="{2106ACA6-B8C0-4517-BA84-AE4DCF8CA660}"/>
              </a:ext>
            </a:extLst>
          </p:cNvPr>
          <p:cNvSpPr/>
          <p:nvPr/>
        </p:nvSpPr>
        <p:spPr>
          <a:xfrm rot="5400000">
            <a:off x="6367550" y="5706463"/>
            <a:ext cx="86624" cy="71329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Text Box 6">
            <a:extLst>
              <a:ext uri="{FF2B5EF4-FFF2-40B4-BE49-F238E27FC236}">
                <a16:creationId xmlns:a16="http://schemas.microsoft.com/office/drawing/2014/main" id="{C198B714-E3E5-469E-9919-F5F4DECA7D8C}"/>
              </a:ext>
            </a:extLst>
          </p:cNvPr>
          <p:cNvSpPr txBox="1">
            <a:spLocks noChangeArrowheads="1"/>
          </p:cNvSpPr>
          <p:nvPr/>
        </p:nvSpPr>
        <p:spPr bwMode="auto">
          <a:xfrm>
            <a:off x="5597886" y="6075878"/>
            <a:ext cx="1656326"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sz="1400" dirty="0">
                <a:solidFill>
                  <a:srgbClr val="FF0000"/>
                </a:solidFill>
                <a:latin typeface="Times New Roman" pitchFamily="18" charset="0"/>
              </a:rPr>
              <a:t>Arbitragers </a:t>
            </a:r>
          </a:p>
          <a:p>
            <a:pPr algn="ctr" eaLnBrk="1" hangingPunct="1">
              <a:spcBef>
                <a:spcPct val="0"/>
              </a:spcBef>
              <a:buFontTx/>
              <a:buNone/>
            </a:pPr>
            <a:r>
              <a:rPr lang="en-US" sz="1400" dirty="0">
                <a:solidFill>
                  <a:srgbClr val="FF0000"/>
                </a:solidFill>
                <a:latin typeface="Times New Roman" pitchFamily="18" charset="0"/>
              </a:rPr>
              <a:t>mint </a:t>
            </a:r>
          </a:p>
          <a:p>
            <a:pPr algn="ctr" eaLnBrk="1" hangingPunct="1">
              <a:spcBef>
                <a:spcPct val="0"/>
              </a:spcBef>
              <a:buFontTx/>
              <a:buNone/>
            </a:pPr>
            <a:r>
              <a:rPr lang="en-US" sz="1400" dirty="0">
                <a:solidFill>
                  <a:srgbClr val="FF0000"/>
                </a:solidFill>
                <a:latin typeface="Times New Roman" pitchFamily="18" charset="0"/>
              </a:rPr>
              <a:t>3 Millions Tether</a:t>
            </a:r>
          </a:p>
        </p:txBody>
      </p:sp>
      <p:sp>
        <p:nvSpPr>
          <p:cNvPr id="48" name="Line 12">
            <a:extLst>
              <a:ext uri="{FF2B5EF4-FFF2-40B4-BE49-F238E27FC236}">
                <a16:creationId xmlns:a16="http://schemas.microsoft.com/office/drawing/2014/main" id="{26697F40-965D-4515-AC40-AB3703A02BFB}"/>
              </a:ext>
            </a:extLst>
          </p:cNvPr>
          <p:cNvSpPr>
            <a:spLocks noChangeShapeType="1"/>
          </p:cNvSpPr>
          <p:nvPr/>
        </p:nvSpPr>
        <p:spPr bwMode="auto">
          <a:xfrm flipH="1">
            <a:off x="5736272" y="2659380"/>
            <a:ext cx="2057400" cy="228600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4" name="Straight Arrow Connector 3">
            <a:extLst>
              <a:ext uri="{FF2B5EF4-FFF2-40B4-BE49-F238E27FC236}">
                <a16:creationId xmlns:a16="http://schemas.microsoft.com/office/drawing/2014/main" id="{42A8BCB2-D392-4035-BF66-66CF54149D5C}"/>
              </a:ext>
            </a:extLst>
          </p:cNvPr>
          <p:cNvCxnSpPr>
            <a:cxnSpLocks/>
          </p:cNvCxnSpPr>
          <p:nvPr/>
        </p:nvCxnSpPr>
        <p:spPr>
          <a:xfrm>
            <a:off x="6856412" y="3048000"/>
            <a:ext cx="457200"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467DFECB-F065-499E-A583-358540902001}"/>
              </a:ext>
            </a:extLst>
          </p:cNvPr>
          <p:cNvCxnSpPr>
            <a:cxnSpLocks/>
          </p:cNvCxnSpPr>
          <p:nvPr/>
        </p:nvCxnSpPr>
        <p:spPr>
          <a:xfrm>
            <a:off x="5561012" y="4495800"/>
            <a:ext cx="457200"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5" name="Text Box 31">
            <a:extLst>
              <a:ext uri="{FF2B5EF4-FFF2-40B4-BE49-F238E27FC236}">
                <a16:creationId xmlns:a16="http://schemas.microsoft.com/office/drawing/2014/main" id="{E2CA976F-4461-4510-91EF-FC1569059FC5}"/>
              </a:ext>
            </a:extLst>
          </p:cNvPr>
          <p:cNvSpPr txBox="1">
            <a:spLocks noChangeArrowheads="1"/>
          </p:cNvSpPr>
          <p:nvPr/>
        </p:nvSpPr>
        <p:spPr bwMode="auto">
          <a:xfrm>
            <a:off x="7770812" y="2438400"/>
            <a:ext cx="25876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dirty="0" err="1">
                <a:solidFill>
                  <a:srgbClr val="FF0000"/>
                </a:solidFill>
                <a:latin typeface="National semibold" panose="02000503000000020004"/>
                <a:cs typeface="Times New Roman" pitchFamily="18" charset="0"/>
              </a:rPr>
              <a:t>S</a:t>
            </a:r>
            <a:r>
              <a:rPr lang="en-US" sz="1800" baseline="-25000" dirty="0" err="1">
                <a:solidFill>
                  <a:srgbClr val="FF0000"/>
                </a:solidFill>
                <a:latin typeface="Times New Roman" pitchFamily="18" charset="0"/>
                <a:cs typeface="Times New Roman" pitchFamily="18" charset="0"/>
              </a:rPr>
              <a:t>Tether</a:t>
            </a:r>
            <a:r>
              <a:rPr lang="en-US" sz="1800" dirty="0">
                <a:solidFill>
                  <a:srgbClr val="FF0000"/>
                </a:solidFill>
                <a:latin typeface="National semibold" panose="02000503000000020004"/>
                <a:cs typeface="Times New Roman" pitchFamily="18" charset="0"/>
              </a:rPr>
              <a:t> after intervention</a:t>
            </a:r>
            <a:r>
              <a:rPr lang="en-US" sz="1800" dirty="0">
                <a:latin typeface="Times New Roman" pitchFamily="18" charset="0"/>
                <a:cs typeface="Times New Roman" pitchFamily="18" charset="0"/>
              </a:rPr>
              <a:t> </a:t>
            </a:r>
            <a:endParaRPr lang="en-US" sz="1800" baseline="-25000" dirty="0">
              <a:latin typeface="Times New Roman" pitchFamily="18" charset="0"/>
              <a:cs typeface="Times New Roman" pitchFamily="18" charset="0"/>
            </a:endParaRPr>
          </a:p>
        </p:txBody>
      </p:sp>
    </p:spTree>
    <p:extLst>
      <p:ext uri="{BB962C8B-B14F-4D97-AF65-F5344CB8AC3E}">
        <p14:creationId xmlns:p14="http://schemas.microsoft.com/office/powerpoint/2010/main" val="622285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48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subTnLst>
                                    <p:set>
                                      <p:cBhvr override="childStyle">
                                        <p:cTn dur="1" fill="hold" display="0" masterRel="nextClick" afterEffect="1"/>
                                        <p:tgtEl>
                                          <p:spTgt spid="45"/>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480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480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480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802" grpId="0" animBg="1"/>
      <p:bldP spid="374803" grpId="0" animBg="1"/>
      <p:bldP spid="374804" grpId="0" animBg="1"/>
      <p:bldP spid="374805" grpId="0"/>
      <p:bldP spid="45" grpId="0" animBg="1"/>
      <p:bldP spid="2" grpId="0" animBg="1"/>
      <p:bldP spid="47" grpId="0"/>
      <p:bldP spid="48" grpId="0" animBg="1"/>
      <p:bldP spid="55" grpId="0"/>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7D7FEFE-2B7E-4519-8CBC-D1999D8A4379}"/>
              </a:ext>
            </a:extLst>
          </p:cNvPr>
          <p:cNvPicPr>
            <a:picLocks noChangeAspect="1"/>
          </p:cNvPicPr>
          <p:nvPr/>
        </p:nvPicPr>
        <p:blipFill rotWithShape="1">
          <a:blip r:embed="rId2"/>
          <a:srcRect t="23771" r="38827" b="6438"/>
          <a:stretch/>
        </p:blipFill>
        <p:spPr>
          <a:xfrm>
            <a:off x="1386556" y="135492"/>
            <a:ext cx="9340660" cy="6660281"/>
          </a:xfrm>
          <a:prstGeom prst="rect">
            <a:avLst/>
          </a:prstGeom>
        </p:spPr>
      </p:pic>
    </p:spTree>
    <p:extLst>
      <p:ext uri="{BB962C8B-B14F-4D97-AF65-F5344CB8AC3E}">
        <p14:creationId xmlns:p14="http://schemas.microsoft.com/office/powerpoint/2010/main" val="3751780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34D30-D6F2-4331-AC52-AD9D63C91DCB}"/>
              </a:ext>
            </a:extLst>
          </p:cNvPr>
          <p:cNvSpPr>
            <a:spLocks noGrp="1"/>
          </p:cNvSpPr>
          <p:nvPr>
            <p:ph type="title"/>
          </p:nvPr>
        </p:nvSpPr>
        <p:spPr/>
        <p:txBody>
          <a:bodyPr/>
          <a:lstStyle/>
          <a:p>
            <a:endParaRPr lang="en-US"/>
          </a:p>
        </p:txBody>
      </p:sp>
      <p:pic>
        <p:nvPicPr>
          <p:cNvPr id="9" name="Picture 8">
            <a:extLst>
              <a:ext uri="{FF2B5EF4-FFF2-40B4-BE49-F238E27FC236}">
                <a16:creationId xmlns:a16="http://schemas.microsoft.com/office/drawing/2014/main" id="{E5480F15-B6A1-4DB4-AB6E-85CA664A01B7}"/>
              </a:ext>
            </a:extLst>
          </p:cNvPr>
          <p:cNvPicPr>
            <a:picLocks noChangeAspect="1"/>
          </p:cNvPicPr>
          <p:nvPr/>
        </p:nvPicPr>
        <p:blipFill>
          <a:blip r:embed="rId2"/>
          <a:stretch>
            <a:fillRect/>
          </a:stretch>
        </p:blipFill>
        <p:spPr>
          <a:xfrm>
            <a:off x="8431" y="10104"/>
            <a:ext cx="12162398" cy="6847896"/>
          </a:xfrm>
          <a:prstGeom prst="rect">
            <a:avLst/>
          </a:prstGeom>
        </p:spPr>
      </p:pic>
    </p:spTree>
    <p:extLst>
      <p:ext uri="{BB962C8B-B14F-4D97-AF65-F5344CB8AC3E}">
        <p14:creationId xmlns:p14="http://schemas.microsoft.com/office/powerpoint/2010/main" val="2835164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4FD3A76-F694-E458-B4F3-AE9898271336}"/>
            </a:ext>
          </a:extLst>
        </p:cNvPr>
        <p:cNvGrpSpPr/>
        <p:nvPr/>
      </p:nvGrpSpPr>
      <p:grpSpPr>
        <a:xfrm>
          <a:off x="0" y="0"/>
          <a:ext cx="0" cy="0"/>
          <a:chOff x="0" y="0"/>
          <a:chExt cx="0" cy="0"/>
        </a:xfrm>
      </p:grpSpPr>
      <p:sp>
        <p:nvSpPr>
          <p:cNvPr id="4" name="Title 12">
            <a:extLst>
              <a:ext uri="{FF2B5EF4-FFF2-40B4-BE49-F238E27FC236}">
                <a16:creationId xmlns:a16="http://schemas.microsoft.com/office/drawing/2014/main" id="{EA984228-A808-54F4-B41C-0FF8B3FADADF}"/>
              </a:ext>
            </a:extLst>
          </p:cNvPr>
          <p:cNvSpPr txBox="1">
            <a:spLocks/>
          </p:cNvSpPr>
          <p:nvPr/>
        </p:nvSpPr>
        <p:spPr>
          <a:xfrm>
            <a:off x="936703" y="1914236"/>
            <a:ext cx="10560747" cy="2722418"/>
          </a:xfrm>
          <a:prstGeom prst="rect">
            <a:avLst/>
          </a:prstGeom>
          <a:ln w="38100">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7200" b="1" i="0" u="none" strike="noStrike" kern="1200" cap="none" spc="0" normalizeH="0" baseline="0" noProof="0" dirty="0">
                <a:ln>
                  <a:noFill/>
                </a:ln>
                <a:solidFill>
                  <a:srgbClr val="002060"/>
                </a:solidFill>
                <a:effectLst/>
                <a:uLnTx/>
                <a:uFillTx/>
                <a:latin typeface="National semibold" panose="02000503000000020004"/>
                <a:ea typeface="+mj-ea"/>
                <a:cs typeface="+mj-cs"/>
              </a:rPr>
              <a:t>Growing </a:t>
            </a:r>
            <a:r>
              <a:rPr lang="en-US" sz="7200" b="1" dirty="0">
                <a:solidFill>
                  <a:srgbClr val="002060"/>
                </a:solidFill>
                <a:latin typeface="National semibold" panose="02000503000000020004"/>
              </a:rPr>
              <a:t>interest in s</a:t>
            </a:r>
            <a:r>
              <a:rPr kumimoji="0" lang="en-US" sz="7200" b="1" i="0" u="none" strike="noStrike" kern="1200" cap="none" spc="0" normalizeH="0" baseline="0" noProof="0" dirty="0" err="1">
                <a:ln>
                  <a:noFill/>
                </a:ln>
                <a:solidFill>
                  <a:srgbClr val="002060"/>
                </a:solidFill>
                <a:effectLst/>
                <a:uLnTx/>
                <a:uFillTx/>
                <a:latin typeface="National semibold" panose="02000503000000020004"/>
                <a:ea typeface="+mj-ea"/>
                <a:cs typeface="+mj-cs"/>
              </a:rPr>
              <a:t>tablecoins</a:t>
            </a:r>
            <a:endParaRPr kumimoji="0" lang="en-US" sz="7200" b="1" i="0" u="none" strike="noStrike" kern="1200" cap="none" spc="0" normalizeH="0" baseline="0" noProof="0" dirty="0">
              <a:ln>
                <a:noFill/>
              </a:ln>
              <a:solidFill>
                <a:srgbClr val="002060"/>
              </a:solidFill>
              <a:effectLst/>
              <a:uLnTx/>
              <a:uFillTx/>
              <a:latin typeface="National semibold" panose="02000503000000020004"/>
              <a:ea typeface="+mj-ea"/>
              <a:cs typeface="+mj-cs"/>
            </a:endParaRPr>
          </a:p>
        </p:txBody>
      </p:sp>
    </p:spTree>
    <p:extLst>
      <p:ext uri="{BB962C8B-B14F-4D97-AF65-F5344CB8AC3E}">
        <p14:creationId xmlns:p14="http://schemas.microsoft.com/office/powerpoint/2010/main" val="3817777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674812" y="381000"/>
            <a:ext cx="9677400" cy="1219200"/>
          </a:xfrm>
        </p:spPr>
        <p:txBody>
          <a:bodyPr anchor="ctr">
            <a:normAutofit/>
          </a:bodyPr>
          <a:lstStyle/>
          <a:p>
            <a:r>
              <a:rPr lang="en-US" altLang="en-US" sz="4000" b="1" dirty="0">
                <a:latin typeface="National semibold"/>
              </a:rPr>
              <a:t>GENIUS Act</a:t>
            </a:r>
            <a:br>
              <a:rPr lang="en-US" altLang="en-US" sz="4000" b="1" dirty="0">
                <a:latin typeface="National semibold"/>
              </a:rPr>
            </a:br>
            <a:r>
              <a:rPr lang="en-US" sz="2800" b="1" dirty="0">
                <a:latin typeface="National semibold" panose="02000503000000020004"/>
              </a:rPr>
              <a:t>G</a:t>
            </a:r>
            <a:r>
              <a:rPr lang="en-US" sz="2000" dirty="0">
                <a:latin typeface="National semibold" panose="02000503000000020004"/>
              </a:rPr>
              <a:t>uiding</a:t>
            </a:r>
            <a:r>
              <a:rPr lang="en-US" sz="2800" dirty="0">
                <a:latin typeface="National semibold" panose="02000503000000020004"/>
              </a:rPr>
              <a:t> </a:t>
            </a:r>
            <a:r>
              <a:rPr lang="en-US" sz="2000" dirty="0">
                <a:latin typeface="National semibold" panose="02000503000000020004"/>
              </a:rPr>
              <a:t>and</a:t>
            </a:r>
            <a:r>
              <a:rPr lang="en-US" sz="2800" dirty="0">
                <a:latin typeface="National semibold" panose="02000503000000020004"/>
              </a:rPr>
              <a:t> </a:t>
            </a:r>
            <a:r>
              <a:rPr lang="en-US" sz="2800" b="1" dirty="0">
                <a:latin typeface="National semibold" panose="02000503000000020004"/>
              </a:rPr>
              <a:t>E</a:t>
            </a:r>
            <a:r>
              <a:rPr lang="en-US" sz="2000" dirty="0">
                <a:latin typeface="National semibold" panose="02000503000000020004"/>
              </a:rPr>
              <a:t>stablishing</a:t>
            </a:r>
            <a:r>
              <a:rPr lang="en-US" sz="2800" dirty="0">
                <a:latin typeface="National semibold" panose="02000503000000020004"/>
              </a:rPr>
              <a:t> </a:t>
            </a:r>
            <a:r>
              <a:rPr lang="en-US" sz="2800" b="1" dirty="0">
                <a:latin typeface="National semibold" panose="02000503000000020004"/>
              </a:rPr>
              <a:t>N</a:t>
            </a:r>
            <a:r>
              <a:rPr lang="en-US" sz="2000" dirty="0">
                <a:latin typeface="National semibold" panose="02000503000000020004"/>
              </a:rPr>
              <a:t>ational</a:t>
            </a:r>
            <a:r>
              <a:rPr lang="en-US" sz="2800" dirty="0">
                <a:latin typeface="National semibold" panose="02000503000000020004"/>
              </a:rPr>
              <a:t> </a:t>
            </a:r>
            <a:r>
              <a:rPr lang="en-US" sz="2800" b="1" dirty="0">
                <a:latin typeface="National semibold" panose="02000503000000020004"/>
              </a:rPr>
              <a:t>I</a:t>
            </a:r>
            <a:r>
              <a:rPr lang="en-US" sz="2000" dirty="0">
                <a:latin typeface="National semibold" panose="02000503000000020004"/>
              </a:rPr>
              <a:t>nnovation for</a:t>
            </a:r>
            <a:r>
              <a:rPr lang="en-US" sz="2800" dirty="0">
                <a:latin typeface="National semibold" panose="02000503000000020004"/>
              </a:rPr>
              <a:t> </a:t>
            </a:r>
            <a:r>
              <a:rPr lang="en-US" sz="2800" b="1" dirty="0">
                <a:latin typeface="National semibold" panose="02000503000000020004"/>
              </a:rPr>
              <a:t>U</a:t>
            </a:r>
            <a:r>
              <a:rPr lang="en-US" sz="2000" dirty="0">
                <a:latin typeface="National semibold" panose="02000503000000020004"/>
              </a:rPr>
              <a:t>S</a:t>
            </a:r>
            <a:r>
              <a:rPr lang="en-US" sz="2800" dirty="0">
                <a:latin typeface="National semibold" panose="02000503000000020004"/>
              </a:rPr>
              <a:t> </a:t>
            </a:r>
            <a:r>
              <a:rPr lang="en-US" sz="2800" b="1" dirty="0">
                <a:latin typeface="National semibold" panose="02000503000000020004"/>
              </a:rPr>
              <a:t>S</a:t>
            </a:r>
            <a:r>
              <a:rPr lang="en-US" sz="2000" dirty="0">
                <a:latin typeface="National semibold" panose="02000503000000020004"/>
              </a:rPr>
              <a:t>tablecoins</a:t>
            </a:r>
            <a:endParaRPr lang="en-US" altLang="en-US" sz="2800" b="1" dirty="0">
              <a:latin typeface="National semibold" panose="02000503000000020004"/>
            </a:endParaRPr>
          </a:p>
        </p:txBody>
      </p:sp>
      <p:sp>
        <p:nvSpPr>
          <p:cNvPr id="10243" name="Rectangle 3"/>
          <p:cNvSpPr>
            <a:spLocks noGrp="1" noChangeArrowheads="1"/>
          </p:cNvSpPr>
          <p:nvPr>
            <p:ph type="body" idx="4294967295"/>
          </p:nvPr>
        </p:nvSpPr>
        <p:spPr>
          <a:xfrm>
            <a:off x="1235046" y="2001985"/>
            <a:ext cx="10601354" cy="4433454"/>
          </a:xfrm>
        </p:spPr>
        <p:txBody>
          <a:bodyPr>
            <a:noAutofit/>
          </a:bodyPr>
          <a:lstStyle/>
          <a:p>
            <a:pPr lvl="1" fontAlgn="base"/>
            <a:r>
              <a:rPr lang="en-US" sz="2200" dirty="0">
                <a:latin typeface="National semibold" panose="02000503000000020004"/>
              </a:rPr>
              <a:t>Legal framework that regulates the issuance of stablecoins by banks and fintech companies. </a:t>
            </a:r>
          </a:p>
          <a:p>
            <a:pPr lvl="1" fontAlgn="base"/>
            <a:endParaRPr lang="en-US" sz="2200" dirty="0">
              <a:latin typeface="National semibold" panose="02000503000000020004"/>
            </a:endParaRPr>
          </a:p>
          <a:p>
            <a:pPr lvl="1" fontAlgn="base"/>
            <a:r>
              <a:rPr lang="en-US" sz="2200" dirty="0">
                <a:latin typeface="National semibold" panose="02000503000000020004"/>
              </a:rPr>
              <a:t>Signed into law on July 18, 2025.</a:t>
            </a:r>
          </a:p>
          <a:p>
            <a:pPr lvl="1" fontAlgn="base"/>
            <a:endParaRPr lang="en-US" sz="2200" dirty="0">
              <a:latin typeface="National semibold" panose="02000503000000020004"/>
            </a:endParaRPr>
          </a:p>
          <a:p>
            <a:pPr lvl="1" fontAlgn="base"/>
            <a:r>
              <a:rPr lang="en-US" sz="2200" dirty="0">
                <a:latin typeface="National semibold" panose="02000503000000020004"/>
              </a:rPr>
              <a:t>Key features:</a:t>
            </a:r>
          </a:p>
          <a:p>
            <a:pPr lvl="2" fontAlgn="base"/>
            <a:r>
              <a:rPr lang="en-US" sz="2200" b="1" dirty="0">
                <a:solidFill>
                  <a:srgbClr val="FF0000"/>
                </a:solidFill>
                <a:latin typeface="National semibold" panose="02000503000000020004"/>
              </a:rPr>
              <a:t>Stablecoins must be fully backed 1-to-1 by U.S. dollars or equivalent safe assets.</a:t>
            </a:r>
          </a:p>
          <a:p>
            <a:pPr lvl="2" fontAlgn="base"/>
            <a:r>
              <a:rPr lang="en-US" sz="2200" dirty="0">
                <a:latin typeface="National semibold" panose="02000503000000020004"/>
              </a:rPr>
              <a:t>Regular audits and reports to prevent fraud and protect consumers.</a:t>
            </a:r>
          </a:p>
          <a:p>
            <a:pPr lvl="2" fontAlgn="base"/>
            <a:r>
              <a:rPr lang="en-US" sz="2200" dirty="0">
                <a:latin typeface="National semibold" panose="02000503000000020004"/>
              </a:rPr>
              <a:t>Creates a dual oversight system: role played by both federal and state regulators. </a:t>
            </a:r>
          </a:p>
          <a:p>
            <a:pPr lvl="2" fontAlgn="base"/>
            <a:r>
              <a:rPr lang="en-US" sz="2200" dirty="0">
                <a:latin typeface="National semibold" panose="02000503000000020004"/>
              </a:rPr>
              <a:t>Goals: (</a:t>
            </a:r>
            <a:r>
              <a:rPr lang="en-US" sz="2200" dirty="0" err="1">
                <a:latin typeface="National semibold" panose="02000503000000020004"/>
              </a:rPr>
              <a:t>i</a:t>
            </a:r>
            <a:r>
              <a:rPr lang="en-US" sz="2200" dirty="0">
                <a:latin typeface="National semibold" panose="02000503000000020004"/>
              </a:rPr>
              <a:t>) ensure stability in the crypto market; (ii) protect investors; (iii) </a:t>
            </a:r>
            <a:r>
              <a:rPr lang="en-US" sz="2200" b="1" dirty="0">
                <a:solidFill>
                  <a:srgbClr val="FF0000"/>
                </a:solidFill>
                <a:latin typeface="National semibold" panose="02000503000000020004"/>
              </a:rPr>
              <a:t>strengthen U.S. leadership in digital finance.</a:t>
            </a:r>
          </a:p>
        </p:txBody>
      </p:sp>
    </p:spTree>
    <p:extLst>
      <p:ext uri="{BB962C8B-B14F-4D97-AF65-F5344CB8AC3E}">
        <p14:creationId xmlns:p14="http://schemas.microsoft.com/office/powerpoint/2010/main" val="3532599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24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24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4166B-9665-F3F3-4161-484C30CE4133}"/>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3BC14B4E-1B1F-80B9-4332-BF8335A8925D}"/>
              </a:ext>
            </a:extLst>
          </p:cNvPr>
          <p:cNvSpPr>
            <a:spLocks noGrp="1" noChangeArrowheads="1"/>
          </p:cNvSpPr>
          <p:nvPr>
            <p:ph type="title"/>
          </p:nvPr>
        </p:nvSpPr>
        <p:spPr>
          <a:xfrm>
            <a:off x="1674812" y="381000"/>
            <a:ext cx="9677400" cy="1219200"/>
          </a:xfrm>
        </p:spPr>
        <p:txBody>
          <a:bodyPr anchor="ctr">
            <a:normAutofit/>
          </a:bodyPr>
          <a:lstStyle/>
          <a:p>
            <a:r>
              <a:rPr lang="en-US" altLang="en-US" b="1" dirty="0">
                <a:latin typeface="National semibold"/>
              </a:rPr>
              <a:t>Hong Kong Stablecoins Regulation</a:t>
            </a:r>
            <a:endParaRPr lang="en-US" altLang="en-US" sz="2400" b="1" dirty="0">
              <a:latin typeface="National semibold" panose="02000503000000020004"/>
            </a:endParaRPr>
          </a:p>
        </p:txBody>
      </p:sp>
      <p:sp>
        <p:nvSpPr>
          <p:cNvPr id="10243" name="Rectangle 3">
            <a:extLst>
              <a:ext uri="{FF2B5EF4-FFF2-40B4-BE49-F238E27FC236}">
                <a16:creationId xmlns:a16="http://schemas.microsoft.com/office/drawing/2014/main" id="{4C06FBFF-070E-7BFC-209D-23C1856D2F99}"/>
              </a:ext>
            </a:extLst>
          </p:cNvPr>
          <p:cNvSpPr>
            <a:spLocks noGrp="1" noChangeArrowheads="1"/>
          </p:cNvSpPr>
          <p:nvPr>
            <p:ph type="body" idx="4294967295"/>
          </p:nvPr>
        </p:nvSpPr>
        <p:spPr>
          <a:xfrm>
            <a:off x="1489046" y="2001985"/>
            <a:ext cx="10115125" cy="4433454"/>
          </a:xfrm>
        </p:spPr>
        <p:txBody>
          <a:bodyPr>
            <a:normAutofit/>
          </a:bodyPr>
          <a:lstStyle/>
          <a:p>
            <a:pPr lvl="1" fontAlgn="base"/>
            <a:r>
              <a:rPr lang="en-US" sz="2200" dirty="0">
                <a:latin typeface="National semibold" panose="02000503000000020004"/>
              </a:rPr>
              <a:t>Hong Kong introduced recently a licensing framework for any entity issuing a stablecoin in Hong Kong backed by the Hong Kong dollar.</a:t>
            </a:r>
          </a:p>
          <a:p>
            <a:pPr lvl="1" fontAlgn="base"/>
            <a:endParaRPr lang="en-US" sz="2200" dirty="0">
              <a:latin typeface="National semibold" panose="02000503000000020004"/>
            </a:endParaRPr>
          </a:p>
          <a:p>
            <a:pPr lvl="1" fontAlgn="base"/>
            <a:r>
              <a:rPr lang="en-US" sz="2200" dirty="0">
                <a:latin typeface="National semibold" panose="02000503000000020004"/>
              </a:rPr>
              <a:t>Passed on May 21, 2025. Became effective on August 1, 2025.</a:t>
            </a:r>
          </a:p>
          <a:p>
            <a:pPr lvl="1" fontAlgn="base"/>
            <a:endParaRPr lang="en-US" sz="2200" dirty="0">
              <a:latin typeface="National semibold" panose="02000503000000020004"/>
            </a:endParaRPr>
          </a:p>
          <a:p>
            <a:pPr lvl="1" fontAlgn="base"/>
            <a:r>
              <a:rPr lang="en-US" sz="2200" dirty="0">
                <a:latin typeface="National semibold" panose="02000503000000020004"/>
              </a:rPr>
              <a:t>Key features:</a:t>
            </a:r>
          </a:p>
          <a:p>
            <a:pPr lvl="2" fontAlgn="base"/>
            <a:r>
              <a:rPr lang="en-US" sz="2200" b="1" dirty="0">
                <a:solidFill>
                  <a:srgbClr val="FF0000"/>
                </a:solidFill>
                <a:latin typeface="National semibold" panose="02000503000000020004"/>
              </a:rPr>
              <a:t>Stablecoins must be fully backed by high-quality, liquid reserves held in trust and redeemable at par.</a:t>
            </a:r>
          </a:p>
          <a:p>
            <a:pPr lvl="2" fontAlgn="base"/>
            <a:r>
              <a:rPr lang="en-US" sz="2200" dirty="0">
                <a:latin typeface="National semibold" panose="02000503000000020004"/>
              </a:rPr>
              <a:t>Issuers need strong risk management and internal controls.</a:t>
            </a:r>
          </a:p>
          <a:p>
            <a:pPr lvl="2" fontAlgn="base"/>
            <a:r>
              <a:rPr lang="en-US" sz="2200" dirty="0">
                <a:latin typeface="National semibold" panose="02000503000000020004"/>
              </a:rPr>
              <a:t>Enforcement of disclosure and governance obligations.</a:t>
            </a:r>
          </a:p>
        </p:txBody>
      </p:sp>
    </p:spTree>
    <p:extLst>
      <p:ext uri="{BB962C8B-B14F-4D97-AF65-F5344CB8AC3E}">
        <p14:creationId xmlns:p14="http://schemas.microsoft.com/office/powerpoint/2010/main" val="4173415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24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A78F2-2481-1987-5561-C1F51B25A503}"/>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72519ADE-9171-A85D-F9F7-BA439886C2EB}"/>
              </a:ext>
            </a:extLst>
          </p:cNvPr>
          <p:cNvSpPr>
            <a:spLocks noGrp="1" noChangeArrowheads="1"/>
          </p:cNvSpPr>
          <p:nvPr>
            <p:ph type="title"/>
          </p:nvPr>
        </p:nvSpPr>
        <p:spPr>
          <a:xfrm>
            <a:off x="1674812" y="381000"/>
            <a:ext cx="9677400" cy="1219200"/>
          </a:xfrm>
        </p:spPr>
        <p:txBody>
          <a:bodyPr anchor="ctr">
            <a:normAutofit/>
          </a:bodyPr>
          <a:lstStyle/>
          <a:p>
            <a:r>
              <a:rPr lang="en-US" altLang="en-US" b="1">
                <a:latin typeface="National semibold"/>
              </a:rPr>
              <a:t>Circle Internet Group</a:t>
            </a:r>
            <a:endParaRPr lang="en-US" altLang="en-US" sz="2400" b="1" dirty="0">
              <a:latin typeface="National semibold" panose="02000503000000020004"/>
            </a:endParaRPr>
          </a:p>
        </p:txBody>
      </p:sp>
      <p:sp>
        <p:nvSpPr>
          <p:cNvPr id="10243" name="Rectangle 3">
            <a:extLst>
              <a:ext uri="{FF2B5EF4-FFF2-40B4-BE49-F238E27FC236}">
                <a16:creationId xmlns:a16="http://schemas.microsoft.com/office/drawing/2014/main" id="{968CF9DC-925A-6E35-9E24-99E3248EDEEF}"/>
              </a:ext>
            </a:extLst>
          </p:cNvPr>
          <p:cNvSpPr>
            <a:spLocks noGrp="1" noChangeArrowheads="1"/>
          </p:cNvSpPr>
          <p:nvPr>
            <p:ph type="body" idx="4294967295"/>
          </p:nvPr>
        </p:nvSpPr>
        <p:spPr>
          <a:xfrm>
            <a:off x="1489046" y="1883328"/>
            <a:ext cx="9798185" cy="4552111"/>
          </a:xfrm>
        </p:spPr>
        <p:txBody>
          <a:bodyPr>
            <a:normAutofit/>
          </a:bodyPr>
          <a:lstStyle/>
          <a:p>
            <a:pPr lvl="1" fontAlgn="base"/>
            <a:r>
              <a:rPr lang="en-US" sz="1900" b="1" u="sng" dirty="0">
                <a:latin typeface="National semibold" panose="02000503000000020004"/>
              </a:rPr>
              <a:t>Public Company</a:t>
            </a:r>
            <a:r>
              <a:rPr lang="en-US" sz="1900" dirty="0">
                <a:latin typeface="National semibold" panose="02000503000000020004"/>
              </a:rPr>
              <a:t>: Trading in NYSE starting in June 5, 2025. </a:t>
            </a:r>
            <a:endParaRPr lang="en-US" sz="1900" b="1" u="sng" dirty="0">
              <a:latin typeface="National semibold" panose="02000503000000020004"/>
            </a:endParaRPr>
          </a:p>
          <a:p>
            <a:pPr lvl="1" fontAlgn="base"/>
            <a:r>
              <a:rPr lang="en-US" sz="1900" b="1" u="sng" dirty="0">
                <a:latin typeface="National semibold" panose="02000503000000020004"/>
              </a:rPr>
              <a:t>Core Business</a:t>
            </a:r>
            <a:r>
              <a:rPr lang="en-US" sz="1900" dirty="0">
                <a:latin typeface="National semibold" panose="02000503000000020004"/>
              </a:rPr>
              <a:t>: Peer-to-peer payments technology. USDC stablecoin is its flagship product.</a:t>
            </a:r>
            <a:endParaRPr lang="en-US" sz="1900" b="1" u="sng" dirty="0">
              <a:latin typeface="National semibold" panose="02000503000000020004"/>
            </a:endParaRPr>
          </a:p>
          <a:p>
            <a:pPr lvl="1" fontAlgn="base"/>
            <a:r>
              <a:rPr lang="en-US" sz="1900" b="1" u="sng" dirty="0">
                <a:latin typeface="National semibold" panose="02000503000000020004"/>
              </a:rPr>
              <a:t>Revenue Source</a:t>
            </a:r>
            <a:r>
              <a:rPr lang="en-US" sz="1900" dirty="0">
                <a:latin typeface="National semibold" panose="02000503000000020004"/>
              </a:rPr>
              <a:t>: Primarily interests earned from reserves backing USDC. In 2024, most of the revenues ($1.68 billion) came from income earned on reserves.</a:t>
            </a:r>
          </a:p>
        </p:txBody>
      </p:sp>
      <p:pic>
        <p:nvPicPr>
          <p:cNvPr id="4" name="Picture 3">
            <a:extLst>
              <a:ext uri="{FF2B5EF4-FFF2-40B4-BE49-F238E27FC236}">
                <a16:creationId xmlns:a16="http://schemas.microsoft.com/office/drawing/2014/main" id="{1F1DC64E-7D05-1E1E-92E9-2BAF9A06CBC5}"/>
              </a:ext>
            </a:extLst>
          </p:cNvPr>
          <p:cNvPicPr>
            <a:picLocks noChangeAspect="1"/>
          </p:cNvPicPr>
          <p:nvPr/>
        </p:nvPicPr>
        <p:blipFill>
          <a:blip r:embed="rId3"/>
          <a:stretch>
            <a:fillRect/>
          </a:stretch>
        </p:blipFill>
        <p:spPr>
          <a:xfrm>
            <a:off x="3723150" y="3304945"/>
            <a:ext cx="5232008" cy="3546611"/>
          </a:xfrm>
          <a:prstGeom prst="rect">
            <a:avLst/>
          </a:prstGeom>
        </p:spPr>
      </p:pic>
    </p:spTree>
    <p:extLst>
      <p:ext uri="{BB962C8B-B14F-4D97-AF65-F5344CB8AC3E}">
        <p14:creationId xmlns:p14="http://schemas.microsoft.com/office/powerpoint/2010/main" val="798588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CA24034-765D-6626-1AD7-6D165335A63D}"/>
            </a:ext>
          </a:extLst>
        </p:cNvPr>
        <p:cNvGrpSpPr/>
        <p:nvPr/>
      </p:nvGrpSpPr>
      <p:grpSpPr>
        <a:xfrm>
          <a:off x="0" y="0"/>
          <a:ext cx="0" cy="0"/>
          <a:chOff x="0" y="0"/>
          <a:chExt cx="0" cy="0"/>
        </a:xfrm>
      </p:grpSpPr>
      <p:sp>
        <p:nvSpPr>
          <p:cNvPr id="4" name="Title 12">
            <a:extLst>
              <a:ext uri="{FF2B5EF4-FFF2-40B4-BE49-F238E27FC236}">
                <a16:creationId xmlns:a16="http://schemas.microsoft.com/office/drawing/2014/main" id="{8B3BD89A-85F6-DCFB-F8C4-B74E1367049B}"/>
              </a:ext>
            </a:extLst>
          </p:cNvPr>
          <p:cNvSpPr txBox="1">
            <a:spLocks/>
          </p:cNvSpPr>
          <p:nvPr/>
        </p:nvSpPr>
        <p:spPr>
          <a:xfrm>
            <a:off x="834224" y="1165372"/>
            <a:ext cx="10560747" cy="4604806"/>
          </a:xfrm>
          <a:prstGeom prst="rect">
            <a:avLst/>
          </a:prstGeom>
          <a:ln w="38100">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7200" b="1" i="0" u="none" strike="noStrike" kern="1200" cap="none" spc="0" normalizeH="0" baseline="0" noProof="0" dirty="0">
                <a:ln>
                  <a:noFill/>
                </a:ln>
                <a:solidFill>
                  <a:srgbClr val="002060"/>
                </a:solidFill>
                <a:effectLst/>
                <a:uLnTx/>
                <a:uFillTx/>
                <a:latin typeface="National semibold" panose="02000503000000020004"/>
                <a:ea typeface="+mj-ea"/>
                <a:cs typeface="+mj-cs"/>
              </a:rPr>
              <a:t>Expansion of stablecoins and the international standing of the US Dollar </a:t>
            </a:r>
          </a:p>
        </p:txBody>
      </p:sp>
    </p:spTree>
    <p:extLst>
      <p:ext uri="{BB962C8B-B14F-4D97-AF65-F5344CB8AC3E}">
        <p14:creationId xmlns:p14="http://schemas.microsoft.com/office/powerpoint/2010/main" val="4152096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0890A23-C6FB-C376-B85A-B596EB29DF16}"/>
              </a:ext>
            </a:extLst>
          </p:cNvPr>
          <p:cNvPicPr>
            <a:picLocks noChangeAspect="1"/>
          </p:cNvPicPr>
          <p:nvPr/>
        </p:nvPicPr>
        <p:blipFill>
          <a:blip r:embed="rId2"/>
          <a:stretch>
            <a:fillRect/>
          </a:stretch>
        </p:blipFill>
        <p:spPr>
          <a:xfrm>
            <a:off x="1422981" y="0"/>
            <a:ext cx="9342862" cy="6858000"/>
          </a:xfrm>
          <a:prstGeom prst="rect">
            <a:avLst/>
          </a:prstGeom>
        </p:spPr>
      </p:pic>
    </p:spTree>
    <p:extLst>
      <p:ext uri="{BB962C8B-B14F-4D97-AF65-F5344CB8AC3E}">
        <p14:creationId xmlns:p14="http://schemas.microsoft.com/office/powerpoint/2010/main" val="2611268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7D91F0-36FA-6B94-AB5D-B45CC44F2CDC}"/>
              </a:ext>
            </a:extLst>
          </p:cNvPr>
          <p:cNvPicPr>
            <a:picLocks noChangeAspect="1"/>
          </p:cNvPicPr>
          <p:nvPr/>
        </p:nvPicPr>
        <p:blipFill>
          <a:blip r:embed="rId2"/>
          <a:stretch>
            <a:fillRect/>
          </a:stretch>
        </p:blipFill>
        <p:spPr>
          <a:xfrm>
            <a:off x="1477927" y="0"/>
            <a:ext cx="9232971" cy="6858000"/>
          </a:xfrm>
          <a:prstGeom prst="rect">
            <a:avLst/>
          </a:prstGeom>
        </p:spPr>
      </p:pic>
    </p:spTree>
    <p:extLst>
      <p:ext uri="{BB962C8B-B14F-4D97-AF65-F5344CB8AC3E}">
        <p14:creationId xmlns:p14="http://schemas.microsoft.com/office/powerpoint/2010/main" val="364165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5413652-AEC9-E6C2-206F-0BA77CEC0F3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09581C1-2DCC-8277-A470-1B1BC9EAF65A}"/>
              </a:ext>
            </a:extLst>
          </p:cNvPr>
          <p:cNvPicPr>
            <a:picLocks noChangeAspect="1"/>
          </p:cNvPicPr>
          <p:nvPr/>
        </p:nvPicPr>
        <p:blipFill>
          <a:blip r:embed="rId2"/>
          <a:stretch>
            <a:fillRect/>
          </a:stretch>
        </p:blipFill>
        <p:spPr>
          <a:xfrm>
            <a:off x="1160283" y="0"/>
            <a:ext cx="9868258" cy="6858000"/>
          </a:xfrm>
          <a:prstGeom prst="rect">
            <a:avLst/>
          </a:prstGeom>
        </p:spPr>
      </p:pic>
    </p:spTree>
    <p:extLst>
      <p:ext uri="{BB962C8B-B14F-4D97-AF65-F5344CB8AC3E}">
        <p14:creationId xmlns:p14="http://schemas.microsoft.com/office/powerpoint/2010/main" val="3080198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CD03C2-4CB3-748A-D279-34348F116A55}"/>
              </a:ext>
            </a:extLst>
          </p:cNvPr>
          <p:cNvPicPr>
            <a:picLocks noChangeAspect="1"/>
          </p:cNvPicPr>
          <p:nvPr/>
        </p:nvPicPr>
        <p:blipFill>
          <a:blip r:embed="rId2"/>
          <a:stretch>
            <a:fillRect/>
          </a:stretch>
        </p:blipFill>
        <p:spPr>
          <a:xfrm>
            <a:off x="1445533" y="0"/>
            <a:ext cx="9297759" cy="6858000"/>
          </a:xfrm>
          <a:prstGeom prst="rect">
            <a:avLst/>
          </a:prstGeom>
        </p:spPr>
      </p:pic>
    </p:spTree>
    <p:extLst>
      <p:ext uri="{BB962C8B-B14F-4D97-AF65-F5344CB8AC3E}">
        <p14:creationId xmlns:p14="http://schemas.microsoft.com/office/powerpoint/2010/main" val="2826672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2BB3187-B40D-3BBB-7F2A-A889E86C555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6D6DF9D-5D93-DA08-C5EA-5039554B7B0A}"/>
              </a:ext>
            </a:extLst>
          </p:cNvPr>
          <p:cNvPicPr>
            <a:picLocks noChangeAspect="1"/>
          </p:cNvPicPr>
          <p:nvPr/>
        </p:nvPicPr>
        <p:blipFill>
          <a:blip r:embed="rId2"/>
          <a:stretch>
            <a:fillRect/>
          </a:stretch>
        </p:blipFill>
        <p:spPr>
          <a:xfrm>
            <a:off x="1391309" y="0"/>
            <a:ext cx="9406207" cy="6858000"/>
          </a:xfrm>
          <a:prstGeom prst="rect">
            <a:avLst/>
          </a:prstGeom>
        </p:spPr>
      </p:pic>
    </p:spTree>
    <p:extLst>
      <p:ext uri="{BB962C8B-B14F-4D97-AF65-F5344CB8AC3E}">
        <p14:creationId xmlns:p14="http://schemas.microsoft.com/office/powerpoint/2010/main" val="71952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674812" y="381000"/>
            <a:ext cx="9677400" cy="1219200"/>
          </a:xfrm>
        </p:spPr>
        <p:txBody>
          <a:bodyPr anchor="ctr"/>
          <a:lstStyle/>
          <a:p>
            <a:r>
              <a:rPr lang="en-US" altLang="en-US" b="1" dirty="0">
                <a:latin typeface="National semibold"/>
              </a:rPr>
              <a:t>Case study: libra</a:t>
            </a:r>
          </a:p>
        </p:txBody>
      </p:sp>
      <p:sp>
        <p:nvSpPr>
          <p:cNvPr id="10243" name="Rectangle 3"/>
          <p:cNvSpPr>
            <a:spLocks noGrp="1" noChangeArrowheads="1"/>
          </p:cNvSpPr>
          <p:nvPr>
            <p:ph type="body" idx="4294967295"/>
          </p:nvPr>
        </p:nvSpPr>
        <p:spPr>
          <a:xfrm>
            <a:off x="1751012" y="2001985"/>
            <a:ext cx="9536219" cy="4433454"/>
          </a:xfrm>
        </p:spPr>
        <p:txBody>
          <a:bodyPr>
            <a:normAutofit/>
          </a:bodyPr>
          <a:lstStyle/>
          <a:p>
            <a:pPr fontAlgn="base"/>
            <a:r>
              <a:rPr lang="en-US" sz="2300" dirty="0">
                <a:latin typeface="National semibold" panose="02000503000000020004"/>
              </a:rPr>
              <a:t>In 2019 Facebook designed a digital payment token called “libra”. </a:t>
            </a:r>
          </a:p>
          <a:p>
            <a:pPr fontAlgn="base"/>
            <a:r>
              <a:rPr lang="en-US" sz="2300" dirty="0">
                <a:latin typeface="National semibold" panose="02000503000000020004"/>
              </a:rPr>
              <a:t>Libra was based on the same principles as a stablecoin: The funds paid to buy a new libra will be placed into a bank deposit or other cash equivalent. </a:t>
            </a:r>
          </a:p>
          <a:p>
            <a:pPr fontAlgn="base"/>
            <a:r>
              <a:rPr lang="en-US" sz="2300" dirty="0">
                <a:latin typeface="National semibold" panose="02000503000000020004"/>
              </a:rPr>
              <a:t>What was different (compared to Tether, </a:t>
            </a:r>
            <a:r>
              <a:rPr lang="en-US" sz="2300" dirty="0" err="1">
                <a:latin typeface="National semibold" panose="02000503000000020004"/>
              </a:rPr>
              <a:t>USDCoins</a:t>
            </a:r>
            <a:r>
              <a:rPr lang="en-US" sz="2300" dirty="0">
                <a:latin typeface="National semibold" panose="02000503000000020004"/>
              </a:rPr>
              <a:t>, etc.)?   </a:t>
            </a:r>
          </a:p>
          <a:p>
            <a:pPr lvl="1" fontAlgn="base"/>
            <a:r>
              <a:rPr lang="en-US" sz="1900" dirty="0">
                <a:latin typeface="National semibold" panose="02000503000000020004"/>
              </a:rPr>
              <a:t>Libra was not pegged to one currency (for example, the US dollar). </a:t>
            </a:r>
          </a:p>
          <a:p>
            <a:pPr lvl="1" fontAlgn="base"/>
            <a:r>
              <a:rPr lang="en-US" sz="1900" dirty="0">
                <a:latin typeface="National semibold" panose="02000503000000020004"/>
              </a:rPr>
              <a:t>It was pegged to the value of a “basket” containing financial instruments denominated in many different currencies.</a:t>
            </a:r>
          </a:p>
          <a:p>
            <a:pPr fontAlgn="base"/>
            <a:r>
              <a:rPr lang="en-US" dirty="0">
                <a:latin typeface="National semibold" panose="02000503000000020004"/>
              </a:rPr>
              <a:t>The libra project received objections from regulators in Europe, China, the US, and other countries with concerns about money laundering, customer protections, and the credibility of a tech company like Facebook to manage the massive financial-based undertaking. </a:t>
            </a:r>
            <a:endParaRPr lang="en-US" sz="1900" dirty="0">
              <a:latin typeface="National semibold" panose="02000503000000020004"/>
            </a:endParaRPr>
          </a:p>
          <a:p>
            <a:pPr lvl="1" fontAlgn="base"/>
            <a:endParaRPr lang="en-US" sz="1900" dirty="0">
              <a:latin typeface="National semibold" panose="02000503000000020004"/>
            </a:endParaRPr>
          </a:p>
        </p:txBody>
      </p:sp>
    </p:spTree>
    <p:extLst>
      <p:ext uri="{BB962C8B-B14F-4D97-AF65-F5344CB8AC3E}">
        <p14:creationId xmlns:p14="http://schemas.microsoft.com/office/powerpoint/2010/main" val="3653823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24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674812" y="381000"/>
            <a:ext cx="9677400" cy="1219200"/>
          </a:xfrm>
        </p:spPr>
        <p:txBody>
          <a:bodyPr anchor="ctr"/>
          <a:lstStyle/>
          <a:p>
            <a:r>
              <a:rPr lang="en-US" altLang="en-US" b="1" dirty="0">
                <a:latin typeface="National semibold"/>
              </a:rPr>
              <a:t>Case study: libra (continue)</a:t>
            </a:r>
          </a:p>
        </p:txBody>
      </p:sp>
      <p:sp>
        <p:nvSpPr>
          <p:cNvPr id="10243" name="Rectangle 3"/>
          <p:cNvSpPr>
            <a:spLocks noGrp="1" noChangeArrowheads="1"/>
          </p:cNvSpPr>
          <p:nvPr>
            <p:ph type="body" idx="4294967295"/>
          </p:nvPr>
        </p:nvSpPr>
        <p:spPr>
          <a:xfrm>
            <a:off x="1751012" y="2001985"/>
            <a:ext cx="9536219" cy="4433454"/>
          </a:xfrm>
        </p:spPr>
        <p:txBody>
          <a:bodyPr>
            <a:normAutofit fontScale="92500" lnSpcReduction="10000"/>
          </a:bodyPr>
          <a:lstStyle/>
          <a:p>
            <a:pPr fontAlgn="base"/>
            <a:r>
              <a:rPr lang="en-US" sz="2300" dirty="0">
                <a:latin typeface="National semibold" panose="02000503000000020004"/>
              </a:rPr>
              <a:t>The value of the libra would fluctuate as the values of the underlying assets backing the libra fluctuate. This creates many problems. Example:</a:t>
            </a:r>
          </a:p>
          <a:p>
            <a:pPr lvl="1" fontAlgn="base"/>
            <a:r>
              <a:rPr lang="en-US" sz="1900" dirty="0">
                <a:latin typeface="National semibold" panose="02000503000000020004"/>
              </a:rPr>
              <a:t>I buy 100 libra today for $120</a:t>
            </a:r>
          </a:p>
          <a:p>
            <a:pPr lvl="1" fontAlgn="base"/>
            <a:r>
              <a:rPr lang="en-US" sz="1900" dirty="0">
                <a:latin typeface="National semibold" panose="02000503000000020004"/>
              </a:rPr>
              <a:t>Four days later I use the 100 libra to pay a meal in a restaurant. However, at that point the value has increased to $130.</a:t>
            </a:r>
          </a:p>
          <a:p>
            <a:pPr lvl="1" fontAlgn="base"/>
            <a:r>
              <a:rPr lang="en-US" sz="1900" dirty="0">
                <a:latin typeface="National semibold" panose="02000503000000020004"/>
              </a:rPr>
              <a:t>For the tax authority I made a profit of $10 which should be taxed.</a:t>
            </a:r>
          </a:p>
          <a:p>
            <a:pPr lvl="1" fontAlgn="base"/>
            <a:r>
              <a:rPr lang="en-US" sz="1900" dirty="0">
                <a:latin typeface="National semibold" panose="02000503000000020004"/>
              </a:rPr>
              <a:t>This is not different from other securities like the purchase of Amazon shares. However, it creates an accounting, reporting, and tax nightmare for anyone who touches it.   </a:t>
            </a:r>
          </a:p>
          <a:p>
            <a:pPr fontAlgn="base"/>
            <a:r>
              <a:rPr lang="en-US" sz="2300" dirty="0">
                <a:latin typeface="National semibold" panose="02000503000000020004"/>
              </a:rPr>
              <a:t>Another problem is that, by maintaining a pool of various assets to sustain the value of the libra, Facebook would effectively run a money market fund. Money market funds are subject to several regulations and compliance. </a:t>
            </a:r>
          </a:p>
          <a:p>
            <a:pPr fontAlgn="base"/>
            <a:r>
              <a:rPr lang="en-US" sz="2300" dirty="0">
                <a:latin typeface="National semibold" panose="02000503000000020004"/>
              </a:rPr>
              <a:t>Also, what would happen in the eventuality of a market panic when the funds cannot meet redemption requests? Some government agency must step in, and the taxpayer would ultimately pay the cost.   </a:t>
            </a:r>
          </a:p>
        </p:txBody>
      </p:sp>
    </p:spTree>
    <p:extLst>
      <p:ext uri="{BB962C8B-B14F-4D97-AF65-F5344CB8AC3E}">
        <p14:creationId xmlns:p14="http://schemas.microsoft.com/office/powerpoint/2010/main" val="2397880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4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24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24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674812" y="381000"/>
            <a:ext cx="9677400" cy="1219200"/>
          </a:xfrm>
        </p:spPr>
        <p:txBody>
          <a:bodyPr anchor="ctr"/>
          <a:lstStyle/>
          <a:p>
            <a:r>
              <a:rPr lang="en-US" altLang="en-US" b="1" dirty="0">
                <a:latin typeface="National semibold"/>
              </a:rPr>
              <a:t>Asset-Backet Tokens</a:t>
            </a:r>
          </a:p>
        </p:txBody>
      </p:sp>
      <p:sp>
        <p:nvSpPr>
          <p:cNvPr id="10243" name="Rectangle 3"/>
          <p:cNvSpPr>
            <a:spLocks noGrp="1" noChangeArrowheads="1"/>
          </p:cNvSpPr>
          <p:nvPr>
            <p:ph type="body" idx="4294967295"/>
          </p:nvPr>
        </p:nvSpPr>
        <p:spPr>
          <a:xfrm>
            <a:off x="1751012" y="2001985"/>
            <a:ext cx="9536219" cy="4433454"/>
          </a:xfrm>
        </p:spPr>
        <p:txBody>
          <a:bodyPr>
            <a:normAutofit/>
          </a:bodyPr>
          <a:lstStyle/>
          <a:p>
            <a:pPr fontAlgn="base"/>
            <a:r>
              <a:rPr lang="en-US" sz="2300" dirty="0">
                <a:latin typeface="National semibold" panose="02000503000000020004"/>
              </a:rPr>
              <a:t>Constitute the economic rights to real-world assets like commodities, art, real estate, or infrastructure projects.</a:t>
            </a:r>
          </a:p>
          <a:p>
            <a:pPr fontAlgn="base"/>
            <a:r>
              <a:rPr lang="en-US" sz="2300" dirty="0">
                <a:latin typeface="National semibold" panose="02000503000000020004"/>
              </a:rPr>
              <a:t>The assets that are underlying the token are held in the form of a trust, by a custodian or by the entity promoting the token.</a:t>
            </a:r>
          </a:p>
          <a:p>
            <a:pPr marL="0" indent="0" fontAlgn="base">
              <a:buNone/>
            </a:pPr>
            <a:endParaRPr lang="en-US" sz="2300" dirty="0">
              <a:latin typeface="National semibold" panose="02000503000000020004"/>
            </a:endParaRPr>
          </a:p>
        </p:txBody>
      </p:sp>
    </p:spTree>
    <p:extLst>
      <p:ext uri="{BB962C8B-B14F-4D97-AF65-F5344CB8AC3E}">
        <p14:creationId xmlns:p14="http://schemas.microsoft.com/office/powerpoint/2010/main" val="3568531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674812" y="381000"/>
            <a:ext cx="9677400" cy="1219200"/>
          </a:xfrm>
        </p:spPr>
        <p:txBody>
          <a:bodyPr anchor="ctr"/>
          <a:lstStyle/>
          <a:p>
            <a:r>
              <a:rPr lang="en-US" altLang="en-US" b="1" dirty="0">
                <a:latin typeface="National semibold"/>
              </a:rPr>
              <a:t>Fixed Income, Equity, and Funds Tokens</a:t>
            </a:r>
          </a:p>
        </p:txBody>
      </p:sp>
      <p:sp>
        <p:nvSpPr>
          <p:cNvPr id="10243" name="Rectangle 3"/>
          <p:cNvSpPr>
            <a:spLocks noGrp="1" noChangeArrowheads="1"/>
          </p:cNvSpPr>
          <p:nvPr>
            <p:ph type="body" idx="4294967295"/>
          </p:nvPr>
        </p:nvSpPr>
        <p:spPr>
          <a:xfrm>
            <a:off x="1751012" y="2001985"/>
            <a:ext cx="9536219" cy="4433454"/>
          </a:xfrm>
        </p:spPr>
        <p:txBody>
          <a:bodyPr>
            <a:normAutofit/>
          </a:bodyPr>
          <a:lstStyle/>
          <a:p>
            <a:pPr fontAlgn="base"/>
            <a:r>
              <a:rPr lang="en-US" sz="2300" u="sng" dirty="0">
                <a:latin typeface="National semibold" panose="02000503000000020004"/>
              </a:rPr>
              <a:t>Bond-Like Tokens</a:t>
            </a:r>
            <a:r>
              <a:rPr lang="en-US" sz="2300" dirty="0">
                <a:latin typeface="National semibold" panose="02000503000000020004"/>
              </a:rPr>
              <a:t>: They are backed by debt instruments and constitute a claim on its income streams and principal payments. They are relatively easy to automate with the use of smart contracts. </a:t>
            </a:r>
          </a:p>
          <a:p>
            <a:pPr fontAlgn="base"/>
            <a:r>
              <a:rPr lang="en-US" sz="2300" u="sng" dirty="0">
                <a:latin typeface="National semibold" panose="02000503000000020004"/>
              </a:rPr>
              <a:t>Share-Like Tokens</a:t>
            </a:r>
            <a:r>
              <a:rPr lang="en-US" sz="2300" dirty="0">
                <a:latin typeface="National semibold" panose="02000503000000020004"/>
              </a:rPr>
              <a:t>: They provide ownership-like features that grant stakes in entities like a corporation or limited partnership. They can offer dividends, profit shares, or other interests in the entity. They also enable the holders to voting rights and other privileges.</a:t>
            </a:r>
          </a:p>
          <a:p>
            <a:pPr fontAlgn="base"/>
            <a:r>
              <a:rPr lang="en-US" sz="2300" u="sng" dirty="0">
                <a:latin typeface="National semibold" panose="02000503000000020004"/>
              </a:rPr>
              <a:t>Project-Funding Tokens</a:t>
            </a:r>
            <a:r>
              <a:rPr lang="en-US" sz="2300" dirty="0">
                <a:latin typeface="National semibold" panose="02000503000000020004"/>
              </a:rPr>
              <a:t>: Designed to fund a particular project or investment. The payout could depend on the performance of the project or investment. </a:t>
            </a:r>
          </a:p>
        </p:txBody>
      </p:sp>
    </p:spTree>
    <p:extLst>
      <p:ext uri="{BB962C8B-B14F-4D97-AF65-F5344CB8AC3E}">
        <p14:creationId xmlns:p14="http://schemas.microsoft.com/office/powerpoint/2010/main" val="1693579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D44EF-8293-0D2C-978E-691AB9DB2EBC}"/>
              </a:ext>
            </a:extLst>
          </p:cNvPr>
          <p:cNvSpPr>
            <a:spLocks noGrp="1"/>
          </p:cNvSpPr>
          <p:nvPr>
            <p:ph type="title"/>
          </p:nvPr>
        </p:nvSpPr>
        <p:spPr>
          <a:xfrm>
            <a:off x="1143128" y="2708345"/>
            <a:ext cx="9829799" cy="1219200"/>
          </a:xfrm>
        </p:spPr>
        <p:txBody>
          <a:bodyPr anchor="ctr">
            <a:normAutofit/>
          </a:bodyPr>
          <a:lstStyle/>
          <a:p>
            <a:pPr algn="ctr"/>
            <a:r>
              <a:rPr lang="en-US" sz="5400" b="1" dirty="0">
                <a:latin typeface="National semibold" panose="02000503000000020004"/>
              </a:rPr>
              <a:t>National digital currency</a:t>
            </a:r>
          </a:p>
        </p:txBody>
      </p:sp>
    </p:spTree>
    <p:extLst>
      <p:ext uri="{BB962C8B-B14F-4D97-AF65-F5344CB8AC3E}">
        <p14:creationId xmlns:p14="http://schemas.microsoft.com/office/powerpoint/2010/main" val="272820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674812" y="381000"/>
            <a:ext cx="9677400" cy="1219200"/>
          </a:xfrm>
        </p:spPr>
        <p:txBody>
          <a:bodyPr anchor="ctr"/>
          <a:lstStyle/>
          <a:p>
            <a:r>
              <a:rPr lang="en-US" altLang="en-US" b="1" dirty="0">
                <a:latin typeface="National semibold"/>
              </a:rPr>
              <a:t>What is a national digital currency?</a:t>
            </a:r>
          </a:p>
        </p:txBody>
      </p:sp>
      <p:sp>
        <p:nvSpPr>
          <p:cNvPr id="10243" name="Rectangle 3"/>
          <p:cNvSpPr>
            <a:spLocks noGrp="1" noChangeArrowheads="1"/>
          </p:cNvSpPr>
          <p:nvPr>
            <p:ph type="body" idx="4294967295"/>
          </p:nvPr>
        </p:nvSpPr>
        <p:spPr>
          <a:xfrm>
            <a:off x="1751012" y="2001985"/>
            <a:ext cx="8938759" cy="4433454"/>
          </a:xfrm>
        </p:spPr>
        <p:txBody>
          <a:bodyPr>
            <a:normAutofit/>
          </a:bodyPr>
          <a:lstStyle/>
          <a:p>
            <a:pPr fontAlgn="base"/>
            <a:r>
              <a:rPr lang="en-US" sz="2300" dirty="0">
                <a:latin typeface="National semibold" panose="02000503000000020004"/>
              </a:rPr>
              <a:t>It is a currency that exists in digital form, created and controlled by a nation.</a:t>
            </a:r>
          </a:p>
          <a:p>
            <a:pPr fontAlgn="base"/>
            <a:endParaRPr lang="en-US" sz="2300" dirty="0">
              <a:latin typeface="National semibold" panose="02000503000000020004"/>
            </a:endParaRPr>
          </a:p>
          <a:p>
            <a:pPr fontAlgn="base"/>
            <a:r>
              <a:rPr lang="en-US" sz="2300" dirty="0">
                <a:latin typeface="National semibold" panose="02000503000000020004"/>
              </a:rPr>
              <a:t>The main difference with cryptocurrencies is that the system is not decentralized. It is managed and controlled by the national authority (central bank).</a:t>
            </a:r>
          </a:p>
          <a:p>
            <a:pPr fontAlgn="base"/>
            <a:endParaRPr lang="en-US" sz="2300" dirty="0">
              <a:latin typeface="National semibold" panose="02000503000000020004"/>
            </a:endParaRPr>
          </a:p>
          <a:p>
            <a:pPr fontAlgn="base"/>
            <a:r>
              <a:rPr lang="en-US" sz="2300" dirty="0">
                <a:latin typeface="National semibold" panose="02000503000000020004"/>
              </a:rPr>
              <a:t>National digital currencies is the response of governments to the competition from cryptocurrencies.</a:t>
            </a:r>
          </a:p>
          <a:p>
            <a:pPr marL="0" indent="0" fontAlgn="base">
              <a:buNone/>
            </a:pPr>
            <a:r>
              <a:rPr lang="en-US" sz="2300" dirty="0">
                <a:latin typeface="National semibold" panose="02000503000000020004"/>
              </a:rPr>
              <a:t> </a:t>
            </a:r>
          </a:p>
        </p:txBody>
      </p:sp>
    </p:spTree>
    <p:extLst>
      <p:ext uri="{BB962C8B-B14F-4D97-AF65-F5344CB8AC3E}">
        <p14:creationId xmlns:p14="http://schemas.microsoft.com/office/powerpoint/2010/main" val="1696384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uiExpand="1" build="p"/>
    </p:bldLst>
  </p:timing>
</p:sld>
</file>

<file path=ppt/tags/tag1.xml><?xml version="1.0" encoding="utf-8"?>
<p:tagLst xmlns:a="http://schemas.openxmlformats.org/drawingml/2006/main" xmlns:r="http://schemas.openxmlformats.org/officeDocument/2006/relationships" xmlns:p="http://schemas.openxmlformats.org/presentationml/2006/main">
  <p:tag name="ARTICULATE_PRESENTER_VERSION" val="6"/>
  <p:tag name="ARTICULATE_PROJECT_OPEN" val="0"/>
</p:tagLst>
</file>

<file path=ppt/theme/theme1.xml><?xml version="1.0" encoding="utf-8"?>
<a:theme xmlns:a="http://schemas.openxmlformats.org/drawingml/2006/main" name="Currency Symbols 16x9">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rrency symbols presentation (widescreen).potx" id="{0BEEB329-2C4D-4D02-9858-CA91ACE92AB1}" vid="{944DA297-E844-470D-A85C-00068074ACC2}"/>
    </a:ext>
  </a:extLst>
</a:theme>
</file>

<file path=ppt/theme/theme2.xml><?xml version="1.0" encoding="utf-8"?>
<a:theme xmlns:a="http://schemas.openxmlformats.org/drawingml/2006/main" name="Office Theme">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Currency symbols presentation (widescreen)</Template>
  <TotalTime>3944</TotalTime>
  <Words>2264</Words>
  <Application>Microsoft Office PowerPoint</Application>
  <PresentationFormat>Custom</PresentationFormat>
  <Paragraphs>305</Paragraphs>
  <Slides>59</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59</vt:i4>
      </vt:variant>
    </vt:vector>
  </HeadingPairs>
  <TitlesOfParts>
    <vt:vector size="67" baseType="lpstr">
      <vt:lpstr>National</vt:lpstr>
      <vt:lpstr>National Semibold</vt:lpstr>
      <vt:lpstr>National Semibold</vt:lpstr>
      <vt:lpstr>Arial</vt:lpstr>
      <vt:lpstr>Cambria</vt:lpstr>
      <vt:lpstr>Cambria Math</vt:lpstr>
      <vt:lpstr>Times New Roman</vt:lpstr>
      <vt:lpstr>Currency Symbols 16x9</vt:lpstr>
      <vt:lpstr>Introduction to  Decentralized Finance  </vt:lpstr>
      <vt:lpstr>What is a digital token?</vt:lpstr>
      <vt:lpstr>Tokenization</vt:lpstr>
      <vt:lpstr>Payment tokens</vt:lpstr>
      <vt:lpstr>What is money?</vt:lpstr>
      <vt:lpstr>What are the functions of money?</vt:lpstr>
      <vt:lpstr>What are the functions of money?</vt:lpstr>
      <vt:lpstr>What are the functions of money?</vt:lpstr>
      <vt:lpstr>The market for “traditional” money</vt:lpstr>
      <vt:lpstr>PowerPoint Presentation</vt:lpstr>
      <vt:lpstr>Money growth and inflation</vt:lpstr>
      <vt:lpstr>Same principle applies to payment tokens</vt:lpstr>
      <vt:lpstr>Problem:  The value of cryptocurrencies is too volatile</vt:lpstr>
      <vt:lpstr>What are stablecoins?</vt:lpstr>
      <vt:lpstr>How do stablecoins work? An example</vt:lpstr>
      <vt:lpstr>Balance sheet of affiliated financial institution</vt:lpstr>
      <vt:lpstr>What guarantees that the price remains 1? Arbitrage</vt:lpstr>
      <vt:lpstr>PowerPoint Presentation</vt:lpstr>
      <vt:lpstr>But the backing asset does not have to be the dollar</vt:lpstr>
      <vt:lpstr>Stablecoins mechanism is similar to fixed exchange rate for a national currency</vt:lpstr>
      <vt:lpstr>Foreign exchange market</vt:lpstr>
      <vt:lpstr>Example: US Dollars and British Pounds</vt:lpstr>
      <vt:lpstr>How does the foreign exchange market work?</vt:lpstr>
      <vt:lpstr>Demand for British Pounds, £</vt:lpstr>
      <vt:lpstr>Demand for Pounds (£) in exchange of Dollars ($)</vt:lpstr>
      <vt:lpstr>Supply of British Pounds, £</vt:lpstr>
      <vt:lpstr>Supply of Pounds (£) in exchange of Dollars ($)</vt:lpstr>
      <vt:lpstr>Demand and supply together</vt:lpstr>
      <vt:lpstr>Increase in the demand of Pounds</vt:lpstr>
      <vt:lpstr>Increase in the supply of Pounds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Stablecoins</vt:lpstr>
      <vt:lpstr>PowerPoint Presentation</vt:lpstr>
      <vt:lpstr>PowerPoint Presentation</vt:lpstr>
      <vt:lpstr>PowerPoint Presentation</vt:lpstr>
      <vt:lpstr>PowerPoint Presentation</vt:lpstr>
      <vt:lpstr>PowerPoint Presentation</vt:lpstr>
      <vt:lpstr>GENIUS Act Guiding and Establishing National Innovation for US Stablecoins</vt:lpstr>
      <vt:lpstr>Hong Kong Stablecoins Regulation</vt:lpstr>
      <vt:lpstr>Circle Internet Group</vt:lpstr>
      <vt:lpstr>PowerPoint Presentation</vt:lpstr>
      <vt:lpstr>PowerPoint Presentation</vt:lpstr>
      <vt:lpstr>PowerPoint Presentation</vt:lpstr>
      <vt:lpstr>PowerPoint Presentation</vt:lpstr>
      <vt:lpstr>PowerPoint Presentation</vt:lpstr>
      <vt:lpstr>PowerPoint Presentation</vt:lpstr>
      <vt:lpstr>Case study: libra</vt:lpstr>
      <vt:lpstr>Case study: libra (continue)</vt:lpstr>
      <vt:lpstr>Asset-Backet Tokens</vt:lpstr>
      <vt:lpstr>Fixed Income, Equity, and Funds Tokens</vt:lpstr>
      <vt:lpstr>National digital currency</vt:lpstr>
      <vt:lpstr>What is a national digital currency?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Vincenzo Quadrini</dc:creator>
  <cp:lastModifiedBy>Quadrini, Vincenzo</cp:lastModifiedBy>
  <cp:revision>22</cp:revision>
  <dcterms:created xsi:type="dcterms:W3CDTF">2020-10-28T19:26:18Z</dcterms:created>
  <dcterms:modified xsi:type="dcterms:W3CDTF">2026-05-11T04:27:24Z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