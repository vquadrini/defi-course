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417" r:id="rId2"/>
    <p:sldId id="629" r:id="rId3"/>
    <p:sldId id="630" r:id="rId4"/>
    <p:sldId id="632" r:id="rId5"/>
    <p:sldId id="633" r:id="rId6"/>
    <p:sldId id="634" r:id="rId7"/>
    <p:sldId id="635" r:id="rId8"/>
    <p:sldId id="277" r:id="rId9"/>
    <p:sldId id="278" r:id="rId10"/>
    <p:sldId id="279" r:id="rId11"/>
    <p:sldId id="280" r:id="rId12"/>
    <p:sldId id="281" r:id="rId13"/>
    <p:sldId id="282" r:id="rId14"/>
    <p:sldId id="285" r:id="rId15"/>
    <p:sldId id="286" r:id="rId16"/>
    <p:sldId id="637" r:id="rId17"/>
    <p:sldId id="287" r:id="rId18"/>
    <p:sldId id="639" r:id="rId19"/>
    <p:sldId id="640" r:id="rId20"/>
    <p:sldId id="641" r:id="rId21"/>
    <p:sldId id="642" r:id="rId22"/>
  </p:sldIdLst>
  <p:sldSz cx="12188825"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A7CB37-BEAF-4572-BADB-8DB36472E5F4}" v="5" dt="2026-05-15T01:35:57.108"/>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custSel delSld modSld">
      <pc:chgData name="Quadrini, Vincenzo" userId="f61352d9-9198-4695-abd8-70fd6e64330a" providerId="ADAL" clId="{888D66D8-61BD-4B74-94E0-0078727E2FCE}" dt="2026-05-15T01:37:08.860" v="12" actId="47"/>
      <pc:docMkLst>
        <pc:docMk/>
      </pc:docMkLst>
      <pc:sldChg chg="del">
        <pc:chgData name="Quadrini, Vincenzo" userId="f61352d9-9198-4695-abd8-70fd6e64330a" providerId="ADAL" clId="{888D66D8-61BD-4B74-94E0-0078727E2FCE}" dt="2026-05-15T01:37:05.728" v="10" actId="47"/>
        <pc:sldMkLst>
          <pc:docMk/>
          <pc:sldMk cId="3091415988" sldId="288"/>
        </pc:sldMkLst>
      </pc:sldChg>
      <pc:sldChg chg="del">
        <pc:chgData name="Quadrini, Vincenzo" userId="f61352d9-9198-4695-abd8-70fd6e64330a" providerId="ADAL" clId="{888D66D8-61BD-4B74-94E0-0078727E2FCE}" dt="2026-05-15T01:37:07.366" v="11" actId="47"/>
        <pc:sldMkLst>
          <pc:docMk/>
          <pc:sldMk cId="4220680313" sldId="289"/>
        </pc:sldMkLst>
      </pc:sldChg>
      <pc:sldChg chg="addSp delSp modSp mod">
        <pc:chgData name="Quadrini, Vincenzo" userId="f61352d9-9198-4695-abd8-70fd6e64330a" providerId="ADAL" clId="{888D66D8-61BD-4B74-94E0-0078727E2FCE}" dt="2026-05-15T01:32:55.964" v="3" actId="2711"/>
        <pc:sldMkLst>
          <pc:docMk/>
          <pc:sldMk cId="935251751" sldId="417"/>
        </pc:sldMkLst>
        <pc:spChg chg="del">
          <ac:chgData name="Quadrini, Vincenzo" userId="f61352d9-9198-4695-abd8-70fd6e64330a" providerId="ADAL" clId="{888D66D8-61BD-4B74-94E0-0078727E2FCE}" dt="2026-05-15T01:32:38.525" v="0" actId="478"/>
          <ac:spMkLst>
            <pc:docMk/>
            <pc:sldMk cId="935251751" sldId="417"/>
            <ac:spMk id="2" creationId="{00000000-0000-0000-0000-000000000000}"/>
          </ac:spMkLst>
        </pc:spChg>
        <pc:spChg chg="mod">
          <ac:chgData name="Quadrini, Vincenzo" userId="f61352d9-9198-4695-abd8-70fd6e64330a" providerId="ADAL" clId="{888D66D8-61BD-4B74-94E0-0078727E2FCE}" dt="2026-05-15T01:32:55.964" v="3" actId="2711"/>
          <ac:spMkLst>
            <pc:docMk/>
            <pc:sldMk cId="935251751" sldId="417"/>
            <ac:spMk id="3" creationId="{00000000-0000-0000-0000-000000000000}"/>
          </ac:spMkLst>
        </pc:spChg>
        <pc:spChg chg="add del mod">
          <ac:chgData name="Quadrini, Vincenzo" userId="f61352d9-9198-4695-abd8-70fd6e64330a" providerId="ADAL" clId="{888D66D8-61BD-4B74-94E0-0078727E2FCE}" dt="2026-05-15T01:32:40.730" v="1" actId="478"/>
          <ac:spMkLst>
            <pc:docMk/>
            <pc:sldMk cId="935251751" sldId="417"/>
            <ac:spMk id="5" creationId="{B6CD5F1D-67F0-46DD-02F1-D87BFFCF70DA}"/>
          </ac:spMkLst>
        </pc:spChg>
        <pc:spChg chg="add mod">
          <ac:chgData name="Quadrini, Vincenzo" userId="f61352d9-9198-4695-abd8-70fd6e64330a" providerId="ADAL" clId="{888D66D8-61BD-4B74-94E0-0078727E2FCE}" dt="2026-05-15T01:32:41.597" v="2"/>
          <ac:spMkLst>
            <pc:docMk/>
            <pc:sldMk cId="935251751" sldId="417"/>
            <ac:spMk id="6" creationId="{6A65E208-D661-253D-60BE-E8577DBC18F3}"/>
          </ac:spMkLst>
        </pc:spChg>
      </pc:sldChg>
      <pc:sldChg chg="modSp modAnim">
        <pc:chgData name="Quadrini, Vincenzo" userId="f61352d9-9198-4695-abd8-70fd6e64330a" providerId="ADAL" clId="{888D66D8-61BD-4B74-94E0-0078727E2FCE}" dt="2026-05-15T01:35:57.108" v="7" actId="20577"/>
        <pc:sldMkLst>
          <pc:docMk/>
          <pc:sldMk cId="3947391121" sldId="632"/>
        </pc:sldMkLst>
        <pc:spChg chg="mod">
          <ac:chgData name="Quadrini, Vincenzo" userId="f61352d9-9198-4695-abd8-70fd6e64330a" providerId="ADAL" clId="{888D66D8-61BD-4B74-94E0-0078727E2FCE}" dt="2026-05-15T01:35:57.108" v="7" actId="20577"/>
          <ac:spMkLst>
            <pc:docMk/>
            <pc:sldMk cId="3947391121" sldId="632"/>
            <ac:spMk id="3" creationId="{09A2F897-2643-4490-93FF-4FF458F15722}"/>
          </ac:spMkLst>
        </pc:spChg>
      </pc:sldChg>
      <pc:sldChg chg="del">
        <pc:chgData name="Quadrini, Vincenzo" userId="f61352d9-9198-4695-abd8-70fd6e64330a" providerId="ADAL" clId="{888D66D8-61BD-4B74-94E0-0078727E2FCE}" dt="2026-05-15T01:37:08.860" v="12" actId="47"/>
        <pc:sldMkLst>
          <pc:docMk/>
          <pc:sldMk cId="802862311" sldId="638"/>
        </pc:sldMkLst>
      </pc:sldChg>
      <pc:sldChg chg="del">
        <pc:chgData name="Quadrini, Vincenzo" userId="f61352d9-9198-4695-abd8-70fd6e64330a" providerId="ADAL" clId="{888D66D8-61BD-4B74-94E0-0078727E2FCE}" dt="2026-05-15T01:36:09.107" v="8" actId="47"/>
        <pc:sldMkLst>
          <pc:docMk/>
          <pc:sldMk cId="3106840195" sldId="643"/>
        </pc:sldMkLst>
      </pc:sldChg>
      <pc:sldChg chg="del">
        <pc:chgData name="Quadrini, Vincenzo" userId="f61352d9-9198-4695-abd8-70fd6e64330a" providerId="ADAL" clId="{888D66D8-61BD-4B74-94E0-0078727E2FCE}" dt="2026-05-15T01:36:14.061" v="9" actId="47"/>
        <pc:sldMkLst>
          <pc:docMk/>
          <pc:sldMk cId="427301254" sldId="6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5/14/2026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5/14/2026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5/14/2026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5/14/2026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5/14/2026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5/14/2026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5/14/2026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z="3200" dirty="0">
                <a:latin typeface="National semibold" panose="02000503000000020004"/>
              </a:rPr>
              <a:t>Programming in Python</a:t>
            </a:r>
          </a:p>
        </p:txBody>
      </p:sp>
      <p:sp>
        <p:nvSpPr>
          <p:cNvPr id="6" name="Title 1">
            <a:extLst>
              <a:ext uri="{FF2B5EF4-FFF2-40B4-BE49-F238E27FC236}">
                <a16:creationId xmlns:a16="http://schemas.microsoft.com/office/drawing/2014/main" id="{6A65E208-D661-253D-60BE-E8577DBC18F3}"/>
              </a:ext>
            </a:extLst>
          </p:cNvPr>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Why Python?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Python is a very popular programming language in the finance industry.</a:t>
            </a:r>
          </a:p>
          <a:p>
            <a:r>
              <a:rPr lang="en-US" dirty="0">
                <a:latin typeface="National semibold" panose="02000503000000020004"/>
              </a:rPr>
              <a:t>It is probably the most popular in FinTech.</a:t>
            </a:r>
          </a:p>
        </p:txBody>
      </p:sp>
      <p:pic>
        <p:nvPicPr>
          <p:cNvPr id="1028" name="Picture 4">
            <a:extLst>
              <a:ext uri="{FF2B5EF4-FFF2-40B4-BE49-F238E27FC236}">
                <a16:creationId xmlns:a16="http://schemas.microsoft.com/office/drawing/2014/main" id="{1DBD0D8B-F1D7-B51A-CBD9-83DD01ABA2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58" b="16830"/>
          <a:stretch/>
        </p:blipFill>
        <p:spPr bwMode="auto">
          <a:xfrm>
            <a:off x="2256522" y="2785732"/>
            <a:ext cx="7876763" cy="4026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39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Why is Python popular?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lnSpcReduction="10000"/>
          </a:bodyPr>
          <a:lstStyle/>
          <a:p>
            <a:r>
              <a:rPr lang="en-US" dirty="0">
                <a:latin typeface="National semibold" panose="02000503000000020004"/>
              </a:rPr>
              <a:t>Ease of use for beginners</a:t>
            </a:r>
          </a:p>
          <a:p>
            <a:r>
              <a:rPr lang="en-US" dirty="0">
                <a:latin typeface="National semibold" panose="02000503000000020004"/>
              </a:rPr>
              <a:t>Quick application development time</a:t>
            </a:r>
          </a:p>
          <a:p>
            <a:r>
              <a:rPr lang="en-US" dirty="0">
                <a:latin typeface="National semibold" panose="02000503000000020004"/>
              </a:rPr>
              <a:t>Plenty of online learning resources</a:t>
            </a:r>
          </a:p>
          <a:p>
            <a:r>
              <a:rPr lang="en-US" dirty="0">
                <a:latin typeface="National semibold" panose="02000503000000020004"/>
              </a:rPr>
              <a:t>Extensive data visualization support</a:t>
            </a:r>
          </a:p>
          <a:p>
            <a:r>
              <a:rPr lang="en-US" dirty="0">
                <a:latin typeface="National semibold" panose="02000503000000020004"/>
              </a:rPr>
              <a:t>Open-source libraries</a:t>
            </a:r>
          </a:p>
          <a:p>
            <a:r>
              <a:rPr lang="en-US" dirty="0">
                <a:latin typeface="National semibold" panose="02000503000000020004"/>
              </a:rPr>
              <a:t>Python is being used by leading companies in a variety of fintech fields. </a:t>
            </a:r>
          </a:p>
          <a:p>
            <a:pPr lvl="1"/>
            <a:r>
              <a:rPr lang="en-US" dirty="0">
                <a:latin typeface="National semibold" panose="02000503000000020004"/>
              </a:rPr>
              <a:t>For example, Bank of America’s Quartz and J.P. Morgan’s Athena platforms both use Python. Big companies like Google, Facebook, Instagram, and Spotify also use Python in their development. Many other companies like Citigroup require their data analysts to master Python and take training classes for the language. Some companies ask about knowledge of Python during interviews.</a:t>
            </a:r>
          </a:p>
        </p:txBody>
      </p:sp>
    </p:spTree>
    <p:extLst>
      <p:ext uri="{BB962C8B-B14F-4D97-AF65-F5344CB8AC3E}">
        <p14:creationId xmlns:p14="http://schemas.microsoft.com/office/powerpoint/2010/main" val="501838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COLAB</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262311" cy="4648200"/>
          </a:xfrm>
        </p:spPr>
        <p:txBody>
          <a:bodyPr>
            <a:normAutofit/>
          </a:bodyPr>
          <a:lstStyle/>
          <a:p>
            <a:r>
              <a:rPr lang="en-US" sz="2000" dirty="0">
                <a:latin typeface="National semibold" panose="02000503000000020004"/>
              </a:rPr>
              <a:t>We will use Google COLAB to create and run Python codes </a:t>
            </a:r>
          </a:p>
          <a:p>
            <a:endParaRPr lang="en-US" sz="2000" dirty="0">
              <a:latin typeface="National semibold" panose="02000503000000020004"/>
            </a:endParaRPr>
          </a:p>
          <a:p>
            <a:r>
              <a:rPr lang="en-US" sz="2000" dirty="0">
                <a:latin typeface="National semibold" panose="02000503000000020004"/>
              </a:rPr>
              <a:t>To start, open your browser and type “https://colab.research.google.com/”</a:t>
            </a:r>
          </a:p>
          <a:p>
            <a:endParaRPr lang="en-US" sz="2000" dirty="0">
              <a:latin typeface="National semibold" panose="02000503000000020004"/>
            </a:endParaRPr>
          </a:p>
          <a:p>
            <a:r>
              <a:rPr lang="en-US" sz="2000" dirty="0">
                <a:latin typeface="National semibold" panose="02000503000000020004"/>
              </a:rPr>
              <a:t>Then click on “New Notebook”</a:t>
            </a:r>
          </a:p>
          <a:p>
            <a:endParaRPr lang="en-US" sz="2000" dirty="0">
              <a:latin typeface="National semibold" panose="02000503000000020004"/>
            </a:endParaRPr>
          </a:p>
          <a:p>
            <a:r>
              <a:rPr lang="en-US" sz="2000" dirty="0">
                <a:latin typeface="National semibold" panose="02000503000000020004"/>
              </a:rPr>
              <a:t>This opens a new notebook where we will write and execute Python codes</a:t>
            </a:r>
          </a:p>
        </p:txBody>
      </p:sp>
    </p:spTree>
    <p:extLst>
      <p:ext uri="{BB962C8B-B14F-4D97-AF65-F5344CB8AC3E}">
        <p14:creationId xmlns:p14="http://schemas.microsoft.com/office/powerpoint/2010/main" val="394739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Basic Python platform and Libraries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Basic Python contains commands for elementary operations.</a:t>
            </a:r>
          </a:p>
          <a:p>
            <a:r>
              <a:rPr lang="en-US" dirty="0">
                <a:latin typeface="National semibold" panose="02000503000000020004"/>
              </a:rPr>
              <a:t>The powerful functionality of Python programming language comes from Libraries that are integrated with the Python platform. </a:t>
            </a:r>
          </a:p>
          <a:p>
            <a:r>
              <a:rPr lang="en-US" dirty="0">
                <a:latin typeface="National semibold" panose="02000503000000020004"/>
              </a:rPr>
              <a:t>A library contains advanced operations specialized for a particular task. For example, library ‘Matplotlib’ contains commands to generate graphs.</a:t>
            </a:r>
          </a:p>
          <a:p>
            <a:r>
              <a:rPr lang="en-US" dirty="0">
                <a:latin typeface="National semibold" panose="02000503000000020004"/>
              </a:rPr>
              <a:t>If we want to use a library, we need first to </a:t>
            </a:r>
            <a:r>
              <a:rPr lang="en-US" i="1" dirty="0">
                <a:latin typeface="National semibold" panose="02000503000000020004"/>
              </a:rPr>
              <a:t>install</a:t>
            </a:r>
            <a:r>
              <a:rPr lang="en-US" dirty="0">
                <a:latin typeface="National semibold" panose="02000503000000020004"/>
              </a:rPr>
              <a:t> it in our computer. This needs to be done only once. Then, every time we want to use the library, we just need to </a:t>
            </a:r>
            <a:r>
              <a:rPr lang="en-US" i="1" dirty="0">
                <a:latin typeface="National semibold" panose="02000503000000020004"/>
              </a:rPr>
              <a:t>import</a:t>
            </a:r>
            <a:r>
              <a:rPr lang="en-US" dirty="0">
                <a:latin typeface="National semibold" panose="02000503000000020004"/>
              </a:rPr>
              <a:t> it.</a:t>
            </a:r>
          </a:p>
          <a:p>
            <a:r>
              <a:rPr lang="en-US" dirty="0">
                <a:latin typeface="National semibold" panose="02000503000000020004"/>
              </a:rPr>
              <a:t>In COLAB, many libraries are already installed. However, if we would like to use other libraries that are not automatically installed, we need to install them.</a:t>
            </a:r>
          </a:p>
        </p:txBody>
      </p:sp>
    </p:spTree>
    <p:extLst>
      <p:ext uri="{BB962C8B-B14F-4D97-AF65-F5344CB8AC3E}">
        <p14:creationId xmlns:p14="http://schemas.microsoft.com/office/powerpoint/2010/main" val="269133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How to “install” and the “import” a library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734203"/>
            <a:ext cx="10325598" cy="5044969"/>
          </a:xfrm>
        </p:spPr>
        <p:txBody>
          <a:bodyPr>
            <a:noAutofit/>
          </a:bodyPr>
          <a:lstStyle/>
          <a:p>
            <a:pPr marL="395478" indent="-285750">
              <a:lnSpc>
                <a:spcPct val="100000"/>
              </a:lnSpc>
              <a:spcBef>
                <a:spcPts val="400"/>
              </a:spcBef>
              <a:buClr>
                <a:srgbClr val="2DA2BF"/>
              </a:buClr>
              <a:buSzPct val="100000"/>
            </a:pPr>
            <a:r>
              <a:rPr lang="en-US" sz="2000" dirty="0">
                <a:solidFill>
                  <a:prstClr val="black"/>
                </a:solidFill>
                <a:latin typeface="National semibold" panose="02000503000000020004"/>
              </a:rPr>
              <a:t>Suppose that we would like to install a library called ‘NumPy’. In the command box of COLAB Notebook we type	</a:t>
            </a:r>
          </a:p>
          <a:p>
            <a:pPr marL="109728" indent="0">
              <a:lnSpc>
                <a:spcPct val="100000"/>
              </a:lnSpc>
              <a:spcBef>
                <a:spcPts val="400"/>
              </a:spcBef>
              <a:buClr>
                <a:srgbClr val="2DA2BF"/>
              </a:buClr>
              <a:buSzPct val="68000"/>
              <a:buNone/>
            </a:pPr>
            <a:r>
              <a:rPr lang="en-US" sz="2000" dirty="0">
                <a:solidFill>
                  <a:prstClr val="black"/>
                </a:solidFill>
                <a:latin typeface="National semibold" panose="02000503000000020004"/>
              </a:rPr>
              <a:t>	</a:t>
            </a:r>
            <a:r>
              <a:rPr lang="en-US" sz="2000" i="1" dirty="0">
                <a:solidFill>
                  <a:prstClr val="black"/>
                </a:solidFill>
                <a:latin typeface="National semibold" panose="02000503000000020004"/>
              </a:rPr>
              <a:t>	 	            pip install </a:t>
            </a:r>
            <a:r>
              <a:rPr lang="en-US" sz="2000" i="1" dirty="0" err="1">
                <a:solidFill>
                  <a:prstClr val="black"/>
                </a:solidFill>
                <a:latin typeface="National semibold" panose="02000503000000020004"/>
              </a:rPr>
              <a:t>numpy</a:t>
            </a:r>
            <a:r>
              <a:rPr lang="en-US" sz="2000" i="1" dirty="0">
                <a:solidFill>
                  <a:prstClr val="black"/>
                </a:solidFill>
                <a:latin typeface="National semibold" panose="02000503000000020004"/>
              </a:rPr>
              <a:t>     	   </a:t>
            </a:r>
          </a:p>
          <a:p>
            <a:pPr marL="109728" lvl="0" indent="0">
              <a:lnSpc>
                <a:spcPct val="100000"/>
              </a:lnSpc>
              <a:spcBef>
                <a:spcPts val="400"/>
              </a:spcBef>
              <a:buClr>
                <a:srgbClr val="2DA2BF"/>
              </a:buClr>
              <a:buSzPct val="68000"/>
              <a:buNone/>
            </a:pPr>
            <a:endParaRPr lang="en-US" sz="2000" i="1" dirty="0">
              <a:solidFill>
                <a:prstClr val="black"/>
              </a:solidFill>
              <a:latin typeface="National semibold" panose="02000503000000020004"/>
            </a:endParaRPr>
          </a:p>
          <a:p>
            <a:pPr marL="395478" indent="-285750">
              <a:lnSpc>
                <a:spcPct val="100000"/>
              </a:lnSpc>
              <a:spcBef>
                <a:spcPts val="400"/>
              </a:spcBef>
              <a:buClr>
                <a:srgbClr val="2DA2BF"/>
              </a:buClr>
              <a:buSzPct val="100000"/>
            </a:pPr>
            <a:r>
              <a:rPr lang="en-US" sz="2000" dirty="0">
                <a:solidFill>
                  <a:prstClr val="black"/>
                </a:solidFill>
                <a:latin typeface="National semibold" panose="02000503000000020004"/>
              </a:rPr>
              <a:t>Once installed, to use the library ‘NumPy’ we simply import it in our code with</a:t>
            </a:r>
            <a:endParaRPr lang="en-US" sz="2000" i="1" dirty="0">
              <a:solidFill>
                <a:prstClr val="black"/>
              </a:solidFill>
              <a:latin typeface="National semibold" panose="02000503000000020004"/>
            </a:endParaRPr>
          </a:p>
          <a:p>
            <a:pPr marL="109728" lvl="0" indent="0">
              <a:lnSpc>
                <a:spcPct val="100000"/>
              </a:lnSpc>
              <a:spcBef>
                <a:spcPts val="400"/>
              </a:spcBef>
              <a:buClr>
                <a:srgbClr val="2DA2BF"/>
              </a:buClr>
              <a:buSzPct val="68000"/>
              <a:buNone/>
            </a:pPr>
            <a:r>
              <a:rPr lang="en-US" sz="2000" i="1" dirty="0">
                <a:solidFill>
                  <a:prstClr val="black"/>
                </a:solidFill>
                <a:latin typeface="National semibold" panose="02000503000000020004"/>
              </a:rPr>
              <a:t>			        import </a:t>
            </a:r>
            <a:r>
              <a:rPr lang="en-US" sz="2000" i="1" dirty="0" err="1">
                <a:solidFill>
                  <a:prstClr val="black"/>
                </a:solidFill>
                <a:latin typeface="National semibold" panose="02000503000000020004"/>
              </a:rPr>
              <a:t>numpy</a:t>
            </a:r>
            <a:r>
              <a:rPr lang="en-US" sz="2000" i="1" dirty="0">
                <a:solidFill>
                  <a:prstClr val="black"/>
                </a:solidFill>
                <a:latin typeface="National semibold" panose="02000503000000020004"/>
              </a:rPr>
              <a:t> as np</a:t>
            </a:r>
          </a:p>
          <a:p>
            <a:pPr marL="109728" lvl="0" indent="0">
              <a:lnSpc>
                <a:spcPct val="100000"/>
              </a:lnSpc>
              <a:spcBef>
                <a:spcPts val="400"/>
              </a:spcBef>
              <a:buClr>
                <a:srgbClr val="2DA2BF"/>
              </a:buClr>
              <a:buSzPct val="68000"/>
              <a:buNone/>
            </a:pPr>
            <a:endParaRPr lang="en-US" sz="2000" dirty="0">
              <a:solidFill>
                <a:prstClr val="black"/>
              </a:solidFill>
              <a:latin typeface="National semibold" panose="02000503000000020004"/>
            </a:endParaRPr>
          </a:p>
          <a:p>
            <a:pPr marL="395478" indent="-285750">
              <a:lnSpc>
                <a:spcPct val="100000"/>
              </a:lnSpc>
              <a:spcBef>
                <a:spcPts val="400"/>
              </a:spcBef>
              <a:buClr>
                <a:srgbClr val="2DA2BF"/>
              </a:buClr>
              <a:buSzPct val="100000"/>
            </a:pPr>
            <a:r>
              <a:rPr lang="en-US" sz="2000" dirty="0">
                <a:solidFill>
                  <a:prstClr val="black"/>
                </a:solidFill>
                <a:latin typeface="National semibold" panose="02000503000000020004"/>
              </a:rPr>
              <a:t>The library ‘NumPy’ has many commands we can use in our program. All commands can be called with</a:t>
            </a:r>
          </a:p>
          <a:p>
            <a:pPr marL="109728" lvl="0" indent="0">
              <a:lnSpc>
                <a:spcPct val="100000"/>
              </a:lnSpc>
              <a:spcBef>
                <a:spcPts val="400"/>
              </a:spcBef>
              <a:buClr>
                <a:srgbClr val="2DA2BF"/>
              </a:buClr>
              <a:buSzPct val="68000"/>
              <a:buNone/>
            </a:pPr>
            <a:r>
              <a:rPr lang="en-US" sz="2000" dirty="0">
                <a:solidFill>
                  <a:prstClr val="black"/>
                </a:solidFill>
                <a:latin typeface="National semibold" panose="02000503000000020004"/>
              </a:rPr>
              <a:t>			         </a:t>
            </a:r>
            <a:r>
              <a:rPr lang="en-US" sz="2000" i="1" dirty="0">
                <a:solidFill>
                  <a:prstClr val="black"/>
                </a:solidFill>
                <a:latin typeface="National semibold" panose="02000503000000020004"/>
              </a:rPr>
              <a:t>	    np.___</a:t>
            </a:r>
            <a:endParaRPr lang="en-US" sz="2000" dirty="0">
              <a:solidFill>
                <a:prstClr val="black"/>
              </a:solidFill>
              <a:latin typeface="National semibold" panose="02000503000000020004"/>
            </a:endParaRPr>
          </a:p>
          <a:p>
            <a:pPr marL="365760" lvl="1" indent="0">
              <a:lnSpc>
                <a:spcPct val="100000"/>
              </a:lnSpc>
              <a:spcBef>
                <a:spcPts val="324"/>
              </a:spcBef>
              <a:buClr>
                <a:srgbClr val="2DA2BF"/>
              </a:buClr>
              <a:buSzTx/>
              <a:buNone/>
            </a:pPr>
            <a:r>
              <a:rPr lang="en-US" dirty="0">
                <a:solidFill>
                  <a:prstClr val="black"/>
                </a:solidFill>
                <a:latin typeface="National semibold" panose="02000503000000020004"/>
              </a:rPr>
              <a:t>where ___ contains the key word that calls the desired command. </a:t>
            </a:r>
          </a:p>
          <a:p>
            <a:pPr marL="651510" lvl="1" indent="-285750">
              <a:lnSpc>
                <a:spcPct val="100000"/>
              </a:lnSpc>
              <a:spcBef>
                <a:spcPts val="324"/>
              </a:spcBef>
              <a:buClr>
                <a:srgbClr val="2DA2BF"/>
              </a:buClr>
              <a:buSzTx/>
            </a:pPr>
            <a:endParaRPr lang="en-US" dirty="0">
              <a:solidFill>
                <a:prstClr val="black"/>
              </a:solidFill>
              <a:latin typeface="National semibold" panose="02000503000000020004"/>
            </a:endParaRPr>
          </a:p>
          <a:p>
            <a:pPr marL="364173" indent="-285750">
              <a:lnSpc>
                <a:spcPct val="100000"/>
              </a:lnSpc>
              <a:spcBef>
                <a:spcPts val="324"/>
              </a:spcBef>
              <a:buClr>
                <a:srgbClr val="2DA2BF"/>
              </a:buClr>
              <a:buSzTx/>
            </a:pPr>
            <a:r>
              <a:rPr lang="en-US" sz="2000" dirty="0">
                <a:solidFill>
                  <a:prstClr val="black"/>
                </a:solidFill>
                <a:latin typeface="National semibold" panose="02000503000000020004"/>
              </a:rPr>
              <a:t>For example, to create a three-dimensional array containing all zero, we write</a:t>
            </a:r>
          </a:p>
          <a:p>
            <a:pPr marL="365760" lvl="1" indent="0">
              <a:lnSpc>
                <a:spcPct val="100000"/>
              </a:lnSpc>
              <a:spcBef>
                <a:spcPts val="324"/>
              </a:spcBef>
              <a:buClr>
                <a:srgbClr val="2DA2BF"/>
              </a:buClr>
              <a:buSzTx/>
              <a:buNone/>
            </a:pPr>
            <a:r>
              <a:rPr lang="en-US" i="1" dirty="0">
                <a:solidFill>
                  <a:prstClr val="black"/>
                </a:solidFill>
                <a:latin typeface="National semibold" panose="02000503000000020004"/>
              </a:rPr>
              <a:t>			            </a:t>
            </a:r>
            <a:r>
              <a:rPr lang="en-US" i="1" dirty="0" err="1">
                <a:solidFill>
                  <a:prstClr val="black"/>
                </a:solidFill>
                <a:latin typeface="National semibold" panose="02000503000000020004"/>
              </a:rPr>
              <a:t>np.zeros</a:t>
            </a:r>
            <a:r>
              <a:rPr lang="en-US" i="1" dirty="0">
                <a:solidFill>
                  <a:prstClr val="black"/>
                </a:solidFill>
                <a:latin typeface="National semibold" panose="02000503000000020004"/>
              </a:rPr>
              <a:t>(3)</a:t>
            </a:r>
          </a:p>
          <a:p>
            <a:pPr marL="365760" lvl="1" indent="0">
              <a:lnSpc>
                <a:spcPct val="100000"/>
              </a:lnSpc>
              <a:spcBef>
                <a:spcPts val="324"/>
              </a:spcBef>
              <a:buClr>
                <a:srgbClr val="2DA2BF"/>
              </a:buClr>
              <a:buSzTx/>
              <a:buNone/>
            </a:pPr>
            <a:endParaRPr lang="en-US" sz="1800" dirty="0">
              <a:solidFill>
                <a:prstClr val="black"/>
              </a:solidFill>
              <a:latin typeface="Lucida Sans Unicode"/>
            </a:endParaRPr>
          </a:p>
        </p:txBody>
      </p:sp>
    </p:spTree>
    <p:extLst>
      <p:ext uri="{BB962C8B-B14F-4D97-AF65-F5344CB8AC3E}">
        <p14:creationId xmlns:p14="http://schemas.microsoft.com/office/powerpoint/2010/main" val="126430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Three important </a:t>
            </a:r>
            <a:r>
              <a:rPr lang="en-US" sz="4000" b="1" dirty="0" err="1">
                <a:latin typeface="National semibold" panose="02000503000000020004"/>
              </a:rPr>
              <a:t>liabraries</a:t>
            </a:r>
            <a:endParaRPr lang="en-US" sz="4000" b="1" dirty="0">
              <a:latin typeface="National semibold" panose="02000503000000020004"/>
            </a:endParaRP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325598" cy="4648200"/>
          </a:xfrm>
        </p:spPr>
        <p:txBody>
          <a:bodyPr>
            <a:noAutofit/>
          </a:bodyPr>
          <a:lstStyle/>
          <a:p>
            <a:pPr marL="566928" indent="-457200">
              <a:lnSpc>
                <a:spcPct val="100000"/>
              </a:lnSpc>
              <a:spcBef>
                <a:spcPts val="400"/>
              </a:spcBef>
              <a:buClr>
                <a:srgbClr val="2DA2BF"/>
              </a:buClr>
              <a:buSzPct val="68000"/>
              <a:buFont typeface="+mj-lt"/>
              <a:buAutoNum type="arabicPeriod"/>
            </a:pPr>
            <a:r>
              <a:rPr lang="en-US" dirty="0">
                <a:solidFill>
                  <a:prstClr val="black"/>
                </a:solidFill>
                <a:latin typeface="National semibold" panose="02000503000000020004"/>
              </a:rPr>
              <a:t>NumPy (</a:t>
            </a:r>
            <a:r>
              <a:rPr lang="en-US" i="1" dirty="0">
                <a:solidFill>
                  <a:prstClr val="black"/>
                </a:solidFill>
                <a:latin typeface="National semibold" panose="02000503000000020004"/>
              </a:rPr>
              <a:t>import </a:t>
            </a:r>
            <a:r>
              <a:rPr lang="en-US" i="1" dirty="0" err="1">
                <a:solidFill>
                  <a:prstClr val="black"/>
                </a:solidFill>
                <a:latin typeface="National semibold" panose="02000503000000020004"/>
              </a:rPr>
              <a:t>numpy</a:t>
            </a:r>
            <a:r>
              <a:rPr lang="en-US" i="1" dirty="0">
                <a:solidFill>
                  <a:prstClr val="black"/>
                </a:solidFill>
                <a:latin typeface="National semibold" panose="02000503000000020004"/>
              </a:rPr>
              <a:t> as np</a:t>
            </a:r>
            <a:r>
              <a:rPr lang="en-US" dirty="0">
                <a:solidFill>
                  <a:prstClr val="black"/>
                </a:solidFill>
                <a:latin typeface="National semibold" panose="02000503000000020004"/>
              </a:rPr>
              <a:t>)</a:t>
            </a:r>
          </a:p>
          <a:p>
            <a:pPr marL="566928" indent="-457200">
              <a:lnSpc>
                <a:spcPct val="100000"/>
              </a:lnSpc>
              <a:spcBef>
                <a:spcPts val="400"/>
              </a:spcBef>
              <a:buClr>
                <a:srgbClr val="2DA2BF"/>
              </a:buClr>
              <a:buSzPct val="68000"/>
              <a:buFont typeface="+mj-lt"/>
              <a:buAutoNum type="arabicPeriod"/>
            </a:pPr>
            <a:endParaRPr lang="en-US" dirty="0">
              <a:solidFill>
                <a:prstClr val="black"/>
              </a:solidFill>
              <a:latin typeface="National semibold" panose="02000503000000020004"/>
            </a:endParaRPr>
          </a:p>
          <a:p>
            <a:pPr marL="566928" indent="-457200">
              <a:lnSpc>
                <a:spcPct val="100000"/>
              </a:lnSpc>
              <a:spcBef>
                <a:spcPts val="400"/>
              </a:spcBef>
              <a:buClr>
                <a:srgbClr val="2DA2BF"/>
              </a:buClr>
              <a:buSzPct val="68000"/>
              <a:buFont typeface="+mj-lt"/>
              <a:buAutoNum type="arabicPeriod"/>
            </a:pPr>
            <a:r>
              <a:rPr lang="en-US" dirty="0">
                <a:solidFill>
                  <a:prstClr val="black"/>
                </a:solidFill>
                <a:latin typeface="National semibold" panose="02000503000000020004"/>
              </a:rPr>
              <a:t>Pandas (</a:t>
            </a:r>
            <a:r>
              <a:rPr lang="en-US" i="1" dirty="0">
                <a:solidFill>
                  <a:prstClr val="black"/>
                </a:solidFill>
                <a:latin typeface="National semibold" panose="02000503000000020004"/>
              </a:rPr>
              <a:t>import pandas as pd</a:t>
            </a:r>
            <a:r>
              <a:rPr lang="en-US" dirty="0">
                <a:solidFill>
                  <a:prstClr val="black"/>
                </a:solidFill>
                <a:latin typeface="National semibold" panose="02000503000000020004"/>
              </a:rPr>
              <a:t>)</a:t>
            </a:r>
          </a:p>
          <a:p>
            <a:pPr marL="566928" indent="-457200">
              <a:lnSpc>
                <a:spcPct val="100000"/>
              </a:lnSpc>
              <a:spcBef>
                <a:spcPts val="400"/>
              </a:spcBef>
              <a:buClr>
                <a:srgbClr val="2DA2BF"/>
              </a:buClr>
              <a:buSzPct val="68000"/>
              <a:buFont typeface="+mj-lt"/>
              <a:buAutoNum type="arabicPeriod"/>
            </a:pPr>
            <a:endParaRPr lang="en-US" dirty="0">
              <a:solidFill>
                <a:prstClr val="black"/>
              </a:solidFill>
              <a:latin typeface="National semibold" panose="02000503000000020004"/>
            </a:endParaRPr>
          </a:p>
          <a:p>
            <a:pPr marL="566928" indent="-457200">
              <a:lnSpc>
                <a:spcPct val="100000"/>
              </a:lnSpc>
              <a:spcBef>
                <a:spcPts val="400"/>
              </a:spcBef>
              <a:buClr>
                <a:srgbClr val="2DA2BF"/>
              </a:buClr>
              <a:buSzPct val="68000"/>
              <a:buFont typeface="+mj-lt"/>
              <a:buAutoNum type="arabicPeriod"/>
            </a:pPr>
            <a:r>
              <a:rPr lang="en-US" dirty="0">
                <a:solidFill>
                  <a:prstClr val="black"/>
                </a:solidFill>
                <a:latin typeface="National semibold" panose="02000503000000020004"/>
              </a:rPr>
              <a:t>Matplotlib (</a:t>
            </a:r>
            <a:r>
              <a:rPr lang="en-US" i="1" dirty="0">
                <a:solidFill>
                  <a:prstClr val="black"/>
                </a:solidFill>
                <a:latin typeface="National semibold" panose="02000503000000020004"/>
              </a:rPr>
              <a:t>import </a:t>
            </a:r>
            <a:r>
              <a:rPr lang="en-US" i="1" dirty="0" err="1">
                <a:solidFill>
                  <a:prstClr val="black"/>
                </a:solidFill>
                <a:latin typeface="National semibold" panose="02000503000000020004"/>
              </a:rPr>
              <a:t>matplotlib.pyplot</a:t>
            </a:r>
            <a:r>
              <a:rPr lang="en-US" i="1" dirty="0">
                <a:solidFill>
                  <a:prstClr val="black"/>
                </a:solidFill>
                <a:latin typeface="National semibold" panose="02000503000000020004"/>
              </a:rPr>
              <a:t> as </a:t>
            </a:r>
            <a:r>
              <a:rPr lang="en-US" i="1" dirty="0" err="1">
                <a:solidFill>
                  <a:prstClr val="black"/>
                </a:solidFill>
                <a:latin typeface="National semibold" panose="02000503000000020004"/>
              </a:rPr>
              <a:t>plt</a:t>
            </a:r>
            <a:r>
              <a:rPr lang="en-US" dirty="0">
                <a:solidFill>
                  <a:prstClr val="black"/>
                </a:solidFill>
                <a:latin typeface="National semibold" panose="02000503000000020004"/>
              </a:rPr>
              <a:t>)</a:t>
            </a:r>
          </a:p>
          <a:p>
            <a:pPr marL="109728" indent="0">
              <a:lnSpc>
                <a:spcPct val="100000"/>
              </a:lnSpc>
              <a:spcBef>
                <a:spcPts val="400"/>
              </a:spcBef>
              <a:buClr>
                <a:srgbClr val="2DA2BF"/>
              </a:buClr>
              <a:buSzPct val="68000"/>
              <a:buNone/>
            </a:pPr>
            <a:endParaRPr lang="en-US" sz="2000" dirty="0">
              <a:solidFill>
                <a:prstClr val="black"/>
              </a:solidFill>
              <a:latin typeface="Lucida Sans Unicode"/>
            </a:endParaRPr>
          </a:p>
          <a:p>
            <a:pPr marL="109728" indent="0">
              <a:lnSpc>
                <a:spcPct val="100000"/>
              </a:lnSpc>
              <a:spcBef>
                <a:spcPts val="400"/>
              </a:spcBef>
              <a:buClr>
                <a:srgbClr val="2DA2BF"/>
              </a:buClr>
              <a:buSzPct val="68000"/>
              <a:buNone/>
            </a:pPr>
            <a:endParaRPr lang="en-US" sz="2000" dirty="0">
              <a:solidFill>
                <a:prstClr val="black"/>
              </a:solidFill>
              <a:latin typeface="National semibold" panose="02000503000000020004"/>
            </a:endParaRPr>
          </a:p>
          <a:p>
            <a:pPr marL="109728" indent="0">
              <a:lnSpc>
                <a:spcPct val="100000"/>
              </a:lnSpc>
              <a:spcBef>
                <a:spcPts val="400"/>
              </a:spcBef>
              <a:buClr>
                <a:srgbClr val="2DA2BF"/>
              </a:buClr>
              <a:buSzPct val="68000"/>
              <a:buNone/>
            </a:pPr>
            <a:endParaRPr lang="en-US" sz="2000" dirty="0">
              <a:solidFill>
                <a:prstClr val="black"/>
              </a:solidFill>
              <a:latin typeface="National semibold" panose="02000503000000020004"/>
            </a:endParaRPr>
          </a:p>
          <a:p>
            <a:pPr marL="109728" indent="0">
              <a:lnSpc>
                <a:spcPct val="100000"/>
              </a:lnSpc>
              <a:spcBef>
                <a:spcPts val="400"/>
              </a:spcBef>
              <a:buClr>
                <a:srgbClr val="2DA2BF"/>
              </a:buClr>
              <a:buSzPct val="68000"/>
              <a:buNone/>
            </a:pPr>
            <a:r>
              <a:rPr lang="en-US" sz="2000" dirty="0">
                <a:solidFill>
                  <a:prstClr val="black"/>
                </a:solidFill>
                <a:latin typeface="National semibold" panose="02000503000000020004"/>
              </a:rPr>
              <a:t>Useful codes can be found at:</a:t>
            </a:r>
          </a:p>
          <a:p>
            <a:pPr marL="109728" indent="0">
              <a:lnSpc>
                <a:spcPct val="100000"/>
              </a:lnSpc>
              <a:spcBef>
                <a:spcPts val="400"/>
              </a:spcBef>
              <a:buClr>
                <a:srgbClr val="2DA2BF"/>
              </a:buClr>
              <a:buSzPct val="68000"/>
              <a:buNone/>
            </a:pPr>
            <a:endParaRPr lang="en-US" sz="2000" dirty="0">
              <a:solidFill>
                <a:prstClr val="black"/>
              </a:solidFill>
              <a:latin typeface="National semibold" panose="02000503000000020004"/>
            </a:endParaRPr>
          </a:p>
          <a:p>
            <a:pPr marL="109728" indent="0">
              <a:lnSpc>
                <a:spcPct val="100000"/>
              </a:lnSpc>
              <a:spcBef>
                <a:spcPts val="400"/>
              </a:spcBef>
              <a:buClr>
                <a:srgbClr val="2DA2BF"/>
              </a:buClr>
              <a:buSzPct val="68000"/>
              <a:buNone/>
            </a:pPr>
            <a:r>
              <a:rPr lang="en-US" sz="2000" dirty="0">
                <a:solidFill>
                  <a:prstClr val="black"/>
                </a:solidFill>
                <a:latin typeface="National semibold" panose="02000503000000020004"/>
              </a:rPr>
              <a:t>https://github.com/PacktPublishing/Hands-on-Python-for-Finance/tree/master/Chapter%202 </a:t>
            </a:r>
          </a:p>
        </p:txBody>
      </p:sp>
    </p:spTree>
    <p:extLst>
      <p:ext uri="{BB962C8B-B14F-4D97-AF65-F5344CB8AC3E}">
        <p14:creationId xmlns:p14="http://schemas.microsoft.com/office/powerpoint/2010/main" val="408642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2413" y="2372710"/>
            <a:ext cx="9829799" cy="3796315"/>
          </a:xfrm>
        </p:spPr>
        <p:txBody>
          <a:bodyPr>
            <a:normAutofit/>
          </a:bodyPr>
          <a:lstStyle/>
          <a:p>
            <a:pPr marL="109728" indent="0">
              <a:buNone/>
            </a:pPr>
            <a:r>
              <a:rPr lang="en-US" sz="2800" b="1" dirty="0">
                <a:latin typeface="National semibold" panose="02000503000000020004"/>
              </a:rPr>
              <a:t>NumPy</a:t>
            </a:r>
            <a:r>
              <a:rPr lang="en-US" sz="2800" dirty="0">
                <a:latin typeface="National semibold" panose="02000503000000020004"/>
              </a:rPr>
              <a:t> is a library that is used in Python to create single and multidimensional arrays and matrices. It also contains functions that perform mathematical operations on these arrays.</a:t>
            </a:r>
          </a:p>
          <a:p>
            <a:pPr marL="109728" indent="0">
              <a:buNone/>
            </a:pPr>
            <a:endParaRPr lang="en-US" dirty="0">
              <a:latin typeface="National semibold" panose="02000503000000020004"/>
            </a:endParaRPr>
          </a:p>
        </p:txBody>
      </p:sp>
      <p:sp>
        <p:nvSpPr>
          <p:cNvPr id="3" name="Title 2"/>
          <p:cNvSpPr>
            <a:spLocks noGrp="1"/>
          </p:cNvSpPr>
          <p:nvPr>
            <p:ph type="title"/>
          </p:nvPr>
        </p:nvSpPr>
        <p:spPr/>
        <p:txBody>
          <a:bodyPr/>
          <a:lstStyle/>
          <a:p>
            <a:r>
              <a:rPr lang="en-US" b="1" dirty="0">
                <a:latin typeface="National semibold" panose="02000503000000020004"/>
              </a:rPr>
              <a:t>1. NumPy</a:t>
            </a:r>
          </a:p>
        </p:txBody>
      </p:sp>
    </p:spTree>
    <p:extLst>
      <p:ext uri="{BB962C8B-B14F-4D97-AF65-F5344CB8AC3E}">
        <p14:creationId xmlns:p14="http://schemas.microsoft.com/office/powerpoint/2010/main" val="2512017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79612" y="2072645"/>
            <a:ext cx="8229600" cy="4483291"/>
          </a:xfrm>
        </p:spPr>
        <p:txBody>
          <a:bodyPr>
            <a:normAutofit/>
          </a:bodyPr>
          <a:lstStyle/>
          <a:p>
            <a:r>
              <a:rPr lang="en-US" sz="2000" i="1" dirty="0">
                <a:solidFill>
                  <a:srgbClr val="FF0000"/>
                </a:solidFill>
                <a:latin typeface="National semibold" panose="02000503000000020004"/>
              </a:rPr>
              <a:t>Creating a two-dimensional array</a:t>
            </a:r>
          </a:p>
          <a:p>
            <a:pPr marL="109728" indent="0">
              <a:buNone/>
            </a:pPr>
            <a:r>
              <a:rPr lang="en-US" sz="2000" dirty="0">
                <a:latin typeface="National semibold" panose="02000503000000020004"/>
              </a:rPr>
              <a:t>	Array1=</a:t>
            </a:r>
            <a:r>
              <a:rPr lang="en-US" sz="2000" dirty="0" err="1">
                <a:latin typeface="National semibold" panose="02000503000000020004"/>
              </a:rPr>
              <a:t>np.array</a:t>
            </a:r>
            <a:r>
              <a:rPr lang="en-US" sz="2000" dirty="0">
                <a:latin typeface="National semibold" panose="02000503000000020004"/>
              </a:rPr>
              <a:t>([[11,12,13],[14,15,16],[17,18,19]])</a:t>
            </a:r>
          </a:p>
          <a:p>
            <a:pPr marL="109728" indent="0">
              <a:buNone/>
            </a:pPr>
            <a:r>
              <a:rPr lang="en-US" sz="1800" dirty="0">
                <a:latin typeface="National semibold" panose="02000503000000020004"/>
              </a:rPr>
              <a:t>	</a:t>
            </a:r>
            <a:r>
              <a:rPr lang="en-US" sz="2000" dirty="0">
                <a:latin typeface="National semibold" panose="02000503000000020004"/>
              </a:rPr>
              <a:t>Array2=</a:t>
            </a:r>
            <a:r>
              <a:rPr lang="en-US" sz="2000" dirty="0" err="1">
                <a:latin typeface="National semibold" panose="02000503000000020004"/>
              </a:rPr>
              <a:t>np.array</a:t>
            </a:r>
            <a:r>
              <a:rPr lang="en-US" sz="2000" dirty="0">
                <a:latin typeface="National semibold" panose="02000503000000020004"/>
              </a:rPr>
              <a:t>([[1,2,3],[4,5,6],[7,8,9]])</a:t>
            </a:r>
          </a:p>
          <a:p>
            <a:pPr marL="109728" indent="0">
              <a:buNone/>
            </a:pPr>
            <a:endParaRPr lang="en-US" sz="1800" dirty="0">
              <a:latin typeface="National semibold" panose="02000503000000020004"/>
            </a:endParaRPr>
          </a:p>
          <a:p>
            <a:pPr marL="109728" indent="0">
              <a:buNone/>
            </a:pPr>
            <a:endParaRPr lang="en-US" sz="2000" dirty="0">
              <a:latin typeface="National semibold" panose="02000503000000020004"/>
            </a:endParaRPr>
          </a:p>
          <a:p>
            <a:r>
              <a:rPr lang="en-US" sz="2000" i="1" dirty="0">
                <a:solidFill>
                  <a:srgbClr val="FF0000"/>
                </a:solidFill>
                <a:latin typeface="National semibold" panose="02000503000000020004"/>
              </a:rPr>
              <a:t>Using function “</a:t>
            </a:r>
            <a:r>
              <a:rPr lang="en-US" sz="2000" i="1" dirty="0" err="1">
                <a:solidFill>
                  <a:srgbClr val="FF0000"/>
                </a:solidFill>
                <a:latin typeface="National semibold" panose="02000503000000020004"/>
              </a:rPr>
              <a:t>arange</a:t>
            </a:r>
            <a:r>
              <a:rPr lang="en-US" sz="2000" i="1" dirty="0">
                <a:solidFill>
                  <a:srgbClr val="FF0000"/>
                </a:solidFill>
                <a:latin typeface="National semibold" panose="02000503000000020004"/>
              </a:rPr>
              <a:t>” or “</a:t>
            </a:r>
            <a:r>
              <a:rPr lang="en-US" sz="2000" i="1" dirty="0" err="1">
                <a:solidFill>
                  <a:srgbClr val="FF0000"/>
                </a:solidFill>
                <a:latin typeface="National semibold" panose="02000503000000020004"/>
              </a:rPr>
              <a:t>linspace</a:t>
            </a:r>
            <a:r>
              <a:rPr lang="en-US" sz="2000" i="1" dirty="0">
                <a:solidFill>
                  <a:srgbClr val="FF0000"/>
                </a:solidFill>
                <a:latin typeface="National semibold" panose="02000503000000020004"/>
              </a:rPr>
              <a:t>”</a:t>
            </a:r>
          </a:p>
          <a:p>
            <a:pPr marL="109728" indent="0">
              <a:buNone/>
            </a:pPr>
            <a:r>
              <a:rPr lang="en-US" sz="2000" dirty="0">
                <a:latin typeface="National semibold" panose="02000503000000020004"/>
              </a:rPr>
              <a:t>	Array3=</a:t>
            </a:r>
            <a:r>
              <a:rPr lang="en-US" sz="2000" dirty="0" err="1">
                <a:latin typeface="National semibold" panose="02000503000000020004"/>
              </a:rPr>
              <a:t>np.arange</a:t>
            </a:r>
            <a:r>
              <a:rPr lang="en-US" sz="2000" dirty="0">
                <a:latin typeface="National semibold" panose="02000503000000020004"/>
              </a:rPr>
              <a:t>(0,10,2)</a:t>
            </a:r>
          </a:p>
          <a:p>
            <a:pPr marL="109728" indent="0">
              <a:buNone/>
            </a:pPr>
            <a:r>
              <a:rPr lang="en-US" sz="1800" dirty="0">
                <a:latin typeface="National semibold" panose="02000503000000020004"/>
              </a:rPr>
              <a:t>	</a:t>
            </a:r>
            <a:r>
              <a:rPr lang="en-US" sz="2000" dirty="0">
                <a:latin typeface="National semibold" panose="02000503000000020004"/>
              </a:rPr>
              <a:t>Array4=</a:t>
            </a:r>
            <a:r>
              <a:rPr lang="en-US" sz="2000" dirty="0" err="1">
                <a:latin typeface="National semibold" panose="02000503000000020004"/>
              </a:rPr>
              <a:t>np.linspace</a:t>
            </a:r>
            <a:r>
              <a:rPr lang="en-US" sz="2000" dirty="0">
                <a:latin typeface="National semibold" panose="02000503000000020004"/>
              </a:rPr>
              <a:t>(0,8,5)</a:t>
            </a:r>
            <a:endParaRPr lang="en-US" sz="1800" dirty="0">
              <a:latin typeface="National semibold" panose="02000503000000020004"/>
            </a:endParaRPr>
          </a:p>
          <a:p>
            <a:pPr marL="0" indent="0">
              <a:buNone/>
            </a:pPr>
            <a:endParaRPr lang="en-US" dirty="0">
              <a:latin typeface="National semibold" panose="02000503000000020004"/>
            </a:endParaRPr>
          </a:p>
        </p:txBody>
      </p:sp>
      <p:sp>
        <p:nvSpPr>
          <p:cNvPr id="4" name="Title 2"/>
          <p:cNvSpPr>
            <a:spLocks noGrp="1"/>
          </p:cNvSpPr>
          <p:nvPr>
            <p:ph type="title"/>
          </p:nvPr>
        </p:nvSpPr>
        <p:spPr>
          <a:xfrm>
            <a:off x="1704404" y="346676"/>
            <a:ext cx="8229600" cy="1143000"/>
          </a:xfrm>
        </p:spPr>
        <p:txBody>
          <a:bodyPr/>
          <a:lstStyle/>
          <a:p>
            <a:r>
              <a:rPr lang="en-US" b="1" dirty="0" err="1">
                <a:latin typeface="National semibold" panose="02000503000000020004"/>
              </a:rPr>
              <a:t>NumPy</a:t>
            </a:r>
            <a:r>
              <a:rPr lang="en-US" dirty="0">
                <a:latin typeface="National semibold" panose="02000503000000020004"/>
              </a:rPr>
              <a:t>: Creating an Array</a:t>
            </a:r>
          </a:p>
        </p:txBody>
      </p:sp>
    </p:spTree>
    <p:extLst>
      <p:ext uri="{BB962C8B-B14F-4D97-AF65-F5344CB8AC3E}">
        <p14:creationId xmlns:p14="http://schemas.microsoft.com/office/powerpoint/2010/main" val="335050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713245" y="1085056"/>
            <a:ext cx="8301037" cy="4687888"/>
          </a:xfrm>
        </p:spPr>
        <p:txBody>
          <a:bodyPr>
            <a:normAutofit/>
          </a:bodyPr>
          <a:lstStyle/>
          <a:p>
            <a:r>
              <a:rPr lang="en-US" sz="2000" i="1" dirty="0">
                <a:solidFill>
                  <a:srgbClr val="FF0000"/>
                </a:solidFill>
                <a:latin typeface="National semibold" panose="02000503000000020004"/>
              </a:rPr>
              <a:t>Using function “zeros”, “ones”, “eye”</a:t>
            </a:r>
          </a:p>
          <a:p>
            <a:pPr marL="109728" indent="0">
              <a:buNone/>
            </a:pPr>
            <a:r>
              <a:rPr lang="en-US" sz="2000" dirty="0">
                <a:latin typeface="National semibold" panose="02000503000000020004"/>
              </a:rPr>
              <a:t>	Array5=</a:t>
            </a:r>
            <a:r>
              <a:rPr lang="en-US" sz="2000" dirty="0" err="1">
                <a:latin typeface="National semibold" panose="02000503000000020004"/>
              </a:rPr>
              <a:t>np.zeros</a:t>
            </a:r>
            <a:r>
              <a:rPr lang="en-US" sz="2000" dirty="0">
                <a:latin typeface="National semibold" panose="02000503000000020004"/>
              </a:rPr>
              <a:t>((2,3))</a:t>
            </a:r>
          </a:p>
          <a:p>
            <a:pPr marL="109728" indent="0">
              <a:buNone/>
            </a:pPr>
            <a:r>
              <a:rPr lang="en-US" sz="2000" dirty="0">
                <a:latin typeface="National semibold" panose="02000503000000020004"/>
              </a:rPr>
              <a:t>	Array6=</a:t>
            </a:r>
            <a:r>
              <a:rPr lang="en-US" sz="2000" dirty="0" err="1">
                <a:latin typeface="National semibold" panose="02000503000000020004"/>
              </a:rPr>
              <a:t>np.ones</a:t>
            </a:r>
            <a:r>
              <a:rPr lang="en-US" sz="2000" dirty="0">
                <a:latin typeface="National semibold" panose="02000503000000020004"/>
              </a:rPr>
              <a:t>((2,3,4))</a:t>
            </a:r>
          </a:p>
          <a:p>
            <a:pPr marL="109728" indent="0">
              <a:buNone/>
            </a:pPr>
            <a:r>
              <a:rPr lang="en-US" sz="2000" dirty="0">
                <a:latin typeface="National semibold" panose="02000503000000020004"/>
              </a:rPr>
              <a:t>	Array7=</a:t>
            </a:r>
            <a:r>
              <a:rPr lang="en-US" sz="2000" dirty="0" err="1">
                <a:latin typeface="National semibold" panose="02000503000000020004"/>
              </a:rPr>
              <a:t>np.eye</a:t>
            </a:r>
            <a:r>
              <a:rPr lang="en-US" sz="2000" dirty="0">
                <a:latin typeface="National semibold" panose="02000503000000020004"/>
              </a:rPr>
              <a:t>(6)</a:t>
            </a:r>
          </a:p>
          <a:p>
            <a:pPr marL="109728" indent="0">
              <a:buNone/>
            </a:pPr>
            <a:endParaRPr lang="en-US" sz="2000" dirty="0">
              <a:latin typeface="National semibold" panose="02000503000000020004"/>
            </a:endParaRPr>
          </a:p>
          <a:p>
            <a:pPr marL="109728" indent="0">
              <a:buNone/>
            </a:pPr>
            <a:endParaRPr lang="en-US" sz="2000" dirty="0">
              <a:latin typeface="National semibold" panose="02000503000000020004"/>
            </a:endParaRPr>
          </a:p>
          <a:p>
            <a:r>
              <a:rPr lang="en-US" sz="2000" i="1" dirty="0">
                <a:solidFill>
                  <a:srgbClr val="FF0000"/>
                </a:solidFill>
                <a:latin typeface="National semibold" panose="02000503000000020004"/>
              </a:rPr>
              <a:t>Using function “rand”</a:t>
            </a:r>
          </a:p>
          <a:p>
            <a:pPr marL="109728" indent="0">
              <a:buNone/>
            </a:pPr>
            <a:r>
              <a:rPr lang="en-US" sz="2000" dirty="0">
                <a:latin typeface="National semibold" panose="02000503000000020004"/>
              </a:rPr>
              <a:t>	Array8=</a:t>
            </a:r>
            <a:r>
              <a:rPr lang="en-US" sz="2000" dirty="0" err="1">
                <a:latin typeface="National semibold" panose="02000503000000020004"/>
              </a:rPr>
              <a:t>np.random.rand</a:t>
            </a:r>
            <a:r>
              <a:rPr lang="en-US" sz="2000" dirty="0">
                <a:latin typeface="National semibold" panose="02000503000000020004"/>
              </a:rPr>
              <a:t>(2,3)</a:t>
            </a:r>
          </a:p>
          <a:p>
            <a:pPr marL="109728" indent="0">
              <a:buNone/>
            </a:pPr>
            <a:endParaRPr lang="en-US" sz="1800" dirty="0"/>
          </a:p>
        </p:txBody>
      </p:sp>
    </p:spTree>
    <p:extLst>
      <p:ext uri="{BB962C8B-B14F-4D97-AF65-F5344CB8AC3E}">
        <p14:creationId xmlns:p14="http://schemas.microsoft.com/office/powerpoint/2010/main" val="325191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79612" y="1981201"/>
            <a:ext cx="8229600" cy="4483291"/>
          </a:xfrm>
        </p:spPr>
        <p:txBody>
          <a:bodyPr>
            <a:normAutofit/>
          </a:bodyPr>
          <a:lstStyle/>
          <a:p>
            <a:r>
              <a:rPr lang="en-US" i="1" dirty="0">
                <a:solidFill>
                  <a:srgbClr val="FF0000"/>
                </a:solidFill>
                <a:latin typeface="National semibold" panose="02000503000000020004"/>
              </a:rPr>
              <a:t>Indexing an element of the array (Index starts at zero)</a:t>
            </a:r>
          </a:p>
          <a:p>
            <a:pPr marL="109728" indent="0">
              <a:buNone/>
            </a:pPr>
            <a:r>
              <a:rPr lang="en-US" dirty="0">
                <a:latin typeface="National semibold" panose="02000503000000020004"/>
              </a:rPr>
              <a:t>	Array1[1,2]</a:t>
            </a:r>
          </a:p>
          <a:p>
            <a:endParaRPr lang="en-US" dirty="0">
              <a:latin typeface="National semibold" panose="02000503000000020004"/>
            </a:endParaRPr>
          </a:p>
          <a:p>
            <a:r>
              <a:rPr lang="en-US" i="1" dirty="0">
                <a:solidFill>
                  <a:srgbClr val="FF0000"/>
                </a:solidFill>
                <a:latin typeface="National semibold" panose="02000503000000020004"/>
              </a:rPr>
              <a:t>Slicing the array</a:t>
            </a:r>
          </a:p>
          <a:p>
            <a:pPr marL="109728" indent="0">
              <a:buNone/>
            </a:pPr>
            <a:r>
              <a:rPr lang="en-US" dirty="0">
                <a:latin typeface="National semibold" panose="02000503000000020004"/>
              </a:rPr>
              <a:t>	Array1[:1,:2]                     </a:t>
            </a:r>
          </a:p>
          <a:p>
            <a:pPr marL="109728" indent="0">
              <a:buNone/>
            </a:pPr>
            <a:r>
              <a:rPr lang="en-US" dirty="0">
                <a:latin typeface="National semibold" panose="02000503000000020004"/>
              </a:rPr>
              <a:t>	Array1[1:,2:]</a:t>
            </a:r>
          </a:p>
          <a:p>
            <a:endParaRPr lang="en-US" dirty="0"/>
          </a:p>
        </p:txBody>
      </p:sp>
      <p:sp>
        <p:nvSpPr>
          <p:cNvPr id="4" name="Title 2"/>
          <p:cNvSpPr>
            <a:spLocks noGrp="1"/>
          </p:cNvSpPr>
          <p:nvPr>
            <p:ph type="title"/>
          </p:nvPr>
        </p:nvSpPr>
        <p:spPr>
          <a:xfrm>
            <a:off x="1979612" y="274638"/>
            <a:ext cx="8229600" cy="1143000"/>
          </a:xfrm>
        </p:spPr>
        <p:txBody>
          <a:bodyPr/>
          <a:lstStyle/>
          <a:p>
            <a:r>
              <a:rPr lang="en-US" b="1" dirty="0" err="1">
                <a:latin typeface="National semibold" panose="02000503000000020004"/>
              </a:rPr>
              <a:t>NumPy</a:t>
            </a:r>
            <a:r>
              <a:rPr lang="en-US" dirty="0">
                <a:latin typeface="National semibold" panose="02000503000000020004"/>
              </a:rPr>
              <a:t>: Indexing an Array</a:t>
            </a:r>
          </a:p>
        </p:txBody>
      </p:sp>
    </p:spTree>
    <p:extLst>
      <p:ext uri="{BB962C8B-B14F-4D97-AF65-F5344CB8AC3E}">
        <p14:creationId xmlns:p14="http://schemas.microsoft.com/office/powerpoint/2010/main" val="1671758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79612" y="2007324"/>
            <a:ext cx="8229600" cy="4724400"/>
          </a:xfrm>
        </p:spPr>
        <p:txBody>
          <a:bodyPr>
            <a:normAutofit/>
          </a:bodyPr>
          <a:lstStyle/>
          <a:p>
            <a:r>
              <a:rPr lang="en-US" i="1" dirty="0">
                <a:solidFill>
                  <a:srgbClr val="FF0000"/>
                </a:solidFill>
                <a:latin typeface="National semibold" panose="02000503000000020004"/>
              </a:rPr>
              <a:t>Summing and multiplying</a:t>
            </a:r>
          </a:p>
          <a:p>
            <a:pPr marL="109728" indent="0">
              <a:buNone/>
            </a:pPr>
            <a:r>
              <a:rPr lang="en-US" dirty="0">
                <a:latin typeface="National semibold" panose="02000503000000020004"/>
              </a:rPr>
              <a:t>	Array1+Array2</a:t>
            </a:r>
          </a:p>
          <a:p>
            <a:pPr marL="109728" indent="0">
              <a:buNone/>
            </a:pPr>
            <a:r>
              <a:rPr lang="en-US" dirty="0">
                <a:latin typeface="National semibold" panose="02000503000000020004"/>
              </a:rPr>
              <a:t>	Array1*Array2</a:t>
            </a:r>
          </a:p>
          <a:p>
            <a:r>
              <a:rPr lang="en-US" i="1" dirty="0">
                <a:solidFill>
                  <a:srgbClr val="FF0000"/>
                </a:solidFill>
                <a:latin typeface="National semibold" panose="02000503000000020004"/>
              </a:rPr>
              <a:t>Square root and exponential of the elements of the array</a:t>
            </a:r>
          </a:p>
          <a:p>
            <a:pPr marL="109728" indent="0">
              <a:buNone/>
            </a:pPr>
            <a:r>
              <a:rPr lang="en-US" dirty="0">
                <a:latin typeface="National semibold" panose="02000503000000020004"/>
              </a:rPr>
              <a:t>	</a:t>
            </a:r>
            <a:r>
              <a:rPr lang="en-US" dirty="0" err="1">
                <a:latin typeface="National semibold" panose="02000503000000020004"/>
              </a:rPr>
              <a:t>np.sqrt</a:t>
            </a:r>
            <a:r>
              <a:rPr lang="en-US" dirty="0">
                <a:latin typeface="National semibold" panose="02000503000000020004"/>
              </a:rPr>
              <a:t>(Array1)</a:t>
            </a:r>
          </a:p>
          <a:p>
            <a:pPr marL="109728" indent="0">
              <a:buNone/>
            </a:pPr>
            <a:r>
              <a:rPr lang="en-US" dirty="0">
                <a:latin typeface="National semibold" panose="02000503000000020004"/>
              </a:rPr>
              <a:t>	</a:t>
            </a:r>
            <a:r>
              <a:rPr lang="en-US" dirty="0" err="1">
                <a:latin typeface="National semibold" panose="02000503000000020004"/>
              </a:rPr>
              <a:t>np.exp</a:t>
            </a:r>
            <a:r>
              <a:rPr lang="en-US" dirty="0">
                <a:latin typeface="National semibold" panose="02000503000000020004"/>
              </a:rPr>
              <a:t>(Array1)</a:t>
            </a:r>
          </a:p>
          <a:p>
            <a:r>
              <a:rPr lang="en-US" i="1" dirty="0">
                <a:solidFill>
                  <a:srgbClr val="FF0000"/>
                </a:solidFill>
                <a:latin typeface="National semibold" panose="02000503000000020004"/>
              </a:rPr>
              <a:t>Maximum element of the array</a:t>
            </a:r>
          </a:p>
          <a:p>
            <a:pPr marL="109728" indent="0">
              <a:buNone/>
            </a:pPr>
            <a:r>
              <a:rPr lang="en-US" dirty="0">
                <a:latin typeface="National semibold" panose="02000503000000020004"/>
              </a:rPr>
              <a:t>	</a:t>
            </a:r>
            <a:r>
              <a:rPr lang="en-US" dirty="0" err="1">
                <a:latin typeface="National semibold" panose="02000503000000020004"/>
              </a:rPr>
              <a:t>np.max</a:t>
            </a:r>
            <a:r>
              <a:rPr lang="en-US" dirty="0">
                <a:latin typeface="National semibold" panose="02000503000000020004"/>
              </a:rPr>
              <a:t>(Array1)</a:t>
            </a:r>
          </a:p>
          <a:p>
            <a:endParaRPr lang="en-US" sz="700" dirty="0"/>
          </a:p>
        </p:txBody>
      </p:sp>
      <p:sp>
        <p:nvSpPr>
          <p:cNvPr id="4" name="Title 2"/>
          <p:cNvSpPr>
            <a:spLocks noGrp="1"/>
          </p:cNvSpPr>
          <p:nvPr>
            <p:ph type="title"/>
          </p:nvPr>
        </p:nvSpPr>
        <p:spPr>
          <a:xfrm>
            <a:off x="1979612" y="274638"/>
            <a:ext cx="8229600" cy="1143000"/>
          </a:xfrm>
        </p:spPr>
        <p:txBody>
          <a:bodyPr/>
          <a:lstStyle/>
          <a:p>
            <a:r>
              <a:rPr lang="en-US" b="1" dirty="0">
                <a:latin typeface="National semibold" panose="02000503000000020004"/>
              </a:rPr>
              <a:t>NumPy</a:t>
            </a:r>
            <a:r>
              <a:rPr lang="en-US" dirty="0">
                <a:latin typeface="National semibold" panose="02000503000000020004"/>
              </a:rPr>
              <a:t>: Operations</a:t>
            </a:r>
          </a:p>
        </p:txBody>
      </p:sp>
    </p:spTree>
    <p:extLst>
      <p:ext uri="{BB962C8B-B14F-4D97-AF65-F5344CB8AC3E}">
        <p14:creationId xmlns:p14="http://schemas.microsoft.com/office/powerpoint/2010/main" val="1696333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109728" indent="0">
              <a:buNone/>
            </a:pPr>
            <a:r>
              <a:rPr lang="en-US" sz="2800" dirty="0">
                <a:latin typeface="National semibold" panose="02000503000000020004"/>
              </a:rPr>
              <a:t>The library provides one of the most important tools for data analysis. It is built on top of </a:t>
            </a:r>
            <a:r>
              <a:rPr lang="en-US" sz="2800" dirty="0" err="1">
                <a:latin typeface="National semibold" panose="02000503000000020004"/>
              </a:rPr>
              <a:t>NumPy</a:t>
            </a:r>
            <a:r>
              <a:rPr lang="en-US" sz="2800" dirty="0">
                <a:latin typeface="National semibold" panose="02000503000000020004"/>
              </a:rPr>
              <a:t>. It allows you to work with data from a variety of sources, such as CVS, Excel, HTML, etc. </a:t>
            </a:r>
          </a:p>
          <a:p>
            <a:pPr marL="109728" indent="0">
              <a:buNone/>
            </a:pPr>
            <a:endParaRPr lang="en-US" sz="2800" dirty="0">
              <a:latin typeface="National semibold" panose="02000503000000020004"/>
            </a:endParaRPr>
          </a:p>
        </p:txBody>
      </p:sp>
      <p:sp>
        <p:nvSpPr>
          <p:cNvPr id="3" name="Title 2"/>
          <p:cNvSpPr>
            <a:spLocks noGrp="1"/>
          </p:cNvSpPr>
          <p:nvPr>
            <p:ph type="title"/>
          </p:nvPr>
        </p:nvSpPr>
        <p:spPr/>
        <p:txBody>
          <a:bodyPr anchor="ctr"/>
          <a:lstStyle/>
          <a:p>
            <a:r>
              <a:rPr lang="en-US" b="1" dirty="0">
                <a:latin typeface="National semibold" panose="02000503000000020004"/>
              </a:rPr>
              <a:t>2. Pandas</a:t>
            </a:r>
          </a:p>
        </p:txBody>
      </p:sp>
    </p:spTree>
    <p:extLst>
      <p:ext uri="{BB962C8B-B14F-4D97-AF65-F5344CB8AC3E}">
        <p14:creationId xmlns:p14="http://schemas.microsoft.com/office/powerpoint/2010/main" val="198739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51012" y="2017486"/>
            <a:ext cx="9562030" cy="4230914"/>
          </a:xfrm>
        </p:spPr>
        <p:txBody>
          <a:bodyPr>
            <a:normAutofit/>
          </a:bodyPr>
          <a:lstStyle/>
          <a:p>
            <a:pPr marL="109728" indent="0">
              <a:buNone/>
            </a:pPr>
            <a:r>
              <a:rPr lang="en-US" dirty="0" err="1">
                <a:latin typeface="National semibold" panose="02000503000000020004"/>
              </a:rPr>
              <a:t>DataFrames</a:t>
            </a:r>
            <a:r>
              <a:rPr lang="en-US" dirty="0">
                <a:latin typeface="National semibold" panose="02000503000000020004"/>
              </a:rPr>
              <a:t> is a data structure typically with a two-dimensional shape consisting of rows and columns. We can think of a </a:t>
            </a:r>
            <a:r>
              <a:rPr lang="en-US" dirty="0" err="1">
                <a:latin typeface="National semibold" panose="02000503000000020004"/>
              </a:rPr>
              <a:t>DataFrames</a:t>
            </a:r>
            <a:r>
              <a:rPr lang="en-US" dirty="0">
                <a:latin typeface="National semibold" panose="02000503000000020004"/>
              </a:rPr>
              <a:t> as many series (variables) put together and sharing the same index.  </a:t>
            </a:r>
          </a:p>
          <a:p>
            <a:pPr marL="109728" indent="0">
              <a:buNone/>
            </a:pPr>
            <a:endParaRPr lang="en-US" dirty="0">
              <a:solidFill>
                <a:srgbClr val="FF0000"/>
              </a:solidFill>
              <a:latin typeface="National semibold" panose="02000503000000020004"/>
            </a:endParaRPr>
          </a:p>
          <a:p>
            <a:pPr marL="109728" indent="0">
              <a:buNone/>
            </a:pPr>
            <a:r>
              <a:rPr lang="en-US" i="1" dirty="0">
                <a:solidFill>
                  <a:srgbClr val="FF0000"/>
                </a:solidFill>
                <a:latin typeface="National semibold" panose="02000503000000020004"/>
              </a:rPr>
              <a:t>A </a:t>
            </a:r>
            <a:r>
              <a:rPr lang="en-US" i="1" dirty="0" err="1">
                <a:solidFill>
                  <a:srgbClr val="FF0000"/>
                </a:solidFill>
                <a:latin typeface="National semibold" panose="02000503000000020004"/>
              </a:rPr>
              <a:t>DataFrames</a:t>
            </a:r>
            <a:r>
              <a:rPr lang="en-US" i="1" dirty="0">
                <a:solidFill>
                  <a:srgbClr val="FF0000"/>
                </a:solidFill>
                <a:latin typeface="National semibold" panose="02000503000000020004"/>
              </a:rPr>
              <a:t> in pandas can be created using:</a:t>
            </a:r>
          </a:p>
          <a:p>
            <a:pPr marL="109728" indent="0">
              <a:buNone/>
            </a:pPr>
            <a:r>
              <a:rPr lang="en-US" sz="2000" dirty="0">
                <a:latin typeface="National semibold" panose="02000503000000020004"/>
              </a:rPr>
              <a:t>  </a:t>
            </a:r>
            <a:r>
              <a:rPr lang="en-US" sz="2000" dirty="0" err="1">
                <a:latin typeface="National semibold" panose="02000503000000020004"/>
              </a:rPr>
              <a:t>pandas.DataFrames</a:t>
            </a:r>
            <a:r>
              <a:rPr lang="en-US" sz="2000" dirty="0">
                <a:latin typeface="National semibold" panose="02000503000000020004"/>
              </a:rPr>
              <a:t>(data, index, columns, </a:t>
            </a:r>
            <a:r>
              <a:rPr lang="en-US" sz="2000" dirty="0" err="1">
                <a:latin typeface="National semibold" panose="02000503000000020004"/>
              </a:rPr>
              <a:t>dtype</a:t>
            </a:r>
            <a:r>
              <a:rPr lang="en-US" sz="2000" dirty="0">
                <a:latin typeface="National semibold" panose="02000503000000020004"/>
              </a:rPr>
              <a:t>, copy)</a:t>
            </a:r>
          </a:p>
          <a:p>
            <a:endParaRPr lang="en-US" dirty="0">
              <a:latin typeface="National semibold" panose="02000503000000020004"/>
            </a:endParaRPr>
          </a:p>
          <a:p>
            <a:pPr marL="109728" indent="0">
              <a:buNone/>
            </a:pPr>
            <a:endParaRPr lang="en-US" dirty="0">
              <a:latin typeface="National semibold" panose="02000503000000020004"/>
            </a:endParaRPr>
          </a:p>
        </p:txBody>
      </p:sp>
      <p:sp>
        <p:nvSpPr>
          <p:cNvPr id="4" name="Title 2"/>
          <p:cNvSpPr>
            <a:spLocks noGrp="1"/>
          </p:cNvSpPr>
          <p:nvPr>
            <p:ph type="title"/>
          </p:nvPr>
        </p:nvSpPr>
        <p:spPr>
          <a:xfrm>
            <a:off x="1979612" y="282521"/>
            <a:ext cx="8229600" cy="1143000"/>
          </a:xfrm>
        </p:spPr>
        <p:txBody>
          <a:bodyPr anchor="ctr"/>
          <a:lstStyle/>
          <a:p>
            <a:r>
              <a:rPr lang="en-US" b="1" dirty="0">
                <a:latin typeface="National semibold"/>
              </a:rPr>
              <a:t>Pandas</a:t>
            </a:r>
            <a:r>
              <a:rPr lang="en-US" dirty="0">
                <a:latin typeface="National semibold"/>
              </a:rPr>
              <a:t>: </a:t>
            </a:r>
            <a:r>
              <a:rPr lang="en-US" dirty="0" err="1">
                <a:latin typeface="National semibold"/>
              </a:rPr>
              <a:t>DataFrames</a:t>
            </a:r>
            <a:endParaRPr lang="en-US" dirty="0">
              <a:latin typeface="National semibold"/>
            </a:endParaRPr>
          </a:p>
        </p:txBody>
      </p:sp>
    </p:spTree>
    <p:extLst>
      <p:ext uri="{BB962C8B-B14F-4D97-AF65-F5344CB8AC3E}">
        <p14:creationId xmlns:p14="http://schemas.microsoft.com/office/powerpoint/2010/main" val="78800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435621" y="1015763"/>
            <a:ext cx="10471150" cy="5000625"/>
          </a:xfrm>
        </p:spPr>
        <p:txBody>
          <a:bodyPr>
            <a:noAutofit/>
          </a:bodyPr>
          <a:lstStyle/>
          <a:p>
            <a:r>
              <a:rPr lang="en-US" sz="1900" i="1" dirty="0">
                <a:solidFill>
                  <a:srgbClr val="FF0000"/>
                </a:solidFill>
                <a:latin typeface="National semibold" panose="02000503000000020004"/>
              </a:rPr>
              <a:t>Creating a </a:t>
            </a:r>
            <a:r>
              <a:rPr lang="en-US" sz="1900" i="1" dirty="0" err="1">
                <a:solidFill>
                  <a:srgbClr val="FF0000"/>
                </a:solidFill>
                <a:latin typeface="National semibold" panose="02000503000000020004"/>
              </a:rPr>
              <a:t>DataFrame</a:t>
            </a:r>
            <a:endParaRPr lang="en-US" sz="1900" i="1" dirty="0">
              <a:solidFill>
                <a:srgbClr val="FF0000"/>
              </a:solidFill>
              <a:latin typeface="National semibold" panose="02000503000000020004"/>
            </a:endParaRPr>
          </a:p>
          <a:p>
            <a:pPr marL="109728" indent="0">
              <a:buNone/>
            </a:pPr>
            <a:r>
              <a:rPr lang="en-US" sz="1900" dirty="0">
                <a:latin typeface="National semibold" panose="02000503000000020004"/>
              </a:rPr>
              <a:t>	dataset=</a:t>
            </a:r>
            <a:r>
              <a:rPr lang="en-US" sz="1900" dirty="0" err="1">
                <a:latin typeface="National semibold" panose="02000503000000020004"/>
              </a:rPr>
              <a:t>pd.DataFrame</a:t>
            </a:r>
            <a:r>
              <a:rPr lang="en-US" sz="1900" dirty="0">
                <a:latin typeface="National semibold" panose="02000503000000020004"/>
              </a:rPr>
              <a:t>(</a:t>
            </a:r>
            <a:r>
              <a:rPr lang="en-US" sz="2000" dirty="0" err="1">
                <a:latin typeface="National semibold" panose="02000503000000020004"/>
              </a:rPr>
              <a:t>np.ones</a:t>
            </a:r>
            <a:r>
              <a:rPr lang="en-US" sz="1900" dirty="0">
                <a:latin typeface="National semibold" panose="02000503000000020004"/>
              </a:rPr>
              <a:t>((4,5)),index=[‘P’ , ‘Q’ , ’R’ , ’S’],columns=[‘A’ , ’B’ , ’C’ , ’D’ , ’E’])</a:t>
            </a:r>
          </a:p>
          <a:p>
            <a:endParaRPr lang="en-US" sz="1900" i="1" dirty="0">
              <a:solidFill>
                <a:srgbClr val="FF0000"/>
              </a:solidFill>
              <a:latin typeface="National semibold" panose="02000503000000020004"/>
            </a:endParaRPr>
          </a:p>
          <a:p>
            <a:r>
              <a:rPr lang="en-US" sz="1900" i="1" dirty="0">
                <a:solidFill>
                  <a:srgbClr val="FF0000"/>
                </a:solidFill>
                <a:latin typeface="National semibold" panose="02000503000000020004"/>
              </a:rPr>
              <a:t>Retrieving the series values by indexing</a:t>
            </a:r>
          </a:p>
          <a:p>
            <a:pPr marL="630936" lvl="2" indent="0">
              <a:buNone/>
            </a:pPr>
            <a:r>
              <a:rPr lang="en-US" sz="1900" dirty="0">
                <a:latin typeface="National semibold" panose="02000503000000020004"/>
              </a:rPr>
              <a:t>	dataset[‘A’]</a:t>
            </a:r>
          </a:p>
          <a:p>
            <a:pPr marL="630936" lvl="2" indent="0">
              <a:buNone/>
            </a:pPr>
            <a:r>
              <a:rPr lang="en-US" sz="1900" dirty="0">
                <a:latin typeface="National semibold" panose="02000503000000020004"/>
              </a:rPr>
              <a:t>	dataset[[‘A’ , ’B’]]</a:t>
            </a:r>
          </a:p>
          <a:p>
            <a:endParaRPr lang="en-US" sz="1900" i="1" dirty="0">
              <a:solidFill>
                <a:srgbClr val="FF0000"/>
              </a:solidFill>
              <a:latin typeface="National semibold" panose="02000503000000020004"/>
            </a:endParaRPr>
          </a:p>
          <a:p>
            <a:r>
              <a:rPr lang="en-US" sz="1900" i="1" dirty="0">
                <a:solidFill>
                  <a:srgbClr val="FF0000"/>
                </a:solidFill>
                <a:latin typeface="National semibold" panose="02000503000000020004"/>
              </a:rPr>
              <a:t>Creating new columns with arithmetic operations</a:t>
            </a:r>
          </a:p>
          <a:p>
            <a:pPr marL="109728" indent="0">
              <a:buNone/>
            </a:pPr>
            <a:r>
              <a:rPr lang="en-US" sz="1900" dirty="0">
                <a:latin typeface="National semibold" panose="02000503000000020004"/>
              </a:rPr>
              <a:t>	dataset[‘F’] = dataset[‘A’] + dataset[‘B’]</a:t>
            </a:r>
          </a:p>
          <a:p>
            <a:pPr marL="109728" indent="0">
              <a:buNone/>
            </a:pPr>
            <a:r>
              <a:rPr lang="en-US" sz="1900" dirty="0">
                <a:latin typeface="National semibold" panose="02000503000000020004"/>
              </a:rPr>
              <a:t>	dataset[‘G’] = dataset[‘A’] - dataset[‘B’]</a:t>
            </a:r>
          </a:p>
        </p:txBody>
      </p:sp>
    </p:spTree>
    <p:extLst>
      <p:ext uri="{BB962C8B-B14F-4D97-AF65-F5344CB8AC3E}">
        <p14:creationId xmlns:p14="http://schemas.microsoft.com/office/powerpoint/2010/main" val="2513130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678675" y="1201003"/>
            <a:ext cx="8686800" cy="4114800"/>
          </a:xfrm>
        </p:spPr>
        <p:txBody>
          <a:bodyPr>
            <a:normAutofit/>
          </a:bodyPr>
          <a:lstStyle/>
          <a:p>
            <a:r>
              <a:rPr lang="en-US" sz="2000" i="1" dirty="0">
                <a:solidFill>
                  <a:srgbClr val="FF0000"/>
                </a:solidFill>
                <a:latin typeface="National semibold" panose="02000503000000020004"/>
              </a:rPr>
              <a:t>Dropping a column</a:t>
            </a:r>
          </a:p>
          <a:p>
            <a:pPr marL="109728" indent="0">
              <a:buNone/>
            </a:pPr>
            <a:r>
              <a:rPr lang="en-US" sz="2000" dirty="0">
                <a:latin typeface="National semibold" panose="02000503000000020004"/>
              </a:rPr>
              <a:t>	</a:t>
            </a:r>
            <a:r>
              <a:rPr lang="en-US" sz="2000" dirty="0" err="1">
                <a:latin typeface="National semibold" panose="02000503000000020004"/>
              </a:rPr>
              <a:t>dataset.drop</a:t>
            </a:r>
            <a:r>
              <a:rPr lang="en-US" sz="2000" dirty="0">
                <a:latin typeface="National semibold" panose="02000503000000020004"/>
              </a:rPr>
              <a:t>(‘</a:t>
            </a:r>
            <a:r>
              <a:rPr lang="en-US" sz="2000" dirty="0" err="1">
                <a:latin typeface="National semibold" panose="02000503000000020004"/>
              </a:rPr>
              <a:t>F’,axis</a:t>
            </a:r>
            <a:r>
              <a:rPr lang="en-US" sz="2000" dirty="0">
                <a:latin typeface="National semibold" panose="02000503000000020004"/>
              </a:rPr>
              <a:t>=1)</a:t>
            </a:r>
          </a:p>
          <a:p>
            <a:pPr marL="109728" indent="0">
              <a:buNone/>
            </a:pPr>
            <a:r>
              <a:rPr lang="en-US" sz="2000" dirty="0">
                <a:latin typeface="National semibold" panose="02000503000000020004"/>
              </a:rPr>
              <a:t>	</a:t>
            </a:r>
            <a:r>
              <a:rPr lang="en-US" sz="2000" dirty="0" err="1">
                <a:latin typeface="National semibold" panose="02000503000000020004"/>
              </a:rPr>
              <a:t>dataset.drop</a:t>
            </a:r>
            <a:r>
              <a:rPr lang="en-US" sz="2000" dirty="0">
                <a:latin typeface="National semibold" panose="02000503000000020004"/>
              </a:rPr>
              <a:t>(‘</a:t>
            </a:r>
            <a:r>
              <a:rPr lang="en-US" sz="2000" dirty="0" err="1">
                <a:latin typeface="National semibold" panose="02000503000000020004"/>
              </a:rPr>
              <a:t>F’,axis</a:t>
            </a:r>
            <a:r>
              <a:rPr lang="en-US" sz="2000" dirty="0">
                <a:latin typeface="National semibold" panose="02000503000000020004"/>
              </a:rPr>
              <a:t>=1,inplace=True)</a:t>
            </a:r>
          </a:p>
          <a:p>
            <a:pPr marL="109728" indent="0">
              <a:buNone/>
            </a:pPr>
            <a:endParaRPr lang="en-US" sz="2000" dirty="0">
              <a:latin typeface="National semibold" panose="02000503000000020004"/>
            </a:endParaRPr>
          </a:p>
          <a:p>
            <a:r>
              <a:rPr lang="en-US" sz="2000" i="1" dirty="0">
                <a:solidFill>
                  <a:srgbClr val="FF0000"/>
                </a:solidFill>
                <a:latin typeface="National semibold" panose="02000503000000020004"/>
              </a:rPr>
              <a:t>Dropping a row</a:t>
            </a:r>
          </a:p>
          <a:p>
            <a:pPr marL="109728" indent="0">
              <a:buNone/>
            </a:pPr>
            <a:r>
              <a:rPr lang="en-US" sz="2000" dirty="0">
                <a:latin typeface="National semibold" panose="02000503000000020004"/>
              </a:rPr>
              <a:t>	</a:t>
            </a:r>
            <a:r>
              <a:rPr lang="en-US" sz="2000" dirty="0" err="1">
                <a:latin typeface="National semibold" panose="02000503000000020004"/>
              </a:rPr>
              <a:t>dataset.drop</a:t>
            </a:r>
            <a:r>
              <a:rPr lang="en-US" sz="2000" dirty="0">
                <a:latin typeface="National semibold" panose="02000503000000020004"/>
              </a:rPr>
              <a:t>(‘P’, axis=0)</a:t>
            </a:r>
          </a:p>
          <a:p>
            <a:pPr marL="109728" indent="0">
              <a:buNone/>
            </a:pPr>
            <a:r>
              <a:rPr lang="en-US" sz="2000" dirty="0">
                <a:latin typeface="National semibold" panose="02000503000000020004"/>
              </a:rPr>
              <a:t>	</a:t>
            </a:r>
            <a:r>
              <a:rPr lang="en-US" sz="2000" dirty="0" err="1">
                <a:latin typeface="National semibold" panose="02000503000000020004"/>
              </a:rPr>
              <a:t>dataset.drop</a:t>
            </a:r>
            <a:r>
              <a:rPr lang="en-US" sz="2000" dirty="0">
                <a:latin typeface="National semibold" panose="02000503000000020004"/>
              </a:rPr>
              <a:t>(‘P’, axis=0 , </a:t>
            </a:r>
            <a:r>
              <a:rPr lang="en-US" sz="2000" dirty="0" err="1">
                <a:latin typeface="National semibold" panose="02000503000000020004"/>
              </a:rPr>
              <a:t>inplace</a:t>
            </a:r>
            <a:r>
              <a:rPr lang="en-US" sz="2000" dirty="0">
                <a:latin typeface="National semibold" panose="02000503000000020004"/>
              </a:rPr>
              <a:t>=True)</a:t>
            </a:r>
          </a:p>
          <a:p>
            <a:pPr marL="109728" indent="0">
              <a:buNone/>
            </a:pPr>
            <a:endParaRPr lang="en-US" sz="2800" dirty="0">
              <a:latin typeface="National semibold" panose="02000503000000020004"/>
            </a:endParaRPr>
          </a:p>
        </p:txBody>
      </p:sp>
    </p:spTree>
    <p:extLst>
      <p:ext uri="{BB962C8B-B14F-4D97-AF65-F5344CB8AC3E}">
        <p14:creationId xmlns:p14="http://schemas.microsoft.com/office/powerpoint/2010/main" val="3180349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637731" y="730392"/>
            <a:ext cx="8686800" cy="5729548"/>
          </a:xfrm>
        </p:spPr>
        <p:txBody>
          <a:bodyPr>
            <a:normAutofit/>
          </a:bodyPr>
          <a:lstStyle/>
          <a:p>
            <a:r>
              <a:rPr lang="en-US" sz="2000" i="1" dirty="0">
                <a:solidFill>
                  <a:srgbClr val="FF0000"/>
                </a:solidFill>
                <a:latin typeface="National semibold" panose="02000503000000020004"/>
              </a:rPr>
              <a:t>Selecting rows in the dataset</a:t>
            </a:r>
          </a:p>
          <a:p>
            <a:pPr marL="109728" indent="0">
              <a:buNone/>
            </a:pPr>
            <a:r>
              <a:rPr lang="en-US" sz="1800" dirty="0">
                <a:latin typeface="National semibold" panose="02000503000000020004"/>
              </a:rPr>
              <a:t>	</a:t>
            </a:r>
            <a:r>
              <a:rPr lang="en-US" sz="1800" dirty="0" err="1">
                <a:latin typeface="National semibold" panose="02000503000000020004"/>
              </a:rPr>
              <a:t>dataset.loc</a:t>
            </a:r>
            <a:r>
              <a:rPr lang="en-US" sz="1800" dirty="0">
                <a:latin typeface="National semibold" panose="02000503000000020004"/>
              </a:rPr>
              <a:t>[‘Q’] 	(selection based on label)</a:t>
            </a:r>
          </a:p>
          <a:p>
            <a:pPr marL="109728" indent="0">
              <a:buNone/>
            </a:pPr>
            <a:r>
              <a:rPr lang="en-US" sz="1800" dirty="0">
                <a:latin typeface="National semibold" panose="02000503000000020004"/>
              </a:rPr>
              <a:t>	</a:t>
            </a:r>
            <a:r>
              <a:rPr lang="en-US" sz="1800" dirty="0" err="1">
                <a:latin typeface="National semibold" panose="02000503000000020004"/>
              </a:rPr>
              <a:t>dataset.iloc</a:t>
            </a:r>
            <a:r>
              <a:rPr lang="en-US" sz="1800" dirty="0">
                <a:latin typeface="National semibold" panose="02000503000000020004"/>
              </a:rPr>
              <a:t>[0]		(selection based on position)</a:t>
            </a:r>
          </a:p>
          <a:p>
            <a:pPr marL="109728" indent="0">
              <a:buNone/>
            </a:pPr>
            <a:r>
              <a:rPr lang="en-US" sz="1800" dirty="0">
                <a:latin typeface="National semibold" panose="02000503000000020004"/>
              </a:rPr>
              <a:t>	</a:t>
            </a:r>
            <a:r>
              <a:rPr lang="en-US" sz="1800" dirty="0" err="1">
                <a:latin typeface="National semibold" panose="02000503000000020004"/>
              </a:rPr>
              <a:t>dataset.iloc</a:t>
            </a:r>
            <a:r>
              <a:rPr lang="en-US" sz="1800" dirty="0">
                <a:latin typeface="National semibold" panose="02000503000000020004"/>
              </a:rPr>
              <a:t>[: , :-1]	(selection a subset based on position)</a:t>
            </a:r>
          </a:p>
          <a:p>
            <a:pPr marL="109728" indent="0">
              <a:buNone/>
            </a:pPr>
            <a:r>
              <a:rPr lang="en-US" sz="1800" dirty="0">
                <a:latin typeface="National semibold" panose="02000503000000020004"/>
              </a:rPr>
              <a:t>	</a:t>
            </a:r>
            <a:r>
              <a:rPr lang="en-US" sz="1800" dirty="0" err="1">
                <a:latin typeface="National semibold" panose="02000503000000020004"/>
              </a:rPr>
              <a:t>dataset.iloc</a:t>
            </a:r>
            <a:r>
              <a:rPr lang="en-US" sz="1800" dirty="0">
                <a:latin typeface="National semibold" panose="02000503000000020004"/>
              </a:rPr>
              <a:t>[:2 , 1:3]	(selection a subset based on position)</a:t>
            </a:r>
          </a:p>
          <a:p>
            <a:pPr marL="109728" indent="0">
              <a:buNone/>
            </a:pPr>
            <a:r>
              <a:rPr lang="en-US" sz="1800" dirty="0">
                <a:latin typeface="National semibold" panose="02000503000000020004"/>
              </a:rPr>
              <a:t>	</a:t>
            </a:r>
            <a:r>
              <a:rPr lang="en-US" sz="1800" dirty="0" err="1">
                <a:latin typeface="National semibold" panose="02000503000000020004"/>
              </a:rPr>
              <a:t>dataset.loc</a:t>
            </a:r>
            <a:r>
              <a:rPr lang="en-US" sz="1800" dirty="0">
                <a:latin typeface="National semibold" panose="02000503000000020004"/>
              </a:rPr>
              <a:t>[‘Q’ , ’A’] 	(selection based on label)</a:t>
            </a:r>
          </a:p>
          <a:p>
            <a:pPr marL="109728" indent="0">
              <a:buNone/>
            </a:pPr>
            <a:r>
              <a:rPr lang="en-US" sz="1800" dirty="0">
                <a:latin typeface="National semibold" panose="02000503000000020004"/>
              </a:rPr>
              <a:t>	</a:t>
            </a:r>
            <a:r>
              <a:rPr lang="en-US" sz="1800" dirty="0" err="1">
                <a:latin typeface="National semibold" panose="02000503000000020004"/>
              </a:rPr>
              <a:t>dataset.loc</a:t>
            </a:r>
            <a:r>
              <a:rPr lang="en-US" sz="1800" dirty="0">
                <a:latin typeface="National semibold" panose="02000503000000020004"/>
              </a:rPr>
              <a:t>[[‘Q’ , ’R’],[’B’ , ’C’]] 	(selection based on label)</a:t>
            </a:r>
            <a:endParaRPr lang="en-US" sz="1800" i="1" dirty="0">
              <a:solidFill>
                <a:srgbClr val="FF0000"/>
              </a:solidFill>
              <a:latin typeface="National semibold" panose="02000503000000020004"/>
            </a:endParaRPr>
          </a:p>
          <a:p>
            <a:endParaRPr lang="en-US" sz="2000" i="1" dirty="0">
              <a:solidFill>
                <a:srgbClr val="FF0000"/>
              </a:solidFill>
              <a:latin typeface="National semibold" panose="02000503000000020004"/>
            </a:endParaRPr>
          </a:p>
          <a:p>
            <a:r>
              <a:rPr lang="en-US" sz="2000" i="1" dirty="0">
                <a:solidFill>
                  <a:srgbClr val="FF0000"/>
                </a:solidFill>
                <a:latin typeface="National semibold" panose="02000503000000020004"/>
              </a:rPr>
              <a:t>Conditional selection</a:t>
            </a:r>
          </a:p>
          <a:p>
            <a:pPr marL="630936" lvl="2" indent="0">
              <a:buNone/>
            </a:pPr>
            <a:r>
              <a:rPr lang="en-US" sz="2000" dirty="0">
                <a:latin typeface="National semibold" panose="02000503000000020004"/>
              </a:rPr>
              <a:t>	</a:t>
            </a:r>
            <a:r>
              <a:rPr lang="en-US" dirty="0">
                <a:latin typeface="National semibold" panose="02000503000000020004"/>
              </a:rPr>
              <a:t>dataset&gt;0</a:t>
            </a:r>
          </a:p>
          <a:p>
            <a:pPr marL="630936" lvl="2" indent="0">
              <a:buNone/>
            </a:pPr>
            <a:r>
              <a:rPr lang="en-US" dirty="0">
                <a:latin typeface="National semibold" panose="02000503000000020004"/>
              </a:rPr>
              <a:t>	dataset[dataset&gt;0]</a:t>
            </a:r>
          </a:p>
          <a:p>
            <a:pPr marL="630936" lvl="2" indent="0">
              <a:buNone/>
            </a:pPr>
            <a:r>
              <a:rPr lang="en-US" dirty="0">
                <a:latin typeface="National semibold" panose="02000503000000020004"/>
              </a:rPr>
              <a:t>	dataset[(dataset[‘A’]&gt;0) &amp; (dataset[‘B’]&gt;0)]</a:t>
            </a:r>
          </a:p>
        </p:txBody>
      </p:sp>
    </p:spTree>
    <p:extLst>
      <p:ext uri="{BB962C8B-B14F-4D97-AF65-F5344CB8AC3E}">
        <p14:creationId xmlns:p14="http://schemas.microsoft.com/office/powerpoint/2010/main" val="84100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644503" y="2365828"/>
            <a:ext cx="9576390" cy="3882571"/>
          </a:xfrm>
        </p:spPr>
        <p:txBody>
          <a:bodyPr>
            <a:normAutofit/>
          </a:bodyPr>
          <a:lstStyle/>
          <a:p>
            <a:pPr marL="109728" indent="0">
              <a:buNone/>
            </a:pPr>
            <a:r>
              <a:rPr lang="en-US" dirty="0">
                <a:latin typeface="National semibold" panose="02000503000000020004"/>
              </a:rPr>
              <a:t>It is an API (Application Programming Interface) that allows to upload market data for many securities including cryptocurrencies</a:t>
            </a:r>
          </a:p>
          <a:p>
            <a:pPr marL="109728" indent="0">
              <a:buNone/>
            </a:pPr>
            <a:endParaRPr lang="en-US" sz="2800" dirty="0">
              <a:solidFill>
                <a:srgbClr val="FF0000"/>
              </a:solidFill>
            </a:endParaRPr>
          </a:p>
        </p:txBody>
      </p:sp>
      <p:sp>
        <p:nvSpPr>
          <p:cNvPr id="4" name="Title 2"/>
          <p:cNvSpPr>
            <a:spLocks noGrp="1"/>
          </p:cNvSpPr>
          <p:nvPr>
            <p:ph type="title"/>
          </p:nvPr>
        </p:nvSpPr>
        <p:spPr>
          <a:xfrm>
            <a:off x="1979612" y="274638"/>
            <a:ext cx="8229600" cy="1143000"/>
          </a:xfrm>
        </p:spPr>
        <p:txBody>
          <a:bodyPr anchor="ctr"/>
          <a:lstStyle/>
          <a:p>
            <a:r>
              <a:rPr lang="en-US" b="1" dirty="0" err="1">
                <a:latin typeface="National semibold" panose="02000503000000020004"/>
              </a:rPr>
              <a:t>yfinace</a:t>
            </a:r>
            <a:r>
              <a:rPr lang="en-US" dirty="0">
                <a:latin typeface="National semibold" panose="02000503000000020004"/>
              </a:rPr>
              <a:t>: Market data from Yahoo!</a:t>
            </a:r>
          </a:p>
        </p:txBody>
      </p:sp>
    </p:spTree>
    <p:extLst>
      <p:ext uri="{BB962C8B-B14F-4D97-AF65-F5344CB8AC3E}">
        <p14:creationId xmlns:p14="http://schemas.microsoft.com/office/powerpoint/2010/main" val="43223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919785" y="1277370"/>
            <a:ext cx="8229600" cy="4170362"/>
          </a:xfrm>
        </p:spPr>
        <p:txBody>
          <a:bodyPr>
            <a:noAutofit/>
          </a:bodyPr>
          <a:lstStyle/>
          <a:p>
            <a:pPr marL="452628" indent="-342900"/>
            <a:r>
              <a:rPr lang="en-US" sz="2000" i="1" dirty="0">
                <a:solidFill>
                  <a:srgbClr val="FF0000"/>
                </a:solidFill>
                <a:latin typeface="National semibold" panose="02000503000000020004"/>
              </a:rPr>
              <a:t>We first need to install </a:t>
            </a:r>
            <a:r>
              <a:rPr lang="en-US" sz="2000" i="1" dirty="0" err="1">
                <a:solidFill>
                  <a:srgbClr val="FF0000"/>
                </a:solidFill>
                <a:latin typeface="National semibold" panose="02000503000000020004"/>
              </a:rPr>
              <a:t>yfinace</a:t>
            </a:r>
            <a:r>
              <a:rPr lang="en-US" sz="2000" i="1" dirty="0">
                <a:solidFill>
                  <a:srgbClr val="FF0000"/>
                </a:solidFill>
                <a:latin typeface="National semibold" panose="02000503000000020004"/>
              </a:rPr>
              <a:t>:</a:t>
            </a:r>
          </a:p>
          <a:p>
            <a:pPr marL="109728" indent="0">
              <a:buNone/>
            </a:pPr>
            <a:r>
              <a:rPr lang="en-US" sz="2000" dirty="0">
                <a:latin typeface="National semibold" panose="02000503000000020004"/>
              </a:rPr>
              <a:t>	pip install </a:t>
            </a:r>
            <a:r>
              <a:rPr lang="en-US" sz="2000" dirty="0" err="1">
                <a:latin typeface="National semibold" panose="02000503000000020004"/>
              </a:rPr>
              <a:t>yfinance</a:t>
            </a:r>
            <a:endParaRPr lang="en-US" sz="2000" dirty="0">
              <a:latin typeface="National semibold" panose="02000503000000020004"/>
            </a:endParaRPr>
          </a:p>
          <a:p>
            <a:pPr marL="109728" indent="0">
              <a:buNone/>
            </a:pPr>
            <a:r>
              <a:rPr lang="en-US" sz="2000" dirty="0">
                <a:latin typeface="National semibold" panose="02000503000000020004"/>
              </a:rPr>
              <a:t>	</a:t>
            </a:r>
          </a:p>
          <a:p>
            <a:pPr marL="452628" indent="-342900"/>
            <a:r>
              <a:rPr lang="en-US" sz="2000" i="1" dirty="0">
                <a:solidFill>
                  <a:srgbClr val="FF0000"/>
                </a:solidFill>
                <a:latin typeface="National semibold" panose="02000503000000020004"/>
              </a:rPr>
              <a:t>Next we need to import the libraries in Python:</a:t>
            </a:r>
          </a:p>
          <a:p>
            <a:pPr marL="109728" indent="0">
              <a:buNone/>
            </a:pPr>
            <a:r>
              <a:rPr lang="en-US" sz="2000" dirty="0">
                <a:latin typeface="National semibold" panose="02000503000000020004"/>
              </a:rPr>
              <a:t>	import </a:t>
            </a:r>
            <a:r>
              <a:rPr lang="en-US" sz="2000" dirty="0" err="1">
                <a:latin typeface="National semibold" panose="02000503000000020004"/>
              </a:rPr>
              <a:t>yfinance</a:t>
            </a:r>
            <a:r>
              <a:rPr lang="en-US" sz="2000" dirty="0">
                <a:latin typeface="National semibold" panose="02000503000000020004"/>
              </a:rPr>
              <a:t> as </a:t>
            </a:r>
            <a:r>
              <a:rPr lang="en-US" sz="2000" dirty="0" err="1">
                <a:latin typeface="National semibold" panose="02000503000000020004"/>
              </a:rPr>
              <a:t>yf</a:t>
            </a:r>
            <a:endParaRPr lang="en-US" sz="2000" dirty="0">
              <a:latin typeface="National semibold" panose="02000503000000020004"/>
            </a:endParaRPr>
          </a:p>
          <a:p>
            <a:pPr marL="109728" indent="0">
              <a:buNone/>
            </a:pPr>
            <a:r>
              <a:rPr lang="en-US" sz="2000" dirty="0">
                <a:latin typeface="National semibold" panose="02000503000000020004"/>
              </a:rPr>
              <a:t>	</a:t>
            </a:r>
          </a:p>
          <a:p>
            <a:pPr marL="452628" indent="-342900"/>
            <a:r>
              <a:rPr lang="en-US" sz="2000" i="1" dirty="0">
                <a:solidFill>
                  <a:srgbClr val="FF0000"/>
                </a:solidFill>
                <a:latin typeface="National semibold" panose="02000503000000020004"/>
              </a:rPr>
              <a:t>We also import the following:</a:t>
            </a:r>
          </a:p>
          <a:p>
            <a:pPr marL="109728" indent="0">
              <a:buNone/>
            </a:pPr>
            <a:r>
              <a:rPr lang="en-US" sz="2000" dirty="0">
                <a:latin typeface="National semibold" panose="02000503000000020004"/>
              </a:rPr>
              <a:t>	import datetime as dt</a:t>
            </a:r>
          </a:p>
          <a:p>
            <a:pPr marL="109728" indent="0">
              <a:buNone/>
            </a:pPr>
            <a:r>
              <a:rPr lang="en-US" sz="2000" dirty="0">
                <a:latin typeface="National semibold" panose="02000503000000020004"/>
              </a:rPr>
              <a:t>	import </a:t>
            </a:r>
            <a:r>
              <a:rPr lang="en-US" sz="2000" dirty="0" err="1">
                <a:latin typeface="National semibold" panose="02000503000000020004"/>
              </a:rPr>
              <a:t>matplotlib.pyplot</a:t>
            </a:r>
            <a:r>
              <a:rPr lang="en-US" sz="2000" dirty="0">
                <a:latin typeface="National semibold" panose="02000503000000020004"/>
              </a:rPr>
              <a:t> as </a:t>
            </a:r>
            <a:r>
              <a:rPr lang="en-US" sz="2000" dirty="0" err="1">
                <a:latin typeface="National semibold" panose="02000503000000020004"/>
              </a:rPr>
              <a:t>plt</a:t>
            </a:r>
            <a:endParaRPr lang="en-US" sz="2000" dirty="0">
              <a:latin typeface="National semibold" panose="02000503000000020004"/>
            </a:endParaRPr>
          </a:p>
        </p:txBody>
      </p:sp>
    </p:spTree>
    <p:extLst>
      <p:ext uri="{BB962C8B-B14F-4D97-AF65-F5344CB8AC3E}">
        <p14:creationId xmlns:p14="http://schemas.microsoft.com/office/powerpoint/2010/main" val="233572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79612" y="1808017"/>
            <a:ext cx="8229600" cy="4904509"/>
          </a:xfrm>
        </p:spPr>
        <p:txBody>
          <a:bodyPr>
            <a:noAutofit/>
          </a:bodyPr>
          <a:lstStyle/>
          <a:p>
            <a:pPr marL="109728" indent="0">
              <a:buNone/>
            </a:pPr>
            <a:r>
              <a:rPr lang="en-US" sz="1600" i="1" dirty="0">
                <a:solidFill>
                  <a:srgbClr val="FF0000"/>
                </a:solidFill>
                <a:latin typeface="National semibold" panose="02000503000000020004"/>
              </a:rPr>
              <a:t>Set the initial and final date for data extraction:</a:t>
            </a:r>
          </a:p>
          <a:p>
            <a:pPr marL="109728" indent="0">
              <a:buNone/>
            </a:pPr>
            <a:r>
              <a:rPr lang="en-US" sz="1600" dirty="0">
                <a:latin typeface="National semibold" panose="02000503000000020004"/>
              </a:rPr>
              <a:t>	start = </a:t>
            </a:r>
            <a:r>
              <a:rPr lang="en-US" sz="1600" dirty="0" err="1">
                <a:latin typeface="National semibold" panose="02000503000000020004"/>
              </a:rPr>
              <a:t>dt.datetime</a:t>
            </a:r>
            <a:r>
              <a:rPr lang="en-US" sz="1600" dirty="0">
                <a:latin typeface="National semibold" panose="02000503000000020004"/>
              </a:rPr>
              <a:t>(2000,1,1)</a:t>
            </a:r>
          </a:p>
          <a:p>
            <a:pPr marL="109728" indent="0">
              <a:buNone/>
            </a:pPr>
            <a:r>
              <a:rPr lang="en-US" sz="1600" dirty="0">
                <a:latin typeface="National semibold" panose="02000503000000020004"/>
              </a:rPr>
              <a:t>	end = </a:t>
            </a:r>
            <a:r>
              <a:rPr lang="en-US" sz="1600" dirty="0" err="1">
                <a:latin typeface="National semibold" panose="02000503000000020004"/>
              </a:rPr>
              <a:t>dt.datetime.now</a:t>
            </a:r>
            <a:r>
              <a:rPr lang="en-US" sz="1600" dirty="0">
                <a:latin typeface="National semibold" panose="02000503000000020004"/>
              </a:rPr>
              <a:t>()</a:t>
            </a:r>
          </a:p>
          <a:p>
            <a:pPr marL="109728" indent="0">
              <a:buNone/>
            </a:pPr>
            <a:r>
              <a:rPr lang="en-US" sz="1600" i="1" dirty="0">
                <a:solidFill>
                  <a:srgbClr val="FF0000"/>
                </a:solidFill>
                <a:latin typeface="National semibold" panose="02000503000000020004"/>
              </a:rPr>
              <a:t>Download data for bitcoin, ether and tether:</a:t>
            </a:r>
          </a:p>
          <a:p>
            <a:pPr marL="109728" indent="0">
              <a:buNone/>
            </a:pPr>
            <a:r>
              <a:rPr lang="en-US" sz="1600" dirty="0">
                <a:latin typeface="National semibold" panose="02000503000000020004"/>
              </a:rPr>
              <a:t>	</a:t>
            </a:r>
            <a:r>
              <a:rPr lang="en-US" sz="1600" dirty="0" err="1">
                <a:latin typeface="National semibold" panose="02000503000000020004"/>
              </a:rPr>
              <a:t>btc</a:t>
            </a:r>
            <a:r>
              <a:rPr lang="en-US" sz="1600" dirty="0">
                <a:latin typeface="National semibold" panose="02000503000000020004"/>
              </a:rPr>
              <a:t> = </a:t>
            </a:r>
            <a:r>
              <a:rPr lang="en-US" sz="1600" dirty="0" err="1">
                <a:latin typeface="National semibold" panose="02000503000000020004"/>
              </a:rPr>
              <a:t>yf.download</a:t>
            </a:r>
            <a:r>
              <a:rPr lang="en-US" sz="1600" dirty="0">
                <a:latin typeface="National semibold" panose="02000503000000020004"/>
              </a:rPr>
              <a:t>('BTC-USD', start, end, progress=False)</a:t>
            </a:r>
          </a:p>
          <a:p>
            <a:pPr marL="109728" indent="0">
              <a:buNone/>
            </a:pPr>
            <a:r>
              <a:rPr lang="en-US" sz="1600" dirty="0">
                <a:latin typeface="National semibold" panose="02000503000000020004"/>
              </a:rPr>
              <a:t>	</a:t>
            </a:r>
            <a:r>
              <a:rPr lang="en-US" sz="1600" dirty="0" err="1">
                <a:latin typeface="National semibold" panose="02000503000000020004"/>
              </a:rPr>
              <a:t>tet</a:t>
            </a:r>
            <a:r>
              <a:rPr lang="en-US" sz="1600" dirty="0">
                <a:latin typeface="National semibold" panose="02000503000000020004"/>
              </a:rPr>
              <a:t> = </a:t>
            </a:r>
            <a:r>
              <a:rPr lang="en-US" sz="1600" dirty="0" err="1">
                <a:latin typeface="National semibold" panose="02000503000000020004"/>
              </a:rPr>
              <a:t>yf.download</a:t>
            </a:r>
            <a:r>
              <a:rPr lang="en-US" sz="1600" dirty="0">
                <a:latin typeface="National semibold" panose="02000503000000020004"/>
              </a:rPr>
              <a:t>('USDT-USD', start, end, progress=False)</a:t>
            </a:r>
          </a:p>
          <a:p>
            <a:pPr marL="109728" indent="0">
              <a:buNone/>
            </a:pPr>
            <a:r>
              <a:rPr lang="en-US" sz="1600" i="1" dirty="0">
                <a:solidFill>
                  <a:srgbClr val="FF0000"/>
                </a:solidFill>
                <a:latin typeface="National semibold" panose="02000503000000020004"/>
              </a:rPr>
              <a:t>Show downloaded data:</a:t>
            </a:r>
          </a:p>
          <a:p>
            <a:pPr marL="109728" indent="0">
              <a:buNone/>
            </a:pPr>
            <a:r>
              <a:rPr lang="en-US" sz="1600" dirty="0">
                <a:latin typeface="National semibold" panose="02000503000000020004"/>
              </a:rPr>
              <a:t>	</a:t>
            </a:r>
            <a:r>
              <a:rPr lang="en-US" sz="1600" dirty="0" err="1">
                <a:latin typeface="National semibold" panose="02000503000000020004"/>
              </a:rPr>
              <a:t>btc.head</a:t>
            </a:r>
            <a:r>
              <a:rPr lang="en-US" sz="1600" dirty="0">
                <a:latin typeface="National semibold" panose="02000503000000020004"/>
              </a:rPr>
              <a:t>()</a:t>
            </a:r>
          </a:p>
          <a:p>
            <a:pPr marL="109728" indent="0">
              <a:buNone/>
            </a:pPr>
            <a:r>
              <a:rPr lang="en-US" sz="1600" i="1" dirty="0">
                <a:solidFill>
                  <a:srgbClr val="FF0000"/>
                </a:solidFill>
                <a:latin typeface="National semibold" panose="02000503000000020004"/>
              </a:rPr>
              <a:t>Plot prices for bitcoin and ether at Adjusted Close:</a:t>
            </a:r>
          </a:p>
          <a:p>
            <a:pPr marL="109728" indent="0">
              <a:buNone/>
            </a:pPr>
            <a:r>
              <a:rPr lang="en-US" sz="1600" dirty="0">
                <a:latin typeface="National semibold" panose="02000503000000020004"/>
              </a:rPr>
              <a:t>	</a:t>
            </a:r>
            <a:r>
              <a:rPr lang="en-US" sz="1600" dirty="0" err="1">
                <a:latin typeface="National semibold" panose="02000503000000020004"/>
              </a:rPr>
              <a:t>btc</a:t>
            </a:r>
            <a:r>
              <a:rPr lang="en-US" sz="1600" dirty="0">
                <a:latin typeface="National semibold" panose="02000503000000020004"/>
              </a:rPr>
              <a:t>[‘Adj Close'].plot(title="Bitcoin price")</a:t>
            </a:r>
          </a:p>
          <a:p>
            <a:pPr marL="109728" indent="0">
              <a:buNone/>
            </a:pPr>
            <a:r>
              <a:rPr lang="en-US" sz="1600" dirty="0">
                <a:latin typeface="National semibold" panose="02000503000000020004"/>
              </a:rPr>
              <a:t>	</a:t>
            </a:r>
            <a:r>
              <a:rPr lang="en-US" sz="1600" dirty="0" err="1">
                <a:latin typeface="National semibold" panose="02000503000000020004"/>
              </a:rPr>
              <a:t>plt.show</a:t>
            </a:r>
            <a:r>
              <a:rPr lang="en-US" sz="1600" dirty="0">
                <a:latin typeface="National semibold" panose="02000503000000020004"/>
              </a:rPr>
              <a:t>()</a:t>
            </a:r>
          </a:p>
        </p:txBody>
      </p:sp>
      <p:sp>
        <p:nvSpPr>
          <p:cNvPr id="4" name="Title 2"/>
          <p:cNvSpPr>
            <a:spLocks noGrp="1"/>
          </p:cNvSpPr>
          <p:nvPr>
            <p:ph type="title"/>
          </p:nvPr>
        </p:nvSpPr>
        <p:spPr>
          <a:xfrm>
            <a:off x="1979612" y="274638"/>
            <a:ext cx="8229600" cy="1143000"/>
          </a:xfrm>
        </p:spPr>
        <p:txBody>
          <a:bodyPr anchor="ctr"/>
          <a:lstStyle/>
          <a:p>
            <a:r>
              <a:rPr lang="en-US" b="1" dirty="0">
                <a:latin typeface="National semibold" panose="02000503000000020004"/>
              </a:rPr>
              <a:t>Python instructions for using </a:t>
            </a:r>
            <a:r>
              <a:rPr lang="en-US" b="1" dirty="0" err="1">
                <a:latin typeface="National semibold" panose="02000503000000020004"/>
              </a:rPr>
              <a:t>yfinace</a:t>
            </a:r>
            <a:endParaRPr lang="en-US" b="1" dirty="0">
              <a:latin typeface="National semibold" panose="02000503000000020004"/>
            </a:endParaRPr>
          </a:p>
        </p:txBody>
      </p:sp>
    </p:spTree>
    <p:extLst>
      <p:ext uri="{BB962C8B-B14F-4D97-AF65-F5344CB8AC3E}">
        <p14:creationId xmlns:p14="http://schemas.microsoft.com/office/powerpoint/2010/main" val="1237003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789612" y="661851"/>
            <a:ext cx="9126582" cy="5573485"/>
          </a:xfrm>
        </p:spPr>
        <p:txBody>
          <a:bodyPr>
            <a:normAutofit fontScale="85000" lnSpcReduction="20000"/>
          </a:bodyPr>
          <a:lstStyle/>
          <a:p>
            <a:pPr marL="109728" indent="0">
              <a:buNone/>
            </a:pPr>
            <a:r>
              <a:rPr lang="en-US" sz="1900" i="1" dirty="0">
                <a:solidFill>
                  <a:srgbClr val="FF0000"/>
                </a:solidFill>
                <a:latin typeface="National semibold" panose="02000503000000020004"/>
              </a:rPr>
              <a:t>Download data for some stocks: Tesla, Amazon, Goldman Sachs</a:t>
            </a:r>
          </a:p>
          <a:p>
            <a:pPr marL="109728" indent="0">
              <a:buNone/>
            </a:pPr>
            <a:r>
              <a:rPr lang="en-US" sz="1900" dirty="0">
                <a:latin typeface="National semibold" panose="02000503000000020004"/>
              </a:rPr>
              <a:t>	</a:t>
            </a:r>
            <a:r>
              <a:rPr lang="en-US" sz="1900" dirty="0" err="1">
                <a:latin typeface="National semibold" panose="02000503000000020004"/>
              </a:rPr>
              <a:t>tsl</a:t>
            </a:r>
            <a:r>
              <a:rPr lang="en-US" sz="1900" dirty="0">
                <a:latin typeface="National semibold" panose="02000503000000020004"/>
              </a:rPr>
              <a:t> = </a:t>
            </a:r>
            <a:r>
              <a:rPr lang="en-US" sz="1900" dirty="0" err="1">
                <a:latin typeface="National semibold" panose="02000503000000020004"/>
              </a:rPr>
              <a:t>yf.download</a:t>
            </a:r>
            <a:r>
              <a:rPr lang="en-US" sz="1900" dirty="0">
                <a:latin typeface="National semibold" panose="02000503000000020004"/>
              </a:rPr>
              <a:t>('TSLA', start='2020-01-01', progress=False)</a:t>
            </a:r>
          </a:p>
          <a:p>
            <a:pPr marL="109728" indent="0">
              <a:buNone/>
            </a:pPr>
            <a:r>
              <a:rPr lang="en-US" sz="1900" dirty="0">
                <a:latin typeface="National semibold" panose="02000503000000020004"/>
              </a:rPr>
              <a:t>	</a:t>
            </a:r>
            <a:r>
              <a:rPr lang="en-US" sz="1900" dirty="0" err="1">
                <a:latin typeface="National semibold" panose="02000503000000020004"/>
              </a:rPr>
              <a:t>amz</a:t>
            </a:r>
            <a:r>
              <a:rPr lang="en-US" sz="1900" dirty="0">
                <a:latin typeface="National semibold" panose="02000503000000020004"/>
              </a:rPr>
              <a:t> = </a:t>
            </a:r>
            <a:r>
              <a:rPr lang="en-US" sz="1900" dirty="0" err="1">
                <a:latin typeface="National semibold" panose="02000503000000020004"/>
              </a:rPr>
              <a:t>yf.download</a:t>
            </a:r>
            <a:r>
              <a:rPr lang="en-US" sz="1900" dirty="0">
                <a:latin typeface="National semibold" panose="02000503000000020004"/>
              </a:rPr>
              <a:t>('AMZN', start='2020-01-01', progress=False)	</a:t>
            </a:r>
          </a:p>
          <a:p>
            <a:pPr marL="109728" indent="0">
              <a:buNone/>
            </a:pPr>
            <a:r>
              <a:rPr lang="en-US" sz="1900" dirty="0">
                <a:latin typeface="National semibold" panose="02000503000000020004"/>
              </a:rPr>
              <a:t>	</a:t>
            </a:r>
            <a:r>
              <a:rPr lang="en-US" sz="1900" dirty="0" err="1">
                <a:latin typeface="National semibold" panose="02000503000000020004"/>
              </a:rPr>
              <a:t>gs</a:t>
            </a:r>
            <a:r>
              <a:rPr lang="en-US" sz="1900" dirty="0">
                <a:latin typeface="National semibold" panose="02000503000000020004"/>
              </a:rPr>
              <a:t> = </a:t>
            </a:r>
            <a:r>
              <a:rPr lang="en-US" sz="1900" dirty="0" err="1">
                <a:latin typeface="National semibold" panose="02000503000000020004"/>
              </a:rPr>
              <a:t>yf.download</a:t>
            </a:r>
            <a:r>
              <a:rPr lang="en-US" sz="1900" dirty="0">
                <a:latin typeface="National semibold" panose="02000503000000020004"/>
              </a:rPr>
              <a:t>('GS', start='2020-01-01', progress=False)	</a:t>
            </a:r>
            <a:endParaRPr lang="en-US" sz="1900" i="1" dirty="0">
              <a:solidFill>
                <a:srgbClr val="FF0000"/>
              </a:solidFill>
              <a:latin typeface="National semibold" panose="02000503000000020004"/>
            </a:endParaRPr>
          </a:p>
          <a:p>
            <a:pPr marL="109728" indent="0">
              <a:buNone/>
            </a:pPr>
            <a:r>
              <a:rPr lang="en-US" sz="1900" i="1" dirty="0">
                <a:solidFill>
                  <a:srgbClr val="FF0000"/>
                </a:solidFill>
                <a:latin typeface="National semibold" panose="02000503000000020004"/>
              </a:rPr>
              <a:t>Plot price for Tesla:</a:t>
            </a:r>
          </a:p>
          <a:p>
            <a:pPr marL="109728" indent="0">
              <a:buNone/>
            </a:pPr>
            <a:r>
              <a:rPr lang="en-US" sz="1900" dirty="0">
                <a:latin typeface="National semibold" panose="02000503000000020004"/>
              </a:rPr>
              <a:t>	</a:t>
            </a:r>
            <a:r>
              <a:rPr lang="en-US" sz="1900" dirty="0" err="1">
                <a:latin typeface="National semibold" panose="02000503000000020004"/>
              </a:rPr>
              <a:t>tsl</a:t>
            </a:r>
            <a:r>
              <a:rPr lang="en-US" sz="1900" dirty="0">
                <a:latin typeface="National semibold" panose="02000503000000020004"/>
              </a:rPr>
              <a:t>[‘Adj Close'].plot(title="Tesla price") </a:t>
            </a:r>
          </a:p>
          <a:p>
            <a:pPr marL="109728" indent="0">
              <a:buNone/>
            </a:pPr>
            <a:r>
              <a:rPr lang="en-US" sz="1900" dirty="0">
                <a:latin typeface="National semibold" panose="02000503000000020004"/>
              </a:rPr>
              <a:t>	</a:t>
            </a:r>
            <a:r>
              <a:rPr lang="en-US" sz="1900" dirty="0" err="1">
                <a:latin typeface="National semibold" panose="02000503000000020004"/>
              </a:rPr>
              <a:t>plt.show</a:t>
            </a:r>
            <a:r>
              <a:rPr lang="en-US" sz="1900" dirty="0">
                <a:latin typeface="National semibold" panose="02000503000000020004"/>
              </a:rPr>
              <a:t>()	</a:t>
            </a:r>
          </a:p>
          <a:p>
            <a:pPr marL="109728" indent="0">
              <a:buNone/>
            </a:pPr>
            <a:r>
              <a:rPr lang="en-US" sz="1900" i="1" dirty="0">
                <a:solidFill>
                  <a:srgbClr val="FF0000"/>
                </a:solidFill>
                <a:latin typeface="National semibold" panose="02000503000000020004"/>
              </a:rPr>
              <a:t>Download data for some currencies: Euro, Canadian Dollar , Brazilian Real</a:t>
            </a:r>
          </a:p>
          <a:p>
            <a:pPr marL="109728" indent="0">
              <a:buNone/>
            </a:pPr>
            <a:r>
              <a:rPr lang="en-US" sz="1900" dirty="0">
                <a:latin typeface="National semibold" panose="02000503000000020004"/>
              </a:rPr>
              <a:t>	</a:t>
            </a:r>
            <a:r>
              <a:rPr lang="en-US" sz="1900" dirty="0" err="1">
                <a:latin typeface="National semibold" panose="02000503000000020004"/>
              </a:rPr>
              <a:t>eur</a:t>
            </a:r>
            <a:r>
              <a:rPr lang="en-US" sz="1900" dirty="0">
                <a:latin typeface="National semibold" panose="02000503000000020004"/>
              </a:rPr>
              <a:t> = </a:t>
            </a:r>
            <a:r>
              <a:rPr lang="en-US" sz="1900" dirty="0" err="1">
                <a:latin typeface="National semibold" panose="02000503000000020004"/>
              </a:rPr>
              <a:t>yf.download</a:t>
            </a:r>
            <a:r>
              <a:rPr lang="en-US" sz="1900" dirty="0">
                <a:latin typeface="National semibold" panose="02000503000000020004"/>
              </a:rPr>
              <a:t>('EURUSD=X', start='2020-01-01', progress=False)</a:t>
            </a:r>
          </a:p>
          <a:p>
            <a:pPr marL="109728" indent="0">
              <a:buNone/>
            </a:pPr>
            <a:r>
              <a:rPr lang="en-US" sz="1900" dirty="0">
                <a:latin typeface="National semibold" panose="02000503000000020004"/>
              </a:rPr>
              <a:t>	cad = </a:t>
            </a:r>
            <a:r>
              <a:rPr lang="en-US" sz="1900" dirty="0" err="1">
                <a:latin typeface="National semibold" panose="02000503000000020004"/>
              </a:rPr>
              <a:t>yf.download</a:t>
            </a:r>
            <a:r>
              <a:rPr lang="en-US" sz="1900" dirty="0">
                <a:latin typeface="National semibold" panose="02000503000000020004"/>
              </a:rPr>
              <a:t>('CADUSD=X', start='2020-01-01', progress=False)	</a:t>
            </a:r>
          </a:p>
          <a:p>
            <a:pPr marL="109728" indent="0">
              <a:buNone/>
            </a:pPr>
            <a:r>
              <a:rPr lang="en-US" sz="1900" dirty="0">
                <a:latin typeface="National semibold" panose="02000503000000020004"/>
              </a:rPr>
              <a:t>	</a:t>
            </a:r>
            <a:r>
              <a:rPr lang="en-US" sz="1900" dirty="0" err="1">
                <a:latin typeface="National semibold" panose="02000503000000020004"/>
              </a:rPr>
              <a:t>br</a:t>
            </a:r>
            <a:r>
              <a:rPr lang="en-US" sz="1900" dirty="0">
                <a:latin typeface="National semibold" panose="02000503000000020004"/>
              </a:rPr>
              <a:t> = </a:t>
            </a:r>
            <a:r>
              <a:rPr lang="en-US" sz="1900" dirty="0" err="1">
                <a:latin typeface="National semibold" panose="02000503000000020004"/>
              </a:rPr>
              <a:t>yf.download</a:t>
            </a:r>
            <a:r>
              <a:rPr lang="en-US" sz="1900" dirty="0">
                <a:latin typeface="National semibold" panose="02000503000000020004"/>
              </a:rPr>
              <a:t>('BRL=X', start='2020-01-01', progress=False)	</a:t>
            </a:r>
          </a:p>
          <a:p>
            <a:pPr marL="109728" indent="0">
              <a:buNone/>
            </a:pPr>
            <a:r>
              <a:rPr lang="en-US" sz="1900" i="1" dirty="0">
                <a:solidFill>
                  <a:srgbClr val="FF0000"/>
                </a:solidFill>
                <a:latin typeface="National semibold" panose="02000503000000020004"/>
              </a:rPr>
              <a:t>Plot exchange rate of Brazilian Real:</a:t>
            </a:r>
          </a:p>
          <a:p>
            <a:pPr marL="109728" indent="0">
              <a:buNone/>
            </a:pPr>
            <a:r>
              <a:rPr lang="en-US" sz="1900" dirty="0">
                <a:latin typeface="National semibold" panose="02000503000000020004"/>
              </a:rPr>
              <a:t>	</a:t>
            </a:r>
            <a:r>
              <a:rPr lang="en-US" sz="1900" dirty="0" err="1">
                <a:latin typeface="National semibold" panose="02000503000000020004"/>
              </a:rPr>
              <a:t>br</a:t>
            </a:r>
            <a:r>
              <a:rPr lang="en-US" sz="1900" dirty="0">
                <a:latin typeface="National semibold" panose="02000503000000020004"/>
              </a:rPr>
              <a:t>[‘Adj Close'].plot(title=“Exchange rate Brazilian Real - USD") </a:t>
            </a:r>
          </a:p>
          <a:p>
            <a:pPr marL="109728" indent="0">
              <a:buNone/>
            </a:pPr>
            <a:r>
              <a:rPr lang="en-US" sz="1900" dirty="0">
                <a:latin typeface="National semibold" panose="02000503000000020004"/>
              </a:rPr>
              <a:t>	</a:t>
            </a:r>
            <a:r>
              <a:rPr lang="en-US" sz="1900" dirty="0" err="1">
                <a:latin typeface="National semibold" panose="02000503000000020004"/>
              </a:rPr>
              <a:t>plt.show</a:t>
            </a:r>
            <a:r>
              <a:rPr lang="en-US" sz="1900" dirty="0">
                <a:latin typeface="National semibold" panose="02000503000000020004"/>
              </a:rPr>
              <a:t>()</a:t>
            </a:r>
            <a:endParaRPr lang="en-US" sz="1900" i="1" dirty="0">
              <a:solidFill>
                <a:srgbClr val="FF0000"/>
              </a:solidFill>
              <a:latin typeface="National semibold" panose="02000503000000020004"/>
            </a:endParaRPr>
          </a:p>
          <a:p>
            <a:pPr marL="109728" indent="0">
              <a:buNone/>
            </a:pPr>
            <a:endParaRPr lang="en-US" dirty="0"/>
          </a:p>
        </p:txBody>
      </p:sp>
    </p:spTree>
    <p:extLst>
      <p:ext uri="{BB962C8B-B14F-4D97-AF65-F5344CB8AC3E}">
        <p14:creationId xmlns:p14="http://schemas.microsoft.com/office/powerpoint/2010/main" val="1055944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2785</TotalTime>
  <Words>1525</Words>
  <Application>Microsoft Office PowerPoint</Application>
  <PresentationFormat>Custom</PresentationFormat>
  <Paragraphs>161</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National semibold</vt:lpstr>
      <vt:lpstr>Arial</vt:lpstr>
      <vt:lpstr>Cambria</vt:lpstr>
      <vt:lpstr>Lucida Sans Unicode</vt:lpstr>
      <vt:lpstr>Currency Symbols 16x9</vt:lpstr>
      <vt:lpstr>Introduction to  Decentralized Finance  </vt:lpstr>
      <vt:lpstr>Why Python?</vt:lpstr>
      <vt:lpstr>Why is Python popular?</vt:lpstr>
      <vt:lpstr>COLAB</vt:lpstr>
      <vt:lpstr>Basic Python platform and Libraries</vt:lpstr>
      <vt:lpstr>How to “install” and the “import” a library</vt:lpstr>
      <vt:lpstr>Three important liabraries</vt:lpstr>
      <vt:lpstr>1. NumPy</vt:lpstr>
      <vt:lpstr>NumPy: Creating an Array</vt:lpstr>
      <vt:lpstr>PowerPoint Presentation</vt:lpstr>
      <vt:lpstr>NumPy: Indexing an Array</vt:lpstr>
      <vt:lpstr>NumPy: Operations</vt:lpstr>
      <vt:lpstr>2. Pandas</vt:lpstr>
      <vt:lpstr>Pandas: DataFrames</vt:lpstr>
      <vt:lpstr>PowerPoint Presentation</vt:lpstr>
      <vt:lpstr>PowerPoint Presentation</vt:lpstr>
      <vt:lpstr>PowerPoint Presentation</vt:lpstr>
      <vt:lpstr>yfinace: Market data from Yahoo!</vt:lpstr>
      <vt:lpstr>PowerPoint Presentation</vt:lpstr>
      <vt:lpstr>Python instructions for using yfinace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11</cp:revision>
  <dcterms:created xsi:type="dcterms:W3CDTF">2020-10-28T19:26:18Z</dcterms:created>
  <dcterms:modified xsi:type="dcterms:W3CDTF">2026-05-15T01:37:16Z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