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17" r:id="rId2"/>
    <p:sldId id="632" r:id="rId3"/>
    <p:sldId id="662" r:id="rId4"/>
    <p:sldId id="704" r:id="rId5"/>
    <p:sldId id="705" r:id="rId6"/>
    <p:sldId id="708" r:id="rId7"/>
    <p:sldId id="661" r:id="rId8"/>
    <p:sldId id="613" r:id="rId9"/>
    <p:sldId id="628" r:id="rId10"/>
    <p:sldId id="617" r:id="rId11"/>
    <p:sldId id="633" r:id="rId12"/>
    <p:sldId id="651" r:id="rId13"/>
    <p:sldId id="654" r:id="rId14"/>
    <p:sldId id="657" r:id="rId15"/>
    <p:sldId id="656" r:id="rId16"/>
    <p:sldId id="658" r:id="rId17"/>
    <p:sldId id="660" r:id="rId18"/>
    <p:sldId id="710" r:id="rId19"/>
    <p:sldId id="711" r:id="rId20"/>
  </p:sldIdLst>
  <p:sldSz cx="12188825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1018">
          <p15:clr>
            <a:srgbClr val="A4A3A4"/>
          </p15:clr>
        </p15:guide>
        <p15:guide id="5" orient="horz" pos="3886">
          <p15:clr>
            <a:srgbClr val="A4A3A4"/>
          </p15:clr>
        </p15:guide>
        <p15:guide id="6" orient="horz" pos="2928">
          <p15:clr>
            <a:srgbClr val="A4A3A4"/>
          </p15:clr>
        </p15:guide>
        <p15:guide id="7" orient="horz" pos="3072">
          <p15:clr>
            <a:srgbClr val="A4A3A4"/>
          </p15:clr>
        </p15:guide>
        <p15:guide id="8" orient="horz" pos="407">
          <p15:clr>
            <a:srgbClr val="A4A3A4"/>
          </p15:clr>
        </p15:guide>
        <p15:guide id="9" pos="3839">
          <p15:clr>
            <a:srgbClr val="A4A3A4"/>
          </p15:clr>
        </p15:guide>
        <p15:guide id="10" pos="959">
          <p15:clr>
            <a:srgbClr val="A4A3A4"/>
          </p15:clr>
        </p15:guide>
        <p15:guide id="11" pos="7151">
          <p15:clr>
            <a:srgbClr val="A4A3A4"/>
          </p15:clr>
        </p15:guide>
        <p15:guide id="12" pos="671">
          <p15:clr>
            <a:srgbClr val="A4A3A4"/>
          </p15:clr>
        </p15:guide>
        <p15:guide id="13" pos="4991">
          <p15:clr>
            <a:srgbClr val="A4A3A4"/>
          </p15:clr>
        </p15:guide>
        <p15:guide id="14" pos="7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282"/>
    <a:srgbClr val="6E90FE"/>
    <a:srgbClr val="8086FC"/>
    <a:srgbClr val="6D6DFB"/>
    <a:srgbClr val="4E78F0"/>
    <a:srgbClr val="F0932C"/>
    <a:srgbClr val="92C610"/>
    <a:srgbClr val="9FD812"/>
    <a:srgbClr val="E05F2C"/>
    <a:srgbClr val="0AB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FD08B2-E756-414C-9882-2A6DFAE5B216}" v="30" dt="2026-05-22T01:03:39.203"/>
  </p1510:revLst>
</p1510:revInfo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orient="horz" pos="4030"/>
        <p:guide orient="horz" pos="1152"/>
        <p:guide orient="horz" pos="1018"/>
        <p:guide orient="horz" pos="3886"/>
        <p:guide orient="horz" pos="2928"/>
        <p:guide orient="horz" pos="3072"/>
        <p:guide orient="horz" pos="407"/>
        <p:guide pos="3839"/>
        <p:guide pos="959"/>
        <p:guide pos="7151"/>
        <p:guide pos="671"/>
        <p:guide pos="4991"/>
        <p:guide pos="7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adrini, Vincenzo" userId="f61352d9-9198-4695-abd8-70fd6e64330a" providerId="ADAL" clId="{888D66D8-61BD-4B74-94E0-0078727E2FCE}"/>
    <pc:docChg chg="custSel modSld">
      <pc:chgData name="Quadrini, Vincenzo" userId="f61352d9-9198-4695-abd8-70fd6e64330a" providerId="ADAL" clId="{888D66D8-61BD-4B74-94E0-0078727E2FCE}" dt="2026-05-22T01:03:47.450" v="35" actId="20577"/>
      <pc:docMkLst>
        <pc:docMk/>
      </pc:docMkLst>
      <pc:sldChg chg="addSp delSp modSp mod">
        <pc:chgData name="Quadrini, Vincenzo" userId="f61352d9-9198-4695-abd8-70fd6e64330a" providerId="ADAL" clId="{888D66D8-61BD-4B74-94E0-0078727E2FCE}" dt="2026-05-22T01:01:54.955" v="3" actId="2711"/>
        <pc:sldMkLst>
          <pc:docMk/>
          <pc:sldMk cId="935251751" sldId="417"/>
        </pc:sldMkLst>
        <pc:spChg chg="del">
          <ac:chgData name="Quadrini, Vincenzo" userId="f61352d9-9198-4695-abd8-70fd6e64330a" providerId="ADAL" clId="{888D66D8-61BD-4B74-94E0-0078727E2FCE}" dt="2026-05-22T01:01:40.261" v="0" actId="478"/>
          <ac:spMkLst>
            <pc:docMk/>
            <pc:sldMk cId="935251751" sldId="417"/>
            <ac:spMk id="2" creationId="{00000000-0000-0000-0000-000000000000}"/>
          </ac:spMkLst>
        </pc:spChg>
        <pc:spChg chg="mod">
          <ac:chgData name="Quadrini, Vincenzo" userId="f61352d9-9198-4695-abd8-70fd6e64330a" providerId="ADAL" clId="{888D66D8-61BD-4B74-94E0-0078727E2FCE}" dt="2026-05-22T01:01:54.955" v="3" actId="2711"/>
          <ac:spMkLst>
            <pc:docMk/>
            <pc:sldMk cId="935251751" sldId="417"/>
            <ac:spMk id="3" creationId="{00000000-0000-0000-0000-000000000000}"/>
          </ac:spMkLst>
        </pc:spChg>
        <pc:spChg chg="add del mod">
          <ac:chgData name="Quadrini, Vincenzo" userId="f61352d9-9198-4695-abd8-70fd6e64330a" providerId="ADAL" clId="{888D66D8-61BD-4B74-94E0-0078727E2FCE}" dt="2026-05-22T01:01:45.006" v="1" actId="478"/>
          <ac:spMkLst>
            <pc:docMk/>
            <pc:sldMk cId="935251751" sldId="417"/>
            <ac:spMk id="5" creationId="{88DC47A2-4232-F1AC-D3B1-4499506ADF06}"/>
          </ac:spMkLst>
        </pc:spChg>
        <pc:spChg chg="add mod">
          <ac:chgData name="Quadrini, Vincenzo" userId="f61352d9-9198-4695-abd8-70fd6e64330a" providerId="ADAL" clId="{888D66D8-61BD-4B74-94E0-0078727E2FCE}" dt="2026-05-22T01:01:45.835" v="2"/>
          <ac:spMkLst>
            <pc:docMk/>
            <pc:sldMk cId="935251751" sldId="417"/>
            <ac:spMk id="6" creationId="{9E270802-78F0-5CDE-71AA-7B42F326B11C}"/>
          </ac:spMkLst>
        </pc:spChg>
      </pc:sldChg>
      <pc:sldChg chg="modSp mod">
        <pc:chgData name="Quadrini, Vincenzo" userId="f61352d9-9198-4695-abd8-70fd6e64330a" providerId="ADAL" clId="{888D66D8-61BD-4B74-94E0-0078727E2FCE}" dt="2026-05-22T01:03:47.450" v="35" actId="20577"/>
        <pc:sldMkLst>
          <pc:docMk/>
          <pc:sldMk cId="1332086708" sldId="617"/>
        </pc:sldMkLst>
        <pc:spChg chg="mod">
          <ac:chgData name="Quadrini, Vincenzo" userId="f61352d9-9198-4695-abd8-70fd6e64330a" providerId="ADAL" clId="{888D66D8-61BD-4B74-94E0-0078727E2FCE}" dt="2026-05-22T01:02:30.879" v="5" actId="20577"/>
          <ac:spMkLst>
            <pc:docMk/>
            <pc:sldMk cId="1332086708" sldId="617"/>
            <ac:spMk id="2" creationId="{FD8FD302-DC19-4196-A27F-2A8E1E2C1475}"/>
          </ac:spMkLst>
        </pc:spChg>
        <pc:spChg chg="mod">
          <ac:chgData name="Quadrini, Vincenzo" userId="f61352d9-9198-4695-abd8-70fd6e64330a" providerId="ADAL" clId="{888D66D8-61BD-4B74-94E0-0078727E2FCE}" dt="2026-05-22T01:03:47.450" v="35" actId="20577"/>
          <ac:spMkLst>
            <pc:docMk/>
            <pc:sldMk cId="1332086708" sldId="617"/>
            <ac:spMk id="3" creationId="{9E145BFA-122B-4124-AB3D-8C54B958E8E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9AFDC-7658-4951-B0FF-52DFF2A93C0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ED99B-9732-49FC-9C16-B56FEB1B1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6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6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824" y="1600200"/>
            <a:ext cx="5945188" cy="3048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0825" y="4898572"/>
            <a:ext cx="5945187" cy="127045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E</a:t>
            </a:r>
            <a:r>
              <a:t>dit Master subtitle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4782971"/>
            <a:ext cx="56546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 userDrawn="1"/>
        </p:nvGrpSpPr>
        <p:grpSpPr>
          <a:xfrm>
            <a:off x="7923213" y="0"/>
            <a:ext cx="4265612" cy="6858000"/>
            <a:chOff x="7923213" y="0"/>
            <a:chExt cx="4265612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13" y="0"/>
              <a:ext cx="4265612" cy="685800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923213" y="0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0" y="2237096"/>
            <a:ext cx="8229601" cy="2411103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2" y="4876800"/>
            <a:ext cx="8229601" cy="129222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1123611" y="0"/>
            <a:ext cx="1065214" cy="6868886"/>
            <a:chOff x="11123611" y="0"/>
            <a:chExt cx="1065214" cy="686888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123611" y="0"/>
              <a:ext cx="1065213" cy="685800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11123612" y="10886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9" name="Straight Connector 8"/>
          <p:cNvCxnSpPr/>
          <p:nvPr/>
        </p:nvCxnSpPr>
        <p:spPr>
          <a:xfrm>
            <a:off x="1658936" y="4782971"/>
            <a:ext cx="80168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8168" y="1984248"/>
            <a:ext cx="4800600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2" y="1984248"/>
            <a:ext cx="4800601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16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0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4" y="685800"/>
            <a:ext cx="525779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8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000" b="0" i="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6025925" y="-50118"/>
            <a:ext cx="6172198" cy="6857999"/>
          </a:xfrm>
          <a:solidFill>
            <a:schemeClr val="bg2"/>
          </a:solidFill>
          <a:effectLst>
            <a:outerShdw blurRad="152400" dist="50800" dir="10800000" algn="r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3412" y="646112"/>
            <a:ext cx="1828801" cy="5522913"/>
          </a:xfrm>
        </p:spPr>
        <p:txBody>
          <a:bodyPr vert="eaVert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646112"/>
            <a:ext cx="7620000" cy="5522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5/21/2026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9371012" y="762000"/>
            <a:ext cx="0" cy="533400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81200"/>
            <a:ext cx="9829799" cy="4187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5954834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8011" y="6400800"/>
            <a:ext cx="154865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5411" y="6400800"/>
            <a:ext cx="1066802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065213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" y="0"/>
            <a:ext cx="1065213" cy="6858000"/>
          </a:xfrm>
          <a:prstGeom prst="rect">
            <a:avLst/>
          </a:prstGeom>
          <a:gradFill flip="none" rotWithShape="1">
            <a:gsLst>
              <a:gs pos="75000">
                <a:schemeClr val="tx2">
                  <a:alpha val="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0425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>
                <a:latin typeface="National semibold" panose="02000503000000020004"/>
              </a:rPr>
              <a:t>NFT &amp; price bubbles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270802-78F0-5CDE-71AA-7B42F326B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823" y="1600200"/>
            <a:ext cx="6290765" cy="3048000"/>
          </a:xfrm>
        </p:spPr>
        <p:txBody>
          <a:bodyPr/>
          <a:lstStyle/>
          <a:p>
            <a:r>
              <a:rPr lang="en-US" sz="5400" b="1" dirty="0">
                <a:latin typeface="National semibold" panose="02000503000000020004"/>
              </a:rPr>
              <a:t>Introduction to </a:t>
            </a:r>
            <a:br>
              <a:rPr lang="en-US" sz="5400" b="1" dirty="0">
                <a:latin typeface="National semibold" panose="02000503000000020004"/>
              </a:rPr>
            </a:br>
            <a:r>
              <a:rPr lang="en-US" sz="5400" b="1" dirty="0">
                <a:latin typeface="National semibold" panose="02000503000000020004"/>
              </a:rPr>
              <a:t>Decentralized Finance </a:t>
            </a:r>
            <a:br>
              <a:rPr lang="en-US" sz="5400" b="1" dirty="0">
                <a:latin typeface="National semibold" panose="02000503000000020004"/>
              </a:rPr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93525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D302-DC19-4196-A27F-2A8E1E2C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>
                <a:latin typeface="National semibold" panose="02000503000000020004"/>
              </a:rPr>
              <a:t>What is NFT?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45BFA-122B-4124-AB3D-8C54B958E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5000"/>
            <a:ext cx="9960750" cy="4648200"/>
          </a:xfrm>
        </p:spPr>
        <p:txBody>
          <a:bodyPr>
            <a:normAutofit/>
          </a:bodyPr>
          <a:lstStyle/>
          <a:p>
            <a:endParaRPr lang="en-US" dirty="0">
              <a:latin typeface="National semibold" panose="02000503000000020004"/>
            </a:endParaRPr>
          </a:p>
          <a:p>
            <a:r>
              <a:rPr lang="en-US" dirty="0">
                <a:latin typeface="National semibold" panose="02000503000000020004"/>
              </a:rPr>
              <a:t>An NFT is a digital asset based on a blockchain technology. </a:t>
            </a:r>
          </a:p>
          <a:p>
            <a:r>
              <a:rPr lang="en-US" dirty="0">
                <a:latin typeface="National semibold" panose="02000503000000020004"/>
              </a:rPr>
              <a:t>It represents Internet collectibles like art, music, and games with an authentic certificate created by blockchain technology that underlies Cryptocurrency. </a:t>
            </a:r>
          </a:p>
          <a:p>
            <a:r>
              <a:rPr lang="en-US" dirty="0">
                <a:latin typeface="National semibold" panose="02000503000000020004"/>
              </a:rPr>
              <a:t>The letters </a:t>
            </a:r>
            <a:r>
              <a:rPr lang="en-US" b="1" dirty="0">
                <a:latin typeface="National semibold" panose="02000503000000020004"/>
              </a:rPr>
              <a:t>NFT</a:t>
            </a:r>
            <a:r>
              <a:rPr lang="en-US" dirty="0">
                <a:latin typeface="National semibold" panose="02000503000000020004"/>
              </a:rPr>
              <a:t> stands for </a:t>
            </a:r>
            <a:r>
              <a:rPr lang="en-US" b="1" dirty="0">
                <a:latin typeface="National semibold" panose="02000503000000020004"/>
              </a:rPr>
              <a:t>N</a:t>
            </a:r>
            <a:r>
              <a:rPr lang="en-US" dirty="0">
                <a:latin typeface="National semibold" panose="02000503000000020004"/>
              </a:rPr>
              <a:t>on-</a:t>
            </a:r>
            <a:r>
              <a:rPr lang="en-US" b="1" dirty="0">
                <a:latin typeface="National semibold" panose="02000503000000020004"/>
              </a:rPr>
              <a:t>F</a:t>
            </a:r>
            <a:r>
              <a:rPr lang="en-US" dirty="0">
                <a:latin typeface="National semibold" panose="02000503000000020004"/>
              </a:rPr>
              <a:t>ungible </a:t>
            </a:r>
            <a:r>
              <a:rPr lang="en-US" b="1" dirty="0">
                <a:latin typeface="National semibold" panose="02000503000000020004"/>
              </a:rPr>
              <a:t>T</a:t>
            </a:r>
            <a:r>
              <a:rPr lang="en-US" dirty="0">
                <a:latin typeface="National semibold" panose="02000503000000020004"/>
              </a:rPr>
              <a:t>oken. Non-fungible means that it can neither be replaced nor interchanged because it has unique properties.</a:t>
            </a:r>
          </a:p>
          <a:p>
            <a:r>
              <a:rPr lang="en-US" dirty="0">
                <a:latin typeface="National semibold" panose="02000503000000020004"/>
              </a:rPr>
              <a:t>The purchase of NFT takes place with cryptocurrencies such as Bitcoin and Ether, on specialist sites.</a:t>
            </a:r>
          </a:p>
          <a:p>
            <a:endParaRPr lang="en-US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48420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D302-DC19-4196-A27F-2A8E1E2C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>
                <a:latin typeface="National semibold" panose="02000503000000020004"/>
              </a:rPr>
              <a:t>What is the economic significance of NFTs?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45BFA-122B-4124-AB3D-8C54B958E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5000"/>
            <a:ext cx="9960750" cy="4648200"/>
          </a:xfrm>
        </p:spPr>
        <p:txBody>
          <a:bodyPr>
            <a:normAutofit/>
          </a:bodyPr>
          <a:lstStyle/>
          <a:p>
            <a:endParaRPr lang="en-US" dirty="0">
              <a:latin typeface="National semibold" panose="02000503000000020004"/>
            </a:endParaRPr>
          </a:p>
          <a:p>
            <a:r>
              <a:rPr lang="en-US" dirty="0">
                <a:latin typeface="National semibold" panose="02000503000000020004"/>
              </a:rPr>
              <a:t>What are the benefits?</a:t>
            </a:r>
          </a:p>
          <a:p>
            <a:endParaRPr lang="en-US" dirty="0">
              <a:latin typeface="National semibold" panose="02000503000000020004"/>
            </a:endParaRPr>
          </a:p>
          <a:p>
            <a:r>
              <a:rPr lang="en-US" dirty="0">
                <a:latin typeface="National semibold" panose="02000503000000020004"/>
              </a:rPr>
              <a:t>What type of problems do they solve?</a:t>
            </a:r>
          </a:p>
          <a:p>
            <a:endParaRPr lang="en-US" dirty="0">
              <a:latin typeface="National semibold" panose="02000503000000020004"/>
            </a:endParaRPr>
          </a:p>
          <a:p>
            <a:r>
              <a:rPr lang="en-US" dirty="0">
                <a:latin typeface="National semibold" panose="02000503000000020004"/>
              </a:rPr>
              <a:t>For which market?</a:t>
            </a:r>
          </a:p>
        </p:txBody>
      </p:sp>
    </p:spTree>
    <p:extLst>
      <p:ext uri="{BB962C8B-B14F-4D97-AF65-F5344CB8AC3E}">
        <p14:creationId xmlns:p14="http://schemas.microsoft.com/office/powerpoint/2010/main" val="280191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43C1C5-B835-C1B1-A336-992B533810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19" t="26383" r="29497" b="14574"/>
          <a:stretch/>
        </p:blipFill>
        <p:spPr>
          <a:xfrm>
            <a:off x="2000250" y="247650"/>
            <a:ext cx="8143875" cy="645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0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9832B9-2A08-7CEA-877C-CDA84806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33" t="16936" r="31544" b="7766"/>
          <a:stretch/>
        </p:blipFill>
        <p:spPr>
          <a:xfrm>
            <a:off x="2886075" y="212738"/>
            <a:ext cx="5934147" cy="664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8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AC4823-EB4C-B307-4EC6-F9F40CB4F4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33" t="18186" r="31701" b="6933"/>
          <a:stretch/>
        </p:blipFill>
        <p:spPr>
          <a:xfrm>
            <a:off x="2980849" y="171451"/>
            <a:ext cx="5886926" cy="658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3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5866" y="1286548"/>
            <a:ext cx="9677399" cy="1584251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latin typeface="National semibold" panose="02000503000000020004"/>
              </a:rPr>
              <a:t>What is the future of</a:t>
            </a:r>
            <a:br>
              <a:rPr lang="en-US" sz="4800" b="1" dirty="0">
                <a:latin typeface="National semibold" panose="02000503000000020004"/>
              </a:rPr>
            </a:br>
            <a:r>
              <a:rPr lang="en-US" sz="4800" b="1" dirty="0">
                <a:latin typeface="National semibold" panose="02000503000000020004"/>
              </a:rPr>
              <a:t>NFT, cryptocurrencies, </a:t>
            </a:r>
            <a:r>
              <a:rPr lang="en-US" sz="4800" b="1" dirty="0" err="1">
                <a:latin typeface="National semibold" panose="02000503000000020004"/>
              </a:rPr>
              <a:t>etc</a:t>
            </a:r>
            <a:r>
              <a:rPr lang="en-US" sz="4800" b="1" dirty="0">
                <a:latin typeface="National semibold" panose="02000503000000020004"/>
              </a:rPr>
              <a:t>?</a:t>
            </a:r>
            <a:endParaRPr lang="en-US" sz="3200" b="1" dirty="0">
              <a:latin typeface="National semibold" panose="02000503000000020004"/>
            </a:endParaRPr>
          </a:p>
        </p:txBody>
      </p:sp>
      <p:sp>
        <p:nvSpPr>
          <p:cNvPr id="2" name="Title 12">
            <a:extLst>
              <a:ext uri="{FF2B5EF4-FFF2-40B4-BE49-F238E27FC236}">
                <a16:creationId xmlns:a16="http://schemas.microsoft.com/office/drawing/2014/main" id="{46C5F769-F41E-11C1-5288-60070576CD39}"/>
              </a:ext>
            </a:extLst>
          </p:cNvPr>
          <p:cNvSpPr txBox="1">
            <a:spLocks/>
          </p:cNvSpPr>
          <p:nvPr/>
        </p:nvSpPr>
        <p:spPr>
          <a:xfrm>
            <a:off x="1369532" y="3639883"/>
            <a:ext cx="9677399" cy="1584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atin typeface="National semibold" panose="02000503000000020004"/>
              </a:rPr>
              <a:t>Are we in the midst of a bubble?</a:t>
            </a:r>
            <a:endParaRPr lang="en-US" sz="3200" b="1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70198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D302-DC19-4196-A27F-2A8E1E2C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>
                <a:latin typeface="National semibold" panose="02000503000000020004"/>
              </a:rPr>
              <a:t>What is a bubble?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45BFA-122B-4124-AB3D-8C54B958E8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2413" y="1905000"/>
                <a:ext cx="9829799" cy="464820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National semibold" panose="02000503000000020004"/>
                  </a:rPr>
                  <a:t>We talk about a “bubble” when the price of an asset diverges from the “fundamental” price.</a:t>
                </a:r>
              </a:p>
              <a:p>
                <a:r>
                  <a:rPr lang="en-US" dirty="0">
                    <a:latin typeface="National semibold" panose="02000503000000020004"/>
                  </a:rPr>
                  <a:t>The “fundamental” price is the present discounted value of the cash or service flows generated by the asset.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National semibold" panose="02000503000000020004"/>
                  </a:rPr>
                  <a:t> 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>
                  <a:latin typeface="National semibold" panose="02000503000000020004"/>
                </a:endParaRPr>
              </a:p>
              <a:p>
                <a:endParaRPr lang="en-US" dirty="0">
                  <a:latin typeface="National semibold" panose="02000503000000020004"/>
                </a:endParaRPr>
              </a:p>
              <a:p>
                <a:r>
                  <a:rPr lang="en-US" dirty="0">
                    <a:latin typeface="National semibold" panose="02000503000000020004"/>
                  </a:rPr>
                  <a:t>Suppose that the cash flow grows at a constant rate,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National semibold" panose="02000503000000020004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>
                    <a:latin typeface="National semibold" panose="02000503000000020004"/>
                  </a:rPr>
                  <a:t>. Then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National semibold" panose="02000503000000020004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dirty="0"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45BFA-122B-4124-AB3D-8C54B958E8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2413" y="1905000"/>
                <a:ext cx="9829799" cy="4648200"/>
              </a:xfrm>
              <a:blipFill>
                <a:blip r:embed="rId2"/>
                <a:stretch>
                  <a:fillRect l="-496" t="-1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Right 3">
            <a:extLst>
              <a:ext uri="{FF2B5EF4-FFF2-40B4-BE49-F238E27FC236}">
                <a16:creationId xmlns:a16="http://schemas.microsoft.com/office/drawing/2014/main" id="{B6993616-E13C-4438-BCD8-628ED0B34DDC}"/>
              </a:ext>
            </a:extLst>
          </p:cNvPr>
          <p:cNvSpPr/>
          <p:nvPr/>
        </p:nvSpPr>
        <p:spPr>
          <a:xfrm>
            <a:off x="8132329" y="5702479"/>
            <a:ext cx="609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1307FA-D496-4D58-A280-8D20756A976A}"/>
                  </a:ext>
                </a:extLst>
              </p:cNvPr>
              <p:cNvSpPr/>
              <p:nvPr/>
            </p:nvSpPr>
            <p:spPr>
              <a:xfrm>
                <a:off x="8990012" y="5397679"/>
                <a:ext cx="2209800" cy="914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sSub>
                        <m:sSub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1307FA-D496-4D58-A280-8D20756A9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0012" y="5397679"/>
                <a:ext cx="220980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75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D302-DC19-4196-A27F-2A8E1E2C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>
                <a:latin typeface="National semibold" panose="02000503000000020004"/>
              </a:rPr>
              <a:t>What is a bubble?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45BFA-122B-4124-AB3D-8C54B958E8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11780" y="1905000"/>
                <a:ext cx="9829799" cy="464820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National semibold" panose="02000503000000020004"/>
                  </a:rPr>
                  <a:t>We have a bubble when the market price is bigger than the fundamental price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National semibold" panose="02000503000000020004"/>
                  </a:rPr>
                  <a:t>:</a:t>
                </a:r>
              </a:p>
              <a:p>
                <a:endParaRPr lang="en-US" dirty="0">
                  <a:latin typeface="National semibold" panose="02000503000000020004"/>
                </a:endParaRPr>
              </a:p>
              <a:p>
                <a:endParaRPr lang="en-US" dirty="0">
                  <a:latin typeface="National semibold" panose="02000503000000020004"/>
                </a:endParaRPr>
              </a:p>
              <a:p>
                <a:pPr marL="0" indent="0">
                  <a:buNone/>
                </a:pPr>
                <a:endParaRPr lang="en-US" dirty="0">
                  <a:latin typeface="National semibold" panose="02000503000000020004"/>
                </a:endParaRPr>
              </a:p>
              <a:p>
                <a:r>
                  <a:rPr lang="en-US" dirty="0">
                    <a:latin typeface="National semibold" panose="02000503000000020004"/>
                  </a:rPr>
                  <a:t>The bubble component is the difference between the market price and the fundamental price.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45BFA-122B-4124-AB3D-8C54B958E8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11780" y="1905000"/>
                <a:ext cx="9829799" cy="4648200"/>
              </a:xfrm>
              <a:blipFill>
                <a:blip r:embed="rId2"/>
                <a:stretch>
                  <a:fillRect l="-496" t="-1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FDC955-2168-B8A2-0781-55503401343D}"/>
                  </a:ext>
                </a:extLst>
              </p:cNvPr>
              <p:cNvSpPr/>
              <p:nvPr/>
            </p:nvSpPr>
            <p:spPr>
              <a:xfrm>
                <a:off x="3613483" y="2844209"/>
                <a:ext cx="5509253" cy="134501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  <a:latin typeface="National semibold" panose="02000503000000020004"/>
                  </a:rPr>
                  <a:t>Market price   &gt;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FDC955-2168-B8A2-0781-5550340134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83" y="2844209"/>
                <a:ext cx="5509253" cy="13450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6B0484-FEB0-29F0-41B8-4CF224C8D8BF}"/>
                  </a:ext>
                </a:extLst>
              </p:cNvPr>
              <p:cNvSpPr/>
              <p:nvPr/>
            </p:nvSpPr>
            <p:spPr>
              <a:xfrm>
                <a:off x="3702082" y="5271983"/>
                <a:ext cx="5509253" cy="134501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  <a:latin typeface="National semibold" panose="02000503000000020004"/>
                  </a:rPr>
                  <a:t>Bubble = Market price 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latin typeface="National semibold" panose="02000503000000020004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6B0484-FEB0-29F0-41B8-4CF224C8D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082" y="5271983"/>
                <a:ext cx="5509253" cy="13450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725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D302-DC19-4196-A27F-2A8E1E2C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>
                <a:latin typeface="National semibold" panose="02000503000000020004"/>
              </a:rPr>
              <a:t>Value of one Tesla’s share in 2026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45BFA-122B-4124-AB3D-8C54B958E8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11780" y="1905000"/>
                <a:ext cx="9829799" cy="4648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>
                  <a:latin typeface="National semibold" panose="02000503000000020004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latin typeface="National semibold" panose="02000503000000020004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  <a:latin typeface="National semibold" panose="02000503000000020004"/>
                </a:endParaRPr>
              </a:p>
              <a:p>
                <a:pPr marL="0" indent="0">
                  <a:buNone/>
                </a:pPr>
                <a:endParaRPr lang="en-US" dirty="0">
                  <a:latin typeface="National semibold" panose="02000503000000020004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202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National semibold" panose="02000503000000020004"/>
                  </a:rPr>
                  <a:t> = Price of one Tesla share in 2026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202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National semibold" panose="02000503000000020004"/>
                  </a:rPr>
                  <a:t> = </a:t>
                </a:r>
                <a:r>
                  <a:rPr lang="en-US" sz="2200" dirty="0">
                    <a:latin typeface="National semibold" panose="02000503000000020004"/>
                  </a:rPr>
                  <a:t>Tesla’s earnings per share </a:t>
                </a:r>
                <a:r>
                  <a:rPr lang="en-US" sz="2200" dirty="0">
                    <a:solidFill>
                      <a:schemeClr val="tx1"/>
                    </a:solidFill>
                    <a:latin typeface="National semibold" panose="02000503000000020004"/>
                  </a:rPr>
                  <a:t>in 2026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202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National semibold" panose="02000503000000020004"/>
                  </a:rPr>
                  <a:t> = </a:t>
                </a:r>
                <a:r>
                  <a:rPr lang="en-US" sz="2200" dirty="0">
                    <a:latin typeface="National semibold" panose="02000503000000020004"/>
                  </a:rPr>
                  <a:t>Tesla’s earnings per share </a:t>
                </a:r>
                <a:r>
                  <a:rPr lang="en-US" sz="2200" dirty="0">
                    <a:solidFill>
                      <a:schemeClr val="tx1"/>
                    </a:solidFill>
                    <a:latin typeface="National semibold" panose="02000503000000020004"/>
                  </a:rPr>
                  <a:t>in 2027, etc.</a:t>
                </a:r>
              </a:p>
              <a:p>
                <a:r>
                  <a:rPr lang="en-US" sz="2200" dirty="0">
                    <a:latin typeface="National semibold" panose="02000503000000020004"/>
                  </a:rPr>
                  <a:t>r         =  Discount rate</a:t>
                </a:r>
              </a:p>
              <a:p>
                <a:r>
                  <a:rPr lang="en-US" sz="2200" dirty="0">
                    <a:latin typeface="National semibold" panose="02000503000000020004"/>
                  </a:rPr>
                  <a:t>g        =  Constant growth rate of earnings starting </a:t>
                </a:r>
                <a:r>
                  <a:rPr lang="en-US" sz="2200">
                    <a:latin typeface="National semibold" panose="02000503000000020004"/>
                  </a:rPr>
                  <a:t>in 2037</a:t>
                </a:r>
                <a:endParaRPr lang="en-US" sz="2200" dirty="0">
                  <a:solidFill>
                    <a:schemeClr val="tx1"/>
                  </a:solidFill>
                  <a:latin typeface="National semibold" panose="02000503000000020004"/>
                </a:endParaRPr>
              </a:p>
              <a:p>
                <a:endParaRPr lang="en-US" dirty="0">
                  <a:solidFill>
                    <a:schemeClr val="tx1"/>
                  </a:solidFill>
                  <a:latin typeface="National semibold" panose="02000503000000020004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45BFA-122B-4124-AB3D-8C54B958E8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11780" y="1905000"/>
                <a:ext cx="9829799" cy="4648200"/>
              </a:xfrm>
              <a:blipFill>
                <a:blip r:embed="rId2"/>
                <a:stretch>
                  <a:fillRect l="-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08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D302-DC19-4196-A27F-2A8E1E2C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>
                <a:latin typeface="National semibold" panose="02000503000000020004"/>
              </a:rPr>
              <a:t>Anatomy of an asset price bubble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45BFA-122B-4124-AB3D-8C54B958E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5000"/>
            <a:ext cx="9960750" cy="4648200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>
                <a:latin typeface="National semibold" panose="02000503000000020004"/>
              </a:rPr>
              <a:t>Stage 1: Displacement</a:t>
            </a:r>
          </a:p>
          <a:p>
            <a:pPr lvl="1"/>
            <a:r>
              <a:rPr lang="en-US" dirty="0">
                <a:latin typeface="National semibold" panose="02000503000000020004"/>
              </a:rPr>
              <a:t>Investors get exited about new and innovative products. Often this is associated to an increase in wealth or liquidity. </a:t>
            </a:r>
          </a:p>
          <a:p>
            <a:r>
              <a:rPr lang="en-US" b="1" u="sng" dirty="0">
                <a:latin typeface="National semibold" panose="02000503000000020004"/>
              </a:rPr>
              <a:t>Stage 2: Price boom</a:t>
            </a:r>
          </a:p>
          <a:p>
            <a:pPr lvl="1"/>
            <a:r>
              <a:rPr lang="en-US" dirty="0">
                <a:latin typeface="National semibold" panose="02000503000000020004"/>
              </a:rPr>
              <a:t>Demand for the asset increases rapidly but supply cannot keep up. The increase demand is fueled by expectation of higher future prices. </a:t>
            </a:r>
          </a:p>
          <a:p>
            <a:r>
              <a:rPr lang="en-US" b="1" u="sng" dirty="0">
                <a:latin typeface="National semibold" panose="02000503000000020004"/>
              </a:rPr>
              <a:t>Stage 3: Euphoria</a:t>
            </a:r>
          </a:p>
          <a:p>
            <a:pPr lvl="1"/>
            <a:r>
              <a:rPr lang="en-US" dirty="0">
                <a:latin typeface="National semibold" panose="02000503000000020004"/>
              </a:rPr>
              <a:t>More and more buyers get into the market attracted by the rising price. This causes an even faster price increase.</a:t>
            </a:r>
          </a:p>
          <a:p>
            <a:r>
              <a:rPr lang="en-US" b="1" u="sng" dirty="0">
                <a:latin typeface="National semibold" panose="02000503000000020004"/>
              </a:rPr>
              <a:t>Stage 4: Profit taking</a:t>
            </a:r>
          </a:p>
          <a:p>
            <a:pPr lvl="1"/>
            <a:r>
              <a:rPr lang="en-US" dirty="0">
                <a:latin typeface="National semibold" panose="02000503000000020004"/>
              </a:rPr>
              <a:t>Some investors start to realize that the price is disjoint from the fundamental price, so they start to liquidate. The price stops growing and possibly starts declining.  </a:t>
            </a:r>
          </a:p>
          <a:p>
            <a:r>
              <a:rPr lang="en-US" b="1" u="sng" dirty="0">
                <a:latin typeface="National semibold" panose="02000503000000020004"/>
              </a:rPr>
              <a:t>Stage 5: Panic</a:t>
            </a:r>
          </a:p>
          <a:p>
            <a:pPr lvl="1"/>
            <a:r>
              <a:rPr lang="en-US" dirty="0">
                <a:latin typeface="National semibold" panose="02000503000000020004"/>
              </a:rPr>
              <a:t>Investors rush to sell and cause the bubble to burst. </a:t>
            </a:r>
          </a:p>
          <a:p>
            <a:endParaRPr lang="en-US" dirty="0">
              <a:latin typeface="National semibold" panose="02000503000000020004"/>
            </a:endParaRPr>
          </a:p>
          <a:p>
            <a:endParaRPr lang="en-US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73753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42864" y="1584622"/>
            <a:ext cx="9762898" cy="3327615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latin typeface="National semibold" panose="02000503000000020004"/>
              </a:rPr>
              <a:t>Innovations in financial markets</a:t>
            </a:r>
            <a:br>
              <a:rPr lang="en-US" sz="4800" b="1" dirty="0">
                <a:latin typeface="National semibold" panose="02000503000000020004"/>
              </a:rPr>
            </a:br>
            <a:br>
              <a:rPr lang="en-US" sz="4800" b="1" dirty="0">
                <a:latin typeface="National semibold" panose="02000503000000020004"/>
              </a:rPr>
            </a:br>
            <a:r>
              <a:rPr lang="en-US" sz="4000" b="1" dirty="0">
                <a:latin typeface="National semibold" panose="02000503000000020004"/>
              </a:rPr>
              <a:t>The case of securitization and shadow banking growth and the 2008 crisis</a:t>
            </a:r>
            <a:endParaRPr lang="en-US" sz="4800" b="1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277066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1167CFE2-ECF3-863B-90F1-D527FDB071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3" t="4221" r="26140"/>
          <a:stretch/>
        </p:blipFill>
        <p:spPr>
          <a:xfrm>
            <a:off x="2951652" y="1310808"/>
            <a:ext cx="5775098" cy="52776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C63A20-830B-EC2C-71FF-D7BB93CF85DA}"/>
              </a:ext>
            </a:extLst>
          </p:cNvPr>
          <p:cNvSpPr txBox="1"/>
          <p:nvPr/>
        </p:nvSpPr>
        <p:spPr>
          <a:xfrm>
            <a:off x="4813832" y="873895"/>
            <a:ext cx="3229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Securitization</a:t>
            </a:r>
          </a:p>
        </p:txBody>
      </p:sp>
    </p:spTree>
    <p:extLst>
      <p:ext uri="{BB962C8B-B14F-4D97-AF65-F5344CB8AC3E}">
        <p14:creationId xmlns:p14="http://schemas.microsoft.com/office/powerpoint/2010/main" val="127358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1167CFE2-ECF3-863B-90F1-D527FDB071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3" t="2995" r="4753"/>
          <a:stretch/>
        </p:blipFill>
        <p:spPr>
          <a:xfrm>
            <a:off x="2951651" y="1243228"/>
            <a:ext cx="7719307" cy="53452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F4CB68-ACA8-C71E-F2A3-14228C52295C}"/>
              </a:ext>
            </a:extLst>
          </p:cNvPr>
          <p:cNvSpPr txBox="1"/>
          <p:nvPr/>
        </p:nvSpPr>
        <p:spPr>
          <a:xfrm>
            <a:off x="4813832" y="873895"/>
            <a:ext cx="3229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Securitization</a:t>
            </a:r>
          </a:p>
        </p:txBody>
      </p:sp>
    </p:spTree>
    <p:extLst>
      <p:ext uri="{BB962C8B-B14F-4D97-AF65-F5344CB8AC3E}">
        <p14:creationId xmlns:p14="http://schemas.microsoft.com/office/powerpoint/2010/main" val="50427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6D4413BC-C1CD-9B42-B74F-D0B5F26A18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998"/>
          <a:stretch/>
        </p:blipFill>
        <p:spPr>
          <a:xfrm>
            <a:off x="2558931" y="1138237"/>
            <a:ext cx="462872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0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6D4413BC-C1CD-9B42-B74F-D0B5F26A18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315" r="700"/>
          <a:stretch/>
        </p:blipFill>
        <p:spPr>
          <a:xfrm>
            <a:off x="2558930" y="1198485"/>
            <a:ext cx="5892611" cy="452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14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42864" y="1914235"/>
            <a:ext cx="9762898" cy="3327615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latin typeface="National semibold" panose="02000503000000020004"/>
              </a:rPr>
              <a:t>Innovations in financial markets</a:t>
            </a:r>
            <a:br>
              <a:rPr lang="en-US" sz="4800" b="1" dirty="0">
                <a:latin typeface="National semibold" panose="02000503000000020004"/>
              </a:rPr>
            </a:br>
            <a:br>
              <a:rPr lang="en-US" sz="4800" b="1" dirty="0">
                <a:latin typeface="National semibold" panose="02000503000000020004"/>
              </a:rPr>
            </a:br>
            <a:r>
              <a:rPr lang="en-US" sz="4000" b="1" dirty="0">
                <a:latin typeface="National semibold" panose="02000503000000020004"/>
              </a:rPr>
              <a:t>Is the growth of </a:t>
            </a:r>
            <a:r>
              <a:rPr lang="en-US" sz="4000" b="1" dirty="0" err="1">
                <a:latin typeface="National semibold" panose="02000503000000020004"/>
              </a:rPr>
              <a:t>DeFi</a:t>
            </a:r>
            <a:r>
              <a:rPr lang="en-US" sz="4000" b="1" dirty="0">
                <a:latin typeface="National semibold" panose="02000503000000020004"/>
              </a:rPr>
              <a:t> a </a:t>
            </a:r>
            <a:r>
              <a:rPr lang="en-US" sz="4000" b="1">
                <a:latin typeface="National semibold" panose="02000503000000020004"/>
              </a:rPr>
              <a:t>replication of </a:t>
            </a:r>
            <a:r>
              <a:rPr lang="en-US" sz="4000" b="1" dirty="0">
                <a:latin typeface="National semibold" panose="02000503000000020004"/>
              </a:rPr>
              <a:t>the securitization and shadow banking growth?</a:t>
            </a:r>
            <a:endParaRPr lang="en-US" sz="4800" b="1" dirty="0">
              <a:latin typeface="National semibold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722457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42864" y="1783607"/>
            <a:ext cx="9762898" cy="3327615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latin typeface="National semibold" panose="02000503000000020004"/>
              </a:rPr>
              <a:t>Metaverse</a:t>
            </a:r>
          </a:p>
        </p:txBody>
      </p:sp>
    </p:spTree>
    <p:extLst>
      <p:ext uri="{BB962C8B-B14F-4D97-AF65-F5344CB8AC3E}">
        <p14:creationId xmlns:p14="http://schemas.microsoft.com/office/powerpoint/2010/main" val="1750418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D302-DC19-4196-A27F-2A8E1E2C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>
                <a:latin typeface="National semibold" panose="02000503000000020004"/>
              </a:rPr>
              <a:t>What is metaverse?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45BFA-122B-4124-AB3D-8C54B958E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485" y="1905000"/>
            <a:ext cx="9135291" cy="464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National semibold" panose="02000503000000020004"/>
              </a:rPr>
              <a:t>Spatial computing platform that provides digital experiences as an alternative to or a replica of the real world, along with key civilizational aspects like social interactions, currency, trade, economy, and property ownership – founded on a bedrock of blockchain technology.</a:t>
            </a:r>
          </a:p>
        </p:txBody>
      </p:sp>
    </p:spTree>
    <p:extLst>
      <p:ext uri="{BB962C8B-B14F-4D97-AF65-F5344CB8AC3E}">
        <p14:creationId xmlns:p14="http://schemas.microsoft.com/office/powerpoint/2010/main" val="211002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OPEN" val="0"/>
</p:tagLst>
</file>

<file path=ppt/theme/theme1.xml><?xml version="1.0" encoding="utf-8"?>
<a:theme xmlns:a="http://schemas.openxmlformats.org/drawingml/2006/main" name="Currency Symbols 16x9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rrency symbols presentation (widescreen).potx" id="{0BEEB329-2C4D-4D02-9858-CA91ACE92AB1}" vid="{944DA297-E844-470D-A85C-00068074ACC2}"/>
    </a:ext>
  </a:extLst>
</a:theme>
</file>

<file path=ppt/theme/theme2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Currency symbols presentation (widescreen)</Template>
  <TotalTime>370</TotalTime>
  <Words>575</Words>
  <Application>Microsoft Office PowerPoint</Application>
  <PresentationFormat>Custom</PresentationFormat>
  <Paragraphs>61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National semibold</vt:lpstr>
      <vt:lpstr>Arial</vt:lpstr>
      <vt:lpstr>Cambria</vt:lpstr>
      <vt:lpstr>Cambria Math</vt:lpstr>
      <vt:lpstr>Currency Symbols 16x9</vt:lpstr>
      <vt:lpstr>Introduction to  Decentralized Finance  </vt:lpstr>
      <vt:lpstr>What is NFT?</vt:lpstr>
      <vt:lpstr>What is the economic significance of NFTs?</vt:lpstr>
      <vt:lpstr>PowerPoint Presentation</vt:lpstr>
      <vt:lpstr>PowerPoint Presentation</vt:lpstr>
      <vt:lpstr>PowerPoint Presentation</vt:lpstr>
      <vt:lpstr>What is the future of NFT, cryptocurrencies, etc?</vt:lpstr>
      <vt:lpstr>What is a bubble?</vt:lpstr>
      <vt:lpstr>What is a bubble?</vt:lpstr>
      <vt:lpstr>Value of one Tesla’s share in 2026</vt:lpstr>
      <vt:lpstr>Anatomy of an asset price bubble</vt:lpstr>
      <vt:lpstr>Innovations in financial markets  The case of securitization and shadow banking growth and the 2008 crisis</vt:lpstr>
      <vt:lpstr>PowerPoint Presentation</vt:lpstr>
      <vt:lpstr>PowerPoint Presentation</vt:lpstr>
      <vt:lpstr>PowerPoint Presentation</vt:lpstr>
      <vt:lpstr>PowerPoint Presentation</vt:lpstr>
      <vt:lpstr>Innovations in financial markets  Is the growth of DeFi a replication of the securitization and shadow banking growth?</vt:lpstr>
      <vt:lpstr>Metaverse</vt:lpstr>
      <vt:lpstr>What is metaverse?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Vincenzo Quadrini</dc:creator>
  <cp:lastModifiedBy>Quadrini, Vincenzo</cp:lastModifiedBy>
  <cp:revision>2</cp:revision>
  <dcterms:created xsi:type="dcterms:W3CDTF">2020-10-28T19:26:18Z</dcterms:created>
  <dcterms:modified xsi:type="dcterms:W3CDTF">2026-05-22T01:03:52Z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