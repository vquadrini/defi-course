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handoutMasterIdLst>
    <p:handoutMasterId r:id="rId64"/>
  </p:handoutMasterIdLst>
  <p:sldIdLst>
    <p:sldId id="417" r:id="rId2"/>
    <p:sldId id="629" r:id="rId3"/>
    <p:sldId id="644" r:id="rId4"/>
    <p:sldId id="643" r:id="rId5"/>
    <p:sldId id="637" r:id="rId6"/>
    <p:sldId id="638" r:id="rId7"/>
    <p:sldId id="639" r:id="rId8"/>
    <p:sldId id="685" r:id="rId9"/>
    <p:sldId id="646" r:id="rId10"/>
    <p:sldId id="641" r:id="rId11"/>
    <p:sldId id="642" r:id="rId12"/>
    <p:sldId id="648" r:id="rId13"/>
    <p:sldId id="684" r:id="rId14"/>
    <p:sldId id="647" r:id="rId15"/>
    <p:sldId id="650" r:id="rId16"/>
    <p:sldId id="691" r:id="rId17"/>
    <p:sldId id="649" r:id="rId18"/>
    <p:sldId id="651" r:id="rId19"/>
    <p:sldId id="709" r:id="rId20"/>
    <p:sldId id="710" r:id="rId21"/>
    <p:sldId id="652" r:id="rId22"/>
    <p:sldId id="653" r:id="rId23"/>
    <p:sldId id="658" r:id="rId24"/>
    <p:sldId id="660" r:id="rId25"/>
    <p:sldId id="692" r:id="rId26"/>
    <p:sldId id="711" r:id="rId27"/>
    <p:sldId id="702" r:id="rId28"/>
    <p:sldId id="661" r:id="rId29"/>
    <p:sldId id="662" r:id="rId30"/>
    <p:sldId id="688" r:id="rId31"/>
    <p:sldId id="677" r:id="rId32"/>
    <p:sldId id="678" r:id="rId33"/>
    <p:sldId id="687" r:id="rId34"/>
    <p:sldId id="664" r:id="rId35"/>
    <p:sldId id="667" r:id="rId36"/>
    <p:sldId id="668" r:id="rId37"/>
    <p:sldId id="665" r:id="rId38"/>
    <p:sldId id="707" r:id="rId39"/>
    <p:sldId id="671" r:id="rId40"/>
    <p:sldId id="672" r:id="rId41"/>
    <p:sldId id="694" r:id="rId42"/>
    <p:sldId id="693" r:id="rId43"/>
    <p:sldId id="695" r:id="rId44"/>
    <p:sldId id="674" r:id="rId45"/>
    <p:sldId id="696" r:id="rId46"/>
    <p:sldId id="689" r:id="rId47"/>
    <p:sldId id="666" r:id="rId48"/>
    <p:sldId id="698" r:id="rId49"/>
    <p:sldId id="697" r:id="rId50"/>
    <p:sldId id="708" r:id="rId51"/>
    <p:sldId id="699" r:id="rId52"/>
    <p:sldId id="712" r:id="rId53"/>
    <p:sldId id="713" r:id="rId54"/>
    <p:sldId id="657" r:id="rId55"/>
    <p:sldId id="681" r:id="rId56"/>
    <p:sldId id="686" r:id="rId57"/>
    <p:sldId id="682" r:id="rId58"/>
    <p:sldId id="683" r:id="rId59"/>
    <p:sldId id="714" r:id="rId60"/>
    <p:sldId id="703" r:id="rId61"/>
    <p:sldId id="704" r:id="rId62"/>
  </p:sldIdLst>
  <p:sldSz cx="12188825" cy="6858000"/>
  <p:notesSz cx="6858000" cy="9144000"/>
  <p:custDataLst>
    <p:tags r:id="rId6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152">
          <p15:clr>
            <a:srgbClr val="A4A3A4"/>
          </p15:clr>
        </p15:guide>
        <p15:guide id="4" orient="horz" pos="1018">
          <p15:clr>
            <a:srgbClr val="A4A3A4"/>
          </p15:clr>
        </p15:guide>
        <p15:guide id="5" orient="horz" pos="3886">
          <p15:clr>
            <a:srgbClr val="A4A3A4"/>
          </p15:clr>
        </p15:guide>
        <p15:guide id="6" orient="horz" pos="2928">
          <p15:clr>
            <a:srgbClr val="A4A3A4"/>
          </p15:clr>
        </p15:guide>
        <p15:guide id="7" orient="horz" pos="3072">
          <p15:clr>
            <a:srgbClr val="A4A3A4"/>
          </p15:clr>
        </p15:guide>
        <p15:guide id="8" orient="horz" pos="407">
          <p15:clr>
            <a:srgbClr val="A4A3A4"/>
          </p15:clr>
        </p15:guide>
        <p15:guide id="9" pos="3839">
          <p15:clr>
            <a:srgbClr val="A4A3A4"/>
          </p15:clr>
        </p15:guide>
        <p15:guide id="10" pos="959">
          <p15:clr>
            <a:srgbClr val="A4A3A4"/>
          </p15:clr>
        </p15:guide>
        <p15:guide id="11" pos="7151">
          <p15:clr>
            <a:srgbClr val="A4A3A4"/>
          </p15:clr>
        </p15:guide>
        <p15:guide id="12" pos="671">
          <p15:clr>
            <a:srgbClr val="A4A3A4"/>
          </p15:clr>
        </p15:guide>
        <p15:guide id="13" pos="4991">
          <p15:clr>
            <a:srgbClr val="A4A3A4"/>
          </p15:clr>
        </p15:guide>
        <p15:guide id="14" pos="700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6E90FE"/>
    <a:srgbClr val="8086FC"/>
    <a:srgbClr val="6D6DFB"/>
    <a:srgbClr val="4E78F0"/>
    <a:srgbClr val="F0932C"/>
    <a:srgbClr val="92C610"/>
    <a:srgbClr val="9FD812"/>
    <a:srgbClr val="E05F2C"/>
    <a:srgbClr val="0ABE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51DEFA-C918-4738-BFE0-58D13797A512}" v="215" dt="2026-05-10T05:26:37.018"/>
  </p1510:revLst>
</p1510:revInfo>
</file>

<file path=ppt/tableStyles.xml><?xml version="1.0" encoding="utf-8"?>
<a:tblStyleLst xmlns:a="http://schemas.openxmlformats.org/drawingml/2006/main" def="{69CF1AB2-1976-4502-BF36-3FF5EA21886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orient="horz" pos="4030"/>
        <p:guide orient="horz" pos="1152"/>
        <p:guide orient="horz" pos="1018"/>
        <p:guide orient="horz" pos="3886"/>
        <p:guide orient="horz" pos="2928"/>
        <p:guide orient="horz" pos="3072"/>
        <p:guide orient="horz" pos="407"/>
        <p:guide pos="3839"/>
        <p:guide pos="959"/>
        <p:guide pos="7151"/>
        <p:guide pos="671"/>
        <p:guide pos="4991"/>
        <p:guide pos="700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adrini, Vincenzo" userId="f61352d9-9198-4695-abd8-70fd6e64330a" providerId="ADAL" clId="{888D66D8-61BD-4B74-94E0-0078727E2FCE}"/>
    <pc:docChg chg="undo custSel addSld delSld modSld">
      <pc:chgData name="Quadrini, Vincenzo" userId="f61352d9-9198-4695-abd8-70fd6e64330a" providerId="ADAL" clId="{888D66D8-61BD-4B74-94E0-0078727E2FCE}" dt="2026-05-10T05:44:25.468" v="228" actId="47"/>
      <pc:docMkLst>
        <pc:docMk/>
      </pc:docMkLst>
      <pc:sldChg chg="modSp mod">
        <pc:chgData name="Quadrini, Vincenzo" userId="f61352d9-9198-4695-abd8-70fd6e64330a" providerId="ADAL" clId="{888D66D8-61BD-4B74-94E0-0078727E2FCE}" dt="2026-05-10T04:56:22.639" v="4" actId="403"/>
        <pc:sldMkLst>
          <pc:docMk/>
          <pc:sldMk cId="935251751" sldId="417"/>
        </pc:sldMkLst>
        <pc:spChg chg="mod">
          <ac:chgData name="Quadrini, Vincenzo" userId="f61352d9-9198-4695-abd8-70fd6e64330a" providerId="ADAL" clId="{888D66D8-61BD-4B74-94E0-0078727E2FCE}" dt="2026-05-10T04:56:05.392" v="2" actId="20577"/>
          <ac:spMkLst>
            <pc:docMk/>
            <pc:sldMk cId="935251751" sldId="417"/>
            <ac:spMk id="2" creationId="{00000000-0000-0000-0000-000000000000}"/>
          </ac:spMkLst>
        </pc:spChg>
        <pc:spChg chg="mod">
          <ac:chgData name="Quadrini, Vincenzo" userId="f61352d9-9198-4695-abd8-70fd6e64330a" providerId="ADAL" clId="{888D66D8-61BD-4B74-94E0-0078727E2FCE}" dt="2026-05-10T04:56:22.639" v="4" actId="403"/>
          <ac:spMkLst>
            <pc:docMk/>
            <pc:sldMk cId="935251751" sldId="417"/>
            <ac:spMk id="3" creationId="{00000000-0000-0000-0000-000000000000}"/>
          </ac:spMkLst>
        </pc:spChg>
      </pc:sldChg>
      <pc:sldChg chg="add del">
        <pc:chgData name="Quadrini, Vincenzo" userId="f61352d9-9198-4695-abd8-70fd6e64330a" providerId="ADAL" clId="{888D66D8-61BD-4B74-94E0-0078727E2FCE}" dt="2026-05-10T05:44:25.468" v="228" actId="47"/>
        <pc:sldMkLst>
          <pc:docMk/>
          <pc:sldMk cId="1795263388" sldId="608"/>
        </pc:sldMkLst>
      </pc:sldChg>
      <pc:sldChg chg="modSp">
        <pc:chgData name="Quadrini, Vincenzo" userId="f61352d9-9198-4695-abd8-70fd6e64330a" providerId="ADAL" clId="{888D66D8-61BD-4B74-94E0-0078727E2FCE}" dt="2026-05-10T04:58:49.595" v="9" actId="313"/>
        <pc:sldMkLst>
          <pc:docMk/>
          <pc:sldMk cId="888458765" sldId="637"/>
        </pc:sldMkLst>
        <pc:spChg chg="mod">
          <ac:chgData name="Quadrini, Vincenzo" userId="f61352d9-9198-4695-abd8-70fd6e64330a" providerId="ADAL" clId="{888D66D8-61BD-4B74-94E0-0078727E2FCE}" dt="2026-05-10T04:58:49.595" v="9" actId="313"/>
          <ac:spMkLst>
            <pc:docMk/>
            <pc:sldMk cId="888458765" sldId="637"/>
            <ac:spMk id="3" creationId="{09A2F897-2643-4490-93FF-4FF458F15722}"/>
          </ac:spMkLst>
        </pc:spChg>
      </pc:sldChg>
      <pc:sldChg chg="modSp">
        <pc:chgData name="Quadrini, Vincenzo" userId="f61352d9-9198-4695-abd8-70fd6e64330a" providerId="ADAL" clId="{888D66D8-61BD-4B74-94E0-0078727E2FCE}" dt="2026-05-10T04:59:49.809" v="10" actId="6549"/>
        <pc:sldMkLst>
          <pc:docMk/>
          <pc:sldMk cId="3936040817" sldId="638"/>
        </pc:sldMkLst>
        <pc:spChg chg="mod">
          <ac:chgData name="Quadrini, Vincenzo" userId="f61352d9-9198-4695-abd8-70fd6e64330a" providerId="ADAL" clId="{888D66D8-61BD-4B74-94E0-0078727E2FCE}" dt="2026-05-10T04:59:49.809" v="10" actId="6549"/>
          <ac:spMkLst>
            <pc:docMk/>
            <pc:sldMk cId="3936040817" sldId="638"/>
            <ac:spMk id="3" creationId="{09A2F897-2643-4490-93FF-4FF458F15722}"/>
          </ac:spMkLst>
        </pc:spChg>
      </pc:sldChg>
      <pc:sldChg chg="modSp">
        <pc:chgData name="Quadrini, Vincenzo" userId="f61352d9-9198-4695-abd8-70fd6e64330a" providerId="ADAL" clId="{888D66D8-61BD-4B74-94E0-0078727E2FCE}" dt="2026-05-10T05:07:50.955" v="133" actId="20577"/>
        <pc:sldMkLst>
          <pc:docMk/>
          <pc:sldMk cId="3595811365" sldId="641"/>
        </pc:sldMkLst>
        <pc:spChg chg="mod">
          <ac:chgData name="Quadrini, Vincenzo" userId="f61352d9-9198-4695-abd8-70fd6e64330a" providerId="ADAL" clId="{888D66D8-61BD-4B74-94E0-0078727E2FCE}" dt="2026-05-10T05:07:50.955" v="133" actId="20577"/>
          <ac:spMkLst>
            <pc:docMk/>
            <pc:sldMk cId="3595811365" sldId="641"/>
            <ac:spMk id="3" creationId="{09A2F897-2643-4490-93FF-4FF458F15722}"/>
          </ac:spMkLst>
        </pc:spChg>
      </pc:sldChg>
      <pc:sldChg chg="modSp modAnim">
        <pc:chgData name="Quadrini, Vincenzo" userId="f61352d9-9198-4695-abd8-70fd6e64330a" providerId="ADAL" clId="{888D66D8-61BD-4B74-94E0-0078727E2FCE}" dt="2026-05-10T05:09:24.906" v="146" actId="20577"/>
        <pc:sldMkLst>
          <pc:docMk/>
          <pc:sldMk cId="531775466" sldId="642"/>
        </pc:sldMkLst>
        <pc:spChg chg="mod">
          <ac:chgData name="Quadrini, Vincenzo" userId="f61352d9-9198-4695-abd8-70fd6e64330a" providerId="ADAL" clId="{888D66D8-61BD-4B74-94E0-0078727E2FCE}" dt="2026-05-10T05:09:24.906" v="146" actId="20577"/>
          <ac:spMkLst>
            <pc:docMk/>
            <pc:sldMk cId="531775466" sldId="642"/>
            <ac:spMk id="3" creationId="{09A2F897-2643-4490-93FF-4FF458F15722}"/>
          </ac:spMkLst>
        </pc:spChg>
      </pc:sldChg>
      <pc:sldChg chg="modSp mod">
        <pc:chgData name="Quadrini, Vincenzo" userId="f61352d9-9198-4695-abd8-70fd6e64330a" providerId="ADAL" clId="{888D66D8-61BD-4B74-94E0-0078727E2FCE}" dt="2026-05-10T05:06:29.121" v="106" actId="20577"/>
        <pc:sldMkLst>
          <pc:docMk/>
          <pc:sldMk cId="1549831369" sldId="646"/>
        </pc:sldMkLst>
        <pc:spChg chg="mod">
          <ac:chgData name="Quadrini, Vincenzo" userId="f61352d9-9198-4695-abd8-70fd6e64330a" providerId="ADAL" clId="{888D66D8-61BD-4B74-94E0-0078727E2FCE}" dt="2026-05-10T05:06:29.121" v="106" actId="20577"/>
          <ac:spMkLst>
            <pc:docMk/>
            <pc:sldMk cId="1549831369" sldId="646"/>
            <ac:spMk id="3" creationId="{09A2F897-2643-4490-93FF-4FF458F15722}"/>
          </ac:spMkLst>
        </pc:spChg>
      </pc:sldChg>
      <pc:sldChg chg="modSp">
        <pc:chgData name="Quadrini, Vincenzo" userId="f61352d9-9198-4695-abd8-70fd6e64330a" providerId="ADAL" clId="{888D66D8-61BD-4B74-94E0-0078727E2FCE}" dt="2026-05-10T05:11:12.402" v="174" actId="6549"/>
        <pc:sldMkLst>
          <pc:docMk/>
          <pc:sldMk cId="1647368055" sldId="647"/>
        </pc:sldMkLst>
        <pc:spChg chg="mod">
          <ac:chgData name="Quadrini, Vincenzo" userId="f61352d9-9198-4695-abd8-70fd6e64330a" providerId="ADAL" clId="{888D66D8-61BD-4B74-94E0-0078727E2FCE}" dt="2026-05-10T05:11:12.402" v="174" actId="6549"/>
          <ac:spMkLst>
            <pc:docMk/>
            <pc:sldMk cId="1647368055" sldId="647"/>
            <ac:spMk id="3" creationId="{09A2F897-2643-4490-93FF-4FF458F15722}"/>
          </ac:spMkLst>
        </pc:spChg>
      </pc:sldChg>
      <pc:sldChg chg="modSp">
        <pc:chgData name="Quadrini, Vincenzo" userId="f61352d9-9198-4695-abd8-70fd6e64330a" providerId="ADAL" clId="{888D66D8-61BD-4B74-94E0-0078727E2FCE}" dt="2026-05-10T05:17:08.043" v="178" actId="20577"/>
        <pc:sldMkLst>
          <pc:docMk/>
          <pc:sldMk cId="3818908219" sldId="652"/>
        </pc:sldMkLst>
        <pc:spChg chg="mod">
          <ac:chgData name="Quadrini, Vincenzo" userId="f61352d9-9198-4695-abd8-70fd6e64330a" providerId="ADAL" clId="{888D66D8-61BD-4B74-94E0-0078727E2FCE}" dt="2026-05-10T05:17:08.043" v="178" actId="20577"/>
          <ac:spMkLst>
            <pc:docMk/>
            <pc:sldMk cId="3818908219" sldId="652"/>
            <ac:spMk id="3" creationId="{09A2F897-2643-4490-93FF-4FF458F15722}"/>
          </ac:spMkLst>
        </pc:spChg>
      </pc:sldChg>
      <pc:sldChg chg="modSp">
        <pc:chgData name="Quadrini, Vincenzo" userId="f61352d9-9198-4695-abd8-70fd6e64330a" providerId="ADAL" clId="{888D66D8-61BD-4B74-94E0-0078727E2FCE}" dt="2026-05-10T05:21:58.602" v="180" actId="113"/>
        <pc:sldMkLst>
          <pc:docMk/>
          <pc:sldMk cId="2155699947" sldId="661"/>
        </pc:sldMkLst>
        <pc:spChg chg="mod">
          <ac:chgData name="Quadrini, Vincenzo" userId="f61352d9-9198-4695-abd8-70fd6e64330a" providerId="ADAL" clId="{888D66D8-61BD-4B74-94E0-0078727E2FCE}" dt="2026-05-10T05:21:58.602" v="180" actId="113"/>
          <ac:spMkLst>
            <pc:docMk/>
            <pc:sldMk cId="2155699947" sldId="661"/>
            <ac:spMk id="3" creationId="{09A2F897-2643-4490-93FF-4FF458F15722}"/>
          </ac:spMkLst>
        </pc:spChg>
      </pc:sldChg>
      <pc:sldChg chg="modSp">
        <pc:chgData name="Quadrini, Vincenzo" userId="f61352d9-9198-4695-abd8-70fd6e64330a" providerId="ADAL" clId="{888D66D8-61BD-4B74-94E0-0078727E2FCE}" dt="2026-05-10T05:24:25.704" v="201" actId="20577"/>
        <pc:sldMkLst>
          <pc:docMk/>
          <pc:sldMk cId="1074779564" sldId="662"/>
        </pc:sldMkLst>
        <pc:spChg chg="mod">
          <ac:chgData name="Quadrini, Vincenzo" userId="f61352d9-9198-4695-abd8-70fd6e64330a" providerId="ADAL" clId="{888D66D8-61BD-4B74-94E0-0078727E2FCE}" dt="2026-05-10T05:24:03.359" v="186" actId="20577"/>
          <ac:spMkLst>
            <pc:docMk/>
            <pc:sldMk cId="1074779564" sldId="662"/>
            <ac:spMk id="9" creationId="{4104BC01-1297-4690-94E9-FAB23C7509C9}"/>
          </ac:spMkLst>
        </pc:spChg>
        <pc:spChg chg="mod">
          <ac:chgData name="Quadrini, Vincenzo" userId="f61352d9-9198-4695-abd8-70fd6e64330a" providerId="ADAL" clId="{888D66D8-61BD-4B74-94E0-0078727E2FCE}" dt="2026-05-10T05:24:25.704" v="201" actId="20577"/>
          <ac:spMkLst>
            <pc:docMk/>
            <pc:sldMk cId="1074779564" sldId="662"/>
            <ac:spMk id="27" creationId="{CDB43170-779C-4A3A-AB35-83F8866F205B}"/>
          </ac:spMkLst>
        </pc:spChg>
      </pc:sldChg>
      <pc:sldChg chg="modSp">
        <pc:chgData name="Quadrini, Vincenzo" userId="f61352d9-9198-4695-abd8-70fd6e64330a" providerId="ADAL" clId="{888D66D8-61BD-4B74-94E0-0078727E2FCE}" dt="2026-05-10T05:26:37.018" v="216" actId="20577"/>
        <pc:sldMkLst>
          <pc:docMk/>
          <pc:sldMk cId="1992073173" sldId="688"/>
        </pc:sldMkLst>
        <pc:spChg chg="mod">
          <ac:chgData name="Quadrini, Vincenzo" userId="f61352d9-9198-4695-abd8-70fd6e64330a" providerId="ADAL" clId="{888D66D8-61BD-4B74-94E0-0078727E2FCE}" dt="2026-05-10T05:26:37.018" v="216" actId="20577"/>
          <ac:spMkLst>
            <pc:docMk/>
            <pc:sldMk cId="1992073173" sldId="688"/>
            <ac:spMk id="9" creationId="{4104BC01-1297-4690-94E9-FAB23C7509C9}"/>
          </ac:spMkLst>
        </pc:spChg>
      </pc:sldChg>
      <pc:sldChg chg="modSp mod">
        <pc:chgData name="Quadrini, Vincenzo" userId="f61352d9-9198-4695-abd8-70fd6e64330a" providerId="ADAL" clId="{888D66D8-61BD-4B74-94E0-0078727E2FCE}" dt="2026-05-10T05:38:29.503" v="225" actId="21"/>
        <pc:sldMkLst>
          <pc:docMk/>
          <pc:sldMk cId="3439631916" sldId="712"/>
        </pc:sldMkLst>
        <pc:spChg chg="mod">
          <ac:chgData name="Quadrini, Vincenzo" userId="f61352d9-9198-4695-abd8-70fd6e64330a" providerId="ADAL" clId="{888D66D8-61BD-4B74-94E0-0078727E2FCE}" dt="2026-05-10T05:38:29.503" v="225" actId="21"/>
          <ac:spMkLst>
            <pc:docMk/>
            <pc:sldMk cId="3439631916" sldId="712"/>
            <ac:spMk id="2" creationId="{D368B944-A6C2-473D-B4C6-B7AB986CD4E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9AFDC-7658-4951-B0FF-52DFF2A93C0A}" type="datetimeFigureOut">
              <a:rPr lang="en-US" smtClean="0"/>
              <a:t>5/9/2026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8ED99B-9732-49FC-9C16-B56FEB1B1092}" type="slidenum">
              <a:rPr lang="en-US" smtClean="0"/>
              <a:t>‹#›</a:t>
            </a:fld>
            <a:endParaRPr lang="en-US"/>
          </a:p>
        </p:txBody>
      </p:sp>
    </p:spTree>
    <p:extLst>
      <p:ext uri="{BB962C8B-B14F-4D97-AF65-F5344CB8AC3E}">
        <p14:creationId xmlns:p14="http://schemas.microsoft.com/office/powerpoint/2010/main" val="131466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smtClean="0"/>
              <a:t>5/9/2026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lang="en-US" smtClean="0"/>
              <a:t>‹#›</a:t>
            </a:fld>
            <a:endParaRPr lang="en-US"/>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1</a:t>
            </a:fld>
            <a:endParaRPr lang="en-US"/>
          </a:p>
        </p:txBody>
      </p:sp>
    </p:spTree>
    <p:extLst>
      <p:ext uri="{BB962C8B-B14F-4D97-AF65-F5344CB8AC3E}">
        <p14:creationId xmlns:p14="http://schemas.microsoft.com/office/powerpoint/2010/main" val="3772768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29</a:t>
            </a:fld>
            <a:endParaRPr lang="en-US"/>
          </a:p>
        </p:txBody>
      </p:sp>
    </p:spTree>
    <p:extLst>
      <p:ext uri="{BB962C8B-B14F-4D97-AF65-F5344CB8AC3E}">
        <p14:creationId xmlns:p14="http://schemas.microsoft.com/office/powerpoint/2010/main" val="3936712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30</a:t>
            </a:fld>
            <a:endParaRPr lang="en-US"/>
          </a:p>
        </p:txBody>
      </p:sp>
    </p:spTree>
    <p:extLst>
      <p:ext uri="{BB962C8B-B14F-4D97-AF65-F5344CB8AC3E}">
        <p14:creationId xmlns:p14="http://schemas.microsoft.com/office/powerpoint/2010/main" val="42567357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0824" y="1600200"/>
            <a:ext cx="5945188" cy="30480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hasCustomPrompt="1"/>
          </p:nvPr>
        </p:nvSpPr>
        <p:spPr>
          <a:xfrm>
            <a:off x="1520825" y="4898572"/>
            <a:ext cx="5945187" cy="1270453"/>
          </a:xfrm>
        </p:spPr>
        <p:txBody>
          <a:bodyPr>
            <a:noAutofit/>
          </a:bodyPr>
          <a:lstStyle>
            <a:lvl1pPr marL="0" indent="0" algn="l">
              <a:spcBef>
                <a:spcPts val="0"/>
              </a:spcBef>
              <a:buNone/>
              <a:defRPr sz="2800" cap="none" baseline="0">
                <a:solidFill>
                  <a:schemeClr val="accent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a:t>
            </a:r>
            <a:r>
              <a:t>dit Master subtitle style</a:t>
            </a:r>
          </a:p>
        </p:txBody>
      </p:sp>
      <p:cxnSp>
        <p:nvCxnSpPr>
          <p:cNvPr id="6" name="Straight Connector 5"/>
          <p:cNvCxnSpPr/>
          <p:nvPr/>
        </p:nvCxnSpPr>
        <p:spPr>
          <a:xfrm>
            <a:off x="1658936" y="4782971"/>
            <a:ext cx="56546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grpSp>
        <p:nvGrpSpPr>
          <p:cNvPr id="5" name="Group 4"/>
          <p:cNvGrpSpPr/>
          <p:nvPr userDrawn="1"/>
        </p:nvGrpSpPr>
        <p:grpSpPr>
          <a:xfrm>
            <a:off x="7923213" y="0"/>
            <a:ext cx="4265612" cy="6858000"/>
            <a:chOff x="7923213" y="0"/>
            <a:chExt cx="4265612" cy="685800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923213" y="0"/>
              <a:ext cx="4265612" cy="6858000"/>
            </a:xfrm>
            <a:prstGeom prst="rect">
              <a:avLst/>
            </a:prstGeom>
          </p:spPr>
        </p:pic>
        <p:sp>
          <p:nvSpPr>
            <p:cNvPr id="13" name="Rectangle 12"/>
            <p:cNvSpPr/>
            <p:nvPr/>
          </p:nvSpPr>
          <p:spPr>
            <a:xfrm>
              <a:off x="7923213" y="0"/>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0" y="2237096"/>
            <a:ext cx="8229601" cy="2411103"/>
          </a:xfrm>
        </p:spPr>
        <p:txBody>
          <a:bodyPr anchor="b">
            <a:normAutofit/>
          </a:bodyPr>
          <a:lstStyle>
            <a:lvl1pPr algn="l">
              <a:lnSpc>
                <a:spcPct val="80000"/>
              </a:lnSpc>
              <a:defRPr sz="48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2" y="4876800"/>
            <a:ext cx="8229601" cy="1292225"/>
          </a:xfrm>
        </p:spPr>
        <p:txBody>
          <a:bodyPr anchor="t">
            <a:normAutofit/>
          </a:bodyPr>
          <a:lstStyle>
            <a:lvl1pPr marL="0" indent="0">
              <a:spcBef>
                <a:spcPts val="0"/>
              </a:spcBef>
              <a:buNone/>
              <a:defRPr sz="2800" cap="none" baseline="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grpSp>
        <p:nvGrpSpPr>
          <p:cNvPr id="7" name="Group 6"/>
          <p:cNvGrpSpPr/>
          <p:nvPr userDrawn="1"/>
        </p:nvGrpSpPr>
        <p:grpSpPr>
          <a:xfrm>
            <a:off x="11123611" y="0"/>
            <a:ext cx="1065214" cy="6868886"/>
            <a:chOff x="11123611" y="0"/>
            <a:chExt cx="1065214" cy="6868886"/>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1123611" y="0"/>
              <a:ext cx="1065213" cy="6858000"/>
            </a:xfrm>
            <a:prstGeom prst="rect">
              <a:avLst/>
            </a:prstGeom>
          </p:spPr>
        </p:pic>
        <p:sp>
          <p:nvSpPr>
            <p:cNvPr id="12" name="Rectangle 11"/>
            <p:cNvSpPr/>
            <p:nvPr/>
          </p:nvSpPr>
          <p:spPr>
            <a:xfrm>
              <a:off x="11123612" y="10886"/>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9" name="Straight Connector 8"/>
          <p:cNvCxnSpPr/>
          <p:nvPr/>
        </p:nvCxnSpPr>
        <p:spPr>
          <a:xfrm>
            <a:off x="1658936" y="4782971"/>
            <a:ext cx="80168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sz="half" idx="1"/>
          </p:nvPr>
        </p:nvSpPr>
        <p:spPr>
          <a:xfrm>
            <a:off x="1488168" y="1984248"/>
            <a:ext cx="4800600"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51612" y="1984248"/>
            <a:ext cx="4800601"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5/9/2026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Text Placeholder 2"/>
          <p:cNvSpPr>
            <a:spLocks noGrp="1"/>
          </p:cNvSpPr>
          <p:nvPr>
            <p:ph type="body" idx="1"/>
          </p:nvPr>
        </p:nvSpPr>
        <p:spPr>
          <a:xfrm>
            <a:off x="15224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5516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16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a:t>Add a footer</a:t>
            </a:r>
          </a:p>
        </p:txBody>
      </p:sp>
      <p:sp>
        <p:nvSpPr>
          <p:cNvPr id="7" name="Date Placeholder 6"/>
          <p:cNvSpPr>
            <a:spLocks noGrp="1"/>
          </p:cNvSpPr>
          <p:nvPr>
            <p:ph type="dt" sz="half" idx="10"/>
          </p:nvPr>
        </p:nvSpPr>
        <p:spPr/>
        <p:txBody>
          <a:bodyPr/>
          <a:lstStyle/>
          <a:p>
            <a:fld id="{03F41C87-7AD9-4845-A077-840E4A0F3F06}" type="datetimeFigureOut">
              <a:rPr lang="en-US"/>
              <a:t>5/9/2026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cxnSp>
        <p:nvCxnSpPr>
          <p:cNvPr id="10" name="Straight Connector 9"/>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Add a footer</a:t>
            </a:r>
          </a:p>
        </p:txBody>
      </p:sp>
      <p:sp>
        <p:nvSpPr>
          <p:cNvPr id="3" name="Date Placeholder 2"/>
          <p:cNvSpPr>
            <a:spLocks noGrp="1"/>
          </p:cNvSpPr>
          <p:nvPr>
            <p:ph type="dt" sz="half" idx="10"/>
          </p:nvPr>
        </p:nvSpPr>
        <p:spPr/>
        <p:txBody>
          <a:bodyPr/>
          <a:lstStyle/>
          <a:p>
            <a:fld id="{03F41C87-7AD9-4845-A077-840E4A0F3F06}" type="datetimeFigureOut">
              <a:rPr lang="en-US"/>
              <a:t>5/9/2026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cxnSp>
        <p:nvCxnSpPr>
          <p:cNvPr id="6" name="Straight Connector 5"/>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Add a footer</a:t>
            </a:r>
          </a:p>
        </p:txBody>
      </p:sp>
      <p:sp>
        <p:nvSpPr>
          <p:cNvPr id="2" name="Date Placeholder 1"/>
          <p:cNvSpPr>
            <a:spLocks noGrp="1"/>
          </p:cNvSpPr>
          <p:nvPr>
            <p:ph type="dt" sz="half" idx="10"/>
          </p:nvPr>
        </p:nvSpPr>
        <p:spPr/>
        <p:txBody>
          <a:bodyPr/>
          <a:lstStyle/>
          <a:p>
            <a:fld id="{03F41C87-7AD9-4845-A077-840E4A0F3F06}" type="datetimeFigureOut">
              <a:rPr lang="en-US"/>
              <a:t>5/9/2026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7"/>
          </a:xfrm>
        </p:spPr>
        <p:txBody>
          <a:bodyPr anchor="b">
            <a:noAutofit/>
          </a:bodyPr>
          <a:lstStyle>
            <a:lvl1pPr algn="l">
              <a:lnSpc>
                <a:spcPct val="80000"/>
              </a:lnSpc>
              <a:defRPr sz="4000" b="0">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a:xfrm>
            <a:off x="6094414" y="685800"/>
            <a:ext cx="5257799"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spcBef>
                <a:spcPts val="18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5/9/2026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8"/>
          </a:xfrm>
        </p:spPr>
        <p:txBody>
          <a:bodyPr anchor="b">
            <a:normAutofit/>
          </a:bodyPr>
          <a:lstStyle>
            <a:lvl1pPr algn="l">
              <a:lnSpc>
                <a:spcPct val="80000"/>
              </a:lnSpc>
              <a:defRPr sz="4000" b="0" i="0" baseline="0">
                <a:solidFill>
                  <a:schemeClr val="accent1">
                    <a:lumMod val="50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6025925" y="-50118"/>
            <a:ext cx="6172198" cy="6857999"/>
          </a:xfrm>
          <a:solidFill>
            <a:schemeClr val="bg2"/>
          </a:solidFill>
          <a:effectLst>
            <a:outerShdw blurRad="152400" dist="50800" dir="10800000" algn="r" rotWithShape="0">
              <a:prstClr val="black">
                <a:alpha val="25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0" name="Straight Connector 9"/>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23412" y="646112"/>
            <a:ext cx="1828801" cy="5522913"/>
          </a:xfrm>
        </p:spPr>
        <p:txBody>
          <a:bodyPr vert="eaVert"/>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2" y="646112"/>
            <a:ext cx="7620000" cy="5522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9371012" y="762000"/>
            <a:ext cx="0" cy="533400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829799" cy="12192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81200"/>
            <a:ext cx="9829799" cy="41878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2413" y="6400800"/>
            <a:ext cx="5954834" cy="276228"/>
          </a:xfrm>
          <a:prstGeom prst="rect">
            <a:avLst/>
          </a:prstGeom>
        </p:spPr>
        <p:txBody>
          <a:bodyPr vert="horz" lIns="91440" tIns="45720" rIns="91440" bIns="45720" rtlCol="0" anchor="ctr"/>
          <a:lstStyle>
            <a:lvl1pPr algn="l">
              <a:defRPr sz="1100">
                <a:solidFill>
                  <a:schemeClr val="tx1"/>
                </a:solidFill>
              </a:defRPr>
            </a:lvl1pPr>
          </a:lstStyle>
          <a:p>
            <a:r>
              <a:rPr lang="en-US"/>
              <a:t>Add a footer</a:t>
            </a:r>
          </a:p>
        </p:txBody>
      </p:sp>
      <p:sp>
        <p:nvSpPr>
          <p:cNvPr id="4" name="Date Placeholder 3"/>
          <p:cNvSpPr>
            <a:spLocks noGrp="1"/>
          </p:cNvSpPr>
          <p:nvPr>
            <p:ph type="dt" sz="half" idx="2"/>
          </p:nvPr>
        </p:nvSpPr>
        <p:spPr>
          <a:xfrm>
            <a:off x="8228011" y="6400800"/>
            <a:ext cx="1548659" cy="276228"/>
          </a:xfrm>
          <a:prstGeom prst="rect">
            <a:avLst/>
          </a:prstGeom>
        </p:spPr>
        <p:txBody>
          <a:bodyPr vert="horz" lIns="91440" tIns="45720" rIns="91440" bIns="45720" rtlCol="0" anchor="ctr"/>
          <a:lstStyle>
            <a:lvl1pPr algn="r">
              <a:defRPr sz="1100">
                <a:solidFill>
                  <a:schemeClr val="tx1"/>
                </a:solidFill>
              </a:defRPr>
            </a:lvl1pPr>
          </a:lstStyle>
          <a:p>
            <a:fld id="{03F41C87-7AD9-4845-A077-840E4A0F3F06}" type="datetimeFigureOut">
              <a:rPr lang="en-US" smtClean="0"/>
              <a:pPr/>
              <a:t>5/9/2026</a:t>
            </a:fld>
            <a:endParaRPr lang="en-US"/>
          </a:p>
        </p:txBody>
      </p:sp>
      <p:sp>
        <p:nvSpPr>
          <p:cNvPr id="6" name="Slide Number Placeholder 5"/>
          <p:cNvSpPr>
            <a:spLocks noGrp="1"/>
          </p:cNvSpPr>
          <p:nvPr>
            <p:ph type="sldNum" sz="quarter" idx="4"/>
          </p:nvPr>
        </p:nvSpPr>
        <p:spPr>
          <a:xfrm>
            <a:off x="10285411" y="6400800"/>
            <a:ext cx="1066802" cy="276228"/>
          </a:xfrm>
          <a:prstGeom prst="rect">
            <a:avLst/>
          </a:prstGeom>
        </p:spPr>
        <p:txBody>
          <a:bodyPr vert="horz" lIns="91440" tIns="45720" rIns="91440" bIns="45720" rtlCol="0" anchor="ctr"/>
          <a:lstStyle>
            <a:lvl1pPr algn="r">
              <a:defRPr sz="1100">
                <a:solidFill>
                  <a:schemeClr val="tx1"/>
                </a:solidFill>
              </a:defRPr>
            </a:lvl1pPr>
          </a:lstStyle>
          <a:p>
            <a:fld id="{2A013F82-EE5E-44EE-A61D-E31C6657F26F}" type="slidenum">
              <a:rPr lang="en-US" smtClean="0"/>
              <a:pPr/>
              <a:t>‹#›</a:t>
            </a:fld>
            <a:endParaRPr lang="en-US"/>
          </a:p>
        </p:txBody>
      </p:sp>
      <p:pic>
        <p:nvPicPr>
          <p:cNvPr id="9" name="Picture 8"/>
          <p:cNvPicPr>
            <a:picLocks noChangeAspect="1"/>
          </p:cNvPicPr>
          <p:nvPr/>
        </p:nvPicPr>
        <p:blipFill rotWithShape="1">
          <a:blip r:embed="rId13" cstate="print">
            <a:extLst>
              <a:ext uri="{28A0092B-C50C-407E-A947-70E740481C1C}">
                <a14:useLocalDpi xmlns:a14="http://schemas.microsoft.com/office/drawing/2010/main" val="0"/>
              </a:ext>
            </a:extLst>
          </a:blip>
          <a:srcRect/>
          <a:stretch/>
        </p:blipFill>
        <p:spPr>
          <a:xfrm>
            <a:off x="1" y="0"/>
            <a:ext cx="1065213" cy="6858000"/>
          </a:xfrm>
          <a:prstGeom prst="rect">
            <a:avLst/>
          </a:prstGeom>
        </p:spPr>
      </p:pic>
      <p:sp>
        <p:nvSpPr>
          <p:cNvPr id="10" name="Rectangle 9"/>
          <p:cNvSpPr/>
          <p:nvPr/>
        </p:nvSpPr>
        <p:spPr>
          <a:xfrm>
            <a:off x="1" y="0"/>
            <a:ext cx="1065213" cy="6858000"/>
          </a:xfrm>
          <a:prstGeom prst="rect">
            <a:avLst/>
          </a:prstGeom>
          <a:gradFill flip="none" rotWithShape="1">
            <a:gsLst>
              <a:gs pos="75000">
                <a:schemeClr val="tx2">
                  <a:alpha val="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03059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emn178.github.io/online-tools/sha256.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emn178.github.io/online-tools/sha256.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emn178.github.io/online-tools/sha256.htm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docs.google.com/spreadsheets/d/1Ksotut09GyBdhFT1MF6VKo6fWUCfCiazK6tLqftgb-I/edit?usp=sharing" TargetMode="External"/><Relationship Id="rId2" Type="http://schemas.openxmlformats.org/officeDocument/2006/relationships/hyperlink" Target="https://docs.google.com/spreadsheets/d/1dTpt0VDyuDWn5g0F97PKQumBm2Y8omc4h78BmNpFaGk/edit?usp=sharing"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blockchain.com/explorer/blocks/btc"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docs.google.com/spreadsheets/d/1dTpt0VDyuDWn5g0F97PKQumBm2Y8omc4h78BmNpFaGk/edit?usp=sharing" TargetMode="External"/><Relationship Id="rId2" Type="http://schemas.openxmlformats.org/officeDocument/2006/relationships/hyperlink" Target="https://docs.google.com/spreadsheets/d/1Ksotut09GyBdhFT1MF6VKo6fWUCfCiazK6tLqftgb-I/edit?usp=sharing"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0823" y="1600200"/>
            <a:ext cx="6290765" cy="3048000"/>
          </a:xfrm>
        </p:spPr>
        <p:txBody>
          <a:bodyPr/>
          <a:lstStyle/>
          <a:p>
            <a:r>
              <a:rPr lang="en-US" sz="5400" b="1" dirty="0">
                <a:latin typeface="National semibold" panose="02000503000000020004"/>
              </a:rPr>
              <a:t>Introduction to </a:t>
            </a:r>
            <a:br>
              <a:rPr lang="en-US" sz="5400" b="1" dirty="0">
                <a:latin typeface="National semibold" panose="02000503000000020004"/>
              </a:rPr>
            </a:br>
            <a:r>
              <a:rPr lang="en-US" sz="5400" b="1" dirty="0">
                <a:latin typeface="National semibold" panose="02000503000000020004"/>
              </a:rPr>
              <a:t>Decentralized Finance </a:t>
            </a:r>
            <a:br>
              <a:rPr lang="en-US" sz="5400" b="1" dirty="0">
                <a:latin typeface="National semibold" panose="02000503000000020004"/>
              </a:rPr>
            </a:br>
            <a:endParaRPr lang="en-US" sz="4800" dirty="0"/>
          </a:p>
        </p:txBody>
      </p:sp>
      <p:sp>
        <p:nvSpPr>
          <p:cNvPr id="3" name="Subtitle 2"/>
          <p:cNvSpPr>
            <a:spLocks noGrp="1"/>
          </p:cNvSpPr>
          <p:nvPr>
            <p:ph type="subTitle" idx="1"/>
          </p:nvPr>
        </p:nvSpPr>
        <p:spPr/>
        <p:txBody>
          <a:bodyPr/>
          <a:lstStyle/>
          <a:p>
            <a:r>
              <a:rPr lang="en-US" sz="3600" dirty="0">
                <a:latin typeface="National semibold" panose="02000503000000020004"/>
              </a:rPr>
              <a:t>Technological platform: Blockchain</a:t>
            </a:r>
          </a:p>
        </p:txBody>
      </p:sp>
    </p:spTree>
    <p:extLst>
      <p:ext uri="{BB962C8B-B14F-4D97-AF65-F5344CB8AC3E}">
        <p14:creationId xmlns:p14="http://schemas.microsoft.com/office/powerpoint/2010/main" val="935251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What is Blockchain?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lnSpcReduction="10000"/>
          </a:bodyPr>
          <a:lstStyle/>
          <a:p>
            <a:r>
              <a:rPr lang="en-US">
                <a:latin typeface="National semibold" panose="02000503000000020004"/>
              </a:rPr>
              <a:t>A growing system of interconnected records of transactions that are timestamped, secured, and agreed upon by participants. </a:t>
            </a:r>
          </a:p>
          <a:p>
            <a:endParaRPr lang="en-US">
              <a:latin typeface="National semibold" panose="02000503000000020004"/>
            </a:endParaRPr>
          </a:p>
          <a:p>
            <a:r>
              <a:rPr lang="en-US">
                <a:latin typeface="National semibold" panose="02000503000000020004"/>
              </a:rPr>
              <a:t>The content of records can include almost everything pertinent to a transaction and provides users the ability to access, observe, and analyze the data stored on the blockchain. </a:t>
            </a:r>
          </a:p>
          <a:p>
            <a:endParaRPr lang="en-US">
              <a:latin typeface="National semibold" panose="02000503000000020004"/>
            </a:endParaRPr>
          </a:p>
          <a:p>
            <a:r>
              <a:rPr lang="en-US">
                <a:latin typeface="National semibold" panose="02000503000000020004"/>
              </a:rPr>
              <a:t>A blockchain stands on three disciplines:</a:t>
            </a:r>
          </a:p>
          <a:p>
            <a:pPr marL="739775" lvl="1" indent="-457200">
              <a:buFont typeface="+mj-lt"/>
              <a:buAutoNum type="arabicPeriod"/>
            </a:pPr>
            <a:r>
              <a:rPr lang="en-US">
                <a:latin typeface="National semibold" panose="02000503000000020004"/>
              </a:rPr>
              <a:t>Accounting</a:t>
            </a:r>
          </a:p>
          <a:p>
            <a:pPr marL="739775" lvl="1" indent="-457200">
              <a:buFont typeface="+mj-lt"/>
              <a:buAutoNum type="arabicPeriod"/>
            </a:pPr>
            <a:r>
              <a:rPr lang="en-US">
                <a:latin typeface="National semibold" panose="02000503000000020004"/>
              </a:rPr>
              <a:t>Computer science</a:t>
            </a:r>
          </a:p>
          <a:p>
            <a:pPr marL="739775" lvl="1" indent="-457200">
              <a:buFont typeface="+mj-lt"/>
              <a:buAutoNum type="arabicPeriod"/>
            </a:pPr>
            <a:r>
              <a:rPr lang="en-US">
                <a:latin typeface="National semibold" panose="02000503000000020004"/>
              </a:rPr>
              <a:t>Governance system</a:t>
            </a:r>
          </a:p>
        </p:txBody>
      </p:sp>
    </p:spTree>
    <p:extLst>
      <p:ext uri="{BB962C8B-B14F-4D97-AF65-F5344CB8AC3E}">
        <p14:creationId xmlns:p14="http://schemas.microsoft.com/office/powerpoint/2010/main" val="555392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1. Accounting</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b="1" u="sng" dirty="0">
                <a:latin typeface="National semibold" panose="02000503000000020004"/>
              </a:rPr>
              <a:t>Ledgers</a:t>
            </a:r>
            <a:r>
              <a:rPr lang="en-US" dirty="0">
                <a:latin typeface="National semibold" panose="02000503000000020004"/>
              </a:rPr>
              <a:t> - A ledger is used to keep track of money or other units going in, out. It serves as a diary to record transactions and financial matters occurring over the lifespan of an organization or system.</a:t>
            </a:r>
          </a:p>
        </p:txBody>
      </p:sp>
    </p:spTree>
    <p:extLst>
      <p:ext uri="{BB962C8B-B14F-4D97-AF65-F5344CB8AC3E}">
        <p14:creationId xmlns:p14="http://schemas.microsoft.com/office/powerpoint/2010/main" val="2796758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Example of ledger: Balance of poker chips</a:t>
            </a:r>
          </a:p>
        </p:txBody>
      </p:sp>
      <p:graphicFrame>
        <p:nvGraphicFramePr>
          <p:cNvPr id="2" name="Table 3">
            <a:extLst>
              <a:ext uri="{FF2B5EF4-FFF2-40B4-BE49-F238E27FC236}">
                <a16:creationId xmlns:a16="http://schemas.microsoft.com/office/drawing/2014/main" id="{78682D26-C17E-4D09-8A47-EC0D62AF1958}"/>
              </a:ext>
            </a:extLst>
          </p:cNvPr>
          <p:cNvGraphicFramePr>
            <a:graphicFrameLocks noGrp="1"/>
          </p:cNvGraphicFramePr>
          <p:nvPr>
            <p:ph idx="1"/>
            <p:extLst>
              <p:ext uri="{D42A27DB-BD31-4B8C-83A1-F6EECF244321}">
                <p14:modId xmlns:p14="http://schemas.microsoft.com/office/powerpoint/2010/main" val="1397840411"/>
              </p:ext>
            </p:extLst>
          </p:nvPr>
        </p:nvGraphicFramePr>
        <p:xfrm>
          <a:off x="4280756" y="1734712"/>
          <a:ext cx="4382484" cy="2478530"/>
        </p:xfrm>
        <a:graphic>
          <a:graphicData uri="http://schemas.openxmlformats.org/drawingml/2006/table">
            <a:tbl>
              <a:tblPr firstRow="1" bandRow="1">
                <a:tableStyleId>{69CF1AB2-1976-4502-BF36-3FF5EA218861}</a:tableStyleId>
              </a:tblPr>
              <a:tblGrid>
                <a:gridCol w="2191242">
                  <a:extLst>
                    <a:ext uri="{9D8B030D-6E8A-4147-A177-3AD203B41FA5}">
                      <a16:colId xmlns:a16="http://schemas.microsoft.com/office/drawing/2014/main" val="2312185136"/>
                    </a:ext>
                  </a:extLst>
                </a:gridCol>
                <a:gridCol w="2191242">
                  <a:extLst>
                    <a:ext uri="{9D8B030D-6E8A-4147-A177-3AD203B41FA5}">
                      <a16:colId xmlns:a16="http://schemas.microsoft.com/office/drawing/2014/main" val="3594892867"/>
                    </a:ext>
                  </a:extLst>
                </a:gridCol>
              </a:tblGrid>
              <a:tr h="559730">
                <a:tc gridSpan="2">
                  <a:txBody>
                    <a:bodyPr/>
                    <a:lstStyle/>
                    <a:p>
                      <a:pPr algn="ctr"/>
                      <a:r>
                        <a:rPr lang="en-US"/>
                        <a:t>Ledger status at start</a:t>
                      </a:r>
                    </a:p>
                    <a:p>
                      <a:pPr algn="ctr"/>
                      <a:r>
                        <a:rPr lang="en-US">
                          <a:solidFill>
                            <a:srgbClr val="FF0000"/>
                          </a:solidFill>
                        </a:rPr>
                        <a:t>10:00AM</a:t>
                      </a:r>
                      <a:r>
                        <a:rPr lang="en-US"/>
                        <a:t>                                   </a:t>
                      </a:r>
                    </a:p>
                  </a:txBody>
                  <a:tcPr>
                    <a:solidFill>
                      <a:schemeClr val="accent1"/>
                    </a:solidFill>
                  </a:tcPr>
                </a:tc>
                <a:tc hMerge="1">
                  <a:txBody>
                    <a:bodyPr/>
                    <a:lstStyle/>
                    <a:p>
                      <a:endParaRPr lang="en-US"/>
                    </a:p>
                  </a:txBody>
                  <a:tcPr/>
                </a:tc>
                <a:extLst>
                  <a:ext uri="{0D108BD9-81ED-4DB2-BD59-A6C34878D82A}">
                    <a16:rowId xmlns:a16="http://schemas.microsoft.com/office/drawing/2014/main" val="2397175858"/>
                  </a:ext>
                </a:extLst>
              </a:tr>
              <a:tr h="375410">
                <a:tc>
                  <a:txBody>
                    <a:bodyPr/>
                    <a:lstStyle/>
                    <a:p>
                      <a:r>
                        <a:rPr lang="en-US" b="1"/>
                        <a:t>Player name</a:t>
                      </a:r>
                    </a:p>
                  </a:txBody>
                  <a:tcPr>
                    <a:solidFill>
                      <a:schemeClr val="accent1"/>
                    </a:solidFill>
                  </a:tcPr>
                </a:tc>
                <a:tc>
                  <a:txBody>
                    <a:bodyPr/>
                    <a:lstStyle/>
                    <a:p>
                      <a:r>
                        <a:rPr lang="en-US" b="1"/>
                        <a:t>Number of chips</a:t>
                      </a:r>
                    </a:p>
                  </a:txBody>
                  <a:tcPr>
                    <a:solidFill>
                      <a:schemeClr val="accent1"/>
                    </a:solidFill>
                  </a:tcPr>
                </a:tc>
                <a:extLst>
                  <a:ext uri="{0D108BD9-81ED-4DB2-BD59-A6C34878D82A}">
                    <a16:rowId xmlns:a16="http://schemas.microsoft.com/office/drawing/2014/main" val="1714996356"/>
                  </a:ext>
                </a:extLst>
              </a:tr>
              <a:tr h="332820">
                <a:tc>
                  <a:txBody>
                    <a:bodyPr/>
                    <a:lstStyle/>
                    <a:p>
                      <a:r>
                        <a:rPr lang="en-US"/>
                        <a:t>Daniel</a:t>
                      </a:r>
                    </a:p>
                  </a:txBody>
                  <a:tcPr>
                    <a:noFill/>
                  </a:tcPr>
                </a:tc>
                <a:tc>
                  <a:txBody>
                    <a:bodyPr/>
                    <a:lstStyle/>
                    <a:p>
                      <a:pPr algn="r"/>
                      <a:r>
                        <a:rPr lang="en-US"/>
                        <a:t>250</a:t>
                      </a:r>
                    </a:p>
                  </a:txBody>
                  <a:tcPr>
                    <a:noFill/>
                  </a:tcPr>
                </a:tc>
                <a:extLst>
                  <a:ext uri="{0D108BD9-81ED-4DB2-BD59-A6C34878D82A}">
                    <a16:rowId xmlns:a16="http://schemas.microsoft.com/office/drawing/2014/main" val="100652373"/>
                  </a:ext>
                </a:extLst>
              </a:tr>
              <a:tr h="332820">
                <a:tc>
                  <a:txBody>
                    <a:bodyPr/>
                    <a:lstStyle/>
                    <a:p>
                      <a:r>
                        <a:rPr lang="en-US"/>
                        <a:t>Elisa</a:t>
                      </a:r>
                    </a:p>
                  </a:txBody>
                  <a:tcPr>
                    <a:noFill/>
                  </a:tcPr>
                </a:tc>
                <a:tc>
                  <a:txBody>
                    <a:bodyPr/>
                    <a:lstStyle/>
                    <a:p>
                      <a:pPr algn="r"/>
                      <a:r>
                        <a:rPr lang="en-US"/>
                        <a:t>250</a:t>
                      </a:r>
                    </a:p>
                  </a:txBody>
                  <a:tcPr>
                    <a:noFill/>
                  </a:tcPr>
                </a:tc>
                <a:extLst>
                  <a:ext uri="{0D108BD9-81ED-4DB2-BD59-A6C34878D82A}">
                    <a16:rowId xmlns:a16="http://schemas.microsoft.com/office/drawing/2014/main" val="3576141757"/>
                  </a:ext>
                </a:extLst>
              </a:tr>
              <a:tr h="332820">
                <a:tc>
                  <a:txBody>
                    <a:bodyPr/>
                    <a:lstStyle/>
                    <a:p>
                      <a:r>
                        <a:rPr lang="en-US"/>
                        <a:t>Pat</a:t>
                      </a:r>
                    </a:p>
                  </a:txBody>
                  <a:tcPr>
                    <a:noFill/>
                  </a:tcPr>
                </a:tc>
                <a:tc>
                  <a:txBody>
                    <a:bodyPr/>
                    <a:lstStyle/>
                    <a:p>
                      <a:pPr algn="r"/>
                      <a:r>
                        <a:rPr lang="en-US"/>
                        <a:t>250</a:t>
                      </a:r>
                    </a:p>
                  </a:txBody>
                  <a:tcPr>
                    <a:noFill/>
                  </a:tcPr>
                </a:tc>
                <a:extLst>
                  <a:ext uri="{0D108BD9-81ED-4DB2-BD59-A6C34878D82A}">
                    <a16:rowId xmlns:a16="http://schemas.microsoft.com/office/drawing/2014/main" val="437430004"/>
                  </a:ext>
                </a:extLst>
              </a:tr>
              <a:tr h="332820">
                <a:tc>
                  <a:txBody>
                    <a:bodyPr/>
                    <a:lstStyle/>
                    <a:p>
                      <a:r>
                        <a:rPr lang="en-US"/>
                        <a:t>Zach</a:t>
                      </a:r>
                    </a:p>
                  </a:txBody>
                  <a:tcPr>
                    <a:noFill/>
                  </a:tcPr>
                </a:tc>
                <a:tc>
                  <a:txBody>
                    <a:bodyPr/>
                    <a:lstStyle/>
                    <a:p>
                      <a:pPr algn="r"/>
                      <a:r>
                        <a:rPr lang="en-US"/>
                        <a:t>250</a:t>
                      </a:r>
                    </a:p>
                  </a:txBody>
                  <a:tcPr>
                    <a:noFill/>
                  </a:tcPr>
                </a:tc>
                <a:extLst>
                  <a:ext uri="{0D108BD9-81ED-4DB2-BD59-A6C34878D82A}">
                    <a16:rowId xmlns:a16="http://schemas.microsoft.com/office/drawing/2014/main" val="843789008"/>
                  </a:ext>
                </a:extLst>
              </a:tr>
            </a:tbl>
          </a:graphicData>
        </a:graphic>
      </p:graphicFrame>
      <p:graphicFrame>
        <p:nvGraphicFramePr>
          <p:cNvPr id="6" name="Table 3">
            <a:extLst>
              <a:ext uri="{FF2B5EF4-FFF2-40B4-BE49-F238E27FC236}">
                <a16:creationId xmlns:a16="http://schemas.microsoft.com/office/drawing/2014/main" id="{B37569DE-0B0E-4C60-835A-678391DA5F38}"/>
              </a:ext>
            </a:extLst>
          </p:cNvPr>
          <p:cNvGraphicFramePr>
            <a:graphicFrameLocks/>
          </p:cNvGraphicFramePr>
          <p:nvPr>
            <p:extLst>
              <p:ext uri="{D42A27DB-BD31-4B8C-83A1-F6EECF244321}">
                <p14:modId xmlns:p14="http://schemas.microsoft.com/office/powerpoint/2010/main" val="3700077286"/>
              </p:ext>
            </p:extLst>
          </p:nvPr>
        </p:nvGraphicFramePr>
        <p:xfrm>
          <a:off x="1538409" y="4299196"/>
          <a:ext cx="4473392" cy="2504083"/>
        </p:xfrm>
        <a:graphic>
          <a:graphicData uri="http://schemas.openxmlformats.org/drawingml/2006/table">
            <a:tbl>
              <a:tblPr firstRow="1" bandRow="1">
                <a:tableStyleId>{69CF1AB2-1976-4502-BF36-3FF5EA218861}</a:tableStyleId>
              </a:tblPr>
              <a:tblGrid>
                <a:gridCol w="2236696">
                  <a:extLst>
                    <a:ext uri="{9D8B030D-6E8A-4147-A177-3AD203B41FA5}">
                      <a16:colId xmlns:a16="http://schemas.microsoft.com/office/drawing/2014/main" val="2312185136"/>
                    </a:ext>
                  </a:extLst>
                </a:gridCol>
                <a:gridCol w="2236696">
                  <a:extLst>
                    <a:ext uri="{9D8B030D-6E8A-4147-A177-3AD203B41FA5}">
                      <a16:colId xmlns:a16="http://schemas.microsoft.com/office/drawing/2014/main" val="3594892867"/>
                    </a:ext>
                  </a:extLst>
                </a:gridCol>
              </a:tblGrid>
              <a:tr h="586914">
                <a:tc gridSpan="2">
                  <a:txBody>
                    <a:bodyPr/>
                    <a:lstStyle/>
                    <a:p>
                      <a:pPr algn="ctr"/>
                      <a:r>
                        <a:rPr lang="en-US"/>
                        <a:t>Ledger status after round 1</a:t>
                      </a:r>
                    </a:p>
                    <a:p>
                      <a:pPr algn="ctr"/>
                      <a:r>
                        <a:rPr lang="en-US">
                          <a:solidFill>
                            <a:srgbClr val="FF0000"/>
                          </a:solidFill>
                        </a:rPr>
                        <a:t>10:15AM</a:t>
                      </a:r>
                      <a:r>
                        <a:rPr lang="en-US"/>
                        <a:t>                                   </a:t>
                      </a:r>
                    </a:p>
                  </a:txBody>
                  <a:tcPr>
                    <a:solidFill>
                      <a:schemeClr val="accent1"/>
                    </a:solidFill>
                  </a:tcPr>
                </a:tc>
                <a:tc hMerge="1">
                  <a:txBody>
                    <a:bodyPr/>
                    <a:lstStyle/>
                    <a:p>
                      <a:endParaRPr lang="en-US"/>
                    </a:p>
                  </a:txBody>
                  <a:tcPr/>
                </a:tc>
                <a:extLst>
                  <a:ext uri="{0D108BD9-81ED-4DB2-BD59-A6C34878D82A}">
                    <a16:rowId xmlns:a16="http://schemas.microsoft.com/office/drawing/2014/main" val="2397175858"/>
                  </a:ext>
                </a:extLst>
              </a:tr>
              <a:tr h="400963">
                <a:tc>
                  <a:txBody>
                    <a:bodyPr/>
                    <a:lstStyle/>
                    <a:p>
                      <a:r>
                        <a:rPr lang="en-US" b="1"/>
                        <a:t>Player name</a:t>
                      </a:r>
                    </a:p>
                  </a:txBody>
                  <a:tcPr>
                    <a:solidFill>
                      <a:schemeClr val="accent1"/>
                    </a:solidFill>
                  </a:tcPr>
                </a:tc>
                <a:tc>
                  <a:txBody>
                    <a:bodyPr/>
                    <a:lstStyle/>
                    <a:p>
                      <a:r>
                        <a:rPr lang="en-US" b="1"/>
                        <a:t>Number of chips</a:t>
                      </a:r>
                    </a:p>
                  </a:txBody>
                  <a:tcPr>
                    <a:solidFill>
                      <a:schemeClr val="accent1"/>
                    </a:solidFill>
                  </a:tcPr>
                </a:tc>
                <a:extLst>
                  <a:ext uri="{0D108BD9-81ED-4DB2-BD59-A6C34878D82A}">
                    <a16:rowId xmlns:a16="http://schemas.microsoft.com/office/drawing/2014/main" val="1714996356"/>
                  </a:ext>
                </a:extLst>
              </a:tr>
              <a:tr h="355474">
                <a:tc>
                  <a:txBody>
                    <a:bodyPr/>
                    <a:lstStyle/>
                    <a:p>
                      <a:r>
                        <a:rPr lang="en-US"/>
                        <a:t>Daniel</a:t>
                      </a:r>
                    </a:p>
                  </a:txBody>
                  <a:tcPr>
                    <a:noFill/>
                  </a:tcPr>
                </a:tc>
                <a:tc>
                  <a:txBody>
                    <a:bodyPr/>
                    <a:lstStyle/>
                    <a:p>
                      <a:pPr algn="r"/>
                      <a:r>
                        <a:rPr lang="en-US"/>
                        <a:t>230</a:t>
                      </a:r>
                    </a:p>
                  </a:txBody>
                  <a:tcPr>
                    <a:noFill/>
                  </a:tcPr>
                </a:tc>
                <a:extLst>
                  <a:ext uri="{0D108BD9-81ED-4DB2-BD59-A6C34878D82A}">
                    <a16:rowId xmlns:a16="http://schemas.microsoft.com/office/drawing/2014/main" val="100652373"/>
                  </a:ext>
                </a:extLst>
              </a:tr>
              <a:tr h="355474">
                <a:tc>
                  <a:txBody>
                    <a:bodyPr/>
                    <a:lstStyle/>
                    <a:p>
                      <a:r>
                        <a:rPr lang="en-US"/>
                        <a:t>Elisa</a:t>
                      </a:r>
                    </a:p>
                  </a:txBody>
                  <a:tcPr>
                    <a:noFill/>
                  </a:tcPr>
                </a:tc>
                <a:tc>
                  <a:txBody>
                    <a:bodyPr/>
                    <a:lstStyle/>
                    <a:p>
                      <a:pPr algn="r"/>
                      <a:r>
                        <a:rPr lang="en-US"/>
                        <a:t>300</a:t>
                      </a:r>
                    </a:p>
                  </a:txBody>
                  <a:tcPr>
                    <a:noFill/>
                  </a:tcPr>
                </a:tc>
                <a:extLst>
                  <a:ext uri="{0D108BD9-81ED-4DB2-BD59-A6C34878D82A}">
                    <a16:rowId xmlns:a16="http://schemas.microsoft.com/office/drawing/2014/main" val="3576141757"/>
                  </a:ext>
                </a:extLst>
              </a:tr>
              <a:tr h="355474">
                <a:tc>
                  <a:txBody>
                    <a:bodyPr/>
                    <a:lstStyle/>
                    <a:p>
                      <a:r>
                        <a:rPr lang="en-US"/>
                        <a:t>Pat</a:t>
                      </a:r>
                    </a:p>
                  </a:txBody>
                  <a:tcPr>
                    <a:noFill/>
                  </a:tcPr>
                </a:tc>
                <a:tc>
                  <a:txBody>
                    <a:bodyPr/>
                    <a:lstStyle/>
                    <a:p>
                      <a:pPr algn="r"/>
                      <a:r>
                        <a:rPr lang="en-US"/>
                        <a:t>270</a:t>
                      </a:r>
                    </a:p>
                  </a:txBody>
                  <a:tcPr>
                    <a:noFill/>
                  </a:tcPr>
                </a:tc>
                <a:extLst>
                  <a:ext uri="{0D108BD9-81ED-4DB2-BD59-A6C34878D82A}">
                    <a16:rowId xmlns:a16="http://schemas.microsoft.com/office/drawing/2014/main" val="437430004"/>
                  </a:ext>
                </a:extLst>
              </a:tr>
              <a:tr h="355474">
                <a:tc>
                  <a:txBody>
                    <a:bodyPr/>
                    <a:lstStyle/>
                    <a:p>
                      <a:r>
                        <a:rPr lang="en-US"/>
                        <a:t>Zach</a:t>
                      </a:r>
                    </a:p>
                  </a:txBody>
                  <a:tcPr>
                    <a:noFill/>
                  </a:tcPr>
                </a:tc>
                <a:tc>
                  <a:txBody>
                    <a:bodyPr/>
                    <a:lstStyle/>
                    <a:p>
                      <a:pPr algn="r"/>
                      <a:r>
                        <a:rPr lang="en-US"/>
                        <a:t>200</a:t>
                      </a:r>
                    </a:p>
                  </a:txBody>
                  <a:tcPr>
                    <a:noFill/>
                  </a:tcPr>
                </a:tc>
                <a:extLst>
                  <a:ext uri="{0D108BD9-81ED-4DB2-BD59-A6C34878D82A}">
                    <a16:rowId xmlns:a16="http://schemas.microsoft.com/office/drawing/2014/main" val="843789008"/>
                  </a:ext>
                </a:extLst>
              </a:tr>
            </a:tbl>
          </a:graphicData>
        </a:graphic>
      </p:graphicFrame>
      <p:graphicFrame>
        <p:nvGraphicFramePr>
          <p:cNvPr id="7" name="Table 3">
            <a:extLst>
              <a:ext uri="{FF2B5EF4-FFF2-40B4-BE49-F238E27FC236}">
                <a16:creationId xmlns:a16="http://schemas.microsoft.com/office/drawing/2014/main" id="{F583B0B5-E2E9-4369-93B4-F8ADAB2548FD}"/>
              </a:ext>
            </a:extLst>
          </p:cNvPr>
          <p:cNvGraphicFramePr>
            <a:graphicFrameLocks/>
          </p:cNvGraphicFramePr>
          <p:nvPr>
            <p:extLst>
              <p:ext uri="{D42A27DB-BD31-4B8C-83A1-F6EECF244321}">
                <p14:modId xmlns:p14="http://schemas.microsoft.com/office/powerpoint/2010/main" val="236247359"/>
              </p:ext>
            </p:extLst>
          </p:nvPr>
        </p:nvGraphicFramePr>
        <p:xfrm>
          <a:off x="6908588" y="4301927"/>
          <a:ext cx="4382484" cy="2500986"/>
        </p:xfrm>
        <a:graphic>
          <a:graphicData uri="http://schemas.openxmlformats.org/drawingml/2006/table">
            <a:tbl>
              <a:tblPr firstRow="1" bandRow="1">
                <a:tableStyleId>{69CF1AB2-1976-4502-BF36-3FF5EA218861}</a:tableStyleId>
              </a:tblPr>
              <a:tblGrid>
                <a:gridCol w="2191242">
                  <a:extLst>
                    <a:ext uri="{9D8B030D-6E8A-4147-A177-3AD203B41FA5}">
                      <a16:colId xmlns:a16="http://schemas.microsoft.com/office/drawing/2014/main" val="2312185136"/>
                    </a:ext>
                  </a:extLst>
                </a:gridCol>
                <a:gridCol w="2191242">
                  <a:extLst>
                    <a:ext uri="{9D8B030D-6E8A-4147-A177-3AD203B41FA5}">
                      <a16:colId xmlns:a16="http://schemas.microsoft.com/office/drawing/2014/main" val="3594892867"/>
                    </a:ext>
                  </a:extLst>
                </a:gridCol>
              </a:tblGrid>
              <a:tr h="593211">
                <a:tc gridSpan="2">
                  <a:txBody>
                    <a:bodyPr/>
                    <a:lstStyle/>
                    <a:p>
                      <a:pPr algn="ctr"/>
                      <a:r>
                        <a:rPr lang="en-US"/>
                        <a:t>Ledger status after round 2 </a:t>
                      </a:r>
                    </a:p>
                    <a:p>
                      <a:pPr algn="ctr"/>
                      <a:r>
                        <a:rPr lang="en-US">
                          <a:solidFill>
                            <a:srgbClr val="FF0000"/>
                          </a:solidFill>
                        </a:rPr>
                        <a:t>10:30AM</a:t>
                      </a:r>
                      <a:r>
                        <a:rPr lang="en-US"/>
                        <a:t>                                  </a:t>
                      </a:r>
                    </a:p>
                  </a:txBody>
                  <a:tcPr>
                    <a:solidFill>
                      <a:schemeClr val="accent1"/>
                    </a:solidFill>
                  </a:tcPr>
                </a:tc>
                <a:tc hMerge="1">
                  <a:txBody>
                    <a:bodyPr/>
                    <a:lstStyle/>
                    <a:p>
                      <a:endParaRPr lang="en-US"/>
                    </a:p>
                  </a:txBody>
                  <a:tcPr/>
                </a:tc>
                <a:extLst>
                  <a:ext uri="{0D108BD9-81ED-4DB2-BD59-A6C34878D82A}">
                    <a16:rowId xmlns:a16="http://schemas.microsoft.com/office/drawing/2014/main" val="2397175858"/>
                  </a:ext>
                </a:extLst>
              </a:tr>
              <a:tr h="397866">
                <a:tc>
                  <a:txBody>
                    <a:bodyPr/>
                    <a:lstStyle/>
                    <a:p>
                      <a:r>
                        <a:rPr lang="en-US" b="1"/>
                        <a:t>Player name</a:t>
                      </a:r>
                    </a:p>
                  </a:txBody>
                  <a:tcPr>
                    <a:solidFill>
                      <a:schemeClr val="accent1"/>
                    </a:solidFill>
                  </a:tcPr>
                </a:tc>
                <a:tc>
                  <a:txBody>
                    <a:bodyPr/>
                    <a:lstStyle/>
                    <a:p>
                      <a:r>
                        <a:rPr lang="en-US" b="1"/>
                        <a:t>Number of chips</a:t>
                      </a:r>
                    </a:p>
                  </a:txBody>
                  <a:tcPr>
                    <a:solidFill>
                      <a:schemeClr val="accent1"/>
                    </a:solidFill>
                  </a:tcPr>
                </a:tc>
                <a:extLst>
                  <a:ext uri="{0D108BD9-81ED-4DB2-BD59-A6C34878D82A}">
                    <a16:rowId xmlns:a16="http://schemas.microsoft.com/office/drawing/2014/main" val="1714996356"/>
                  </a:ext>
                </a:extLst>
              </a:tr>
              <a:tr h="352728">
                <a:tc>
                  <a:txBody>
                    <a:bodyPr/>
                    <a:lstStyle/>
                    <a:p>
                      <a:r>
                        <a:rPr lang="en-US"/>
                        <a:t>Daniel</a:t>
                      </a:r>
                    </a:p>
                  </a:txBody>
                  <a:tcPr>
                    <a:noFill/>
                  </a:tcPr>
                </a:tc>
                <a:tc>
                  <a:txBody>
                    <a:bodyPr/>
                    <a:lstStyle/>
                    <a:p>
                      <a:pPr algn="r"/>
                      <a:r>
                        <a:rPr lang="en-US"/>
                        <a:t>200</a:t>
                      </a:r>
                    </a:p>
                  </a:txBody>
                  <a:tcPr>
                    <a:noFill/>
                  </a:tcPr>
                </a:tc>
                <a:extLst>
                  <a:ext uri="{0D108BD9-81ED-4DB2-BD59-A6C34878D82A}">
                    <a16:rowId xmlns:a16="http://schemas.microsoft.com/office/drawing/2014/main" val="100652373"/>
                  </a:ext>
                </a:extLst>
              </a:tr>
              <a:tr h="352728">
                <a:tc>
                  <a:txBody>
                    <a:bodyPr/>
                    <a:lstStyle/>
                    <a:p>
                      <a:r>
                        <a:rPr lang="en-US"/>
                        <a:t>Elisa</a:t>
                      </a:r>
                    </a:p>
                  </a:txBody>
                  <a:tcPr>
                    <a:noFill/>
                  </a:tcPr>
                </a:tc>
                <a:tc>
                  <a:txBody>
                    <a:bodyPr/>
                    <a:lstStyle/>
                    <a:p>
                      <a:pPr algn="r"/>
                      <a:r>
                        <a:rPr lang="en-US"/>
                        <a:t>350</a:t>
                      </a:r>
                    </a:p>
                  </a:txBody>
                  <a:tcPr>
                    <a:noFill/>
                  </a:tcPr>
                </a:tc>
                <a:extLst>
                  <a:ext uri="{0D108BD9-81ED-4DB2-BD59-A6C34878D82A}">
                    <a16:rowId xmlns:a16="http://schemas.microsoft.com/office/drawing/2014/main" val="3576141757"/>
                  </a:ext>
                </a:extLst>
              </a:tr>
              <a:tr h="352728">
                <a:tc>
                  <a:txBody>
                    <a:bodyPr/>
                    <a:lstStyle/>
                    <a:p>
                      <a:r>
                        <a:rPr lang="en-US"/>
                        <a:t>Pat</a:t>
                      </a:r>
                    </a:p>
                  </a:txBody>
                  <a:tcPr>
                    <a:noFill/>
                  </a:tcPr>
                </a:tc>
                <a:tc>
                  <a:txBody>
                    <a:bodyPr/>
                    <a:lstStyle/>
                    <a:p>
                      <a:pPr algn="r"/>
                      <a:r>
                        <a:rPr lang="en-US"/>
                        <a:t>280</a:t>
                      </a:r>
                    </a:p>
                  </a:txBody>
                  <a:tcPr>
                    <a:noFill/>
                  </a:tcPr>
                </a:tc>
                <a:extLst>
                  <a:ext uri="{0D108BD9-81ED-4DB2-BD59-A6C34878D82A}">
                    <a16:rowId xmlns:a16="http://schemas.microsoft.com/office/drawing/2014/main" val="437430004"/>
                  </a:ext>
                </a:extLst>
              </a:tr>
              <a:tr h="352728">
                <a:tc>
                  <a:txBody>
                    <a:bodyPr/>
                    <a:lstStyle/>
                    <a:p>
                      <a:r>
                        <a:rPr lang="en-US"/>
                        <a:t>Zach</a:t>
                      </a:r>
                    </a:p>
                  </a:txBody>
                  <a:tcPr>
                    <a:noFill/>
                  </a:tcPr>
                </a:tc>
                <a:tc>
                  <a:txBody>
                    <a:bodyPr/>
                    <a:lstStyle/>
                    <a:p>
                      <a:pPr algn="r"/>
                      <a:r>
                        <a:rPr lang="en-US"/>
                        <a:t>170</a:t>
                      </a:r>
                    </a:p>
                  </a:txBody>
                  <a:tcPr>
                    <a:noFill/>
                  </a:tcPr>
                </a:tc>
                <a:extLst>
                  <a:ext uri="{0D108BD9-81ED-4DB2-BD59-A6C34878D82A}">
                    <a16:rowId xmlns:a16="http://schemas.microsoft.com/office/drawing/2014/main" val="843789008"/>
                  </a:ext>
                </a:extLst>
              </a:tr>
            </a:tbl>
          </a:graphicData>
        </a:graphic>
      </p:graphicFrame>
    </p:spTree>
    <p:extLst>
      <p:ext uri="{BB962C8B-B14F-4D97-AF65-F5344CB8AC3E}">
        <p14:creationId xmlns:p14="http://schemas.microsoft.com/office/powerpoint/2010/main" val="992660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1. Accounting (continue)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b="1" u="sng" dirty="0">
                <a:latin typeface="National semibold" panose="02000503000000020004"/>
              </a:rPr>
              <a:t>Blockchain</a:t>
            </a:r>
            <a:r>
              <a:rPr lang="en-US" dirty="0">
                <a:latin typeface="National semibold" panose="02000503000000020004"/>
              </a:rPr>
              <a:t>  is a “digital” ledger that records and logs the transactions of a community of users. </a:t>
            </a:r>
          </a:p>
          <a:p>
            <a:r>
              <a:rPr lang="en-US" dirty="0">
                <a:latin typeface="National semibold" panose="02000503000000020004"/>
              </a:rPr>
              <a:t>Every participant maintains a copy of the ledger. Updates of the ledger are automatically sent out to all participants. </a:t>
            </a:r>
          </a:p>
          <a:p>
            <a:r>
              <a:rPr lang="en-US" dirty="0">
                <a:latin typeface="National semibold" panose="02000503000000020004"/>
              </a:rPr>
              <a:t>The blockchain provides similar services as a “</a:t>
            </a:r>
            <a:r>
              <a:rPr lang="en-US" b="1" dirty="0">
                <a:latin typeface="National semibold" panose="02000503000000020004"/>
              </a:rPr>
              <a:t>notary”</a:t>
            </a:r>
            <a:r>
              <a:rPr lang="en-US" dirty="0">
                <a:latin typeface="National semibold" panose="02000503000000020004"/>
              </a:rPr>
              <a:t> but performed through the execution of computer codes. In this way it eliminates the need for a third-party notary. </a:t>
            </a:r>
          </a:p>
        </p:txBody>
      </p:sp>
    </p:spTree>
    <p:extLst>
      <p:ext uri="{BB962C8B-B14F-4D97-AF65-F5344CB8AC3E}">
        <p14:creationId xmlns:p14="http://schemas.microsoft.com/office/powerpoint/2010/main" val="888458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2. Computer science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dirty="0">
                <a:latin typeface="National semibold" panose="02000503000000020004"/>
              </a:rPr>
              <a:t>Since blockchain is based on the  internet, a vast array of computer systems are utilized to collaborate on a global scale to facilitate:</a:t>
            </a:r>
          </a:p>
          <a:p>
            <a:pPr lvl="1"/>
            <a:endParaRPr lang="en-US" u="sng" dirty="0">
              <a:latin typeface="National semibold" panose="02000503000000020004"/>
            </a:endParaRPr>
          </a:p>
          <a:p>
            <a:pPr lvl="1"/>
            <a:r>
              <a:rPr lang="en-US" u="sng" dirty="0">
                <a:latin typeface="National semibold" panose="02000503000000020004"/>
              </a:rPr>
              <a:t>Networking</a:t>
            </a:r>
            <a:r>
              <a:rPr lang="en-US" dirty="0">
                <a:latin typeface="National semibold" panose="02000503000000020004"/>
              </a:rPr>
              <a:t>: The internet itself is an example of a network. Each participating computer is called a </a:t>
            </a:r>
            <a:r>
              <a:rPr lang="en-US" b="1" u="sng" dirty="0">
                <a:latin typeface="National semibold" panose="02000503000000020004"/>
              </a:rPr>
              <a:t>node</a:t>
            </a:r>
            <a:r>
              <a:rPr lang="en-US" dirty="0">
                <a:latin typeface="National semibold" panose="02000503000000020004"/>
              </a:rPr>
              <a:t>. Individual nodes are assigned unique addresses to ensure that all messages and connections are properly routed to the intended recipients. </a:t>
            </a:r>
          </a:p>
          <a:p>
            <a:pPr lvl="1"/>
            <a:endParaRPr lang="en-US" u="sng" dirty="0">
              <a:latin typeface="National semibold" panose="02000503000000020004"/>
            </a:endParaRPr>
          </a:p>
          <a:p>
            <a:pPr lvl="1"/>
            <a:r>
              <a:rPr lang="en-US" u="sng" dirty="0">
                <a:latin typeface="National semibold" panose="02000503000000020004"/>
              </a:rPr>
              <a:t>Decentralization</a:t>
            </a:r>
            <a:r>
              <a:rPr lang="en-US" dirty="0">
                <a:latin typeface="National semibold" panose="02000503000000020004"/>
              </a:rPr>
              <a:t>: Networks can be centralized or decentralized. Centralized networks rely on a single machine to do most of the work. In a decentralized network, instead, all computer nodes form the larger computer network. The advantage of a decentralized system is that it can share files, peripherals, and other tools. It is more reliable because it is not prone to a single point of failure. Decentralized networks are also scalable: it is sufficient to add more machines to the network if more resources are needed.</a:t>
            </a:r>
          </a:p>
        </p:txBody>
      </p:sp>
    </p:spTree>
    <p:extLst>
      <p:ext uri="{BB962C8B-B14F-4D97-AF65-F5344CB8AC3E}">
        <p14:creationId xmlns:p14="http://schemas.microsoft.com/office/powerpoint/2010/main" val="3936040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2. Computer science (continue)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pPr lvl="1"/>
            <a:r>
              <a:rPr lang="en-US" u="sng" dirty="0">
                <a:latin typeface="National semibold" panose="02000503000000020004"/>
              </a:rPr>
              <a:t>Accessibility</a:t>
            </a:r>
            <a:r>
              <a:rPr lang="en-US" dirty="0">
                <a:latin typeface="National semibold" panose="02000503000000020004"/>
              </a:rPr>
              <a:t>: There are different types of networks with different degrees of accessibility</a:t>
            </a:r>
          </a:p>
          <a:p>
            <a:pPr marL="854075" lvl="2" indent="-342900">
              <a:buFont typeface="+mj-lt"/>
              <a:buAutoNum type="arabicPeriod"/>
            </a:pPr>
            <a:r>
              <a:rPr lang="en-US" dirty="0">
                <a:latin typeface="National semibold" panose="02000503000000020004"/>
              </a:rPr>
              <a:t>Public blockchain networks – No restrictions as to who can access them. </a:t>
            </a:r>
          </a:p>
          <a:p>
            <a:pPr marL="854075" lvl="2" indent="-342900">
              <a:buFont typeface="+mj-lt"/>
              <a:buAutoNum type="arabicPeriod"/>
            </a:pPr>
            <a:r>
              <a:rPr lang="en-US" dirty="0">
                <a:latin typeface="National semibold" panose="02000503000000020004"/>
              </a:rPr>
              <a:t>Private blockchain networks – Require permission to join them. </a:t>
            </a:r>
          </a:p>
          <a:p>
            <a:pPr marL="854075" lvl="2" indent="-342900">
              <a:buFont typeface="+mj-lt"/>
              <a:buAutoNum type="arabicPeriod"/>
            </a:pPr>
            <a:r>
              <a:rPr lang="en-US" dirty="0">
                <a:latin typeface="National semibold" panose="02000503000000020004"/>
              </a:rPr>
              <a:t>Hybrid blockchain networks – A mix of public and private blockchain. Some information is freely available in the network while other requires permission.</a:t>
            </a:r>
          </a:p>
          <a:p>
            <a:pPr marL="854075" lvl="2" indent="-342900">
              <a:buFont typeface="+mj-lt"/>
              <a:buAutoNum type="arabicPeriod"/>
            </a:pPr>
            <a:endParaRPr lang="en-US" dirty="0">
              <a:latin typeface="National semibold" panose="02000503000000020004"/>
            </a:endParaRPr>
          </a:p>
          <a:p>
            <a:pPr marL="679450" lvl="1" indent="-342900"/>
            <a:r>
              <a:rPr lang="en-US" u="sng" dirty="0">
                <a:latin typeface="National semibold" panose="02000503000000020004"/>
              </a:rPr>
              <a:t>Databases</a:t>
            </a:r>
            <a:r>
              <a:rPr lang="en-US" dirty="0">
                <a:latin typeface="National semibold" panose="02000503000000020004"/>
              </a:rPr>
              <a:t>: Collection of structured information that is organized, stored, and assessed electronically from a computer system. Like networks, databases can be centralized or decentralized, and their access can be public or private. </a:t>
            </a:r>
          </a:p>
          <a:p>
            <a:pPr marL="679450" lvl="1" indent="-342900"/>
            <a:endParaRPr lang="en-US" u="sng" dirty="0">
              <a:latin typeface="National semibold" panose="02000503000000020004"/>
            </a:endParaRPr>
          </a:p>
          <a:p>
            <a:pPr marL="679450" lvl="1" indent="-342900"/>
            <a:r>
              <a:rPr lang="en-US" u="sng" dirty="0">
                <a:latin typeface="National semibold" panose="02000503000000020004"/>
              </a:rPr>
              <a:t>Cryptography</a:t>
            </a:r>
            <a:r>
              <a:rPr lang="en-US" dirty="0">
                <a:latin typeface="National semibold" panose="02000503000000020004"/>
              </a:rPr>
              <a:t>: Practice of securing communications via the process of encryption and decryption to transmit messages between trusted parties. It ensures data confidentiality, integrity and authenticity. One of the most used cryptographic technique in blockchain is called </a:t>
            </a:r>
            <a:r>
              <a:rPr lang="en-US" b="1" u="sng" dirty="0">
                <a:latin typeface="National semibold" panose="02000503000000020004"/>
              </a:rPr>
              <a:t>hashing</a:t>
            </a:r>
            <a:r>
              <a:rPr lang="en-US" dirty="0">
                <a:latin typeface="National semibold" panose="02000503000000020004"/>
              </a:rPr>
              <a:t>. </a:t>
            </a:r>
          </a:p>
        </p:txBody>
      </p:sp>
    </p:spTree>
    <p:extLst>
      <p:ext uri="{BB962C8B-B14F-4D97-AF65-F5344CB8AC3E}">
        <p14:creationId xmlns:p14="http://schemas.microsoft.com/office/powerpoint/2010/main" val="2874130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Example of hashing: SHA-256</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pPr marL="282575" lvl="1" indent="0">
              <a:buNone/>
            </a:pPr>
            <a:r>
              <a:rPr lang="en-US" dirty="0">
                <a:latin typeface="National semibold" panose="02000503000000020004"/>
              </a:rPr>
              <a:t>		</a:t>
            </a:r>
          </a:p>
          <a:p>
            <a:pPr marL="282575" lvl="1" indent="0">
              <a:buNone/>
            </a:pPr>
            <a:endParaRPr lang="en-US" dirty="0">
              <a:latin typeface="National semibold" panose="02000503000000020004"/>
            </a:endParaRPr>
          </a:p>
          <a:p>
            <a:pPr marL="282575" lvl="1" indent="0">
              <a:buNone/>
            </a:pPr>
            <a:endParaRPr lang="en-US" dirty="0">
              <a:latin typeface="National semibold" panose="02000503000000020004"/>
            </a:endParaRPr>
          </a:p>
          <a:p>
            <a:pPr marL="282575" lvl="1" indent="0">
              <a:buNone/>
            </a:pPr>
            <a:endParaRPr lang="en-US" dirty="0">
              <a:latin typeface="National semibold" panose="02000503000000020004"/>
            </a:endParaRPr>
          </a:p>
          <a:p>
            <a:pPr marL="282575" lvl="1" indent="0">
              <a:buNone/>
            </a:pPr>
            <a:endParaRPr lang="en-US" dirty="0">
              <a:latin typeface="National semibold" panose="02000503000000020004"/>
            </a:endParaRPr>
          </a:p>
          <a:p>
            <a:pPr marL="282575" lvl="1" indent="0">
              <a:buNone/>
            </a:pPr>
            <a:endParaRPr lang="en-US" dirty="0">
              <a:latin typeface="National semibold" panose="02000503000000020004"/>
            </a:endParaRPr>
          </a:p>
          <a:p>
            <a:pPr marL="282575" lvl="1" indent="0">
              <a:buNone/>
            </a:pPr>
            <a:endParaRPr lang="en-US" dirty="0">
              <a:latin typeface="National semibold" panose="02000503000000020004"/>
            </a:endParaRPr>
          </a:p>
          <a:p>
            <a:pPr marL="282575" lvl="1" indent="0" algn="ctr">
              <a:buNone/>
            </a:pPr>
            <a:endParaRPr lang="en-US" dirty="0">
              <a:latin typeface="National semibold" panose="02000503000000020004"/>
              <a:hlinkClick r:id="rId2"/>
            </a:endParaRPr>
          </a:p>
          <a:p>
            <a:pPr marL="282575" lvl="1" indent="0" algn="ctr">
              <a:buNone/>
            </a:pPr>
            <a:r>
              <a:rPr lang="en-US" sz="2400" dirty="0">
                <a:latin typeface="National semibold" panose="02000503000000020004"/>
                <a:hlinkClick r:id="rId2"/>
              </a:rPr>
              <a:t>https://emn178.github.io/online-tools/sha256.html</a:t>
            </a:r>
            <a:endParaRPr lang="en-US" sz="2400" dirty="0">
              <a:latin typeface="National semibold" panose="02000503000000020004"/>
            </a:endParaRPr>
          </a:p>
        </p:txBody>
      </p:sp>
      <p:graphicFrame>
        <p:nvGraphicFramePr>
          <p:cNvPr id="2" name="Table 3">
            <a:extLst>
              <a:ext uri="{FF2B5EF4-FFF2-40B4-BE49-F238E27FC236}">
                <a16:creationId xmlns:a16="http://schemas.microsoft.com/office/drawing/2014/main" id="{0DEECAB7-E15E-4868-9E7D-DE198FEF4975}"/>
              </a:ext>
            </a:extLst>
          </p:cNvPr>
          <p:cNvGraphicFramePr>
            <a:graphicFrameLocks noGrp="1"/>
          </p:cNvGraphicFramePr>
          <p:nvPr/>
        </p:nvGraphicFramePr>
        <p:xfrm>
          <a:off x="1473491" y="2472659"/>
          <a:ext cx="10303982" cy="1483360"/>
        </p:xfrm>
        <a:graphic>
          <a:graphicData uri="http://schemas.openxmlformats.org/drawingml/2006/table">
            <a:tbl>
              <a:tblPr firstRow="1" bandRow="1">
                <a:tableStyleId>{69CF1AB2-1976-4502-BF36-3FF5EA218861}</a:tableStyleId>
              </a:tblPr>
              <a:tblGrid>
                <a:gridCol w="2186222">
                  <a:extLst>
                    <a:ext uri="{9D8B030D-6E8A-4147-A177-3AD203B41FA5}">
                      <a16:colId xmlns:a16="http://schemas.microsoft.com/office/drawing/2014/main" val="1500785347"/>
                    </a:ext>
                  </a:extLst>
                </a:gridCol>
                <a:gridCol w="8117760">
                  <a:extLst>
                    <a:ext uri="{9D8B030D-6E8A-4147-A177-3AD203B41FA5}">
                      <a16:colId xmlns:a16="http://schemas.microsoft.com/office/drawing/2014/main" val="3972090018"/>
                    </a:ext>
                  </a:extLst>
                </a:gridCol>
              </a:tblGrid>
              <a:tr h="370840">
                <a:tc>
                  <a:txBody>
                    <a:bodyPr/>
                    <a:lstStyle/>
                    <a:p>
                      <a:r>
                        <a:rPr lang="en-US"/>
                        <a:t>Text to encrypt</a:t>
                      </a:r>
                    </a:p>
                  </a:txBody>
                  <a:tcPr/>
                </a:tc>
                <a:tc>
                  <a:txBody>
                    <a:bodyPr/>
                    <a:lstStyle/>
                    <a:p>
                      <a:r>
                        <a:rPr lang="en-US"/>
                        <a:t>Hash value</a:t>
                      </a:r>
                    </a:p>
                  </a:txBody>
                  <a:tcPr/>
                </a:tc>
                <a:extLst>
                  <a:ext uri="{0D108BD9-81ED-4DB2-BD59-A6C34878D82A}">
                    <a16:rowId xmlns:a16="http://schemas.microsoft.com/office/drawing/2014/main" val="2859604172"/>
                  </a:ext>
                </a:extLst>
              </a:tr>
              <a:tr h="370840">
                <a:tc>
                  <a:txBody>
                    <a:bodyPr/>
                    <a:lstStyle/>
                    <a:p>
                      <a:r>
                        <a:rPr lang="en-US"/>
                        <a:t>Blockchain</a:t>
                      </a:r>
                    </a:p>
                  </a:txBody>
                  <a:tcPr/>
                </a:tc>
                <a:tc>
                  <a:txBody>
                    <a:bodyPr/>
                    <a:lstStyle/>
                    <a:p>
                      <a:r>
                        <a:rPr lang="en-US"/>
                        <a:t>625da44e4eaf58d61cf048d168aa6f5e492dea166d8bb54ec06c30de07db57e1</a:t>
                      </a:r>
                    </a:p>
                  </a:txBody>
                  <a:tcPr/>
                </a:tc>
                <a:extLst>
                  <a:ext uri="{0D108BD9-81ED-4DB2-BD59-A6C34878D82A}">
                    <a16:rowId xmlns:a16="http://schemas.microsoft.com/office/drawing/2014/main" val="3120611032"/>
                  </a:ext>
                </a:extLst>
              </a:tr>
              <a:tr h="370840">
                <a:tc>
                  <a:txBody>
                    <a:bodyPr/>
                    <a:lstStyle/>
                    <a:p>
                      <a:r>
                        <a:rPr lang="en-US"/>
                        <a:t>blockchain</a:t>
                      </a:r>
                    </a:p>
                  </a:txBody>
                  <a:tcPr/>
                </a:tc>
                <a:tc>
                  <a:txBody>
                    <a:bodyPr/>
                    <a:lstStyle/>
                    <a:p>
                      <a:r>
                        <a:rPr lang="en-US"/>
                        <a:t>ef7797e13d3a75526946a3bcf00daec9fc9c9c4d51ddc7cc5df888f74dd434d1</a:t>
                      </a:r>
                    </a:p>
                  </a:txBody>
                  <a:tcPr/>
                </a:tc>
                <a:extLst>
                  <a:ext uri="{0D108BD9-81ED-4DB2-BD59-A6C34878D82A}">
                    <a16:rowId xmlns:a16="http://schemas.microsoft.com/office/drawing/2014/main" val="1427584896"/>
                  </a:ext>
                </a:extLst>
              </a:tr>
              <a:tr h="370840">
                <a:tc>
                  <a:txBody>
                    <a:bodyPr/>
                    <a:lstStyle/>
                    <a:p>
                      <a:r>
                        <a:rPr lang="en-US"/>
                        <a:t>This is an example</a:t>
                      </a:r>
                    </a:p>
                  </a:txBody>
                  <a:tcPr/>
                </a:tc>
                <a:tc>
                  <a:txBody>
                    <a:bodyPr/>
                    <a:lstStyle/>
                    <a:p>
                      <a:r>
                        <a:rPr lang="en-US"/>
                        <a:t>47fb563cc8f86dc37c86d08bc542968f7986acd81c97bf76db7ad744407fe117</a:t>
                      </a:r>
                    </a:p>
                  </a:txBody>
                  <a:tcPr/>
                </a:tc>
                <a:extLst>
                  <a:ext uri="{0D108BD9-81ED-4DB2-BD59-A6C34878D82A}">
                    <a16:rowId xmlns:a16="http://schemas.microsoft.com/office/drawing/2014/main" val="410729079"/>
                  </a:ext>
                </a:extLst>
              </a:tr>
            </a:tbl>
          </a:graphicData>
        </a:graphic>
      </p:graphicFrame>
    </p:spTree>
    <p:extLst>
      <p:ext uri="{BB962C8B-B14F-4D97-AF65-F5344CB8AC3E}">
        <p14:creationId xmlns:p14="http://schemas.microsoft.com/office/powerpoint/2010/main" val="998807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2. Computer science (continue)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pPr lvl="1"/>
            <a:r>
              <a:rPr lang="en-US" u="sng" dirty="0">
                <a:latin typeface="National semibold" panose="02000503000000020004"/>
              </a:rPr>
              <a:t>Digital Identity</a:t>
            </a:r>
            <a:r>
              <a:rPr lang="en-US" dirty="0">
                <a:latin typeface="National semibold" panose="02000503000000020004"/>
              </a:rPr>
              <a:t>: Information that can be used to unambiguously identify someone or something online. It contains information such as national ID, credit score, driving records, etc. </a:t>
            </a:r>
          </a:p>
          <a:p>
            <a:pPr lvl="1"/>
            <a:endParaRPr lang="en-US" dirty="0">
              <a:latin typeface="National semibold" panose="02000503000000020004"/>
            </a:endParaRPr>
          </a:p>
          <a:p>
            <a:pPr lvl="1"/>
            <a:r>
              <a:rPr lang="en-US" u="sng" dirty="0">
                <a:latin typeface="National semibold" panose="02000503000000020004"/>
              </a:rPr>
              <a:t>Digital Wallets</a:t>
            </a:r>
            <a:r>
              <a:rPr lang="en-US" dirty="0">
                <a:latin typeface="National semibold" panose="02000503000000020004"/>
              </a:rPr>
              <a:t>: Electronic devices or online services that allow users to store digital securities, make electronic payments, and maintain personal information. The content of a digital wallet stays secure thanks to </a:t>
            </a:r>
            <a:r>
              <a:rPr lang="en-US" i="1" dirty="0">
                <a:latin typeface="National semibold" panose="02000503000000020004"/>
              </a:rPr>
              <a:t>key encryption</a:t>
            </a:r>
            <a:r>
              <a:rPr lang="en-US" dirty="0">
                <a:latin typeface="National semibold" panose="02000503000000020004"/>
              </a:rPr>
              <a:t>. Two keys are created with a new digital wallet: </a:t>
            </a:r>
          </a:p>
          <a:p>
            <a:pPr marL="1028700" lvl="3" indent="-342900">
              <a:buFont typeface="+mj-lt"/>
              <a:buAutoNum type="arabicPeriod"/>
            </a:pPr>
            <a:r>
              <a:rPr lang="en-US" sz="1800" b="1" u="sng" dirty="0">
                <a:latin typeface="National semibold" panose="02000503000000020004"/>
              </a:rPr>
              <a:t>Public key</a:t>
            </a:r>
            <a:r>
              <a:rPr lang="en-US" sz="1800" dirty="0">
                <a:latin typeface="National semibold" panose="02000503000000020004"/>
              </a:rPr>
              <a:t>: shared with others so that they can communicate with you. </a:t>
            </a:r>
          </a:p>
          <a:p>
            <a:pPr marL="1028700" lvl="3" indent="-342900">
              <a:buFont typeface="+mj-lt"/>
              <a:buAutoNum type="arabicPeriod"/>
            </a:pPr>
            <a:r>
              <a:rPr lang="en-US" sz="1800" b="1" u="sng" dirty="0">
                <a:latin typeface="National semibold" panose="02000503000000020004"/>
              </a:rPr>
              <a:t>Private key</a:t>
            </a:r>
            <a:r>
              <a:rPr lang="en-US" sz="1800" dirty="0">
                <a:latin typeface="National semibold" panose="02000503000000020004"/>
              </a:rPr>
              <a:t>: not shared but it is necessary to see the content of the communication. </a:t>
            </a:r>
            <a:endParaRPr lang="en-US" dirty="0">
              <a:latin typeface="National semibold" panose="02000503000000020004"/>
            </a:endParaRPr>
          </a:p>
          <a:p>
            <a:pPr marL="511175" lvl="2" indent="0">
              <a:buNone/>
            </a:pPr>
            <a:r>
              <a:rPr lang="en-US" sz="2000" dirty="0">
                <a:latin typeface="National semibold" panose="02000503000000020004"/>
              </a:rPr>
              <a:t>The public and private keys are similar to email addresses (public keys) and passwords (private keys).</a:t>
            </a:r>
          </a:p>
        </p:txBody>
      </p:sp>
    </p:spTree>
    <p:extLst>
      <p:ext uri="{BB962C8B-B14F-4D97-AF65-F5344CB8AC3E}">
        <p14:creationId xmlns:p14="http://schemas.microsoft.com/office/powerpoint/2010/main" val="1549831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3. Governance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dirty="0">
                <a:latin typeface="National semibold" panose="02000503000000020004"/>
              </a:rPr>
              <a:t>Set of rules and processes under which a system operates. They shape the way participants use the system, how decisions are made, and the distribution of privileges and responsibilities. </a:t>
            </a:r>
            <a:endParaRPr lang="en-US" u="sng" dirty="0">
              <a:latin typeface="National semibold" panose="02000503000000020004"/>
            </a:endParaRPr>
          </a:p>
          <a:p>
            <a:pPr lvl="1"/>
            <a:r>
              <a:rPr lang="en-US" u="sng" dirty="0">
                <a:latin typeface="National semibold" panose="02000503000000020004"/>
              </a:rPr>
              <a:t>Protocols</a:t>
            </a:r>
            <a:r>
              <a:rPr lang="en-US" dirty="0">
                <a:latin typeface="National semibold" panose="02000503000000020004"/>
              </a:rPr>
              <a:t>: Programmed sets of rules for electronic communication. </a:t>
            </a:r>
          </a:p>
          <a:p>
            <a:pPr lvl="1"/>
            <a:r>
              <a:rPr lang="en-US" u="sng" dirty="0">
                <a:latin typeface="National semibold" panose="02000503000000020004"/>
              </a:rPr>
              <a:t>Consensus</a:t>
            </a:r>
            <a:r>
              <a:rPr lang="en-US" dirty="0">
                <a:latin typeface="National semibold" panose="02000503000000020004"/>
              </a:rPr>
              <a:t>: Process by which participants come to a mutual understanding about what is published in the ledger. It is vital to have rules governing how things are sorted out in case of a dispute. In a centralized system one computer (node) acts as a referee and decides. In a decentralized system, instead, many opinions need to be sorted out and aggregate in decisions. </a:t>
            </a:r>
          </a:p>
        </p:txBody>
      </p:sp>
    </p:spTree>
    <p:extLst>
      <p:ext uri="{BB962C8B-B14F-4D97-AF65-F5344CB8AC3E}">
        <p14:creationId xmlns:p14="http://schemas.microsoft.com/office/powerpoint/2010/main" val="359581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Distributed ledger technology</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endParaRPr lang="en-US" dirty="0">
              <a:latin typeface="National semibold" panose="02000503000000020004"/>
            </a:endParaRPr>
          </a:p>
          <a:p>
            <a:r>
              <a:rPr lang="en-US" dirty="0">
                <a:latin typeface="National semibold" panose="02000503000000020004"/>
              </a:rPr>
              <a:t>A distributed ledger contains database spread across multiple locations, nodes, or participants. </a:t>
            </a:r>
          </a:p>
          <a:p>
            <a:endParaRPr lang="en-US" dirty="0">
              <a:latin typeface="National semibold" panose="02000503000000020004"/>
            </a:endParaRPr>
          </a:p>
          <a:p>
            <a:r>
              <a:rPr lang="en-US" dirty="0">
                <a:latin typeface="National semibold" panose="02000503000000020004"/>
              </a:rPr>
              <a:t>It differs from a centralized ledger because it gives control of information and transactions to all users. </a:t>
            </a:r>
          </a:p>
        </p:txBody>
      </p:sp>
    </p:spTree>
    <p:extLst>
      <p:ext uri="{BB962C8B-B14F-4D97-AF65-F5344CB8AC3E}">
        <p14:creationId xmlns:p14="http://schemas.microsoft.com/office/powerpoint/2010/main" val="5317754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3" y="381000"/>
            <a:ext cx="9989603" cy="1219200"/>
          </a:xfrm>
        </p:spPr>
        <p:txBody>
          <a:bodyPr anchor="ctr">
            <a:normAutofit/>
          </a:bodyPr>
          <a:lstStyle/>
          <a:p>
            <a:r>
              <a:rPr lang="en-US" sz="4000" b="1">
                <a:latin typeface="National semibold" panose="02000503000000020004"/>
              </a:rPr>
              <a:t>Centralized and distributed ledgers</a:t>
            </a:r>
          </a:p>
        </p:txBody>
      </p:sp>
      <p:pic>
        <p:nvPicPr>
          <p:cNvPr id="1026" name="Picture 2">
            <a:extLst>
              <a:ext uri="{FF2B5EF4-FFF2-40B4-BE49-F238E27FC236}">
                <a16:creationId xmlns:a16="http://schemas.microsoft.com/office/drawing/2014/main" id="{8DC321C4-C1A9-4CF0-8F2D-3274929961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52102"/>
          <a:stretch/>
        </p:blipFill>
        <p:spPr bwMode="auto">
          <a:xfrm>
            <a:off x="1742057" y="2993604"/>
            <a:ext cx="4023360" cy="345596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CB35DC45-EBFE-4883-9FEC-F1812FD046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2141" r="-1132"/>
          <a:stretch/>
        </p:blipFill>
        <p:spPr bwMode="auto">
          <a:xfrm>
            <a:off x="6748277" y="2868937"/>
            <a:ext cx="4114800" cy="34559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B174E6F-2140-4405-9A93-D4A71A8CA2F4}"/>
              </a:ext>
            </a:extLst>
          </p:cNvPr>
          <p:cNvPicPr>
            <a:picLocks noChangeAspect="1"/>
          </p:cNvPicPr>
          <p:nvPr/>
        </p:nvPicPr>
        <p:blipFill>
          <a:blip r:embed="rId3">
            <a:alphaModFix/>
          </a:blip>
          <a:stretch>
            <a:fillRect/>
          </a:stretch>
        </p:blipFill>
        <p:spPr>
          <a:xfrm>
            <a:off x="3148449" y="5464316"/>
            <a:ext cx="1012024" cy="932769"/>
          </a:xfrm>
          <a:prstGeom prst="rect">
            <a:avLst/>
          </a:prstGeom>
        </p:spPr>
      </p:pic>
      <p:pic>
        <p:nvPicPr>
          <p:cNvPr id="9" name="Picture 8">
            <a:extLst>
              <a:ext uri="{FF2B5EF4-FFF2-40B4-BE49-F238E27FC236}">
                <a16:creationId xmlns:a16="http://schemas.microsoft.com/office/drawing/2014/main" id="{BE84FB54-0C63-473A-B2EA-F1D5D1A8850E}"/>
              </a:ext>
            </a:extLst>
          </p:cNvPr>
          <p:cNvPicPr>
            <a:picLocks noChangeAspect="1"/>
          </p:cNvPicPr>
          <p:nvPr/>
        </p:nvPicPr>
        <p:blipFill>
          <a:blip r:embed="rId3">
            <a:alphaModFix/>
          </a:blip>
          <a:stretch>
            <a:fillRect/>
          </a:stretch>
        </p:blipFill>
        <p:spPr>
          <a:xfrm>
            <a:off x="7031603" y="3411706"/>
            <a:ext cx="1012024" cy="932769"/>
          </a:xfrm>
          <a:prstGeom prst="rect">
            <a:avLst/>
          </a:prstGeom>
        </p:spPr>
      </p:pic>
      <p:pic>
        <p:nvPicPr>
          <p:cNvPr id="10" name="Picture 9">
            <a:extLst>
              <a:ext uri="{FF2B5EF4-FFF2-40B4-BE49-F238E27FC236}">
                <a16:creationId xmlns:a16="http://schemas.microsoft.com/office/drawing/2014/main" id="{5858A96D-9B41-452C-AAD6-C75B029A80C0}"/>
              </a:ext>
            </a:extLst>
          </p:cNvPr>
          <p:cNvPicPr>
            <a:picLocks noChangeAspect="1"/>
          </p:cNvPicPr>
          <p:nvPr/>
        </p:nvPicPr>
        <p:blipFill>
          <a:blip r:embed="rId3">
            <a:alphaModFix/>
          </a:blip>
          <a:stretch>
            <a:fillRect/>
          </a:stretch>
        </p:blipFill>
        <p:spPr>
          <a:xfrm>
            <a:off x="7006902" y="5427968"/>
            <a:ext cx="1012024" cy="932769"/>
          </a:xfrm>
          <a:prstGeom prst="rect">
            <a:avLst/>
          </a:prstGeom>
        </p:spPr>
      </p:pic>
      <p:pic>
        <p:nvPicPr>
          <p:cNvPr id="11" name="Picture 10">
            <a:extLst>
              <a:ext uri="{FF2B5EF4-FFF2-40B4-BE49-F238E27FC236}">
                <a16:creationId xmlns:a16="http://schemas.microsoft.com/office/drawing/2014/main" id="{656D2364-B81A-41EE-8C78-9E472EBE466E}"/>
              </a:ext>
            </a:extLst>
          </p:cNvPr>
          <p:cNvPicPr>
            <a:picLocks noChangeAspect="1"/>
          </p:cNvPicPr>
          <p:nvPr/>
        </p:nvPicPr>
        <p:blipFill>
          <a:blip r:embed="rId3">
            <a:alphaModFix/>
          </a:blip>
          <a:stretch>
            <a:fillRect/>
          </a:stretch>
        </p:blipFill>
        <p:spPr>
          <a:xfrm>
            <a:off x="9749679" y="3390807"/>
            <a:ext cx="1012024" cy="932769"/>
          </a:xfrm>
          <a:prstGeom prst="rect">
            <a:avLst/>
          </a:prstGeom>
        </p:spPr>
      </p:pic>
      <p:pic>
        <p:nvPicPr>
          <p:cNvPr id="12" name="Picture 11">
            <a:extLst>
              <a:ext uri="{FF2B5EF4-FFF2-40B4-BE49-F238E27FC236}">
                <a16:creationId xmlns:a16="http://schemas.microsoft.com/office/drawing/2014/main" id="{EBB7BC0E-D51B-42BB-B675-06270B303059}"/>
              </a:ext>
            </a:extLst>
          </p:cNvPr>
          <p:cNvPicPr>
            <a:picLocks noChangeAspect="1"/>
          </p:cNvPicPr>
          <p:nvPr/>
        </p:nvPicPr>
        <p:blipFill>
          <a:blip r:embed="rId3">
            <a:alphaModFix/>
          </a:blip>
          <a:stretch>
            <a:fillRect/>
          </a:stretch>
        </p:blipFill>
        <p:spPr>
          <a:xfrm>
            <a:off x="9737804" y="5375485"/>
            <a:ext cx="1012024" cy="932769"/>
          </a:xfrm>
          <a:prstGeom prst="rect">
            <a:avLst/>
          </a:prstGeom>
        </p:spPr>
      </p:pic>
      <p:sp>
        <p:nvSpPr>
          <p:cNvPr id="6" name="TextBox 5">
            <a:extLst>
              <a:ext uri="{FF2B5EF4-FFF2-40B4-BE49-F238E27FC236}">
                <a16:creationId xmlns:a16="http://schemas.microsoft.com/office/drawing/2014/main" id="{FC4C80A3-F4F1-46AC-93E7-C7DB5984481A}"/>
              </a:ext>
            </a:extLst>
          </p:cNvPr>
          <p:cNvSpPr txBox="1"/>
          <p:nvPr/>
        </p:nvSpPr>
        <p:spPr>
          <a:xfrm>
            <a:off x="1990779" y="2769013"/>
            <a:ext cx="877824" cy="369332"/>
          </a:xfrm>
          <a:prstGeom prst="rect">
            <a:avLst/>
          </a:prstGeom>
          <a:noFill/>
        </p:spPr>
        <p:txBody>
          <a:bodyPr wrap="square" rtlCol="0">
            <a:spAutoFit/>
          </a:bodyPr>
          <a:lstStyle/>
          <a:p>
            <a:pPr algn="ctr"/>
            <a:r>
              <a:rPr lang="en-US" b="1"/>
              <a:t>Daniel</a:t>
            </a:r>
          </a:p>
        </p:txBody>
      </p:sp>
      <p:sp>
        <p:nvSpPr>
          <p:cNvPr id="14" name="TextBox 13">
            <a:extLst>
              <a:ext uri="{FF2B5EF4-FFF2-40B4-BE49-F238E27FC236}">
                <a16:creationId xmlns:a16="http://schemas.microsoft.com/office/drawing/2014/main" id="{27D6B36B-3C38-4216-81FF-093EED0D1309}"/>
              </a:ext>
            </a:extLst>
          </p:cNvPr>
          <p:cNvSpPr txBox="1"/>
          <p:nvPr/>
        </p:nvSpPr>
        <p:spPr>
          <a:xfrm>
            <a:off x="4561549" y="2781429"/>
            <a:ext cx="850844" cy="370424"/>
          </a:xfrm>
          <a:prstGeom prst="rect">
            <a:avLst/>
          </a:prstGeom>
          <a:noFill/>
        </p:spPr>
        <p:txBody>
          <a:bodyPr wrap="square" rtlCol="0">
            <a:spAutoFit/>
          </a:bodyPr>
          <a:lstStyle/>
          <a:p>
            <a:pPr algn="ctr"/>
            <a:r>
              <a:rPr lang="en-US" b="1"/>
              <a:t>Elisa</a:t>
            </a:r>
          </a:p>
        </p:txBody>
      </p:sp>
      <p:sp>
        <p:nvSpPr>
          <p:cNvPr id="15" name="TextBox 14">
            <a:extLst>
              <a:ext uri="{FF2B5EF4-FFF2-40B4-BE49-F238E27FC236}">
                <a16:creationId xmlns:a16="http://schemas.microsoft.com/office/drawing/2014/main" id="{DD71F63F-66F8-4EE7-879B-DD30AB1D768C}"/>
              </a:ext>
            </a:extLst>
          </p:cNvPr>
          <p:cNvSpPr txBox="1"/>
          <p:nvPr/>
        </p:nvSpPr>
        <p:spPr>
          <a:xfrm>
            <a:off x="1965525" y="6187103"/>
            <a:ext cx="877824" cy="369332"/>
          </a:xfrm>
          <a:prstGeom prst="rect">
            <a:avLst/>
          </a:prstGeom>
          <a:noFill/>
        </p:spPr>
        <p:txBody>
          <a:bodyPr wrap="square" rtlCol="0">
            <a:spAutoFit/>
          </a:bodyPr>
          <a:lstStyle/>
          <a:p>
            <a:pPr algn="ctr"/>
            <a:r>
              <a:rPr lang="en-US" b="1"/>
              <a:t>Pat</a:t>
            </a:r>
          </a:p>
        </p:txBody>
      </p:sp>
      <p:sp>
        <p:nvSpPr>
          <p:cNvPr id="16" name="TextBox 15">
            <a:extLst>
              <a:ext uri="{FF2B5EF4-FFF2-40B4-BE49-F238E27FC236}">
                <a16:creationId xmlns:a16="http://schemas.microsoft.com/office/drawing/2014/main" id="{2CE03651-665E-4079-AEF6-815BECA3EC77}"/>
              </a:ext>
            </a:extLst>
          </p:cNvPr>
          <p:cNvSpPr txBox="1"/>
          <p:nvPr/>
        </p:nvSpPr>
        <p:spPr>
          <a:xfrm>
            <a:off x="4531056" y="6171429"/>
            <a:ext cx="877824" cy="369332"/>
          </a:xfrm>
          <a:prstGeom prst="rect">
            <a:avLst/>
          </a:prstGeom>
          <a:noFill/>
        </p:spPr>
        <p:txBody>
          <a:bodyPr wrap="square" rtlCol="0">
            <a:spAutoFit/>
          </a:bodyPr>
          <a:lstStyle/>
          <a:p>
            <a:pPr algn="ctr"/>
            <a:r>
              <a:rPr lang="en-US" b="1"/>
              <a:t>Zach</a:t>
            </a:r>
          </a:p>
        </p:txBody>
      </p:sp>
      <p:sp>
        <p:nvSpPr>
          <p:cNvPr id="17" name="TextBox 16">
            <a:extLst>
              <a:ext uri="{FF2B5EF4-FFF2-40B4-BE49-F238E27FC236}">
                <a16:creationId xmlns:a16="http://schemas.microsoft.com/office/drawing/2014/main" id="{209158D7-7DA1-446F-989D-D851E432B8B2}"/>
              </a:ext>
            </a:extLst>
          </p:cNvPr>
          <p:cNvSpPr txBox="1"/>
          <p:nvPr/>
        </p:nvSpPr>
        <p:spPr>
          <a:xfrm>
            <a:off x="7112250" y="2681054"/>
            <a:ext cx="877824" cy="369332"/>
          </a:xfrm>
          <a:prstGeom prst="rect">
            <a:avLst/>
          </a:prstGeom>
          <a:noFill/>
        </p:spPr>
        <p:txBody>
          <a:bodyPr wrap="square" rtlCol="0">
            <a:spAutoFit/>
          </a:bodyPr>
          <a:lstStyle/>
          <a:p>
            <a:pPr algn="ctr"/>
            <a:r>
              <a:rPr lang="en-US" b="1"/>
              <a:t>Daniel</a:t>
            </a:r>
          </a:p>
        </p:txBody>
      </p:sp>
      <p:sp>
        <p:nvSpPr>
          <p:cNvPr id="18" name="TextBox 17">
            <a:extLst>
              <a:ext uri="{FF2B5EF4-FFF2-40B4-BE49-F238E27FC236}">
                <a16:creationId xmlns:a16="http://schemas.microsoft.com/office/drawing/2014/main" id="{0E0D7F33-6DE3-4747-B33F-26785297B52F}"/>
              </a:ext>
            </a:extLst>
          </p:cNvPr>
          <p:cNvSpPr txBox="1"/>
          <p:nvPr/>
        </p:nvSpPr>
        <p:spPr>
          <a:xfrm>
            <a:off x="9631626" y="2692378"/>
            <a:ext cx="877824" cy="369332"/>
          </a:xfrm>
          <a:prstGeom prst="rect">
            <a:avLst/>
          </a:prstGeom>
          <a:noFill/>
        </p:spPr>
        <p:txBody>
          <a:bodyPr wrap="square" rtlCol="0">
            <a:spAutoFit/>
          </a:bodyPr>
          <a:lstStyle/>
          <a:p>
            <a:pPr algn="ctr"/>
            <a:r>
              <a:rPr lang="en-US" b="1"/>
              <a:t>Elisa</a:t>
            </a:r>
          </a:p>
        </p:txBody>
      </p:sp>
      <p:sp>
        <p:nvSpPr>
          <p:cNvPr id="19" name="TextBox 18">
            <a:extLst>
              <a:ext uri="{FF2B5EF4-FFF2-40B4-BE49-F238E27FC236}">
                <a16:creationId xmlns:a16="http://schemas.microsoft.com/office/drawing/2014/main" id="{2F2D3125-00FA-4346-9C93-8694014BC69F}"/>
              </a:ext>
            </a:extLst>
          </p:cNvPr>
          <p:cNvSpPr txBox="1"/>
          <p:nvPr/>
        </p:nvSpPr>
        <p:spPr>
          <a:xfrm>
            <a:off x="7092221" y="6161845"/>
            <a:ext cx="877824" cy="369332"/>
          </a:xfrm>
          <a:prstGeom prst="rect">
            <a:avLst/>
          </a:prstGeom>
          <a:noFill/>
        </p:spPr>
        <p:txBody>
          <a:bodyPr wrap="square" rtlCol="0">
            <a:spAutoFit/>
          </a:bodyPr>
          <a:lstStyle/>
          <a:p>
            <a:pPr algn="ctr"/>
            <a:r>
              <a:rPr lang="en-US" b="1"/>
              <a:t>Pat</a:t>
            </a:r>
          </a:p>
        </p:txBody>
      </p:sp>
      <p:sp>
        <p:nvSpPr>
          <p:cNvPr id="20" name="TextBox 19">
            <a:extLst>
              <a:ext uri="{FF2B5EF4-FFF2-40B4-BE49-F238E27FC236}">
                <a16:creationId xmlns:a16="http://schemas.microsoft.com/office/drawing/2014/main" id="{A4AACF37-EDCE-4D76-A868-D9133DD628EE}"/>
              </a:ext>
            </a:extLst>
          </p:cNvPr>
          <p:cNvSpPr txBox="1"/>
          <p:nvPr/>
        </p:nvSpPr>
        <p:spPr>
          <a:xfrm>
            <a:off x="9683874" y="6146170"/>
            <a:ext cx="877824" cy="369332"/>
          </a:xfrm>
          <a:prstGeom prst="rect">
            <a:avLst/>
          </a:prstGeom>
          <a:noFill/>
        </p:spPr>
        <p:txBody>
          <a:bodyPr wrap="square" rtlCol="0">
            <a:spAutoFit/>
          </a:bodyPr>
          <a:lstStyle/>
          <a:p>
            <a:pPr algn="ctr"/>
            <a:r>
              <a:rPr lang="en-US" b="1"/>
              <a:t>Zach</a:t>
            </a:r>
          </a:p>
        </p:txBody>
      </p:sp>
      <p:sp>
        <p:nvSpPr>
          <p:cNvPr id="21" name="TextBox 20">
            <a:extLst>
              <a:ext uri="{FF2B5EF4-FFF2-40B4-BE49-F238E27FC236}">
                <a16:creationId xmlns:a16="http://schemas.microsoft.com/office/drawing/2014/main" id="{923DE523-57A8-455F-B2B1-1B9C38E23ABC}"/>
              </a:ext>
            </a:extLst>
          </p:cNvPr>
          <p:cNvSpPr txBox="1"/>
          <p:nvPr/>
        </p:nvSpPr>
        <p:spPr>
          <a:xfrm>
            <a:off x="2237224" y="1829361"/>
            <a:ext cx="2993145" cy="830997"/>
          </a:xfrm>
          <a:prstGeom prst="rect">
            <a:avLst/>
          </a:prstGeom>
          <a:noFill/>
        </p:spPr>
        <p:txBody>
          <a:bodyPr wrap="square" rtlCol="0">
            <a:spAutoFit/>
          </a:bodyPr>
          <a:lstStyle/>
          <a:p>
            <a:pPr algn="ctr"/>
            <a:r>
              <a:rPr lang="en-US" sz="2400" b="1" u="sng"/>
              <a:t>Centralized</a:t>
            </a:r>
          </a:p>
          <a:p>
            <a:pPr algn="ctr"/>
            <a:r>
              <a:rPr lang="en-US" sz="2400" b="1" u="sng"/>
              <a:t>ledger</a:t>
            </a:r>
          </a:p>
        </p:txBody>
      </p:sp>
      <p:sp>
        <p:nvSpPr>
          <p:cNvPr id="22" name="TextBox 21">
            <a:extLst>
              <a:ext uri="{FF2B5EF4-FFF2-40B4-BE49-F238E27FC236}">
                <a16:creationId xmlns:a16="http://schemas.microsoft.com/office/drawing/2014/main" id="{0E4D4C97-2D58-4016-85A3-53AA5D44AC94}"/>
              </a:ext>
            </a:extLst>
          </p:cNvPr>
          <p:cNvSpPr txBox="1"/>
          <p:nvPr/>
        </p:nvSpPr>
        <p:spPr>
          <a:xfrm>
            <a:off x="7390052" y="1830236"/>
            <a:ext cx="2993145" cy="830997"/>
          </a:xfrm>
          <a:prstGeom prst="rect">
            <a:avLst/>
          </a:prstGeom>
          <a:noFill/>
        </p:spPr>
        <p:txBody>
          <a:bodyPr wrap="square" rtlCol="0">
            <a:spAutoFit/>
          </a:bodyPr>
          <a:lstStyle/>
          <a:p>
            <a:pPr algn="ctr"/>
            <a:r>
              <a:rPr lang="en-US" sz="2400" b="1" u="sng"/>
              <a:t>Distributed</a:t>
            </a:r>
          </a:p>
          <a:p>
            <a:pPr algn="ctr"/>
            <a:r>
              <a:rPr lang="en-US" sz="2400" b="1" u="sng"/>
              <a:t>ledger</a:t>
            </a:r>
          </a:p>
        </p:txBody>
      </p:sp>
    </p:spTree>
    <p:extLst>
      <p:ext uri="{BB962C8B-B14F-4D97-AF65-F5344CB8AC3E}">
        <p14:creationId xmlns:p14="http://schemas.microsoft.com/office/powerpoint/2010/main" val="144232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 grpId="0"/>
      <p:bldP spid="15" grpId="0"/>
      <p:bldP spid="16" grpId="0"/>
      <p:bldP spid="17" grpId="0"/>
      <p:bldP spid="18" grpId="0"/>
      <p:bldP spid="19" grpId="0"/>
      <p:bldP spid="20" grpId="0"/>
      <p:bldP spid="21"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6051C-F02F-4479-9D13-3A67CC55B285}"/>
              </a:ext>
            </a:extLst>
          </p:cNvPr>
          <p:cNvSpPr>
            <a:spLocks noGrp="1"/>
          </p:cNvSpPr>
          <p:nvPr>
            <p:ph type="title"/>
          </p:nvPr>
        </p:nvSpPr>
        <p:spPr/>
        <p:txBody>
          <a:bodyPr/>
          <a:lstStyle/>
          <a:p>
            <a:endParaRPr lang="en-US"/>
          </a:p>
        </p:txBody>
      </p:sp>
      <p:pic>
        <p:nvPicPr>
          <p:cNvPr id="5" name="Content Placeholder 4" descr="Diagram&#10;&#10;Description automatically generated">
            <a:extLst>
              <a:ext uri="{FF2B5EF4-FFF2-40B4-BE49-F238E27FC236}">
                <a16:creationId xmlns:a16="http://schemas.microsoft.com/office/drawing/2014/main" id="{910B16BF-6586-4C50-AAF9-16DC4DFE52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88825" cy="6858000"/>
          </a:xfrm>
        </p:spPr>
      </p:pic>
    </p:spTree>
    <p:extLst>
      <p:ext uri="{BB962C8B-B14F-4D97-AF65-F5344CB8AC3E}">
        <p14:creationId xmlns:p14="http://schemas.microsoft.com/office/powerpoint/2010/main" val="3875564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Centralized and distributed ledgers</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b="1" u="sng" dirty="0">
                <a:latin typeface="National semibold" panose="02000503000000020004"/>
              </a:rPr>
              <a:t>Centralized</a:t>
            </a:r>
            <a:r>
              <a:rPr lang="en-US" dirty="0">
                <a:latin typeface="National semibold" panose="02000503000000020004"/>
              </a:rPr>
              <a:t> ledgers use the trust of the centralized institution (clearing house) to update the ledger. </a:t>
            </a:r>
          </a:p>
          <a:p>
            <a:endParaRPr lang="en-US" dirty="0">
              <a:latin typeface="National semibold" panose="02000503000000020004"/>
            </a:endParaRPr>
          </a:p>
          <a:p>
            <a:r>
              <a:rPr lang="en-US" b="1" u="sng" dirty="0">
                <a:latin typeface="National semibold" panose="02000503000000020004"/>
              </a:rPr>
              <a:t>Distributed</a:t>
            </a:r>
            <a:r>
              <a:rPr lang="en-US" dirty="0">
                <a:latin typeface="National semibold" panose="02000503000000020004"/>
              </a:rPr>
              <a:t> ledgers use consensus mechanisms among their users to replace the trust and eliminate the need of a single organization to oversee the data and its handling. </a:t>
            </a:r>
          </a:p>
          <a:p>
            <a:endParaRPr lang="en-US" dirty="0">
              <a:latin typeface="National semibold" panose="02000503000000020004"/>
            </a:endParaRPr>
          </a:p>
          <a:p>
            <a:r>
              <a:rPr lang="en-US" dirty="0">
                <a:latin typeface="National semibold" panose="02000503000000020004"/>
              </a:rPr>
              <a:t>The consensus mechanism allows distributed ledgers to provide greater security, enhance efficiency, and lower costs. </a:t>
            </a:r>
          </a:p>
          <a:p>
            <a:endParaRPr lang="en-US" dirty="0">
              <a:latin typeface="National semibold" panose="02000503000000020004"/>
            </a:endParaRPr>
          </a:p>
        </p:txBody>
      </p:sp>
    </p:spTree>
    <p:extLst>
      <p:ext uri="{BB962C8B-B14F-4D97-AF65-F5344CB8AC3E}">
        <p14:creationId xmlns:p14="http://schemas.microsoft.com/office/powerpoint/2010/main" val="164736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Blockchain as distributed ledger</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dirty="0">
                <a:latin typeface="National semibold" panose="02000503000000020004"/>
              </a:rPr>
              <a:t>Blockchain is a type of distributed ledger technology: All blockchains are distributed ledgers, but not all distributed ledgers are blockchains.</a:t>
            </a:r>
          </a:p>
          <a:p>
            <a:endParaRPr lang="en-US" dirty="0">
              <a:latin typeface="National semibold" panose="02000503000000020004"/>
            </a:endParaRPr>
          </a:p>
          <a:p>
            <a:r>
              <a:rPr lang="en-US" dirty="0">
                <a:latin typeface="National semibold" panose="02000503000000020004"/>
              </a:rPr>
              <a:t>The feature that characterizes a blockchain is that transactions are mathematically linked. This feature offers a more secure and efficient way to create immutable logbooks. </a:t>
            </a:r>
          </a:p>
          <a:p>
            <a:endParaRPr lang="en-US" dirty="0">
              <a:latin typeface="National semibold" panose="02000503000000020004"/>
            </a:endParaRPr>
          </a:p>
        </p:txBody>
      </p:sp>
    </p:spTree>
    <p:extLst>
      <p:ext uri="{BB962C8B-B14F-4D97-AF65-F5344CB8AC3E}">
        <p14:creationId xmlns:p14="http://schemas.microsoft.com/office/powerpoint/2010/main" val="3027963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Example of ledger: Balance of poker chips</a:t>
            </a:r>
          </a:p>
        </p:txBody>
      </p:sp>
      <p:graphicFrame>
        <p:nvGraphicFramePr>
          <p:cNvPr id="2" name="Table 3">
            <a:extLst>
              <a:ext uri="{FF2B5EF4-FFF2-40B4-BE49-F238E27FC236}">
                <a16:creationId xmlns:a16="http://schemas.microsoft.com/office/drawing/2014/main" id="{78682D26-C17E-4D09-8A47-EC0D62AF1958}"/>
              </a:ext>
            </a:extLst>
          </p:cNvPr>
          <p:cNvGraphicFramePr>
            <a:graphicFrameLocks noGrp="1"/>
          </p:cNvGraphicFramePr>
          <p:nvPr>
            <p:ph idx="1"/>
            <p:extLst>
              <p:ext uri="{D42A27DB-BD31-4B8C-83A1-F6EECF244321}">
                <p14:modId xmlns:p14="http://schemas.microsoft.com/office/powerpoint/2010/main" val="3614414937"/>
              </p:ext>
            </p:extLst>
          </p:nvPr>
        </p:nvGraphicFramePr>
        <p:xfrm>
          <a:off x="4280756" y="1734712"/>
          <a:ext cx="4382484" cy="2478530"/>
        </p:xfrm>
        <a:graphic>
          <a:graphicData uri="http://schemas.openxmlformats.org/drawingml/2006/table">
            <a:tbl>
              <a:tblPr firstRow="1" bandRow="1">
                <a:tableStyleId>{69CF1AB2-1976-4502-BF36-3FF5EA218861}</a:tableStyleId>
              </a:tblPr>
              <a:tblGrid>
                <a:gridCol w="2191242">
                  <a:extLst>
                    <a:ext uri="{9D8B030D-6E8A-4147-A177-3AD203B41FA5}">
                      <a16:colId xmlns:a16="http://schemas.microsoft.com/office/drawing/2014/main" val="2312185136"/>
                    </a:ext>
                  </a:extLst>
                </a:gridCol>
                <a:gridCol w="2191242">
                  <a:extLst>
                    <a:ext uri="{9D8B030D-6E8A-4147-A177-3AD203B41FA5}">
                      <a16:colId xmlns:a16="http://schemas.microsoft.com/office/drawing/2014/main" val="3594892867"/>
                    </a:ext>
                  </a:extLst>
                </a:gridCol>
              </a:tblGrid>
              <a:tr h="559730">
                <a:tc gridSpan="2">
                  <a:txBody>
                    <a:bodyPr/>
                    <a:lstStyle/>
                    <a:p>
                      <a:pPr algn="ctr"/>
                      <a:r>
                        <a:rPr lang="en-US" dirty="0"/>
                        <a:t>Ledger status at start</a:t>
                      </a:r>
                    </a:p>
                    <a:p>
                      <a:pPr algn="ctr"/>
                      <a:r>
                        <a:rPr lang="en-US" dirty="0">
                          <a:solidFill>
                            <a:srgbClr val="FF0000"/>
                          </a:solidFill>
                        </a:rPr>
                        <a:t>10:00AM</a:t>
                      </a:r>
                      <a:r>
                        <a:rPr lang="en-US" dirty="0"/>
                        <a:t>                                   </a:t>
                      </a:r>
                    </a:p>
                  </a:txBody>
                  <a:tcPr>
                    <a:solidFill>
                      <a:schemeClr val="accent1"/>
                    </a:solidFill>
                  </a:tcPr>
                </a:tc>
                <a:tc hMerge="1">
                  <a:txBody>
                    <a:bodyPr/>
                    <a:lstStyle/>
                    <a:p>
                      <a:endParaRPr lang="en-US"/>
                    </a:p>
                  </a:txBody>
                  <a:tcPr/>
                </a:tc>
                <a:extLst>
                  <a:ext uri="{0D108BD9-81ED-4DB2-BD59-A6C34878D82A}">
                    <a16:rowId xmlns:a16="http://schemas.microsoft.com/office/drawing/2014/main" val="2397175858"/>
                  </a:ext>
                </a:extLst>
              </a:tr>
              <a:tr h="375410">
                <a:tc>
                  <a:txBody>
                    <a:bodyPr/>
                    <a:lstStyle/>
                    <a:p>
                      <a:r>
                        <a:rPr lang="en-US" b="1"/>
                        <a:t>Player name</a:t>
                      </a:r>
                    </a:p>
                  </a:txBody>
                  <a:tcPr>
                    <a:solidFill>
                      <a:schemeClr val="accent1"/>
                    </a:solidFill>
                  </a:tcPr>
                </a:tc>
                <a:tc>
                  <a:txBody>
                    <a:bodyPr/>
                    <a:lstStyle/>
                    <a:p>
                      <a:r>
                        <a:rPr lang="en-US" b="1"/>
                        <a:t>Number of chips</a:t>
                      </a:r>
                    </a:p>
                  </a:txBody>
                  <a:tcPr>
                    <a:solidFill>
                      <a:schemeClr val="accent1"/>
                    </a:solidFill>
                  </a:tcPr>
                </a:tc>
                <a:extLst>
                  <a:ext uri="{0D108BD9-81ED-4DB2-BD59-A6C34878D82A}">
                    <a16:rowId xmlns:a16="http://schemas.microsoft.com/office/drawing/2014/main" val="1714996356"/>
                  </a:ext>
                </a:extLst>
              </a:tr>
              <a:tr h="332820">
                <a:tc>
                  <a:txBody>
                    <a:bodyPr/>
                    <a:lstStyle/>
                    <a:p>
                      <a:r>
                        <a:rPr lang="en-US"/>
                        <a:t>Daniel</a:t>
                      </a:r>
                    </a:p>
                  </a:txBody>
                  <a:tcPr>
                    <a:noFill/>
                  </a:tcPr>
                </a:tc>
                <a:tc>
                  <a:txBody>
                    <a:bodyPr/>
                    <a:lstStyle/>
                    <a:p>
                      <a:pPr algn="r"/>
                      <a:r>
                        <a:rPr lang="en-US"/>
                        <a:t>250</a:t>
                      </a:r>
                    </a:p>
                  </a:txBody>
                  <a:tcPr>
                    <a:noFill/>
                  </a:tcPr>
                </a:tc>
                <a:extLst>
                  <a:ext uri="{0D108BD9-81ED-4DB2-BD59-A6C34878D82A}">
                    <a16:rowId xmlns:a16="http://schemas.microsoft.com/office/drawing/2014/main" val="100652373"/>
                  </a:ext>
                </a:extLst>
              </a:tr>
              <a:tr h="332820">
                <a:tc>
                  <a:txBody>
                    <a:bodyPr/>
                    <a:lstStyle/>
                    <a:p>
                      <a:r>
                        <a:rPr lang="en-US"/>
                        <a:t>Elisa</a:t>
                      </a:r>
                    </a:p>
                  </a:txBody>
                  <a:tcPr>
                    <a:noFill/>
                  </a:tcPr>
                </a:tc>
                <a:tc>
                  <a:txBody>
                    <a:bodyPr/>
                    <a:lstStyle/>
                    <a:p>
                      <a:pPr algn="r"/>
                      <a:r>
                        <a:rPr lang="en-US"/>
                        <a:t>250</a:t>
                      </a:r>
                    </a:p>
                  </a:txBody>
                  <a:tcPr>
                    <a:noFill/>
                  </a:tcPr>
                </a:tc>
                <a:extLst>
                  <a:ext uri="{0D108BD9-81ED-4DB2-BD59-A6C34878D82A}">
                    <a16:rowId xmlns:a16="http://schemas.microsoft.com/office/drawing/2014/main" val="3576141757"/>
                  </a:ext>
                </a:extLst>
              </a:tr>
              <a:tr h="332820">
                <a:tc>
                  <a:txBody>
                    <a:bodyPr/>
                    <a:lstStyle/>
                    <a:p>
                      <a:r>
                        <a:rPr lang="en-US"/>
                        <a:t>Pat</a:t>
                      </a:r>
                    </a:p>
                  </a:txBody>
                  <a:tcPr>
                    <a:noFill/>
                  </a:tcPr>
                </a:tc>
                <a:tc>
                  <a:txBody>
                    <a:bodyPr/>
                    <a:lstStyle/>
                    <a:p>
                      <a:pPr algn="r"/>
                      <a:r>
                        <a:rPr lang="en-US"/>
                        <a:t>250</a:t>
                      </a:r>
                    </a:p>
                  </a:txBody>
                  <a:tcPr>
                    <a:noFill/>
                  </a:tcPr>
                </a:tc>
                <a:extLst>
                  <a:ext uri="{0D108BD9-81ED-4DB2-BD59-A6C34878D82A}">
                    <a16:rowId xmlns:a16="http://schemas.microsoft.com/office/drawing/2014/main" val="437430004"/>
                  </a:ext>
                </a:extLst>
              </a:tr>
              <a:tr h="332820">
                <a:tc>
                  <a:txBody>
                    <a:bodyPr/>
                    <a:lstStyle/>
                    <a:p>
                      <a:r>
                        <a:rPr lang="en-US"/>
                        <a:t>Zach</a:t>
                      </a:r>
                    </a:p>
                  </a:txBody>
                  <a:tcPr>
                    <a:noFill/>
                  </a:tcPr>
                </a:tc>
                <a:tc>
                  <a:txBody>
                    <a:bodyPr/>
                    <a:lstStyle/>
                    <a:p>
                      <a:pPr algn="r"/>
                      <a:r>
                        <a:rPr lang="en-US" dirty="0"/>
                        <a:t>250</a:t>
                      </a:r>
                    </a:p>
                  </a:txBody>
                  <a:tcPr>
                    <a:noFill/>
                  </a:tcPr>
                </a:tc>
                <a:extLst>
                  <a:ext uri="{0D108BD9-81ED-4DB2-BD59-A6C34878D82A}">
                    <a16:rowId xmlns:a16="http://schemas.microsoft.com/office/drawing/2014/main" val="843789008"/>
                  </a:ext>
                </a:extLst>
              </a:tr>
            </a:tbl>
          </a:graphicData>
        </a:graphic>
      </p:graphicFrame>
      <p:graphicFrame>
        <p:nvGraphicFramePr>
          <p:cNvPr id="6" name="Table 3">
            <a:extLst>
              <a:ext uri="{FF2B5EF4-FFF2-40B4-BE49-F238E27FC236}">
                <a16:creationId xmlns:a16="http://schemas.microsoft.com/office/drawing/2014/main" id="{B37569DE-0B0E-4C60-835A-678391DA5F38}"/>
              </a:ext>
            </a:extLst>
          </p:cNvPr>
          <p:cNvGraphicFramePr>
            <a:graphicFrameLocks/>
          </p:cNvGraphicFramePr>
          <p:nvPr>
            <p:extLst>
              <p:ext uri="{D42A27DB-BD31-4B8C-83A1-F6EECF244321}">
                <p14:modId xmlns:p14="http://schemas.microsoft.com/office/powerpoint/2010/main" val="355158240"/>
              </p:ext>
            </p:extLst>
          </p:nvPr>
        </p:nvGraphicFramePr>
        <p:xfrm>
          <a:off x="1538409" y="4299196"/>
          <a:ext cx="4473392" cy="2504083"/>
        </p:xfrm>
        <a:graphic>
          <a:graphicData uri="http://schemas.openxmlformats.org/drawingml/2006/table">
            <a:tbl>
              <a:tblPr firstRow="1" bandRow="1">
                <a:tableStyleId>{69CF1AB2-1976-4502-BF36-3FF5EA218861}</a:tableStyleId>
              </a:tblPr>
              <a:tblGrid>
                <a:gridCol w="2236696">
                  <a:extLst>
                    <a:ext uri="{9D8B030D-6E8A-4147-A177-3AD203B41FA5}">
                      <a16:colId xmlns:a16="http://schemas.microsoft.com/office/drawing/2014/main" val="2312185136"/>
                    </a:ext>
                  </a:extLst>
                </a:gridCol>
                <a:gridCol w="2236696">
                  <a:extLst>
                    <a:ext uri="{9D8B030D-6E8A-4147-A177-3AD203B41FA5}">
                      <a16:colId xmlns:a16="http://schemas.microsoft.com/office/drawing/2014/main" val="3594892867"/>
                    </a:ext>
                  </a:extLst>
                </a:gridCol>
              </a:tblGrid>
              <a:tr h="586914">
                <a:tc gridSpan="2">
                  <a:txBody>
                    <a:bodyPr/>
                    <a:lstStyle/>
                    <a:p>
                      <a:pPr algn="ctr"/>
                      <a:r>
                        <a:rPr lang="en-US"/>
                        <a:t>Ledger status after round 1</a:t>
                      </a:r>
                    </a:p>
                    <a:p>
                      <a:pPr algn="ctr"/>
                      <a:r>
                        <a:rPr lang="en-US">
                          <a:solidFill>
                            <a:srgbClr val="FF0000"/>
                          </a:solidFill>
                        </a:rPr>
                        <a:t>10:15AM</a:t>
                      </a:r>
                      <a:r>
                        <a:rPr lang="en-US"/>
                        <a:t>                                   </a:t>
                      </a:r>
                    </a:p>
                  </a:txBody>
                  <a:tcPr>
                    <a:solidFill>
                      <a:schemeClr val="accent1"/>
                    </a:solidFill>
                  </a:tcPr>
                </a:tc>
                <a:tc hMerge="1">
                  <a:txBody>
                    <a:bodyPr/>
                    <a:lstStyle/>
                    <a:p>
                      <a:endParaRPr lang="en-US"/>
                    </a:p>
                  </a:txBody>
                  <a:tcPr/>
                </a:tc>
                <a:extLst>
                  <a:ext uri="{0D108BD9-81ED-4DB2-BD59-A6C34878D82A}">
                    <a16:rowId xmlns:a16="http://schemas.microsoft.com/office/drawing/2014/main" val="2397175858"/>
                  </a:ext>
                </a:extLst>
              </a:tr>
              <a:tr h="400963">
                <a:tc>
                  <a:txBody>
                    <a:bodyPr/>
                    <a:lstStyle/>
                    <a:p>
                      <a:r>
                        <a:rPr lang="en-US" b="1"/>
                        <a:t>Player name</a:t>
                      </a:r>
                    </a:p>
                  </a:txBody>
                  <a:tcPr>
                    <a:solidFill>
                      <a:schemeClr val="accent1"/>
                    </a:solidFill>
                  </a:tcPr>
                </a:tc>
                <a:tc>
                  <a:txBody>
                    <a:bodyPr/>
                    <a:lstStyle/>
                    <a:p>
                      <a:r>
                        <a:rPr lang="en-US" b="1"/>
                        <a:t>Number of chips</a:t>
                      </a:r>
                    </a:p>
                  </a:txBody>
                  <a:tcPr>
                    <a:solidFill>
                      <a:schemeClr val="accent1"/>
                    </a:solidFill>
                  </a:tcPr>
                </a:tc>
                <a:extLst>
                  <a:ext uri="{0D108BD9-81ED-4DB2-BD59-A6C34878D82A}">
                    <a16:rowId xmlns:a16="http://schemas.microsoft.com/office/drawing/2014/main" val="1714996356"/>
                  </a:ext>
                </a:extLst>
              </a:tr>
              <a:tr h="355474">
                <a:tc>
                  <a:txBody>
                    <a:bodyPr/>
                    <a:lstStyle/>
                    <a:p>
                      <a:r>
                        <a:rPr lang="en-US"/>
                        <a:t>Daniel</a:t>
                      </a:r>
                    </a:p>
                  </a:txBody>
                  <a:tcPr>
                    <a:noFill/>
                  </a:tcPr>
                </a:tc>
                <a:tc>
                  <a:txBody>
                    <a:bodyPr/>
                    <a:lstStyle/>
                    <a:p>
                      <a:pPr algn="r"/>
                      <a:r>
                        <a:rPr lang="en-US"/>
                        <a:t>230</a:t>
                      </a:r>
                    </a:p>
                  </a:txBody>
                  <a:tcPr>
                    <a:noFill/>
                  </a:tcPr>
                </a:tc>
                <a:extLst>
                  <a:ext uri="{0D108BD9-81ED-4DB2-BD59-A6C34878D82A}">
                    <a16:rowId xmlns:a16="http://schemas.microsoft.com/office/drawing/2014/main" val="100652373"/>
                  </a:ext>
                </a:extLst>
              </a:tr>
              <a:tr h="355474">
                <a:tc>
                  <a:txBody>
                    <a:bodyPr/>
                    <a:lstStyle/>
                    <a:p>
                      <a:r>
                        <a:rPr lang="en-US"/>
                        <a:t>Elisa</a:t>
                      </a:r>
                    </a:p>
                  </a:txBody>
                  <a:tcPr>
                    <a:noFill/>
                  </a:tcPr>
                </a:tc>
                <a:tc>
                  <a:txBody>
                    <a:bodyPr/>
                    <a:lstStyle/>
                    <a:p>
                      <a:pPr algn="r"/>
                      <a:r>
                        <a:rPr lang="en-US"/>
                        <a:t>300</a:t>
                      </a:r>
                    </a:p>
                  </a:txBody>
                  <a:tcPr>
                    <a:noFill/>
                  </a:tcPr>
                </a:tc>
                <a:extLst>
                  <a:ext uri="{0D108BD9-81ED-4DB2-BD59-A6C34878D82A}">
                    <a16:rowId xmlns:a16="http://schemas.microsoft.com/office/drawing/2014/main" val="3576141757"/>
                  </a:ext>
                </a:extLst>
              </a:tr>
              <a:tr h="355474">
                <a:tc>
                  <a:txBody>
                    <a:bodyPr/>
                    <a:lstStyle/>
                    <a:p>
                      <a:r>
                        <a:rPr lang="en-US"/>
                        <a:t>Pat</a:t>
                      </a:r>
                    </a:p>
                  </a:txBody>
                  <a:tcPr>
                    <a:noFill/>
                  </a:tcPr>
                </a:tc>
                <a:tc>
                  <a:txBody>
                    <a:bodyPr/>
                    <a:lstStyle/>
                    <a:p>
                      <a:pPr algn="r"/>
                      <a:r>
                        <a:rPr lang="en-US"/>
                        <a:t>270</a:t>
                      </a:r>
                    </a:p>
                  </a:txBody>
                  <a:tcPr>
                    <a:noFill/>
                  </a:tcPr>
                </a:tc>
                <a:extLst>
                  <a:ext uri="{0D108BD9-81ED-4DB2-BD59-A6C34878D82A}">
                    <a16:rowId xmlns:a16="http://schemas.microsoft.com/office/drawing/2014/main" val="437430004"/>
                  </a:ext>
                </a:extLst>
              </a:tr>
              <a:tr h="355474">
                <a:tc>
                  <a:txBody>
                    <a:bodyPr/>
                    <a:lstStyle/>
                    <a:p>
                      <a:r>
                        <a:rPr lang="en-US"/>
                        <a:t>Zach</a:t>
                      </a:r>
                    </a:p>
                  </a:txBody>
                  <a:tcPr>
                    <a:noFill/>
                  </a:tcPr>
                </a:tc>
                <a:tc>
                  <a:txBody>
                    <a:bodyPr/>
                    <a:lstStyle/>
                    <a:p>
                      <a:pPr algn="r"/>
                      <a:r>
                        <a:rPr lang="en-US"/>
                        <a:t>200</a:t>
                      </a:r>
                    </a:p>
                  </a:txBody>
                  <a:tcPr>
                    <a:noFill/>
                  </a:tcPr>
                </a:tc>
                <a:extLst>
                  <a:ext uri="{0D108BD9-81ED-4DB2-BD59-A6C34878D82A}">
                    <a16:rowId xmlns:a16="http://schemas.microsoft.com/office/drawing/2014/main" val="843789008"/>
                  </a:ext>
                </a:extLst>
              </a:tr>
            </a:tbl>
          </a:graphicData>
        </a:graphic>
      </p:graphicFrame>
      <p:graphicFrame>
        <p:nvGraphicFramePr>
          <p:cNvPr id="7" name="Table 3">
            <a:extLst>
              <a:ext uri="{FF2B5EF4-FFF2-40B4-BE49-F238E27FC236}">
                <a16:creationId xmlns:a16="http://schemas.microsoft.com/office/drawing/2014/main" id="{F583B0B5-E2E9-4369-93B4-F8ADAB2548FD}"/>
              </a:ext>
            </a:extLst>
          </p:cNvPr>
          <p:cNvGraphicFramePr>
            <a:graphicFrameLocks/>
          </p:cNvGraphicFramePr>
          <p:nvPr>
            <p:extLst>
              <p:ext uri="{D42A27DB-BD31-4B8C-83A1-F6EECF244321}">
                <p14:modId xmlns:p14="http://schemas.microsoft.com/office/powerpoint/2010/main" val="1813931857"/>
              </p:ext>
            </p:extLst>
          </p:nvPr>
        </p:nvGraphicFramePr>
        <p:xfrm>
          <a:off x="6908588" y="4301927"/>
          <a:ext cx="4382484" cy="2500986"/>
        </p:xfrm>
        <a:graphic>
          <a:graphicData uri="http://schemas.openxmlformats.org/drawingml/2006/table">
            <a:tbl>
              <a:tblPr firstRow="1" bandRow="1">
                <a:tableStyleId>{69CF1AB2-1976-4502-BF36-3FF5EA218861}</a:tableStyleId>
              </a:tblPr>
              <a:tblGrid>
                <a:gridCol w="2191242">
                  <a:extLst>
                    <a:ext uri="{9D8B030D-6E8A-4147-A177-3AD203B41FA5}">
                      <a16:colId xmlns:a16="http://schemas.microsoft.com/office/drawing/2014/main" val="2312185136"/>
                    </a:ext>
                  </a:extLst>
                </a:gridCol>
                <a:gridCol w="2191242">
                  <a:extLst>
                    <a:ext uri="{9D8B030D-6E8A-4147-A177-3AD203B41FA5}">
                      <a16:colId xmlns:a16="http://schemas.microsoft.com/office/drawing/2014/main" val="3594892867"/>
                    </a:ext>
                  </a:extLst>
                </a:gridCol>
              </a:tblGrid>
              <a:tr h="593211">
                <a:tc gridSpan="2">
                  <a:txBody>
                    <a:bodyPr/>
                    <a:lstStyle/>
                    <a:p>
                      <a:pPr algn="ctr"/>
                      <a:r>
                        <a:rPr lang="en-US"/>
                        <a:t>Ledger status after round 2 </a:t>
                      </a:r>
                    </a:p>
                    <a:p>
                      <a:pPr algn="ctr"/>
                      <a:r>
                        <a:rPr lang="en-US">
                          <a:solidFill>
                            <a:srgbClr val="FF0000"/>
                          </a:solidFill>
                        </a:rPr>
                        <a:t>10:30AM</a:t>
                      </a:r>
                      <a:r>
                        <a:rPr lang="en-US"/>
                        <a:t>                                  </a:t>
                      </a:r>
                    </a:p>
                  </a:txBody>
                  <a:tcPr>
                    <a:solidFill>
                      <a:schemeClr val="accent1"/>
                    </a:solidFill>
                  </a:tcPr>
                </a:tc>
                <a:tc hMerge="1">
                  <a:txBody>
                    <a:bodyPr/>
                    <a:lstStyle/>
                    <a:p>
                      <a:endParaRPr lang="en-US"/>
                    </a:p>
                  </a:txBody>
                  <a:tcPr/>
                </a:tc>
                <a:extLst>
                  <a:ext uri="{0D108BD9-81ED-4DB2-BD59-A6C34878D82A}">
                    <a16:rowId xmlns:a16="http://schemas.microsoft.com/office/drawing/2014/main" val="2397175858"/>
                  </a:ext>
                </a:extLst>
              </a:tr>
              <a:tr h="397866">
                <a:tc>
                  <a:txBody>
                    <a:bodyPr/>
                    <a:lstStyle/>
                    <a:p>
                      <a:r>
                        <a:rPr lang="en-US" b="1"/>
                        <a:t>Player name</a:t>
                      </a:r>
                    </a:p>
                  </a:txBody>
                  <a:tcPr>
                    <a:solidFill>
                      <a:schemeClr val="accent1"/>
                    </a:solidFill>
                  </a:tcPr>
                </a:tc>
                <a:tc>
                  <a:txBody>
                    <a:bodyPr/>
                    <a:lstStyle/>
                    <a:p>
                      <a:r>
                        <a:rPr lang="en-US" b="1"/>
                        <a:t>Number of chips</a:t>
                      </a:r>
                    </a:p>
                  </a:txBody>
                  <a:tcPr>
                    <a:solidFill>
                      <a:schemeClr val="accent1"/>
                    </a:solidFill>
                  </a:tcPr>
                </a:tc>
                <a:extLst>
                  <a:ext uri="{0D108BD9-81ED-4DB2-BD59-A6C34878D82A}">
                    <a16:rowId xmlns:a16="http://schemas.microsoft.com/office/drawing/2014/main" val="1714996356"/>
                  </a:ext>
                </a:extLst>
              </a:tr>
              <a:tr h="352728">
                <a:tc>
                  <a:txBody>
                    <a:bodyPr/>
                    <a:lstStyle/>
                    <a:p>
                      <a:r>
                        <a:rPr lang="en-US"/>
                        <a:t>Daniel</a:t>
                      </a:r>
                    </a:p>
                  </a:txBody>
                  <a:tcPr>
                    <a:noFill/>
                  </a:tcPr>
                </a:tc>
                <a:tc>
                  <a:txBody>
                    <a:bodyPr/>
                    <a:lstStyle/>
                    <a:p>
                      <a:pPr algn="r"/>
                      <a:r>
                        <a:rPr lang="en-US"/>
                        <a:t>200</a:t>
                      </a:r>
                    </a:p>
                  </a:txBody>
                  <a:tcPr>
                    <a:noFill/>
                  </a:tcPr>
                </a:tc>
                <a:extLst>
                  <a:ext uri="{0D108BD9-81ED-4DB2-BD59-A6C34878D82A}">
                    <a16:rowId xmlns:a16="http://schemas.microsoft.com/office/drawing/2014/main" val="100652373"/>
                  </a:ext>
                </a:extLst>
              </a:tr>
              <a:tr h="352728">
                <a:tc>
                  <a:txBody>
                    <a:bodyPr/>
                    <a:lstStyle/>
                    <a:p>
                      <a:r>
                        <a:rPr lang="en-US"/>
                        <a:t>Elisa</a:t>
                      </a:r>
                    </a:p>
                  </a:txBody>
                  <a:tcPr>
                    <a:noFill/>
                  </a:tcPr>
                </a:tc>
                <a:tc>
                  <a:txBody>
                    <a:bodyPr/>
                    <a:lstStyle/>
                    <a:p>
                      <a:pPr algn="r"/>
                      <a:r>
                        <a:rPr lang="en-US"/>
                        <a:t>350</a:t>
                      </a:r>
                    </a:p>
                  </a:txBody>
                  <a:tcPr>
                    <a:noFill/>
                  </a:tcPr>
                </a:tc>
                <a:extLst>
                  <a:ext uri="{0D108BD9-81ED-4DB2-BD59-A6C34878D82A}">
                    <a16:rowId xmlns:a16="http://schemas.microsoft.com/office/drawing/2014/main" val="3576141757"/>
                  </a:ext>
                </a:extLst>
              </a:tr>
              <a:tr h="352728">
                <a:tc>
                  <a:txBody>
                    <a:bodyPr/>
                    <a:lstStyle/>
                    <a:p>
                      <a:r>
                        <a:rPr lang="en-US"/>
                        <a:t>Pat</a:t>
                      </a:r>
                    </a:p>
                  </a:txBody>
                  <a:tcPr>
                    <a:noFill/>
                  </a:tcPr>
                </a:tc>
                <a:tc>
                  <a:txBody>
                    <a:bodyPr/>
                    <a:lstStyle/>
                    <a:p>
                      <a:pPr algn="r"/>
                      <a:r>
                        <a:rPr lang="en-US"/>
                        <a:t>280</a:t>
                      </a:r>
                    </a:p>
                  </a:txBody>
                  <a:tcPr>
                    <a:noFill/>
                  </a:tcPr>
                </a:tc>
                <a:extLst>
                  <a:ext uri="{0D108BD9-81ED-4DB2-BD59-A6C34878D82A}">
                    <a16:rowId xmlns:a16="http://schemas.microsoft.com/office/drawing/2014/main" val="437430004"/>
                  </a:ext>
                </a:extLst>
              </a:tr>
              <a:tr h="352728">
                <a:tc>
                  <a:txBody>
                    <a:bodyPr/>
                    <a:lstStyle/>
                    <a:p>
                      <a:r>
                        <a:rPr lang="en-US"/>
                        <a:t>Zach</a:t>
                      </a:r>
                    </a:p>
                  </a:txBody>
                  <a:tcPr>
                    <a:noFill/>
                  </a:tcPr>
                </a:tc>
                <a:tc>
                  <a:txBody>
                    <a:bodyPr/>
                    <a:lstStyle/>
                    <a:p>
                      <a:pPr algn="r"/>
                      <a:r>
                        <a:rPr lang="en-US"/>
                        <a:t>170</a:t>
                      </a:r>
                    </a:p>
                  </a:txBody>
                  <a:tcPr>
                    <a:noFill/>
                  </a:tcPr>
                </a:tc>
                <a:extLst>
                  <a:ext uri="{0D108BD9-81ED-4DB2-BD59-A6C34878D82A}">
                    <a16:rowId xmlns:a16="http://schemas.microsoft.com/office/drawing/2014/main" val="843789008"/>
                  </a:ext>
                </a:extLst>
              </a:tr>
            </a:tbl>
          </a:graphicData>
        </a:graphic>
      </p:graphicFrame>
      <p:cxnSp>
        <p:nvCxnSpPr>
          <p:cNvPr id="4" name="Straight Arrow Connector 3">
            <a:extLst>
              <a:ext uri="{FF2B5EF4-FFF2-40B4-BE49-F238E27FC236}">
                <a16:creationId xmlns:a16="http://schemas.microsoft.com/office/drawing/2014/main" id="{C654E953-5E24-4C90-887F-15B4FFA8D4C7}"/>
              </a:ext>
            </a:extLst>
          </p:cNvPr>
          <p:cNvCxnSpPr/>
          <p:nvPr/>
        </p:nvCxnSpPr>
        <p:spPr>
          <a:xfrm flipH="1">
            <a:off x="3261360" y="2185851"/>
            <a:ext cx="1019396" cy="2113345"/>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8FCB003-C1BA-4661-9172-F2A16F7BBC84}"/>
              </a:ext>
            </a:extLst>
          </p:cNvPr>
          <p:cNvCxnSpPr>
            <a:cxnSpLocks/>
          </p:cNvCxnSpPr>
          <p:nvPr/>
        </p:nvCxnSpPr>
        <p:spPr>
          <a:xfrm>
            <a:off x="6011801" y="4849062"/>
            <a:ext cx="896787"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9657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Linking transactions</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a:latin typeface="National semibold" panose="02000503000000020004"/>
              </a:rPr>
              <a:t>Transactions are recorded in blocks:</a:t>
            </a:r>
          </a:p>
          <a:p>
            <a:pPr lvl="1"/>
            <a:r>
              <a:rPr lang="en-US">
                <a:latin typeface="National semibold" panose="02000503000000020004"/>
              </a:rPr>
              <a:t>A set of new transactions are grouped together forming a “block”. </a:t>
            </a:r>
          </a:p>
          <a:p>
            <a:pPr lvl="1"/>
            <a:r>
              <a:rPr lang="en-US">
                <a:latin typeface="National semibold" panose="02000503000000020004"/>
              </a:rPr>
              <a:t>A block is like a book where transactions are recorded. However, the book is not physical but digital.</a:t>
            </a:r>
          </a:p>
          <a:p>
            <a:r>
              <a:rPr lang="en-US">
                <a:latin typeface="National semibold" panose="02000503000000020004"/>
              </a:rPr>
              <a:t>A block contains information that is mathematically encrypted through the process of hashing. It contains three pieces of information: </a:t>
            </a:r>
          </a:p>
          <a:p>
            <a:pPr marL="739775" lvl="1" indent="-457200">
              <a:buFont typeface="+mj-lt"/>
              <a:buAutoNum type="arabicPeriod"/>
            </a:pPr>
            <a:r>
              <a:rPr lang="en-US">
                <a:latin typeface="National semibold" panose="02000503000000020004"/>
              </a:rPr>
              <a:t>The hash (identification code) of the previous block</a:t>
            </a:r>
          </a:p>
          <a:p>
            <a:pPr marL="739775" lvl="1" indent="-457200">
              <a:buFont typeface="+mj-lt"/>
              <a:buAutoNum type="arabicPeriod"/>
            </a:pPr>
            <a:r>
              <a:rPr lang="en-US">
                <a:latin typeface="National semibold" panose="02000503000000020004"/>
              </a:rPr>
              <a:t>Data for the current block: the transactions to be recorded and included in the block</a:t>
            </a:r>
          </a:p>
          <a:p>
            <a:pPr marL="739775" lvl="1" indent="-457200">
              <a:buFont typeface="+mj-lt"/>
              <a:buAutoNum type="arabicPeriod"/>
            </a:pPr>
            <a:r>
              <a:rPr lang="en-US">
                <a:latin typeface="National semibold" panose="02000503000000020004"/>
              </a:rPr>
              <a:t>The hash (identification code) of the current block</a:t>
            </a:r>
          </a:p>
          <a:p>
            <a:r>
              <a:rPr lang="en-US">
                <a:latin typeface="National semibold" panose="02000503000000020004"/>
              </a:rPr>
              <a:t>By including the hash of the previous block, the newly formed block gets linked to previous blocks (previous transactions).</a:t>
            </a:r>
          </a:p>
        </p:txBody>
      </p:sp>
    </p:spTree>
    <p:extLst>
      <p:ext uri="{BB962C8B-B14F-4D97-AF65-F5344CB8AC3E}">
        <p14:creationId xmlns:p14="http://schemas.microsoft.com/office/powerpoint/2010/main" val="2022595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Linking blocks</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5560398"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085Y3</a:t>
            </a:r>
          </a:p>
        </p:txBody>
      </p:sp>
      <p:sp>
        <p:nvSpPr>
          <p:cNvPr id="8" name="TextBox 7">
            <a:extLst>
              <a:ext uri="{FF2B5EF4-FFF2-40B4-BE49-F238E27FC236}">
                <a16:creationId xmlns:a16="http://schemas.microsoft.com/office/drawing/2014/main" id="{A3BA41FB-3E6E-4FCD-8A54-1BC9AAF0BA36}"/>
              </a:ext>
            </a:extLst>
          </p:cNvPr>
          <p:cNvSpPr txBox="1"/>
          <p:nvPr/>
        </p:nvSpPr>
        <p:spPr>
          <a:xfrm>
            <a:off x="9396499"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6EP9W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5938610"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9774710" y="2080472"/>
            <a:ext cx="1056701" cy="400110"/>
          </a:xfrm>
          <a:prstGeom prst="rect">
            <a:avLst/>
          </a:prstGeom>
          <a:noFill/>
        </p:spPr>
        <p:txBody>
          <a:bodyPr wrap="none" rtlCol="0">
            <a:spAutoFit/>
          </a:bodyPr>
          <a:lstStyle/>
          <a:p>
            <a:pPr algn="ctr"/>
            <a:r>
              <a:rPr lang="en-US" sz="2000" b="1"/>
              <a:t>Block 3</a:t>
            </a:r>
            <a:endParaRPr lang="en-US" b="1"/>
          </a:p>
        </p:txBody>
      </p:sp>
      <p:cxnSp>
        <p:nvCxnSpPr>
          <p:cNvPr id="12" name="Straight Arrow Connector 11">
            <a:extLst>
              <a:ext uri="{FF2B5EF4-FFF2-40B4-BE49-F238E27FC236}">
                <a16:creationId xmlns:a16="http://schemas.microsoft.com/office/drawing/2014/main" id="{20090ADA-F3A1-4B3D-AC64-7E5BE4D0740B}"/>
              </a:ext>
            </a:extLst>
          </p:cNvPr>
          <p:cNvCxnSpPr>
            <a:cxnSpLocks/>
          </p:cNvCxnSpPr>
          <p:nvPr/>
        </p:nvCxnSpPr>
        <p:spPr>
          <a:xfrm flipV="1">
            <a:off x="3521747" y="3344091"/>
            <a:ext cx="2205008"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7274245" y="3344091"/>
            <a:ext cx="2287766" cy="24357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6180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75955" y="346168"/>
            <a:ext cx="10402389" cy="1219200"/>
          </a:xfrm>
        </p:spPr>
        <p:txBody>
          <a:bodyPr anchor="ctr">
            <a:normAutofit/>
          </a:bodyPr>
          <a:lstStyle/>
          <a:p>
            <a:r>
              <a:rPr lang="en-US" sz="4000" b="1" dirty="0">
                <a:latin typeface="National semibold" panose="02000503000000020004"/>
              </a:rPr>
              <a:t>Example of block created at 10:15 on 8/28/2025</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pPr marL="282575" lvl="1" indent="0">
              <a:buNone/>
            </a:pPr>
            <a:r>
              <a:rPr lang="en-US">
                <a:latin typeface="National semibold" panose="02000503000000020004"/>
              </a:rPr>
              <a:t>		</a:t>
            </a: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lgn="ctr">
              <a:buNone/>
            </a:pPr>
            <a:endParaRPr lang="en-US">
              <a:latin typeface="National semibold" panose="02000503000000020004"/>
              <a:hlinkClick r:id="rId2"/>
            </a:endParaRPr>
          </a:p>
          <a:p>
            <a:pPr marL="282575" lvl="1" indent="0" algn="ctr">
              <a:buNone/>
            </a:pPr>
            <a:endParaRPr lang="en-US" sz="2400">
              <a:latin typeface="National semibold" panose="02000503000000020004"/>
              <a:hlinkClick r:id="rId2"/>
            </a:endParaRPr>
          </a:p>
          <a:p>
            <a:pPr marL="282575" lvl="1" indent="0" algn="ctr">
              <a:buNone/>
            </a:pPr>
            <a:r>
              <a:rPr lang="en-US" sz="2400">
                <a:latin typeface="National semibold" panose="02000503000000020004"/>
                <a:hlinkClick r:id="rId2"/>
              </a:rPr>
              <a:t>https://emn178.github.io/online-tools/sha256.html</a:t>
            </a:r>
            <a:endParaRPr lang="en-US" sz="2400">
              <a:latin typeface="National semibold" panose="02000503000000020004"/>
            </a:endParaRPr>
          </a:p>
        </p:txBody>
      </p:sp>
      <p:graphicFrame>
        <p:nvGraphicFramePr>
          <p:cNvPr id="2" name="Table 3">
            <a:extLst>
              <a:ext uri="{FF2B5EF4-FFF2-40B4-BE49-F238E27FC236}">
                <a16:creationId xmlns:a16="http://schemas.microsoft.com/office/drawing/2014/main" id="{0DEECAB7-E15E-4868-9E7D-DE198FEF4975}"/>
              </a:ext>
            </a:extLst>
          </p:cNvPr>
          <p:cNvGraphicFramePr>
            <a:graphicFrameLocks noGrp="1"/>
          </p:cNvGraphicFramePr>
          <p:nvPr>
            <p:extLst>
              <p:ext uri="{D42A27DB-BD31-4B8C-83A1-F6EECF244321}">
                <p14:modId xmlns:p14="http://schemas.microsoft.com/office/powerpoint/2010/main" val="1989493142"/>
              </p:ext>
            </p:extLst>
          </p:nvPr>
        </p:nvGraphicFramePr>
        <p:xfrm>
          <a:off x="1473491" y="2302843"/>
          <a:ext cx="10303982" cy="2560320"/>
        </p:xfrm>
        <a:graphic>
          <a:graphicData uri="http://schemas.openxmlformats.org/drawingml/2006/table">
            <a:tbl>
              <a:tblPr firstRow="1" bandRow="1">
                <a:tableStyleId>{69CF1AB2-1976-4502-BF36-3FF5EA218861}</a:tableStyleId>
              </a:tblPr>
              <a:tblGrid>
                <a:gridCol w="2186222">
                  <a:extLst>
                    <a:ext uri="{9D8B030D-6E8A-4147-A177-3AD203B41FA5}">
                      <a16:colId xmlns:a16="http://schemas.microsoft.com/office/drawing/2014/main" val="1500785347"/>
                    </a:ext>
                  </a:extLst>
                </a:gridCol>
                <a:gridCol w="8117760">
                  <a:extLst>
                    <a:ext uri="{9D8B030D-6E8A-4147-A177-3AD203B41FA5}">
                      <a16:colId xmlns:a16="http://schemas.microsoft.com/office/drawing/2014/main" val="3972090018"/>
                    </a:ext>
                  </a:extLst>
                </a:gridCol>
              </a:tblGrid>
              <a:tr h="370840">
                <a:tc>
                  <a:txBody>
                    <a:bodyPr/>
                    <a:lstStyle/>
                    <a:p>
                      <a:r>
                        <a:rPr lang="en-US"/>
                        <a:t>Hash number of previous block</a:t>
                      </a:r>
                    </a:p>
                    <a:p>
                      <a:endParaRPr lang="en-US"/>
                    </a:p>
                    <a:p>
                      <a:r>
                        <a:rPr lang="en-US"/>
                        <a:t>Transactions included in this block</a:t>
                      </a:r>
                    </a:p>
                    <a:p>
                      <a:endParaRPr lang="en-US"/>
                    </a:p>
                    <a:p>
                      <a:r>
                        <a:rPr lang="en-US"/>
                        <a:t>Hash number of this block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625da44e4eaf58d61cf048d168aa6f5e492dea166d8bb54ec06c30de07db57e1</a:t>
                      </a:r>
                    </a:p>
                    <a:p>
                      <a:endParaRPr lang="en-US" b="0" dirty="0"/>
                    </a:p>
                    <a:p>
                      <a:endParaRPr lang="en-US" b="0" dirty="0"/>
                    </a:p>
                    <a:p>
                      <a:r>
                        <a:rPr lang="en-US" b="0" dirty="0"/>
                        <a:t>Daniel transferred 20 chips to Elisa at 10:04 on 8/28/2025</a:t>
                      </a:r>
                    </a:p>
                    <a:p>
                      <a:r>
                        <a:rPr lang="en-US" b="0" dirty="0"/>
                        <a:t>Zach transferred 30 chips to Elisa at 10:08 on 8/28/2025</a:t>
                      </a:r>
                    </a:p>
                    <a:p>
                      <a:r>
                        <a:rPr lang="en-US" b="0" dirty="0"/>
                        <a:t>Zach transferred 20 chips to Pat at 10:12 on 8/28/2025</a:t>
                      </a:r>
                    </a:p>
                    <a:p>
                      <a:endParaRPr lang="en-US" b="0" dirty="0"/>
                    </a:p>
                    <a:p>
                      <a:endParaRPr lang="en-US" b="0" dirty="0"/>
                    </a:p>
                    <a:p>
                      <a:pPr lvl="0">
                        <a:buNone/>
                      </a:pPr>
                      <a:r>
                        <a:rPr lang="en-US" sz="1800" b="0" i="0" u="none" strike="noStrike" noProof="0" dirty="0">
                          <a:latin typeface="+mn-lt"/>
                        </a:rPr>
                        <a:t>7b23127f31637fe47acb149497f378c0973132958d9880ecf85519f234760055</a:t>
                      </a:r>
                      <a:endParaRPr lang="en-US" dirty="0"/>
                    </a:p>
                  </a:txBody>
                  <a:tcPr/>
                </a:tc>
                <a:extLst>
                  <a:ext uri="{0D108BD9-81ED-4DB2-BD59-A6C34878D82A}">
                    <a16:rowId xmlns:a16="http://schemas.microsoft.com/office/drawing/2014/main" val="2859604172"/>
                  </a:ext>
                </a:extLst>
              </a:tr>
            </a:tbl>
          </a:graphicData>
        </a:graphic>
      </p:graphicFrame>
    </p:spTree>
    <p:extLst>
      <p:ext uri="{BB962C8B-B14F-4D97-AF65-F5344CB8AC3E}">
        <p14:creationId xmlns:p14="http://schemas.microsoft.com/office/powerpoint/2010/main" val="491173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75955" y="346168"/>
            <a:ext cx="10402389" cy="1219200"/>
          </a:xfrm>
        </p:spPr>
        <p:txBody>
          <a:bodyPr anchor="ctr">
            <a:normAutofit/>
          </a:bodyPr>
          <a:lstStyle/>
          <a:p>
            <a:r>
              <a:rPr lang="en-US" sz="4000" b="1" dirty="0">
                <a:latin typeface="National semibold" panose="02000503000000020004"/>
              </a:rPr>
              <a:t>Next block created at 10:30 on 8/28/2025</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pPr marL="282575" lvl="1" indent="0">
              <a:buNone/>
            </a:pPr>
            <a:r>
              <a:rPr lang="en-US">
                <a:latin typeface="National semibold" panose="02000503000000020004"/>
              </a:rPr>
              <a:t>		</a:t>
            </a: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lgn="ctr">
              <a:buNone/>
            </a:pPr>
            <a:endParaRPr lang="en-US">
              <a:latin typeface="National semibold" panose="02000503000000020004"/>
              <a:hlinkClick r:id="rId2"/>
            </a:endParaRPr>
          </a:p>
          <a:p>
            <a:pPr marL="282575" lvl="1" indent="0" algn="ctr">
              <a:buNone/>
            </a:pPr>
            <a:endParaRPr lang="en-US" sz="2400">
              <a:latin typeface="National semibold" panose="02000503000000020004"/>
              <a:hlinkClick r:id="rId2"/>
            </a:endParaRPr>
          </a:p>
        </p:txBody>
      </p:sp>
      <p:graphicFrame>
        <p:nvGraphicFramePr>
          <p:cNvPr id="2" name="Table 3">
            <a:extLst>
              <a:ext uri="{FF2B5EF4-FFF2-40B4-BE49-F238E27FC236}">
                <a16:creationId xmlns:a16="http://schemas.microsoft.com/office/drawing/2014/main" id="{0DEECAB7-E15E-4868-9E7D-DE198FEF4975}"/>
              </a:ext>
            </a:extLst>
          </p:cNvPr>
          <p:cNvGraphicFramePr>
            <a:graphicFrameLocks noGrp="1"/>
          </p:cNvGraphicFramePr>
          <p:nvPr>
            <p:extLst>
              <p:ext uri="{D42A27DB-BD31-4B8C-83A1-F6EECF244321}">
                <p14:modId xmlns:p14="http://schemas.microsoft.com/office/powerpoint/2010/main" val="841123755"/>
              </p:ext>
            </p:extLst>
          </p:nvPr>
        </p:nvGraphicFramePr>
        <p:xfrm>
          <a:off x="1473491" y="2302843"/>
          <a:ext cx="10303982" cy="2560320"/>
        </p:xfrm>
        <a:graphic>
          <a:graphicData uri="http://schemas.openxmlformats.org/drawingml/2006/table">
            <a:tbl>
              <a:tblPr firstRow="1" bandRow="1">
                <a:tableStyleId>{69CF1AB2-1976-4502-BF36-3FF5EA218861}</a:tableStyleId>
              </a:tblPr>
              <a:tblGrid>
                <a:gridCol w="2186222">
                  <a:extLst>
                    <a:ext uri="{9D8B030D-6E8A-4147-A177-3AD203B41FA5}">
                      <a16:colId xmlns:a16="http://schemas.microsoft.com/office/drawing/2014/main" val="1500785347"/>
                    </a:ext>
                  </a:extLst>
                </a:gridCol>
                <a:gridCol w="8117760">
                  <a:extLst>
                    <a:ext uri="{9D8B030D-6E8A-4147-A177-3AD203B41FA5}">
                      <a16:colId xmlns:a16="http://schemas.microsoft.com/office/drawing/2014/main" val="3972090018"/>
                    </a:ext>
                  </a:extLst>
                </a:gridCol>
              </a:tblGrid>
              <a:tr h="370840">
                <a:tc>
                  <a:txBody>
                    <a:bodyPr/>
                    <a:lstStyle/>
                    <a:p>
                      <a:r>
                        <a:rPr lang="en-US"/>
                        <a:t>Hash number of previous block</a:t>
                      </a:r>
                    </a:p>
                    <a:p>
                      <a:endParaRPr lang="en-US"/>
                    </a:p>
                    <a:p>
                      <a:r>
                        <a:rPr lang="en-US"/>
                        <a:t>Transactions included in this block</a:t>
                      </a:r>
                    </a:p>
                    <a:p>
                      <a:endParaRPr lang="en-US"/>
                    </a:p>
                    <a:p>
                      <a:r>
                        <a:rPr lang="en-US"/>
                        <a:t>Hash number of this block</a:t>
                      </a:r>
                    </a:p>
                  </a:txBody>
                  <a:tcPr/>
                </a:tc>
                <a:tc>
                  <a:txBody>
                    <a:bodyPr/>
                    <a:lstStyle/>
                    <a:p>
                      <a:pPr lvl="0">
                        <a:buNone/>
                      </a:pPr>
                      <a:r>
                        <a:rPr lang="en-US" sz="1800" b="0" i="0" u="none" strike="noStrike" noProof="0" dirty="0">
                          <a:latin typeface="+mn-lt"/>
                        </a:rPr>
                        <a:t>7b23127f31637fe47acb149497f378c0973132958d9880ecf85519f234760055</a:t>
                      </a:r>
                      <a:endParaRPr lang="en-US" dirty="0"/>
                    </a:p>
                    <a:p>
                      <a:endParaRPr lang="en-US" b="0" dirty="0"/>
                    </a:p>
                    <a:p>
                      <a:endParaRPr lang="en-US" b="0" dirty="0"/>
                    </a:p>
                    <a:p>
                      <a:r>
                        <a:rPr lang="en-US" b="0" dirty="0"/>
                        <a:t>Daniel transferred 30 chips to Elisa at 10:19 on 8/28/2025</a:t>
                      </a:r>
                    </a:p>
                    <a:p>
                      <a:r>
                        <a:rPr lang="en-US" b="0" dirty="0"/>
                        <a:t>Zach transferred 20 chips to Elisa at 10:23 on 8/28/2025</a:t>
                      </a:r>
                    </a:p>
                    <a:p>
                      <a:r>
                        <a:rPr lang="en-US" b="0" dirty="0"/>
                        <a:t>Zach transferred 10 chips to Pat at 10:27 on 8/28/2025</a:t>
                      </a:r>
                    </a:p>
                    <a:p>
                      <a:endParaRPr lang="en-US" b="0" dirty="0"/>
                    </a:p>
                    <a:p>
                      <a:endParaRPr lang="en-US" b="0" dirty="0"/>
                    </a:p>
                  </a:txBody>
                  <a:tcPr/>
                </a:tc>
                <a:extLst>
                  <a:ext uri="{0D108BD9-81ED-4DB2-BD59-A6C34878D82A}">
                    <a16:rowId xmlns:a16="http://schemas.microsoft.com/office/drawing/2014/main" val="2859604172"/>
                  </a:ext>
                </a:extLst>
              </a:tr>
            </a:tbl>
          </a:graphicData>
        </a:graphic>
      </p:graphicFrame>
    </p:spTree>
    <p:extLst>
      <p:ext uri="{BB962C8B-B14F-4D97-AF65-F5344CB8AC3E}">
        <p14:creationId xmlns:p14="http://schemas.microsoft.com/office/powerpoint/2010/main" val="4288918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Creating a blockchain transaction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lnSpcReduction="10000"/>
          </a:bodyPr>
          <a:lstStyle/>
          <a:p>
            <a:pPr marL="457200" indent="-457200">
              <a:buFont typeface="+mj-lt"/>
              <a:buAutoNum type="arabicPeriod"/>
            </a:pPr>
            <a:r>
              <a:rPr lang="en-US" dirty="0">
                <a:latin typeface="National semibold" panose="02000503000000020004"/>
              </a:rPr>
              <a:t>A transaction begins when one party decides to send units of value to another. </a:t>
            </a:r>
          </a:p>
          <a:p>
            <a:pPr marL="457200" indent="-457200">
              <a:buFont typeface="+mj-lt"/>
              <a:buAutoNum type="arabicPeriod"/>
            </a:pPr>
            <a:r>
              <a:rPr lang="en-US" dirty="0">
                <a:latin typeface="National semibold" panose="02000503000000020004"/>
              </a:rPr>
              <a:t>Suppose that Daniel sends 50 chips (tokens) to Elisa. To do that, Daniel needs to access his digital wallet where the chips are digitally stored and make a request to transfer the 50 chips to Elisa’s wallet, by indicating the address of Elisa’s wallet (public key). Daniel also needs to provide credentials (private key of his wallet) to verify that the request really comes from him. </a:t>
            </a:r>
          </a:p>
          <a:p>
            <a:pPr marL="457200" indent="-457200">
              <a:buFont typeface="+mj-lt"/>
              <a:buAutoNum type="arabicPeriod"/>
            </a:pPr>
            <a:r>
              <a:rPr lang="en-US" dirty="0">
                <a:latin typeface="National semibold" panose="02000503000000020004"/>
              </a:rPr>
              <a:t>At this point, the system creates an encrypted digital signature for Daniel. With encryption, the signature cannot be forged, and it proves that the transaction is ordered by Daniel. This is because the digital signature requires the use of the private key that only Daniel knows (unless it was stolen).   </a:t>
            </a:r>
          </a:p>
          <a:p>
            <a:pPr marL="457200" indent="-457200">
              <a:buFont typeface="+mj-lt"/>
              <a:buAutoNum type="arabicPeriod"/>
            </a:pPr>
            <a:r>
              <a:rPr lang="en-US" dirty="0">
                <a:latin typeface="National semibold" panose="02000503000000020004"/>
              </a:rPr>
              <a:t>The transaction ordered by Daniel, in encrypted format, is then included in a new block. </a:t>
            </a:r>
          </a:p>
        </p:txBody>
      </p:sp>
    </p:spTree>
    <p:extLst>
      <p:ext uri="{BB962C8B-B14F-4D97-AF65-F5344CB8AC3E}">
        <p14:creationId xmlns:p14="http://schemas.microsoft.com/office/powerpoint/2010/main" val="3818908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Creating a blockchain transaction (continue)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pPr marL="457200" indent="-457200">
              <a:buFont typeface="+mj-lt"/>
              <a:buAutoNum type="arabicPeriod" startAt="4"/>
            </a:pPr>
            <a:r>
              <a:rPr lang="en-US">
                <a:latin typeface="National semibold" panose="02000503000000020004"/>
              </a:rPr>
              <a:t>The new block containing Daniel’s transaction is now transmitted to all participants on the blockchain. Each participant checks the validity of all transactions included in the block. If everything checks out satisfactorily, each participant should approve the block. </a:t>
            </a:r>
          </a:p>
          <a:p>
            <a:pPr marL="457200" indent="-457200">
              <a:buFont typeface="+mj-lt"/>
              <a:buAutoNum type="arabicPeriod" startAt="4"/>
            </a:pPr>
            <a:r>
              <a:rPr lang="en-US">
                <a:latin typeface="National semibold" panose="02000503000000020004"/>
              </a:rPr>
              <a:t>The blockchain system looks at all participants and determines whether consensus has been reached (that is, participants agree that all transactions included in the block are valid). If the answer is positive the new block is approved and ready to be linked to previous approved blocks.</a:t>
            </a:r>
          </a:p>
          <a:p>
            <a:pPr marL="457200" indent="-457200">
              <a:buFont typeface="+mj-lt"/>
              <a:buAutoNum type="arabicPeriod" startAt="4"/>
            </a:pPr>
            <a:r>
              <a:rPr lang="en-US">
                <a:latin typeface="National semibold" panose="02000503000000020004"/>
              </a:rPr>
              <a:t>Once the block is added to the blockchain, all transactions become definitive.   </a:t>
            </a:r>
          </a:p>
          <a:p>
            <a:pPr marL="457200" indent="-457200">
              <a:buFont typeface="+mj-lt"/>
              <a:buAutoNum type="arabicPeriod" startAt="4"/>
            </a:pPr>
            <a:r>
              <a:rPr lang="en-US">
                <a:latin typeface="National semibold" panose="02000503000000020004"/>
              </a:rPr>
              <a:t>The update of the blockchain is now complete and everybody gets a copy of the latest version of the blockchain.   </a:t>
            </a:r>
          </a:p>
        </p:txBody>
      </p:sp>
    </p:spTree>
    <p:extLst>
      <p:ext uri="{BB962C8B-B14F-4D97-AF65-F5344CB8AC3E}">
        <p14:creationId xmlns:p14="http://schemas.microsoft.com/office/powerpoint/2010/main" val="205488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5C263E-F5FD-4943-A610-C655AE00E0D1}"/>
              </a:ext>
            </a:extLst>
          </p:cNvPr>
          <p:cNvPicPr>
            <a:picLocks noChangeAspect="1"/>
          </p:cNvPicPr>
          <p:nvPr/>
        </p:nvPicPr>
        <p:blipFill>
          <a:blip r:embed="rId2"/>
          <a:stretch>
            <a:fillRect/>
          </a:stretch>
        </p:blipFill>
        <p:spPr>
          <a:xfrm>
            <a:off x="608012" y="0"/>
            <a:ext cx="10972800" cy="6858000"/>
          </a:xfrm>
          <a:prstGeom prst="rect">
            <a:avLst/>
          </a:prstGeom>
        </p:spPr>
      </p:pic>
      <p:sp>
        <p:nvSpPr>
          <p:cNvPr id="2" name="Oval 1">
            <a:extLst>
              <a:ext uri="{FF2B5EF4-FFF2-40B4-BE49-F238E27FC236}">
                <a16:creationId xmlns:a16="http://schemas.microsoft.com/office/drawing/2014/main" id="{2FF78F6D-46AC-4C16-A0C3-BE38426E87A2}"/>
              </a:ext>
            </a:extLst>
          </p:cNvPr>
          <p:cNvSpPr/>
          <p:nvPr/>
        </p:nvSpPr>
        <p:spPr>
          <a:xfrm>
            <a:off x="1348085" y="1348619"/>
            <a:ext cx="2350910"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01D1BC3-6746-4C66-8C6F-239813543560}"/>
              </a:ext>
            </a:extLst>
          </p:cNvPr>
          <p:cNvSpPr/>
          <p:nvPr/>
        </p:nvSpPr>
        <p:spPr>
          <a:xfrm>
            <a:off x="3553951" y="1365169"/>
            <a:ext cx="2350910"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98E817C-A94C-4937-B516-0E8C04B17C4D}"/>
              </a:ext>
            </a:extLst>
          </p:cNvPr>
          <p:cNvSpPr/>
          <p:nvPr/>
        </p:nvSpPr>
        <p:spPr>
          <a:xfrm>
            <a:off x="5931375" y="1328590"/>
            <a:ext cx="2350910"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6FFBACE-834D-44CC-ACA3-03F1424544D7}"/>
              </a:ext>
            </a:extLst>
          </p:cNvPr>
          <p:cNvSpPr/>
          <p:nvPr/>
        </p:nvSpPr>
        <p:spPr>
          <a:xfrm>
            <a:off x="8648424" y="1255439"/>
            <a:ext cx="2350910"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D0D01E4-ABF3-40C5-ACA1-7D5DA32A14FB}"/>
              </a:ext>
            </a:extLst>
          </p:cNvPr>
          <p:cNvSpPr/>
          <p:nvPr/>
        </p:nvSpPr>
        <p:spPr>
          <a:xfrm>
            <a:off x="8586591" y="4025619"/>
            <a:ext cx="2527287"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95E2047-760E-459C-BC96-3F63E70E907D}"/>
              </a:ext>
            </a:extLst>
          </p:cNvPr>
          <p:cNvSpPr/>
          <p:nvPr/>
        </p:nvSpPr>
        <p:spPr>
          <a:xfrm>
            <a:off x="6173462" y="4068294"/>
            <a:ext cx="2527287"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BBF1019-6071-4AF0-A45A-68222BCCA509}"/>
              </a:ext>
            </a:extLst>
          </p:cNvPr>
          <p:cNvSpPr/>
          <p:nvPr/>
        </p:nvSpPr>
        <p:spPr>
          <a:xfrm>
            <a:off x="3587038" y="4094419"/>
            <a:ext cx="2527287"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6CF7C19-08DF-435E-89A1-7E75470EFF8D}"/>
              </a:ext>
            </a:extLst>
          </p:cNvPr>
          <p:cNvSpPr/>
          <p:nvPr/>
        </p:nvSpPr>
        <p:spPr>
          <a:xfrm>
            <a:off x="1183492" y="4094419"/>
            <a:ext cx="2527287"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4908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Preventing double-spending</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829799" cy="4648200"/>
          </a:xfrm>
        </p:spPr>
        <p:txBody>
          <a:bodyPr>
            <a:normAutofit lnSpcReduction="10000"/>
          </a:bodyPr>
          <a:lstStyle/>
          <a:p>
            <a:pPr>
              <a:lnSpc>
                <a:spcPct val="110000"/>
              </a:lnSpc>
            </a:pPr>
            <a:r>
              <a:rPr lang="en-US" dirty="0">
                <a:latin typeface="National semibold" panose="02000503000000020004"/>
              </a:rPr>
              <a:t>A digital coin or token can be easily replicated with a copy.</a:t>
            </a:r>
          </a:p>
          <a:p>
            <a:pPr>
              <a:lnSpc>
                <a:spcPct val="110000"/>
              </a:lnSpc>
            </a:pPr>
            <a:r>
              <a:rPr lang="en-US" dirty="0">
                <a:latin typeface="National semibold" panose="02000503000000020004"/>
              </a:rPr>
              <a:t>How can we be sure that the owner of the coin does not spend it multiple times?</a:t>
            </a:r>
          </a:p>
          <a:p>
            <a:pPr>
              <a:lnSpc>
                <a:spcPct val="110000"/>
              </a:lnSpc>
            </a:pPr>
            <a:r>
              <a:rPr lang="en-US" dirty="0">
                <a:latin typeface="National semibold" panose="02000503000000020004"/>
              </a:rPr>
              <a:t>The idea is to record the history of every digital coin and place the history in a ledger that is accessible to everybody. By checking the history every participant will be able to verify that a coin has not been spent twice. </a:t>
            </a:r>
          </a:p>
          <a:p>
            <a:pPr>
              <a:lnSpc>
                <a:spcPct val="110000"/>
              </a:lnSpc>
            </a:pPr>
            <a:r>
              <a:rPr lang="en-US" dirty="0">
                <a:latin typeface="National semibold" panose="02000503000000020004"/>
              </a:rPr>
              <a:t>To discourage tampering the ledger, block of transactions are timestamped and linked to one another using mathematical tools. Anyone attempting to modify the data of any block will be forced to rebuilt all blocks added since then. This become increasingly difficult as more blocks are added.  </a:t>
            </a:r>
          </a:p>
        </p:txBody>
      </p:sp>
    </p:spTree>
    <p:extLst>
      <p:ext uri="{BB962C8B-B14F-4D97-AF65-F5344CB8AC3E}">
        <p14:creationId xmlns:p14="http://schemas.microsoft.com/office/powerpoint/2010/main" val="3660136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Tampering a transaction in block 2</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5560398"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085Y3</a:t>
            </a:r>
          </a:p>
        </p:txBody>
      </p:sp>
      <p:sp>
        <p:nvSpPr>
          <p:cNvPr id="8" name="TextBox 7">
            <a:extLst>
              <a:ext uri="{FF2B5EF4-FFF2-40B4-BE49-F238E27FC236}">
                <a16:creationId xmlns:a16="http://schemas.microsoft.com/office/drawing/2014/main" id="{A3BA41FB-3E6E-4FCD-8A54-1BC9AAF0BA36}"/>
              </a:ext>
            </a:extLst>
          </p:cNvPr>
          <p:cNvSpPr txBox="1"/>
          <p:nvPr/>
        </p:nvSpPr>
        <p:spPr>
          <a:xfrm>
            <a:off x="9396499"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6EP9W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5938610"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9774710" y="2080472"/>
            <a:ext cx="1056701" cy="400110"/>
          </a:xfrm>
          <a:prstGeom prst="rect">
            <a:avLst/>
          </a:prstGeom>
          <a:noFill/>
        </p:spPr>
        <p:txBody>
          <a:bodyPr wrap="none" rtlCol="0">
            <a:spAutoFit/>
          </a:bodyPr>
          <a:lstStyle/>
          <a:p>
            <a:pPr algn="ctr"/>
            <a:r>
              <a:rPr lang="en-US" sz="2000" b="1"/>
              <a:t>Block 3</a:t>
            </a:r>
            <a:endParaRPr lang="en-US" b="1"/>
          </a:p>
        </p:txBody>
      </p: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7274245" y="3344091"/>
            <a:ext cx="2287766" cy="24357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722E060E-2413-4194-9C7D-0E04107F48BB}"/>
              </a:ext>
            </a:extLst>
          </p:cNvPr>
          <p:cNvSpPr/>
          <p:nvPr/>
        </p:nvSpPr>
        <p:spPr>
          <a:xfrm>
            <a:off x="5563101" y="3750507"/>
            <a:ext cx="1795752" cy="1701664"/>
          </a:xfrm>
          <a:prstGeom prst="ellipse">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BF0132FF-B282-425A-9171-EE1DB3E55775}"/>
              </a:ext>
            </a:extLst>
          </p:cNvPr>
          <p:cNvCxnSpPr>
            <a:cxnSpLocks/>
          </p:cNvCxnSpPr>
          <p:nvPr/>
        </p:nvCxnSpPr>
        <p:spPr>
          <a:xfrm flipV="1">
            <a:off x="3521747" y="3344091"/>
            <a:ext cx="2205008"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7381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Tampering a transaction in block 2</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5560398"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032K9</a:t>
            </a:r>
          </a:p>
        </p:txBody>
      </p:sp>
      <p:sp>
        <p:nvSpPr>
          <p:cNvPr id="8" name="TextBox 7">
            <a:extLst>
              <a:ext uri="{FF2B5EF4-FFF2-40B4-BE49-F238E27FC236}">
                <a16:creationId xmlns:a16="http://schemas.microsoft.com/office/drawing/2014/main" id="{A3BA41FB-3E6E-4FCD-8A54-1BC9AAF0BA36}"/>
              </a:ext>
            </a:extLst>
          </p:cNvPr>
          <p:cNvSpPr txBox="1"/>
          <p:nvPr/>
        </p:nvSpPr>
        <p:spPr>
          <a:xfrm>
            <a:off x="9396499"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6EP9W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5938610"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9774710" y="2080472"/>
            <a:ext cx="1056701" cy="400110"/>
          </a:xfrm>
          <a:prstGeom prst="rect">
            <a:avLst/>
          </a:prstGeom>
          <a:noFill/>
        </p:spPr>
        <p:txBody>
          <a:bodyPr wrap="none" rtlCol="0">
            <a:spAutoFit/>
          </a:bodyPr>
          <a:lstStyle/>
          <a:p>
            <a:pPr algn="ctr"/>
            <a:r>
              <a:rPr lang="en-US" sz="2000" b="1"/>
              <a:t>Block 3</a:t>
            </a:r>
            <a:endParaRPr lang="en-US" b="1"/>
          </a:p>
        </p:txBody>
      </p: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7274245" y="3344091"/>
            <a:ext cx="2287766" cy="24357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722E060E-2413-4194-9C7D-0E04107F48BB}"/>
              </a:ext>
            </a:extLst>
          </p:cNvPr>
          <p:cNvSpPr/>
          <p:nvPr/>
        </p:nvSpPr>
        <p:spPr>
          <a:xfrm>
            <a:off x="5563101" y="3750507"/>
            <a:ext cx="1795752" cy="1701664"/>
          </a:xfrm>
          <a:prstGeom prst="ellipse">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AA22F29-003F-4D6D-8CC6-C470EF9B070B}"/>
              </a:ext>
            </a:extLst>
          </p:cNvPr>
          <p:cNvSpPr/>
          <p:nvPr/>
        </p:nvSpPr>
        <p:spPr>
          <a:xfrm>
            <a:off x="5598147" y="5212569"/>
            <a:ext cx="1795752" cy="1109994"/>
          </a:xfrm>
          <a:prstGeom prst="ellipse">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BF0132FF-B282-425A-9171-EE1DB3E55775}"/>
              </a:ext>
            </a:extLst>
          </p:cNvPr>
          <p:cNvCxnSpPr>
            <a:cxnSpLocks/>
          </p:cNvCxnSpPr>
          <p:nvPr/>
        </p:nvCxnSpPr>
        <p:spPr>
          <a:xfrm flipV="1">
            <a:off x="3521747" y="3344091"/>
            <a:ext cx="2205008"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70C33E9E-966B-4161-9305-C9D39B3002A9}"/>
              </a:ext>
            </a:extLst>
          </p:cNvPr>
          <p:cNvSpPr/>
          <p:nvPr/>
        </p:nvSpPr>
        <p:spPr>
          <a:xfrm>
            <a:off x="7857972" y="4185702"/>
            <a:ext cx="914400" cy="914400"/>
          </a:xfrm>
          <a:prstGeom prst="mathMultiply">
            <a:avLst/>
          </a:prstGeom>
          <a:solidFill>
            <a:srgbClr val="0070C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3346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8B944-A6C2-473D-B4C6-B7AB986CD4EF}"/>
              </a:ext>
            </a:extLst>
          </p:cNvPr>
          <p:cNvSpPr>
            <a:spLocks noGrp="1"/>
          </p:cNvSpPr>
          <p:nvPr>
            <p:ph type="title"/>
          </p:nvPr>
        </p:nvSpPr>
        <p:spPr>
          <a:xfrm>
            <a:off x="1276595" y="1902073"/>
            <a:ext cx="9829799" cy="3080657"/>
          </a:xfrm>
        </p:spPr>
        <p:txBody>
          <a:bodyPr anchor="ctr">
            <a:normAutofit/>
          </a:bodyPr>
          <a:lstStyle/>
          <a:p>
            <a:pPr algn="ctr"/>
            <a:r>
              <a:rPr lang="en-US" sz="4800" b="1">
                <a:latin typeface="National semibold"/>
              </a:rPr>
              <a:t>Verification of sender with </a:t>
            </a:r>
            <a:br>
              <a:rPr lang="en-US" sz="4800" b="1">
                <a:latin typeface="National semibold"/>
              </a:rPr>
            </a:br>
            <a:r>
              <a:rPr lang="en-US" sz="4800" b="1">
                <a:latin typeface="National semibold"/>
              </a:rPr>
              <a:t>digital signature</a:t>
            </a:r>
          </a:p>
        </p:txBody>
      </p:sp>
    </p:spTree>
    <p:extLst>
      <p:ext uri="{BB962C8B-B14F-4D97-AF65-F5344CB8AC3E}">
        <p14:creationId xmlns:p14="http://schemas.microsoft.com/office/powerpoint/2010/main" val="285577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Verifying the identity of the sender</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fontScale="92500"/>
          </a:bodyPr>
          <a:lstStyle/>
          <a:p>
            <a:r>
              <a:rPr lang="en-US" dirty="0">
                <a:latin typeface="National semibold" panose="02000503000000020004"/>
              </a:rPr>
              <a:t>The verification that the sender has the right to order a transfer is done through the verification of the </a:t>
            </a:r>
            <a:r>
              <a:rPr lang="en-US" b="1" u="sng" dirty="0">
                <a:latin typeface="National semibold" panose="02000503000000020004"/>
              </a:rPr>
              <a:t>digital signature</a:t>
            </a:r>
            <a:r>
              <a:rPr lang="en-US" dirty="0">
                <a:latin typeface="National semibold" panose="02000503000000020004"/>
              </a:rPr>
              <a:t>.  </a:t>
            </a:r>
          </a:p>
          <a:p>
            <a:r>
              <a:rPr lang="en-US" dirty="0">
                <a:latin typeface="National semibold" panose="02000503000000020004"/>
              </a:rPr>
              <a:t>How does a digital signature work?</a:t>
            </a:r>
          </a:p>
          <a:p>
            <a:pPr lvl="1"/>
            <a:r>
              <a:rPr lang="en-US" dirty="0">
                <a:latin typeface="National semibold" panose="02000503000000020004"/>
              </a:rPr>
              <a:t>Any digital wallet has a </a:t>
            </a:r>
            <a:r>
              <a:rPr lang="en-US" b="1" u="sng" dirty="0">
                <a:latin typeface="National semibold" panose="02000503000000020004"/>
              </a:rPr>
              <a:t>private key</a:t>
            </a:r>
            <a:r>
              <a:rPr lang="en-US" dirty="0">
                <a:latin typeface="National semibold" panose="02000503000000020004"/>
              </a:rPr>
              <a:t> (known only to the owner of the wallet) and a </a:t>
            </a:r>
            <a:r>
              <a:rPr lang="en-US" b="1" u="sng" dirty="0">
                <a:latin typeface="National semibold" panose="02000503000000020004"/>
              </a:rPr>
              <a:t>public key</a:t>
            </a:r>
            <a:r>
              <a:rPr lang="en-US" dirty="0">
                <a:latin typeface="National semibold" panose="02000503000000020004"/>
              </a:rPr>
              <a:t> (known to all participants). </a:t>
            </a:r>
            <a:r>
              <a:rPr lang="en-US" b="1" dirty="0">
                <a:solidFill>
                  <a:srgbClr val="FF0000"/>
                </a:solidFill>
                <a:latin typeface="National semibold" panose="02000503000000020004"/>
              </a:rPr>
              <a:t>The two keys are linked together.</a:t>
            </a:r>
            <a:r>
              <a:rPr lang="en-US" dirty="0">
                <a:latin typeface="National semibold" panose="02000503000000020004"/>
              </a:rPr>
              <a:t> </a:t>
            </a:r>
          </a:p>
          <a:p>
            <a:pPr lvl="1"/>
            <a:r>
              <a:rPr lang="en-US" dirty="0">
                <a:latin typeface="National semibold" panose="02000503000000020004"/>
              </a:rPr>
              <a:t>The owner of the coins </a:t>
            </a:r>
            <a:r>
              <a:rPr lang="en-US" b="1" u="sng" dirty="0">
                <a:latin typeface="National semibold" panose="02000503000000020004"/>
              </a:rPr>
              <a:t>encrypts</a:t>
            </a:r>
            <a:r>
              <a:rPr lang="en-US" dirty="0">
                <a:latin typeface="National semibold" panose="02000503000000020004"/>
              </a:rPr>
              <a:t> the text that describes the transaction using the </a:t>
            </a:r>
            <a:r>
              <a:rPr lang="en-US" b="1" u="sng" dirty="0">
                <a:latin typeface="National semibold" panose="02000503000000020004"/>
              </a:rPr>
              <a:t>private key</a:t>
            </a:r>
            <a:r>
              <a:rPr lang="en-US" dirty="0">
                <a:latin typeface="National semibold" panose="02000503000000020004"/>
              </a:rPr>
              <a:t>. </a:t>
            </a:r>
          </a:p>
          <a:p>
            <a:pPr lvl="1"/>
            <a:r>
              <a:rPr lang="en-US" dirty="0">
                <a:latin typeface="National semibold" panose="02000503000000020004"/>
              </a:rPr>
              <a:t>To verify the identity of the sender, we have to </a:t>
            </a:r>
            <a:r>
              <a:rPr lang="en-US" b="1" u="sng" dirty="0">
                <a:latin typeface="National semibold" panose="02000503000000020004"/>
              </a:rPr>
              <a:t>decrypt</a:t>
            </a:r>
            <a:r>
              <a:rPr lang="en-US" dirty="0">
                <a:latin typeface="National semibold" panose="02000503000000020004"/>
              </a:rPr>
              <a:t> the encrypted text using the </a:t>
            </a:r>
            <a:r>
              <a:rPr lang="en-US" b="1" u="sng" dirty="0">
                <a:latin typeface="National semibold" panose="02000503000000020004"/>
              </a:rPr>
              <a:t>public key</a:t>
            </a:r>
            <a:r>
              <a:rPr lang="en-US" dirty="0">
                <a:latin typeface="National semibold" panose="02000503000000020004"/>
              </a:rPr>
              <a:t>.</a:t>
            </a:r>
          </a:p>
          <a:p>
            <a:pPr lvl="1"/>
            <a:r>
              <a:rPr lang="en-US" dirty="0">
                <a:latin typeface="National semibold" panose="02000503000000020004"/>
              </a:rPr>
              <a:t>If the public key decrypts the encrypted data, it proves that the transaction was ordered by the legitimate owner.  </a:t>
            </a:r>
          </a:p>
          <a:p>
            <a:r>
              <a:rPr lang="en-US" dirty="0">
                <a:latin typeface="National semibold" panose="02000503000000020004"/>
              </a:rPr>
              <a:t>Since private and public keys are linked together, it is NOT possible to decrypt the encrypted text with another public key. Also, if the transaction is encrypted with a different private key, the public key will not decrypt the encrypted text. </a:t>
            </a:r>
          </a:p>
        </p:txBody>
      </p:sp>
    </p:spTree>
    <p:extLst>
      <p:ext uri="{BB962C8B-B14F-4D97-AF65-F5344CB8AC3E}">
        <p14:creationId xmlns:p14="http://schemas.microsoft.com/office/powerpoint/2010/main" val="2155699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1F8E2-1F22-47BB-ADD9-D0F054B8CC01}"/>
              </a:ext>
            </a:extLst>
          </p:cNvPr>
          <p:cNvSpPr>
            <a:spLocks noGrp="1"/>
          </p:cNvSpPr>
          <p:nvPr>
            <p:ph type="title"/>
          </p:nvPr>
        </p:nvSpPr>
        <p:spPr>
          <a:xfrm>
            <a:off x="1179512" y="113560"/>
            <a:ext cx="9829799" cy="695062"/>
          </a:xfrm>
        </p:spPr>
        <p:txBody>
          <a:bodyPr>
            <a:normAutofit/>
          </a:bodyPr>
          <a:lstStyle/>
          <a:p>
            <a:r>
              <a:rPr lang="en-US">
                <a:latin typeface="National semibold" panose="02000503000000020004"/>
              </a:rPr>
              <a:t>Example: Alissa transfers 0.1 Bitcoin to Brandon</a:t>
            </a:r>
          </a:p>
        </p:txBody>
      </p:sp>
      <p:sp>
        <p:nvSpPr>
          <p:cNvPr id="8" name="TextBox 7">
            <a:extLst>
              <a:ext uri="{FF2B5EF4-FFF2-40B4-BE49-F238E27FC236}">
                <a16:creationId xmlns:a16="http://schemas.microsoft.com/office/drawing/2014/main" id="{423FC305-A8FF-45DF-B456-050C71D3C229}"/>
              </a:ext>
            </a:extLst>
          </p:cNvPr>
          <p:cNvSpPr txBox="1"/>
          <p:nvPr/>
        </p:nvSpPr>
        <p:spPr>
          <a:xfrm>
            <a:off x="1394644" y="1038460"/>
            <a:ext cx="8883586" cy="677108"/>
          </a:xfrm>
          <a:prstGeom prst="rect">
            <a:avLst/>
          </a:prstGeom>
          <a:noFill/>
        </p:spPr>
        <p:txBody>
          <a:bodyPr wrap="none" rtlCol="0">
            <a:spAutoFit/>
          </a:bodyPr>
          <a:lstStyle/>
          <a:p>
            <a:r>
              <a:rPr lang="en-US" sz="2000" u="sng">
                <a:solidFill>
                  <a:srgbClr val="FF0000"/>
                </a:solidFill>
              </a:rPr>
              <a:t>Alissa</a:t>
            </a:r>
            <a:r>
              <a:rPr lang="en-US"/>
              <a:t>: Public Key/Address = </a:t>
            </a:r>
            <a:r>
              <a:rPr lang="en-US" b="1"/>
              <a:t>AC1a2                      </a:t>
            </a:r>
            <a:r>
              <a:rPr lang="en-US" sz="2000" u="sng">
                <a:solidFill>
                  <a:srgbClr val="FF0000"/>
                </a:solidFill>
              </a:rPr>
              <a:t>Brandon</a:t>
            </a:r>
            <a:r>
              <a:rPr lang="en-US"/>
              <a:t>: Public Key/Address = </a:t>
            </a:r>
            <a:r>
              <a:rPr lang="en-US" b="1"/>
              <a:t>FM6v4</a:t>
            </a:r>
          </a:p>
          <a:p>
            <a:r>
              <a:rPr lang="en-US"/>
              <a:t>               Private Key = </a:t>
            </a:r>
            <a:r>
              <a:rPr lang="en-US" b="1"/>
              <a:t>DEG4b9                                                       </a:t>
            </a:r>
            <a:r>
              <a:rPr lang="en-US"/>
              <a:t>Private Key = </a:t>
            </a:r>
            <a:r>
              <a:rPr lang="en-US" b="1"/>
              <a:t>NSN8h7</a:t>
            </a:r>
          </a:p>
        </p:txBody>
      </p:sp>
      <p:sp>
        <p:nvSpPr>
          <p:cNvPr id="9" name="TextBox 8">
            <a:extLst>
              <a:ext uri="{FF2B5EF4-FFF2-40B4-BE49-F238E27FC236}">
                <a16:creationId xmlns:a16="http://schemas.microsoft.com/office/drawing/2014/main" id="{4104BC01-1297-4690-94E9-FAB23C7509C9}"/>
              </a:ext>
            </a:extLst>
          </p:cNvPr>
          <p:cNvSpPr txBox="1"/>
          <p:nvPr/>
        </p:nvSpPr>
        <p:spPr>
          <a:xfrm>
            <a:off x="1111425" y="2954844"/>
            <a:ext cx="3649397" cy="1200329"/>
          </a:xfrm>
          <a:prstGeom prst="rect">
            <a:avLst/>
          </a:prstGeom>
          <a:noFill/>
          <a:ln w="38100">
            <a:solidFill>
              <a:schemeClr val="tx1"/>
            </a:solidFill>
          </a:ln>
        </p:spPr>
        <p:txBody>
          <a:bodyPr wrap="none" rtlCol="0">
            <a:spAutoFit/>
          </a:bodyPr>
          <a:lstStyle/>
          <a:p>
            <a:endParaRPr lang="en-US" dirty="0"/>
          </a:p>
          <a:p>
            <a:r>
              <a:rPr lang="en-US" dirty="0"/>
              <a:t>May 11, 2026 13:23:45</a:t>
            </a:r>
          </a:p>
          <a:p>
            <a:r>
              <a:rPr lang="en-US" dirty="0"/>
              <a:t>Transfer 0.1 from </a:t>
            </a:r>
            <a:r>
              <a:rPr lang="en-US" b="1" dirty="0"/>
              <a:t>AC1a2</a:t>
            </a:r>
            <a:r>
              <a:rPr lang="en-US" dirty="0"/>
              <a:t> to </a:t>
            </a:r>
            <a:r>
              <a:rPr lang="en-US" b="1" dirty="0"/>
              <a:t>FM6v4</a:t>
            </a:r>
          </a:p>
          <a:p>
            <a:endParaRPr lang="en-US" b="1" dirty="0"/>
          </a:p>
        </p:txBody>
      </p:sp>
      <p:sp>
        <p:nvSpPr>
          <p:cNvPr id="10" name="TextBox 9">
            <a:extLst>
              <a:ext uri="{FF2B5EF4-FFF2-40B4-BE49-F238E27FC236}">
                <a16:creationId xmlns:a16="http://schemas.microsoft.com/office/drawing/2014/main" id="{CB05C39A-DF22-4456-BFD9-3125B74F8163}"/>
              </a:ext>
            </a:extLst>
          </p:cNvPr>
          <p:cNvSpPr txBox="1"/>
          <p:nvPr/>
        </p:nvSpPr>
        <p:spPr>
          <a:xfrm>
            <a:off x="7130830" y="2954843"/>
            <a:ext cx="3498394" cy="1200329"/>
          </a:xfrm>
          <a:prstGeom prst="rect">
            <a:avLst/>
          </a:prstGeom>
          <a:noFill/>
          <a:ln w="38100">
            <a:solidFill>
              <a:schemeClr val="tx1"/>
            </a:solidFill>
          </a:ln>
        </p:spPr>
        <p:txBody>
          <a:bodyPr wrap="none" rtlCol="0">
            <a:spAutoFit/>
          </a:bodyPr>
          <a:lstStyle/>
          <a:p>
            <a:endParaRPr lang="en-US"/>
          </a:p>
          <a:p>
            <a:r>
              <a:rPr lang="en-US"/>
              <a:t>IhXt5l3bakHV53EPBfF3W1MCj9</a:t>
            </a:r>
          </a:p>
          <a:p>
            <a:r>
              <a:rPr lang="en-US"/>
              <a:t>YlkjOUYFiyd725VCrYTRlg5098X</a:t>
            </a:r>
          </a:p>
          <a:p>
            <a:endParaRPr lang="en-US" b="1"/>
          </a:p>
        </p:txBody>
      </p:sp>
      <p:cxnSp>
        <p:nvCxnSpPr>
          <p:cNvPr id="12" name="Connector: Curved 11">
            <a:extLst>
              <a:ext uri="{FF2B5EF4-FFF2-40B4-BE49-F238E27FC236}">
                <a16:creationId xmlns:a16="http://schemas.microsoft.com/office/drawing/2014/main" id="{ED444A58-EF1D-4CED-A2F2-95143C02C6E6}"/>
              </a:ext>
            </a:extLst>
          </p:cNvPr>
          <p:cNvCxnSpPr>
            <a:cxnSpLocks/>
          </p:cNvCxnSpPr>
          <p:nvPr/>
        </p:nvCxnSpPr>
        <p:spPr>
          <a:xfrm rot="5400000" flipH="1" flipV="1">
            <a:off x="5908075" y="-21997"/>
            <a:ext cx="1" cy="5943903"/>
          </a:xfrm>
          <a:prstGeom prst="curvedConnector3">
            <a:avLst>
              <a:gd name="adj1" fmla="val 2286010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0034B22-B7D7-41D6-9AB7-EB2631292220}"/>
              </a:ext>
            </a:extLst>
          </p:cNvPr>
          <p:cNvSpPr txBox="1"/>
          <p:nvPr/>
        </p:nvSpPr>
        <p:spPr>
          <a:xfrm>
            <a:off x="1111425" y="2317156"/>
            <a:ext cx="1875385" cy="646331"/>
          </a:xfrm>
          <a:prstGeom prst="rect">
            <a:avLst/>
          </a:prstGeom>
          <a:noFill/>
        </p:spPr>
        <p:txBody>
          <a:bodyPr wrap="none" rtlCol="0">
            <a:spAutoFit/>
          </a:bodyPr>
          <a:lstStyle/>
          <a:p>
            <a:pPr algn="ctr"/>
            <a:r>
              <a:rPr lang="en-US"/>
              <a:t>Alissa submitted </a:t>
            </a:r>
          </a:p>
          <a:p>
            <a:pPr algn="ctr"/>
            <a:r>
              <a:rPr lang="en-US"/>
              <a:t>transaction</a:t>
            </a:r>
          </a:p>
        </p:txBody>
      </p:sp>
      <p:sp>
        <p:nvSpPr>
          <p:cNvPr id="18" name="TextBox 17">
            <a:extLst>
              <a:ext uri="{FF2B5EF4-FFF2-40B4-BE49-F238E27FC236}">
                <a16:creationId xmlns:a16="http://schemas.microsoft.com/office/drawing/2014/main" id="{A423A58F-4D75-41A4-8EE3-69B0ECD4A893}"/>
              </a:ext>
            </a:extLst>
          </p:cNvPr>
          <p:cNvSpPr txBox="1"/>
          <p:nvPr/>
        </p:nvSpPr>
        <p:spPr>
          <a:xfrm>
            <a:off x="8583824" y="2330656"/>
            <a:ext cx="2424446" cy="646331"/>
          </a:xfrm>
          <a:prstGeom prst="rect">
            <a:avLst/>
          </a:prstGeom>
          <a:noFill/>
        </p:spPr>
        <p:txBody>
          <a:bodyPr wrap="none" rtlCol="0">
            <a:spAutoFit/>
          </a:bodyPr>
          <a:lstStyle/>
          <a:p>
            <a:pPr algn="ctr"/>
            <a:r>
              <a:rPr lang="en-US"/>
              <a:t>Encrypted transaction </a:t>
            </a:r>
          </a:p>
          <a:p>
            <a:pPr algn="ctr"/>
            <a:r>
              <a:rPr lang="en-US"/>
              <a:t>(digital signature)</a:t>
            </a:r>
          </a:p>
        </p:txBody>
      </p:sp>
      <p:sp>
        <p:nvSpPr>
          <p:cNvPr id="19" name="TextBox 18">
            <a:extLst>
              <a:ext uri="{FF2B5EF4-FFF2-40B4-BE49-F238E27FC236}">
                <a16:creationId xmlns:a16="http://schemas.microsoft.com/office/drawing/2014/main" id="{76F757D7-48BB-4791-9DDE-1D0DD288ED89}"/>
              </a:ext>
            </a:extLst>
          </p:cNvPr>
          <p:cNvSpPr txBox="1"/>
          <p:nvPr/>
        </p:nvSpPr>
        <p:spPr>
          <a:xfrm>
            <a:off x="4236275" y="1993991"/>
            <a:ext cx="2976905" cy="646331"/>
          </a:xfrm>
          <a:prstGeom prst="rect">
            <a:avLst/>
          </a:prstGeom>
          <a:noFill/>
        </p:spPr>
        <p:txBody>
          <a:bodyPr wrap="none" rtlCol="0">
            <a:spAutoFit/>
          </a:bodyPr>
          <a:lstStyle/>
          <a:p>
            <a:r>
              <a:rPr lang="en-US"/>
              <a:t>Encryption with private key </a:t>
            </a:r>
          </a:p>
          <a:p>
            <a:pPr algn="ctr"/>
            <a:r>
              <a:rPr lang="en-US" b="1">
                <a:solidFill>
                  <a:srgbClr val="FF0000"/>
                </a:solidFill>
              </a:rPr>
              <a:t>DEG4b9</a:t>
            </a:r>
          </a:p>
        </p:txBody>
      </p:sp>
      <p:cxnSp>
        <p:nvCxnSpPr>
          <p:cNvPr id="20" name="Connector: Curved 19">
            <a:extLst>
              <a:ext uri="{FF2B5EF4-FFF2-40B4-BE49-F238E27FC236}">
                <a16:creationId xmlns:a16="http://schemas.microsoft.com/office/drawing/2014/main" id="{F9D0659D-61CE-4AFD-9F54-5A72A4A7D0C5}"/>
              </a:ext>
            </a:extLst>
          </p:cNvPr>
          <p:cNvCxnSpPr>
            <a:cxnSpLocks/>
            <a:stCxn id="10" idx="2"/>
            <a:endCxn id="27" idx="0"/>
          </p:cNvCxnSpPr>
          <p:nvPr/>
        </p:nvCxnSpPr>
        <p:spPr>
          <a:xfrm rot="16200000" flipH="1">
            <a:off x="8186479" y="4848719"/>
            <a:ext cx="1395831" cy="8735"/>
          </a:xfrm>
          <a:prstGeom prst="curved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AD3AFA6-E079-40A2-9C2F-6500E22E83AC}"/>
              </a:ext>
            </a:extLst>
          </p:cNvPr>
          <p:cNvSpPr txBox="1"/>
          <p:nvPr/>
        </p:nvSpPr>
        <p:spPr>
          <a:xfrm>
            <a:off x="5836437" y="4518979"/>
            <a:ext cx="3084755" cy="646331"/>
          </a:xfrm>
          <a:prstGeom prst="rect">
            <a:avLst/>
          </a:prstGeom>
          <a:noFill/>
        </p:spPr>
        <p:txBody>
          <a:bodyPr wrap="none" rtlCol="0">
            <a:spAutoFit/>
          </a:bodyPr>
          <a:lstStyle/>
          <a:p>
            <a:pPr algn="ctr"/>
            <a:r>
              <a:rPr lang="en-US"/>
              <a:t>Verification: Decryption with </a:t>
            </a:r>
          </a:p>
          <a:p>
            <a:pPr algn="ctr"/>
            <a:r>
              <a:rPr lang="en-US"/>
              <a:t>public key </a:t>
            </a:r>
            <a:r>
              <a:rPr lang="en-US" b="1">
                <a:solidFill>
                  <a:srgbClr val="FF0000"/>
                </a:solidFill>
              </a:rPr>
              <a:t>AC1a2</a:t>
            </a:r>
          </a:p>
        </p:txBody>
      </p:sp>
      <p:sp>
        <p:nvSpPr>
          <p:cNvPr id="27" name="TextBox 26">
            <a:extLst>
              <a:ext uri="{FF2B5EF4-FFF2-40B4-BE49-F238E27FC236}">
                <a16:creationId xmlns:a16="http://schemas.microsoft.com/office/drawing/2014/main" id="{CDB43170-779C-4A3A-AB35-83F8866F205B}"/>
              </a:ext>
            </a:extLst>
          </p:cNvPr>
          <p:cNvSpPr txBox="1"/>
          <p:nvPr/>
        </p:nvSpPr>
        <p:spPr>
          <a:xfrm>
            <a:off x="7064063" y="5551003"/>
            <a:ext cx="3649397" cy="1200329"/>
          </a:xfrm>
          <a:prstGeom prst="rect">
            <a:avLst/>
          </a:prstGeom>
          <a:noFill/>
          <a:ln w="38100">
            <a:solidFill>
              <a:schemeClr val="tx1"/>
            </a:solidFill>
          </a:ln>
        </p:spPr>
        <p:txBody>
          <a:bodyPr wrap="none" rtlCol="0">
            <a:spAutoFit/>
          </a:bodyPr>
          <a:lstStyle/>
          <a:p>
            <a:endParaRPr lang="en-US" dirty="0"/>
          </a:p>
          <a:p>
            <a:r>
              <a:rPr lang="en-US" dirty="0"/>
              <a:t>May 11, 2026 13:23:45</a:t>
            </a:r>
          </a:p>
          <a:p>
            <a:r>
              <a:rPr lang="en-US" dirty="0"/>
              <a:t>Transfer 0.1 from </a:t>
            </a:r>
            <a:r>
              <a:rPr lang="en-US" b="1" dirty="0"/>
              <a:t>AC1a2</a:t>
            </a:r>
            <a:r>
              <a:rPr lang="en-US" dirty="0"/>
              <a:t> to </a:t>
            </a:r>
            <a:r>
              <a:rPr lang="en-US" b="1" dirty="0"/>
              <a:t>FM6v4</a:t>
            </a:r>
          </a:p>
          <a:p>
            <a:endParaRPr lang="en-US" b="1" dirty="0"/>
          </a:p>
        </p:txBody>
      </p:sp>
    </p:spTree>
    <p:extLst>
      <p:ext uri="{BB962C8B-B14F-4D97-AF65-F5344CB8AC3E}">
        <p14:creationId xmlns:p14="http://schemas.microsoft.com/office/powerpoint/2010/main" val="1074779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7" grpId="0"/>
      <p:bldP spid="18" grpId="0"/>
      <p:bldP spid="19" grpId="0"/>
      <p:bldP spid="21" grpId="0"/>
      <p:bldP spid="27"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1F8E2-1F22-47BB-ADD9-D0F054B8CC01}"/>
              </a:ext>
            </a:extLst>
          </p:cNvPr>
          <p:cNvSpPr>
            <a:spLocks noGrp="1"/>
          </p:cNvSpPr>
          <p:nvPr>
            <p:ph type="title"/>
          </p:nvPr>
        </p:nvSpPr>
        <p:spPr>
          <a:xfrm>
            <a:off x="1188390" y="26634"/>
            <a:ext cx="9829799" cy="959542"/>
          </a:xfrm>
        </p:spPr>
        <p:txBody>
          <a:bodyPr>
            <a:normAutofit fontScale="90000"/>
          </a:bodyPr>
          <a:lstStyle/>
          <a:p>
            <a:r>
              <a:rPr lang="en-US" b="1">
                <a:solidFill>
                  <a:srgbClr val="FF0000"/>
                </a:solidFill>
                <a:latin typeface="National semibold" panose="02000503000000020004"/>
              </a:rPr>
              <a:t>Fake transaction</a:t>
            </a:r>
            <a:r>
              <a:rPr lang="en-US">
                <a:latin typeface="National semibold" panose="02000503000000020004"/>
              </a:rPr>
              <a:t>: Alissa transfers 0.1 Bitcoin to Brandon. However, the transaction is ordered by Brandon</a:t>
            </a:r>
          </a:p>
        </p:txBody>
      </p:sp>
      <p:sp>
        <p:nvSpPr>
          <p:cNvPr id="8" name="TextBox 7">
            <a:extLst>
              <a:ext uri="{FF2B5EF4-FFF2-40B4-BE49-F238E27FC236}">
                <a16:creationId xmlns:a16="http://schemas.microsoft.com/office/drawing/2014/main" id="{423FC305-A8FF-45DF-B456-050C71D3C229}"/>
              </a:ext>
            </a:extLst>
          </p:cNvPr>
          <p:cNvSpPr txBox="1"/>
          <p:nvPr/>
        </p:nvSpPr>
        <p:spPr>
          <a:xfrm>
            <a:off x="1394644" y="1038460"/>
            <a:ext cx="8883586" cy="677108"/>
          </a:xfrm>
          <a:prstGeom prst="rect">
            <a:avLst/>
          </a:prstGeom>
          <a:noFill/>
        </p:spPr>
        <p:txBody>
          <a:bodyPr wrap="none" rtlCol="0">
            <a:spAutoFit/>
          </a:bodyPr>
          <a:lstStyle/>
          <a:p>
            <a:r>
              <a:rPr lang="en-US" sz="2000" u="sng">
                <a:solidFill>
                  <a:srgbClr val="FF0000"/>
                </a:solidFill>
              </a:rPr>
              <a:t>Alissa</a:t>
            </a:r>
            <a:r>
              <a:rPr lang="en-US"/>
              <a:t>: Public Key/Address = </a:t>
            </a:r>
            <a:r>
              <a:rPr lang="en-US" b="1"/>
              <a:t>AC1a2                      </a:t>
            </a:r>
            <a:r>
              <a:rPr lang="en-US" sz="2000" u="sng">
                <a:solidFill>
                  <a:srgbClr val="FF0000"/>
                </a:solidFill>
              </a:rPr>
              <a:t>Brandon</a:t>
            </a:r>
            <a:r>
              <a:rPr lang="en-US"/>
              <a:t>: Public Key/Address = </a:t>
            </a:r>
            <a:r>
              <a:rPr lang="en-US" b="1"/>
              <a:t>FM6v4</a:t>
            </a:r>
          </a:p>
          <a:p>
            <a:r>
              <a:rPr lang="en-US"/>
              <a:t>               Private Key = </a:t>
            </a:r>
            <a:r>
              <a:rPr lang="en-US" b="1"/>
              <a:t>DEG4b9                                                       </a:t>
            </a:r>
            <a:r>
              <a:rPr lang="en-US"/>
              <a:t>Private Key = </a:t>
            </a:r>
            <a:r>
              <a:rPr lang="en-US" b="1"/>
              <a:t>NSN8h7</a:t>
            </a:r>
          </a:p>
        </p:txBody>
      </p:sp>
      <p:sp>
        <p:nvSpPr>
          <p:cNvPr id="9" name="TextBox 8">
            <a:extLst>
              <a:ext uri="{FF2B5EF4-FFF2-40B4-BE49-F238E27FC236}">
                <a16:creationId xmlns:a16="http://schemas.microsoft.com/office/drawing/2014/main" id="{4104BC01-1297-4690-94E9-FAB23C7509C9}"/>
              </a:ext>
            </a:extLst>
          </p:cNvPr>
          <p:cNvSpPr txBox="1"/>
          <p:nvPr/>
        </p:nvSpPr>
        <p:spPr>
          <a:xfrm>
            <a:off x="1111425" y="2954844"/>
            <a:ext cx="3649397" cy="1200329"/>
          </a:xfrm>
          <a:prstGeom prst="rect">
            <a:avLst/>
          </a:prstGeom>
          <a:noFill/>
          <a:ln w="38100">
            <a:solidFill>
              <a:schemeClr val="tx1"/>
            </a:solidFill>
          </a:ln>
        </p:spPr>
        <p:txBody>
          <a:bodyPr wrap="none" rtlCol="0">
            <a:spAutoFit/>
          </a:bodyPr>
          <a:lstStyle/>
          <a:p>
            <a:endParaRPr lang="en-US" dirty="0"/>
          </a:p>
          <a:p>
            <a:r>
              <a:rPr lang="en-US" dirty="0"/>
              <a:t>May 11, 2026 13:23:45</a:t>
            </a:r>
          </a:p>
          <a:p>
            <a:r>
              <a:rPr lang="en-US" dirty="0"/>
              <a:t>Transfer 0.1 from </a:t>
            </a:r>
            <a:r>
              <a:rPr lang="en-US" b="1" dirty="0"/>
              <a:t>AC1a2</a:t>
            </a:r>
            <a:r>
              <a:rPr lang="en-US" dirty="0"/>
              <a:t> to </a:t>
            </a:r>
            <a:r>
              <a:rPr lang="en-US" b="1" dirty="0"/>
              <a:t>FM6v4</a:t>
            </a:r>
          </a:p>
          <a:p>
            <a:endParaRPr lang="en-US" b="1" dirty="0"/>
          </a:p>
        </p:txBody>
      </p:sp>
      <p:sp>
        <p:nvSpPr>
          <p:cNvPr id="10" name="TextBox 9">
            <a:extLst>
              <a:ext uri="{FF2B5EF4-FFF2-40B4-BE49-F238E27FC236}">
                <a16:creationId xmlns:a16="http://schemas.microsoft.com/office/drawing/2014/main" id="{CB05C39A-DF22-4456-BFD9-3125B74F8163}"/>
              </a:ext>
            </a:extLst>
          </p:cNvPr>
          <p:cNvSpPr txBox="1"/>
          <p:nvPr/>
        </p:nvSpPr>
        <p:spPr>
          <a:xfrm>
            <a:off x="7130830" y="2954843"/>
            <a:ext cx="3417410" cy="1200329"/>
          </a:xfrm>
          <a:prstGeom prst="rect">
            <a:avLst/>
          </a:prstGeom>
          <a:noFill/>
          <a:ln w="38100">
            <a:solidFill>
              <a:schemeClr val="tx1"/>
            </a:solidFill>
          </a:ln>
        </p:spPr>
        <p:txBody>
          <a:bodyPr wrap="none" rtlCol="0">
            <a:spAutoFit/>
          </a:bodyPr>
          <a:lstStyle/>
          <a:p>
            <a:endParaRPr lang="en-US"/>
          </a:p>
          <a:p>
            <a:r>
              <a:rPr lang="en-US"/>
              <a:t>EPBfF3W1MCj9YlkjOUYFiyd725</a:t>
            </a:r>
          </a:p>
          <a:p>
            <a:r>
              <a:rPr lang="en-US"/>
              <a:t>YTRlg5098XIhXt5l3bakHV53VCr</a:t>
            </a:r>
            <a:endParaRPr lang="en-US" b="1"/>
          </a:p>
          <a:p>
            <a:endParaRPr lang="en-US"/>
          </a:p>
        </p:txBody>
      </p:sp>
      <p:cxnSp>
        <p:nvCxnSpPr>
          <p:cNvPr id="12" name="Connector: Curved 11">
            <a:extLst>
              <a:ext uri="{FF2B5EF4-FFF2-40B4-BE49-F238E27FC236}">
                <a16:creationId xmlns:a16="http://schemas.microsoft.com/office/drawing/2014/main" id="{ED444A58-EF1D-4CED-A2F2-95143C02C6E6}"/>
              </a:ext>
            </a:extLst>
          </p:cNvPr>
          <p:cNvCxnSpPr>
            <a:cxnSpLocks/>
          </p:cNvCxnSpPr>
          <p:nvPr/>
        </p:nvCxnSpPr>
        <p:spPr>
          <a:xfrm rot="5400000" flipH="1" flipV="1">
            <a:off x="5908075" y="-21997"/>
            <a:ext cx="1" cy="5943903"/>
          </a:xfrm>
          <a:prstGeom prst="curvedConnector3">
            <a:avLst>
              <a:gd name="adj1" fmla="val 2286010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0034B22-B7D7-41D6-9AB7-EB2631292220}"/>
              </a:ext>
            </a:extLst>
          </p:cNvPr>
          <p:cNvSpPr txBox="1"/>
          <p:nvPr/>
        </p:nvSpPr>
        <p:spPr>
          <a:xfrm>
            <a:off x="484012" y="2317156"/>
            <a:ext cx="3130217" cy="646331"/>
          </a:xfrm>
          <a:prstGeom prst="rect">
            <a:avLst/>
          </a:prstGeom>
          <a:noFill/>
        </p:spPr>
        <p:txBody>
          <a:bodyPr wrap="none" rtlCol="0">
            <a:spAutoFit/>
          </a:bodyPr>
          <a:lstStyle/>
          <a:p>
            <a:pPr algn="ctr"/>
            <a:r>
              <a:rPr lang="en-US"/>
              <a:t>Brandon submitted </a:t>
            </a:r>
          </a:p>
          <a:p>
            <a:pPr algn="ctr"/>
            <a:r>
              <a:rPr lang="en-US"/>
              <a:t>transaction on behalf of Elissa</a:t>
            </a:r>
          </a:p>
        </p:txBody>
      </p:sp>
      <p:sp>
        <p:nvSpPr>
          <p:cNvPr id="18" name="TextBox 17">
            <a:extLst>
              <a:ext uri="{FF2B5EF4-FFF2-40B4-BE49-F238E27FC236}">
                <a16:creationId xmlns:a16="http://schemas.microsoft.com/office/drawing/2014/main" id="{A423A58F-4D75-41A4-8EE3-69B0ECD4A893}"/>
              </a:ext>
            </a:extLst>
          </p:cNvPr>
          <p:cNvSpPr txBox="1"/>
          <p:nvPr/>
        </p:nvSpPr>
        <p:spPr>
          <a:xfrm>
            <a:off x="8583824" y="2330656"/>
            <a:ext cx="2424446" cy="646331"/>
          </a:xfrm>
          <a:prstGeom prst="rect">
            <a:avLst/>
          </a:prstGeom>
          <a:noFill/>
        </p:spPr>
        <p:txBody>
          <a:bodyPr wrap="none" rtlCol="0">
            <a:spAutoFit/>
          </a:bodyPr>
          <a:lstStyle/>
          <a:p>
            <a:pPr algn="ctr"/>
            <a:r>
              <a:rPr lang="en-US"/>
              <a:t>Encrypted transaction </a:t>
            </a:r>
          </a:p>
          <a:p>
            <a:pPr algn="ctr"/>
            <a:r>
              <a:rPr lang="en-US"/>
              <a:t>(digital signature)</a:t>
            </a:r>
          </a:p>
        </p:txBody>
      </p:sp>
      <p:sp>
        <p:nvSpPr>
          <p:cNvPr id="19" name="TextBox 18">
            <a:extLst>
              <a:ext uri="{FF2B5EF4-FFF2-40B4-BE49-F238E27FC236}">
                <a16:creationId xmlns:a16="http://schemas.microsoft.com/office/drawing/2014/main" id="{76F757D7-48BB-4791-9DDE-1D0DD288ED89}"/>
              </a:ext>
            </a:extLst>
          </p:cNvPr>
          <p:cNvSpPr txBox="1"/>
          <p:nvPr/>
        </p:nvSpPr>
        <p:spPr>
          <a:xfrm>
            <a:off x="4236275" y="1993991"/>
            <a:ext cx="2976905" cy="646331"/>
          </a:xfrm>
          <a:prstGeom prst="rect">
            <a:avLst/>
          </a:prstGeom>
          <a:noFill/>
        </p:spPr>
        <p:txBody>
          <a:bodyPr wrap="none" rtlCol="0">
            <a:spAutoFit/>
          </a:bodyPr>
          <a:lstStyle/>
          <a:p>
            <a:r>
              <a:rPr lang="en-US"/>
              <a:t>Encryption with private key </a:t>
            </a:r>
          </a:p>
          <a:p>
            <a:pPr algn="ctr"/>
            <a:r>
              <a:rPr lang="en-US" b="1">
                <a:solidFill>
                  <a:srgbClr val="FF0000"/>
                </a:solidFill>
              </a:rPr>
              <a:t>NSN8h7</a:t>
            </a:r>
          </a:p>
        </p:txBody>
      </p:sp>
      <p:cxnSp>
        <p:nvCxnSpPr>
          <p:cNvPr id="20" name="Connector: Curved 19">
            <a:extLst>
              <a:ext uri="{FF2B5EF4-FFF2-40B4-BE49-F238E27FC236}">
                <a16:creationId xmlns:a16="http://schemas.microsoft.com/office/drawing/2014/main" id="{F9D0659D-61CE-4AFD-9F54-5A72A4A7D0C5}"/>
              </a:ext>
            </a:extLst>
          </p:cNvPr>
          <p:cNvCxnSpPr>
            <a:cxnSpLocks/>
            <a:stCxn id="10" idx="2"/>
            <a:endCxn id="27" idx="0"/>
          </p:cNvCxnSpPr>
          <p:nvPr/>
        </p:nvCxnSpPr>
        <p:spPr>
          <a:xfrm rot="16200000" flipH="1">
            <a:off x="8077266" y="4917440"/>
            <a:ext cx="1531540" cy="7003"/>
          </a:xfrm>
          <a:prstGeom prst="curved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AD3AFA6-E079-40A2-9C2F-6500E22E83AC}"/>
              </a:ext>
            </a:extLst>
          </p:cNvPr>
          <p:cNvSpPr txBox="1"/>
          <p:nvPr/>
        </p:nvSpPr>
        <p:spPr>
          <a:xfrm>
            <a:off x="5836437" y="4518979"/>
            <a:ext cx="3084755" cy="646331"/>
          </a:xfrm>
          <a:prstGeom prst="rect">
            <a:avLst/>
          </a:prstGeom>
          <a:noFill/>
        </p:spPr>
        <p:txBody>
          <a:bodyPr wrap="none" rtlCol="0">
            <a:spAutoFit/>
          </a:bodyPr>
          <a:lstStyle/>
          <a:p>
            <a:pPr algn="ctr"/>
            <a:r>
              <a:rPr lang="en-US"/>
              <a:t>Verification: Decryption with </a:t>
            </a:r>
          </a:p>
          <a:p>
            <a:pPr algn="ctr"/>
            <a:r>
              <a:rPr lang="en-US"/>
              <a:t>public key </a:t>
            </a:r>
            <a:r>
              <a:rPr lang="en-US" b="1"/>
              <a:t>AC1a2</a:t>
            </a:r>
          </a:p>
        </p:txBody>
      </p:sp>
      <p:sp>
        <p:nvSpPr>
          <p:cNvPr id="27" name="TextBox 26">
            <a:extLst>
              <a:ext uri="{FF2B5EF4-FFF2-40B4-BE49-F238E27FC236}">
                <a16:creationId xmlns:a16="http://schemas.microsoft.com/office/drawing/2014/main" id="{CDB43170-779C-4A3A-AB35-83F8866F205B}"/>
              </a:ext>
            </a:extLst>
          </p:cNvPr>
          <p:cNvSpPr txBox="1"/>
          <p:nvPr/>
        </p:nvSpPr>
        <p:spPr>
          <a:xfrm>
            <a:off x="7834882" y="5686712"/>
            <a:ext cx="2023311" cy="923330"/>
          </a:xfrm>
          <a:prstGeom prst="rect">
            <a:avLst/>
          </a:prstGeom>
          <a:noFill/>
          <a:ln w="38100">
            <a:solidFill>
              <a:schemeClr val="tx1"/>
            </a:solidFill>
          </a:ln>
        </p:spPr>
        <p:txBody>
          <a:bodyPr wrap="none" rtlCol="0">
            <a:spAutoFit/>
          </a:bodyPr>
          <a:lstStyle/>
          <a:p>
            <a:endParaRPr lang="en-US"/>
          </a:p>
          <a:p>
            <a:r>
              <a:rPr lang="en-US" b="1">
                <a:solidFill>
                  <a:srgbClr val="FF0000"/>
                </a:solidFill>
              </a:rPr>
              <a:t>Decryption failed</a:t>
            </a:r>
            <a:endParaRPr lang="en-US" b="1"/>
          </a:p>
          <a:p>
            <a:endParaRPr lang="en-US" b="1"/>
          </a:p>
        </p:txBody>
      </p:sp>
    </p:spTree>
    <p:extLst>
      <p:ext uri="{BB962C8B-B14F-4D97-AF65-F5344CB8AC3E}">
        <p14:creationId xmlns:p14="http://schemas.microsoft.com/office/powerpoint/2010/main" val="1992073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7" grpId="0"/>
      <p:bldP spid="18" grpId="0"/>
      <p:bldP spid="19" grpId="0"/>
      <p:bldP spid="21" grpId="0"/>
      <p:bldP spid="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Hash Function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fontScale="92500"/>
          </a:bodyPr>
          <a:lstStyle/>
          <a:p>
            <a:r>
              <a:rPr lang="en-US">
                <a:latin typeface="National semibold" panose="02000503000000020004"/>
              </a:rPr>
              <a:t>Transactions are recorded in the blockchain in hashed format, not original format.</a:t>
            </a:r>
          </a:p>
          <a:p>
            <a:r>
              <a:rPr lang="en-US">
                <a:latin typeface="National semibold" panose="02000503000000020004"/>
              </a:rPr>
              <a:t>Hashing converts any digital object in a new digital object of fixed length. </a:t>
            </a:r>
          </a:p>
          <a:p>
            <a:pPr lvl="1"/>
            <a:r>
              <a:rPr lang="en-US">
                <a:latin typeface="National semibold" panose="02000503000000020004"/>
              </a:rPr>
              <a:t>For example, SHA-256 takes any digital input and computes a 256-bit output. </a:t>
            </a:r>
          </a:p>
          <a:p>
            <a:pPr lvl="1"/>
            <a:r>
              <a:rPr lang="en-US">
                <a:latin typeface="National semibold" panose="02000503000000020004"/>
              </a:rPr>
              <a:t>Data is stored in computers as sequences of 0 and 1. Thus, a 256-bit output is a sequence of 256 cells, each containing either 0 or 1. The possible combinations are 2</a:t>
            </a:r>
            <a:r>
              <a:rPr lang="en-US" baseline="30000">
                <a:latin typeface="National semibold" panose="02000503000000020004"/>
              </a:rPr>
              <a:t>256</a:t>
            </a:r>
            <a:r>
              <a:rPr lang="en-US">
                <a:latin typeface="National semibold" panose="02000503000000020004"/>
              </a:rPr>
              <a:t>.</a:t>
            </a:r>
          </a:p>
          <a:p>
            <a:r>
              <a:rPr lang="en-US">
                <a:latin typeface="National semibold" panose="02000503000000020004"/>
              </a:rPr>
              <a:t>For convenience, the 256-bit object is represented with 64 elements (instead of 256), with each element taking 16 possible values: 0, 1, 2, 3, 4, 5, 6, 7, 8, 9, a, b, c, d, e, f.</a:t>
            </a:r>
          </a:p>
          <a:p>
            <a:pPr lvl="1"/>
            <a:r>
              <a:rPr lang="en-US">
                <a:latin typeface="National semibold" panose="02000503000000020004"/>
              </a:rPr>
              <a:t>Note that 2</a:t>
            </a:r>
            <a:r>
              <a:rPr lang="en-US" baseline="30000">
                <a:latin typeface="National semibold" panose="02000503000000020004"/>
              </a:rPr>
              <a:t>256</a:t>
            </a:r>
            <a:r>
              <a:rPr lang="en-US">
                <a:latin typeface="National semibold" panose="02000503000000020004"/>
              </a:rPr>
              <a:t>= (2</a:t>
            </a:r>
            <a:r>
              <a:rPr lang="en-US" baseline="30000">
                <a:latin typeface="National semibold" panose="02000503000000020004"/>
              </a:rPr>
              <a:t>4</a:t>
            </a:r>
            <a:r>
              <a:rPr lang="en-US">
                <a:latin typeface="National semibold" panose="02000503000000020004"/>
              </a:rPr>
              <a:t>)</a:t>
            </a:r>
            <a:r>
              <a:rPr lang="en-US" baseline="30000">
                <a:latin typeface="National semibold" panose="02000503000000020004"/>
              </a:rPr>
              <a:t>64</a:t>
            </a:r>
            <a:r>
              <a:rPr lang="en-US">
                <a:latin typeface="National semibold" panose="02000503000000020004"/>
              </a:rPr>
              <a:t>= 16</a:t>
            </a:r>
            <a:r>
              <a:rPr lang="en-US" baseline="30000">
                <a:latin typeface="National semibold" panose="02000503000000020004"/>
              </a:rPr>
              <a:t>64</a:t>
            </a:r>
            <a:r>
              <a:rPr lang="en-US">
                <a:latin typeface="National semibold" panose="02000503000000020004"/>
              </a:rPr>
              <a:t>. </a:t>
            </a:r>
          </a:p>
          <a:p>
            <a:r>
              <a:rPr lang="en-US">
                <a:latin typeface="National semibold" panose="02000503000000020004"/>
              </a:rPr>
              <a:t>Once an object has been hashed, it is practically </a:t>
            </a:r>
            <a:r>
              <a:rPr lang="en-US" b="1">
                <a:latin typeface="National semibold" panose="02000503000000020004"/>
              </a:rPr>
              <a:t>impossible</a:t>
            </a:r>
            <a:r>
              <a:rPr lang="en-US">
                <a:latin typeface="National semibold" panose="02000503000000020004"/>
              </a:rPr>
              <a:t> to recover the </a:t>
            </a:r>
            <a:r>
              <a:rPr lang="en-US" i="1">
                <a:latin typeface="National semibold" panose="02000503000000020004"/>
              </a:rPr>
              <a:t>original</a:t>
            </a:r>
            <a:r>
              <a:rPr lang="en-US">
                <a:latin typeface="National semibold" panose="02000503000000020004"/>
              </a:rPr>
              <a:t> object from the </a:t>
            </a:r>
            <a:r>
              <a:rPr lang="en-US" i="1">
                <a:latin typeface="National semibold" panose="02000503000000020004"/>
              </a:rPr>
              <a:t>hash</a:t>
            </a:r>
            <a:r>
              <a:rPr lang="en-US">
                <a:latin typeface="National semibold" panose="02000503000000020004"/>
              </a:rPr>
              <a:t> output. Similar to fingerprints: if we know the person, it is easy to create the fingerprints of that person. Having the fingerprints, however, does not allow us to determine who created them.</a:t>
            </a:r>
          </a:p>
        </p:txBody>
      </p:sp>
    </p:spTree>
    <p:extLst>
      <p:ext uri="{BB962C8B-B14F-4D97-AF65-F5344CB8AC3E}">
        <p14:creationId xmlns:p14="http://schemas.microsoft.com/office/powerpoint/2010/main" val="34892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Why are transactions hashed?</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a:latin typeface="National semibold" panose="02000503000000020004"/>
              </a:rPr>
              <a:t>It provides an easy way to verify the validity of the blockchain making its alteration difficult:</a:t>
            </a:r>
          </a:p>
          <a:p>
            <a:pPr marL="630237" lvl="1" indent="-342900"/>
            <a:r>
              <a:rPr lang="en-US">
                <a:latin typeface="National semibold" panose="02000503000000020004"/>
              </a:rPr>
              <a:t>Anyone who would like to verify a transaction will hash the transaction and check whether the hashed output is the same as recorded in the blockchain.</a:t>
            </a:r>
          </a:p>
          <a:p>
            <a:endParaRPr lang="en-US">
              <a:latin typeface="National semibold" panose="02000503000000020004"/>
            </a:endParaRPr>
          </a:p>
        </p:txBody>
      </p:sp>
    </p:spTree>
    <p:extLst>
      <p:ext uri="{BB962C8B-B14F-4D97-AF65-F5344CB8AC3E}">
        <p14:creationId xmlns:p14="http://schemas.microsoft.com/office/powerpoint/2010/main" val="3111146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8B944-A6C2-473D-B4C6-B7AB986CD4EF}"/>
              </a:ext>
            </a:extLst>
          </p:cNvPr>
          <p:cNvSpPr>
            <a:spLocks noGrp="1"/>
          </p:cNvSpPr>
          <p:nvPr>
            <p:ph type="title"/>
          </p:nvPr>
        </p:nvSpPr>
        <p:spPr>
          <a:xfrm>
            <a:off x="1276595" y="1930207"/>
            <a:ext cx="9829799" cy="3080657"/>
          </a:xfrm>
        </p:spPr>
        <p:txBody>
          <a:bodyPr anchor="ctr">
            <a:normAutofit/>
          </a:bodyPr>
          <a:lstStyle/>
          <a:p>
            <a:pPr algn="ctr"/>
            <a:r>
              <a:rPr lang="en-US" sz="4800" b="1">
                <a:latin typeface="National semibold"/>
              </a:rPr>
              <a:t>The process of adding </a:t>
            </a:r>
            <a:br>
              <a:rPr lang="en-US" sz="4800" b="1">
                <a:latin typeface="National semibold"/>
              </a:rPr>
            </a:br>
            <a:r>
              <a:rPr lang="en-US" sz="4800" b="1">
                <a:latin typeface="National semibold"/>
              </a:rPr>
              <a:t>a new block to the blockchain</a:t>
            </a:r>
          </a:p>
        </p:txBody>
      </p:sp>
    </p:spTree>
    <p:extLst>
      <p:ext uri="{BB962C8B-B14F-4D97-AF65-F5344CB8AC3E}">
        <p14:creationId xmlns:p14="http://schemas.microsoft.com/office/powerpoint/2010/main" val="2253061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Nodes and miners (Bitcoin platform)</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dirty="0">
                <a:latin typeface="National semibold" panose="02000503000000020004"/>
              </a:rPr>
              <a:t>Computers connected to the network are called </a:t>
            </a:r>
            <a:r>
              <a:rPr lang="en-US" b="1" u="sng" dirty="0">
                <a:latin typeface="National semibold" panose="02000503000000020004"/>
              </a:rPr>
              <a:t>full nodes</a:t>
            </a:r>
            <a:r>
              <a:rPr lang="en-US" dirty="0">
                <a:latin typeface="National semibold" panose="02000503000000020004"/>
              </a:rPr>
              <a:t>. Only some of them are </a:t>
            </a:r>
            <a:r>
              <a:rPr lang="en-US" b="1" u="sng" dirty="0">
                <a:latin typeface="National semibold" panose="02000503000000020004"/>
              </a:rPr>
              <a:t>miners</a:t>
            </a:r>
            <a:r>
              <a:rPr lang="en-US" dirty="0">
                <a:latin typeface="National semibold" panose="02000503000000020004"/>
              </a:rPr>
              <a:t>.</a:t>
            </a:r>
          </a:p>
          <a:p>
            <a:pPr lvl="1"/>
            <a:r>
              <a:rPr lang="en-US" b="1" u="sng" dirty="0">
                <a:latin typeface="National semibold" panose="02000503000000020004"/>
              </a:rPr>
              <a:t>Full nodes</a:t>
            </a:r>
            <a:r>
              <a:rPr lang="en-US" dirty="0">
                <a:latin typeface="National semibold" panose="02000503000000020004"/>
              </a:rPr>
              <a:t>: Check that any new block added to the blockchain is made up of transactions that are compatible with the rules (the protocol). In particular, the nodes check that there is no double-spending.</a:t>
            </a:r>
          </a:p>
          <a:p>
            <a:pPr marL="457200" lvl="2" indent="0">
              <a:buNone/>
            </a:pPr>
            <a:r>
              <a:rPr lang="en-US" i="1" dirty="0">
                <a:solidFill>
                  <a:srgbClr val="FF0000"/>
                </a:solidFill>
                <a:latin typeface="National semibold" panose="02000503000000020004"/>
              </a:rPr>
              <a:t>Remark</a:t>
            </a:r>
            <a:r>
              <a:rPr lang="en-US" dirty="0">
                <a:latin typeface="National semibold" panose="02000503000000020004"/>
              </a:rPr>
              <a:t>: Checking the validity of transactions is not computationally expensive.</a:t>
            </a:r>
          </a:p>
          <a:p>
            <a:pPr lvl="1"/>
            <a:endParaRPr lang="en-US" b="1" u="sng" dirty="0">
              <a:latin typeface="National semibold" panose="02000503000000020004"/>
            </a:endParaRPr>
          </a:p>
          <a:p>
            <a:pPr lvl="1"/>
            <a:r>
              <a:rPr lang="en-US" b="1" u="sng" dirty="0">
                <a:latin typeface="National semibold" panose="02000503000000020004"/>
              </a:rPr>
              <a:t>Miners</a:t>
            </a:r>
            <a:r>
              <a:rPr lang="en-US" dirty="0">
                <a:latin typeface="National semibold" panose="02000503000000020004"/>
              </a:rPr>
              <a:t>: Pool together transactions in a new block. The new block of transactions is then added to the chain.</a:t>
            </a:r>
          </a:p>
          <a:p>
            <a:pPr marL="457200" lvl="2" indent="0">
              <a:buNone/>
            </a:pPr>
            <a:r>
              <a:rPr lang="en-US" i="1" dirty="0">
                <a:solidFill>
                  <a:srgbClr val="FF0000"/>
                </a:solidFill>
                <a:latin typeface="National semibold" panose="02000503000000020004"/>
              </a:rPr>
              <a:t>Remark</a:t>
            </a:r>
            <a:r>
              <a:rPr lang="en-US" dirty="0">
                <a:latin typeface="National semibold" panose="02000503000000020004"/>
              </a:rPr>
              <a:t>: This task is very expensive in terms of computing time and requires large quantities of electricity. Computation is required for the </a:t>
            </a:r>
            <a:r>
              <a:rPr lang="en-US" b="1" u="sng" dirty="0">
                <a:latin typeface="National semibold" panose="02000503000000020004"/>
              </a:rPr>
              <a:t>proof-of-work</a:t>
            </a:r>
            <a:r>
              <a:rPr lang="en-US" dirty="0">
                <a:latin typeface="National semibold" panose="02000503000000020004"/>
              </a:rPr>
              <a:t>.  </a:t>
            </a:r>
          </a:p>
        </p:txBody>
      </p:sp>
    </p:spTree>
    <p:extLst>
      <p:ext uri="{BB962C8B-B14F-4D97-AF65-F5344CB8AC3E}">
        <p14:creationId xmlns:p14="http://schemas.microsoft.com/office/powerpoint/2010/main" val="1169723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6051C-F02F-4479-9D13-3A67CC55B285}"/>
              </a:ext>
            </a:extLst>
          </p:cNvPr>
          <p:cNvSpPr>
            <a:spLocks noGrp="1"/>
          </p:cNvSpPr>
          <p:nvPr>
            <p:ph type="title"/>
          </p:nvPr>
        </p:nvSpPr>
        <p:spPr/>
        <p:txBody>
          <a:bodyPr/>
          <a:lstStyle/>
          <a:p>
            <a:endParaRPr lang="en-US"/>
          </a:p>
        </p:txBody>
      </p:sp>
      <p:pic>
        <p:nvPicPr>
          <p:cNvPr id="5" name="Content Placeholder 4" descr="Diagram&#10;&#10;Description automatically generated">
            <a:extLst>
              <a:ext uri="{FF2B5EF4-FFF2-40B4-BE49-F238E27FC236}">
                <a16:creationId xmlns:a16="http://schemas.microsoft.com/office/drawing/2014/main" id="{910B16BF-6586-4C50-AAF9-16DC4DFE52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88825" cy="6858000"/>
          </a:xfrm>
        </p:spPr>
      </p:pic>
    </p:spTree>
    <p:extLst>
      <p:ext uri="{BB962C8B-B14F-4D97-AF65-F5344CB8AC3E}">
        <p14:creationId xmlns:p14="http://schemas.microsoft.com/office/powerpoint/2010/main" val="1311954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6051C-F02F-4479-9D13-3A67CC55B285}"/>
              </a:ext>
            </a:extLst>
          </p:cNvPr>
          <p:cNvSpPr>
            <a:spLocks noGrp="1"/>
          </p:cNvSpPr>
          <p:nvPr>
            <p:ph type="title"/>
          </p:nvPr>
        </p:nvSpPr>
        <p:spPr/>
        <p:txBody>
          <a:bodyPr/>
          <a:lstStyle/>
          <a:p>
            <a:endParaRPr lang="en-US"/>
          </a:p>
        </p:txBody>
      </p:sp>
      <p:pic>
        <p:nvPicPr>
          <p:cNvPr id="7" name="Content Placeholder 6" descr="Diagram&#10;&#10;Description automatically generated">
            <a:extLst>
              <a:ext uri="{FF2B5EF4-FFF2-40B4-BE49-F238E27FC236}">
                <a16:creationId xmlns:a16="http://schemas.microsoft.com/office/drawing/2014/main" id="{22404B73-A1B6-4871-8317-4FC7EE978C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88825" cy="6858000"/>
          </a:xfrm>
        </p:spPr>
      </p:pic>
    </p:spTree>
    <p:extLst>
      <p:ext uri="{BB962C8B-B14F-4D97-AF65-F5344CB8AC3E}">
        <p14:creationId xmlns:p14="http://schemas.microsoft.com/office/powerpoint/2010/main" val="2118504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Miners</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fontScale="85000" lnSpcReduction="20000"/>
          </a:bodyPr>
          <a:lstStyle/>
          <a:p>
            <a:r>
              <a:rPr lang="en-US">
                <a:latin typeface="National semibold" panose="02000503000000020004"/>
              </a:rPr>
              <a:t>Pool together a set of transactions submitted to the network but not yet confirmed in a new block. </a:t>
            </a:r>
          </a:p>
          <a:p>
            <a:r>
              <a:rPr lang="en-US">
                <a:latin typeface="National semibold" panose="02000503000000020004"/>
              </a:rPr>
              <a:t>All miners do this at the same time but only one will eventually be able to add the newly formed block to the blockchain. This is because miners compete with each other to win the right to add a block to the blockchain. </a:t>
            </a:r>
          </a:p>
          <a:p>
            <a:r>
              <a:rPr lang="en-US">
                <a:latin typeface="National semibold" panose="02000503000000020004"/>
              </a:rPr>
              <a:t>How is the winner selected? It will be the miner who finds the solution to a mathematical puzzle before anyone else. </a:t>
            </a:r>
          </a:p>
          <a:p>
            <a:pPr lvl="1"/>
            <a:r>
              <a:rPr lang="en-US">
                <a:latin typeface="National semibold" panose="02000503000000020004"/>
              </a:rPr>
              <a:t>Example: Suppose that miners need to find a number with a maximum of three digits. For example, </a:t>
            </a:r>
            <a:r>
              <a:rPr lang="en-US" b="1">
                <a:solidFill>
                  <a:srgbClr val="FF0000"/>
                </a:solidFill>
                <a:latin typeface="National semibold" panose="02000503000000020004"/>
              </a:rPr>
              <a:t>673</a:t>
            </a:r>
            <a:r>
              <a:rPr lang="en-US">
                <a:latin typeface="National semibold" panose="02000503000000020004"/>
              </a:rPr>
              <a:t>. </a:t>
            </a:r>
          </a:p>
          <a:p>
            <a:pPr lvl="1"/>
            <a:r>
              <a:rPr lang="en-US">
                <a:latin typeface="National semibold" panose="02000503000000020004"/>
              </a:rPr>
              <a:t>A three-digit number can take 1,000 possible values. Therefore, to find the right number, miners can try a maximum of 1,000 guesses. </a:t>
            </a:r>
          </a:p>
          <a:p>
            <a:pPr lvl="1"/>
            <a:r>
              <a:rPr lang="en-US">
                <a:latin typeface="National semibold" panose="02000503000000020004"/>
              </a:rPr>
              <a:t>The first miner that guesses </a:t>
            </a:r>
            <a:r>
              <a:rPr lang="en-US" b="1">
                <a:solidFill>
                  <a:srgbClr val="FF0000"/>
                </a:solidFill>
                <a:latin typeface="National semibold" panose="02000503000000020004"/>
              </a:rPr>
              <a:t>673</a:t>
            </a:r>
            <a:r>
              <a:rPr lang="en-US">
                <a:latin typeface="National semibold" panose="02000503000000020004"/>
              </a:rPr>
              <a:t> will have the right to add the block to the blockchain. </a:t>
            </a:r>
          </a:p>
          <a:p>
            <a:pPr lvl="1"/>
            <a:r>
              <a:rPr lang="en-US">
                <a:latin typeface="National semibold" panose="02000503000000020004"/>
              </a:rPr>
              <a:t>Guessing and verifying requires computer power. Therefore, miners with more powerful equipment have higher chances of winning because they can guess and verify more numbers over the same length of time. </a:t>
            </a:r>
          </a:p>
          <a:p>
            <a:r>
              <a:rPr lang="en-US">
                <a:latin typeface="National semibold" panose="02000503000000020004"/>
              </a:rPr>
              <a:t>The winning miner gets compensated with new coins created from scratch and/or fees that users pay for executing their transactions.       </a:t>
            </a:r>
          </a:p>
        </p:txBody>
      </p:sp>
    </p:spTree>
    <p:extLst>
      <p:ext uri="{BB962C8B-B14F-4D97-AF65-F5344CB8AC3E}">
        <p14:creationId xmlns:p14="http://schemas.microsoft.com/office/powerpoint/2010/main" val="2676392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5354"/>
            <a:ext cx="9762898" cy="1219200"/>
          </a:xfrm>
        </p:spPr>
        <p:txBody>
          <a:bodyPr anchor="ctr">
            <a:normAutofit/>
          </a:bodyPr>
          <a:lstStyle/>
          <a:p>
            <a:r>
              <a:rPr lang="en-US" sz="4000" b="1">
                <a:latin typeface="National semibold" panose="02000503000000020004"/>
              </a:rPr>
              <a:t>Lottery in bitcoin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a:latin typeface="National semibold" panose="02000503000000020004"/>
              </a:rPr>
              <a:t>A miner generates a guess as follows: </a:t>
            </a:r>
          </a:p>
          <a:p>
            <a:pPr lvl="1"/>
            <a:r>
              <a:rPr lang="en-US">
                <a:latin typeface="National semibold" panose="02000503000000020004"/>
              </a:rPr>
              <a:t>After creating a block, the miner hashes the block and obtains a hash number. </a:t>
            </a:r>
          </a:p>
          <a:p>
            <a:pPr lvl="1"/>
            <a:r>
              <a:rPr lang="en-US">
                <a:latin typeface="National semibold" panose="02000503000000020004"/>
              </a:rPr>
              <a:t>The mathematical puzzle is solved if the first </a:t>
            </a:r>
            <a:r>
              <a:rPr lang="en-US" b="1">
                <a:solidFill>
                  <a:srgbClr val="FF0000"/>
                </a:solidFill>
                <a:latin typeface="National semibold" panose="02000503000000020004"/>
              </a:rPr>
              <a:t>N</a:t>
            </a:r>
            <a:r>
              <a:rPr lang="en-US">
                <a:latin typeface="National semibold" panose="02000503000000020004"/>
              </a:rPr>
              <a:t> digits of the hash number contains only zeros.</a:t>
            </a:r>
          </a:p>
          <a:p>
            <a:r>
              <a:rPr lang="en-US">
                <a:latin typeface="National semibold" panose="02000503000000020004"/>
              </a:rPr>
              <a:t>Obviously, if we hash the same block, we get the same hash number. Thus, to generate a different hash number, we need to modify the content of the block. This is done by including in the block an additional number called </a:t>
            </a:r>
            <a:r>
              <a:rPr lang="en-US" b="1" u="sng">
                <a:solidFill>
                  <a:srgbClr val="FF0000"/>
                </a:solidFill>
                <a:latin typeface="National semibold" panose="02000503000000020004"/>
              </a:rPr>
              <a:t>Nonce</a:t>
            </a:r>
            <a:r>
              <a:rPr lang="en-US">
                <a:latin typeface="National semibold" panose="02000503000000020004"/>
              </a:rPr>
              <a:t>. </a:t>
            </a:r>
          </a:p>
          <a:p>
            <a:r>
              <a:rPr lang="en-US">
                <a:latin typeface="National semibold" panose="02000503000000020004"/>
              </a:rPr>
              <a:t>In any trial, the miner guesses the Nonce randomly, hashes the block, and checks whether the obtained hash number has zeros in the first </a:t>
            </a:r>
            <a:r>
              <a:rPr lang="en-US" b="1">
                <a:solidFill>
                  <a:srgbClr val="FF0000"/>
                </a:solidFill>
                <a:latin typeface="National semibold" panose="02000503000000020004"/>
              </a:rPr>
              <a:t>N</a:t>
            </a:r>
            <a:r>
              <a:rPr lang="en-US">
                <a:latin typeface="National semibold" panose="02000503000000020004"/>
              </a:rPr>
              <a:t> digits. If not, the miner keeps changing the guess for the </a:t>
            </a:r>
            <a:r>
              <a:rPr lang="en-US" b="1">
                <a:solidFill>
                  <a:srgbClr val="FF0000"/>
                </a:solidFill>
                <a:latin typeface="National semibold" panose="02000503000000020004"/>
              </a:rPr>
              <a:t>Nonce</a:t>
            </a:r>
            <a:r>
              <a:rPr lang="en-US">
                <a:latin typeface="National semibold" panose="02000503000000020004"/>
              </a:rPr>
              <a:t> until the desired hash number is found. </a:t>
            </a:r>
          </a:p>
        </p:txBody>
      </p:sp>
    </p:spTree>
    <p:extLst>
      <p:ext uri="{BB962C8B-B14F-4D97-AF65-F5344CB8AC3E}">
        <p14:creationId xmlns:p14="http://schemas.microsoft.com/office/powerpoint/2010/main" val="1818815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Blockchain</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4261534"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085Y3</a:t>
            </a:r>
          </a:p>
        </p:txBody>
      </p:sp>
      <p:sp>
        <p:nvSpPr>
          <p:cNvPr id="8" name="TextBox 7">
            <a:extLst>
              <a:ext uri="{FF2B5EF4-FFF2-40B4-BE49-F238E27FC236}">
                <a16:creationId xmlns:a16="http://schemas.microsoft.com/office/drawing/2014/main" id="{A3BA41FB-3E6E-4FCD-8A54-1BC9AAF0BA36}"/>
              </a:ext>
            </a:extLst>
          </p:cNvPr>
          <p:cNvSpPr txBox="1"/>
          <p:nvPr/>
        </p:nvSpPr>
        <p:spPr>
          <a:xfrm>
            <a:off x="6819553"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4639746"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7197764" y="2080472"/>
            <a:ext cx="1056701" cy="400110"/>
          </a:xfrm>
          <a:prstGeom prst="rect">
            <a:avLst/>
          </a:prstGeom>
          <a:noFill/>
        </p:spPr>
        <p:txBody>
          <a:bodyPr wrap="none" rtlCol="0">
            <a:spAutoFit/>
          </a:bodyPr>
          <a:lstStyle/>
          <a:p>
            <a:pPr algn="ctr"/>
            <a:r>
              <a:rPr lang="en-US" sz="2000" b="1"/>
              <a:t>Block 3</a:t>
            </a:r>
            <a:endParaRPr lang="en-US" b="1"/>
          </a:p>
        </p:txBody>
      </p:sp>
      <p:cxnSp>
        <p:nvCxnSpPr>
          <p:cNvPr id="12" name="Straight Arrow Connector 11">
            <a:extLst>
              <a:ext uri="{FF2B5EF4-FFF2-40B4-BE49-F238E27FC236}">
                <a16:creationId xmlns:a16="http://schemas.microsoft.com/office/drawing/2014/main" id="{20090ADA-F3A1-4B3D-AC64-7E5BE4D0740B}"/>
              </a:ext>
            </a:extLst>
          </p:cNvPr>
          <p:cNvCxnSpPr>
            <a:cxnSpLocks/>
          </p:cNvCxnSpPr>
          <p:nvPr/>
        </p:nvCxnSpPr>
        <p:spPr>
          <a:xfrm flipV="1">
            <a:off x="3521747" y="3344091"/>
            <a:ext cx="852826"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5954599" y="3429000"/>
            <a:ext cx="1080046" cy="235088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Left Brace 1">
            <a:extLst>
              <a:ext uri="{FF2B5EF4-FFF2-40B4-BE49-F238E27FC236}">
                <a16:creationId xmlns:a16="http://schemas.microsoft.com/office/drawing/2014/main" id="{FA561EC3-C447-4BC9-ACF5-0FC23C10EBD5}"/>
              </a:ext>
            </a:extLst>
          </p:cNvPr>
          <p:cNvSpPr/>
          <p:nvPr/>
        </p:nvSpPr>
        <p:spPr>
          <a:xfrm rot="16200000">
            <a:off x="5155149" y="2860439"/>
            <a:ext cx="296090" cy="7028470"/>
          </a:xfrm>
          <a:prstGeom prst="leftBrace">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ln w="0"/>
              <a:effectLst>
                <a:outerShdw blurRad="38100" dist="19050" dir="2700000" algn="tl" rotWithShape="0">
                  <a:schemeClr val="dk1">
                    <a:alpha val="40000"/>
                  </a:schemeClr>
                </a:outerShdw>
              </a:effectLst>
            </a:endParaRPr>
          </a:p>
        </p:txBody>
      </p:sp>
      <p:sp>
        <p:nvSpPr>
          <p:cNvPr id="3" name="TextBox 2">
            <a:extLst>
              <a:ext uri="{FF2B5EF4-FFF2-40B4-BE49-F238E27FC236}">
                <a16:creationId xmlns:a16="http://schemas.microsoft.com/office/drawing/2014/main" id="{FFA3D3E4-1D63-422C-910D-E33C3039697B}"/>
              </a:ext>
            </a:extLst>
          </p:cNvPr>
          <p:cNvSpPr txBox="1"/>
          <p:nvPr/>
        </p:nvSpPr>
        <p:spPr>
          <a:xfrm>
            <a:off x="4588601" y="6477000"/>
            <a:ext cx="1431674" cy="400110"/>
          </a:xfrm>
          <a:prstGeom prst="rect">
            <a:avLst/>
          </a:prstGeom>
          <a:noFill/>
        </p:spPr>
        <p:txBody>
          <a:bodyPr wrap="none" rtlCol="0">
            <a:spAutoFit/>
          </a:bodyPr>
          <a:lstStyle/>
          <a:p>
            <a:r>
              <a:rPr lang="en-US" sz="2000" b="1"/>
              <a:t>Confirmed</a:t>
            </a:r>
            <a:endParaRPr lang="en-US" b="1"/>
          </a:p>
        </p:txBody>
      </p:sp>
    </p:spTree>
    <p:extLst>
      <p:ext uri="{BB962C8B-B14F-4D97-AF65-F5344CB8AC3E}">
        <p14:creationId xmlns:p14="http://schemas.microsoft.com/office/powerpoint/2010/main" val="3368612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Blockchain</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4261534"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085Y3</a:t>
            </a:r>
          </a:p>
        </p:txBody>
      </p:sp>
      <p:sp>
        <p:nvSpPr>
          <p:cNvPr id="8" name="TextBox 7">
            <a:extLst>
              <a:ext uri="{FF2B5EF4-FFF2-40B4-BE49-F238E27FC236}">
                <a16:creationId xmlns:a16="http://schemas.microsoft.com/office/drawing/2014/main" id="{A3BA41FB-3E6E-4FCD-8A54-1BC9AAF0BA36}"/>
              </a:ext>
            </a:extLst>
          </p:cNvPr>
          <p:cNvSpPr txBox="1"/>
          <p:nvPr/>
        </p:nvSpPr>
        <p:spPr>
          <a:xfrm>
            <a:off x="6819553"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4639746"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7197764" y="2080472"/>
            <a:ext cx="1056701" cy="400110"/>
          </a:xfrm>
          <a:prstGeom prst="rect">
            <a:avLst/>
          </a:prstGeom>
          <a:noFill/>
        </p:spPr>
        <p:txBody>
          <a:bodyPr wrap="none" rtlCol="0">
            <a:spAutoFit/>
          </a:bodyPr>
          <a:lstStyle/>
          <a:p>
            <a:pPr algn="ctr"/>
            <a:r>
              <a:rPr lang="en-US" sz="2000" b="1"/>
              <a:t>Block 3</a:t>
            </a:r>
            <a:endParaRPr lang="en-US" b="1"/>
          </a:p>
        </p:txBody>
      </p:sp>
      <p:cxnSp>
        <p:nvCxnSpPr>
          <p:cNvPr id="12" name="Straight Arrow Connector 11">
            <a:extLst>
              <a:ext uri="{FF2B5EF4-FFF2-40B4-BE49-F238E27FC236}">
                <a16:creationId xmlns:a16="http://schemas.microsoft.com/office/drawing/2014/main" id="{20090ADA-F3A1-4B3D-AC64-7E5BE4D0740B}"/>
              </a:ext>
            </a:extLst>
          </p:cNvPr>
          <p:cNvCxnSpPr>
            <a:cxnSpLocks/>
          </p:cNvCxnSpPr>
          <p:nvPr/>
        </p:nvCxnSpPr>
        <p:spPr>
          <a:xfrm flipV="1">
            <a:off x="3521747" y="3344091"/>
            <a:ext cx="852826"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5954599" y="3429000"/>
            <a:ext cx="1080046" cy="235088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703CE56-C13F-F2D9-6EB5-2F35CE2EE318}"/>
              </a:ext>
            </a:extLst>
          </p:cNvPr>
          <p:cNvSpPr txBox="1"/>
          <p:nvPr/>
        </p:nvSpPr>
        <p:spPr>
          <a:xfrm>
            <a:off x="9330688" y="303397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endParaRPr lang="en-US"/>
          </a:p>
          <a:p>
            <a:pPr algn="ctr"/>
            <a:r>
              <a:rPr lang="en-US" b="1" u="sng"/>
              <a:t>Nonce</a:t>
            </a:r>
            <a:r>
              <a:rPr lang="en-US" b="1"/>
              <a:t>: </a:t>
            </a:r>
            <a:r>
              <a:rPr lang="en-US">
                <a:solidFill>
                  <a:srgbClr val="FF0000"/>
                </a:solidFill>
              </a:rPr>
              <a:t>005315</a:t>
            </a:r>
          </a:p>
        </p:txBody>
      </p:sp>
      <p:sp>
        <p:nvSpPr>
          <p:cNvPr id="15" name="TextBox 14">
            <a:extLst>
              <a:ext uri="{FF2B5EF4-FFF2-40B4-BE49-F238E27FC236}">
                <a16:creationId xmlns:a16="http://schemas.microsoft.com/office/drawing/2014/main" id="{86175B82-509D-3756-C664-AD321FE901E6}"/>
              </a:ext>
            </a:extLst>
          </p:cNvPr>
          <p:cNvSpPr txBox="1"/>
          <p:nvPr/>
        </p:nvSpPr>
        <p:spPr>
          <a:xfrm>
            <a:off x="9373266" y="2025052"/>
            <a:ext cx="1727974" cy="707886"/>
          </a:xfrm>
          <a:prstGeom prst="rect">
            <a:avLst/>
          </a:prstGeom>
          <a:noFill/>
        </p:spPr>
        <p:txBody>
          <a:bodyPr wrap="none" rtlCol="0">
            <a:spAutoFit/>
          </a:bodyPr>
          <a:lstStyle/>
          <a:p>
            <a:pPr algn="ctr"/>
            <a:r>
              <a:rPr lang="en-US" sz="2000" b="1"/>
              <a:t>New Block</a:t>
            </a:r>
          </a:p>
          <a:p>
            <a:pPr algn="ctr"/>
            <a:r>
              <a:rPr lang="en-US" sz="2000" b="1"/>
              <a:t>No yet linked</a:t>
            </a:r>
            <a:endParaRPr lang="en-US" b="1"/>
          </a:p>
        </p:txBody>
      </p:sp>
      <p:sp>
        <p:nvSpPr>
          <p:cNvPr id="16" name="Left Brace 15">
            <a:extLst>
              <a:ext uri="{FF2B5EF4-FFF2-40B4-BE49-F238E27FC236}">
                <a16:creationId xmlns:a16="http://schemas.microsoft.com/office/drawing/2014/main" id="{EB742EFA-BBAC-4557-B848-E936D9FF1351}"/>
              </a:ext>
            </a:extLst>
          </p:cNvPr>
          <p:cNvSpPr/>
          <p:nvPr/>
        </p:nvSpPr>
        <p:spPr>
          <a:xfrm rot="16200000">
            <a:off x="5155149" y="2860439"/>
            <a:ext cx="296090" cy="7028470"/>
          </a:xfrm>
          <a:prstGeom prst="leftBrace">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ln w="0"/>
              <a:effectLst>
                <a:outerShdw blurRad="38100" dist="19050" dir="2700000" algn="tl" rotWithShape="0">
                  <a:schemeClr val="dk1">
                    <a:alpha val="40000"/>
                  </a:schemeClr>
                </a:outerShdw>
              </a:effectLst>
            </a:endParaRPr>
          </a:p>
        </p:txBody>
      </p:sp>
      <p:sp>
        <p:nvSpPr>
          <p:cNvPr id="18" name="TextBox 17">
            <a:extLst>
              <a:ext uri="{FF2B5EF4-FFF2-40B4-BE49-F238E27FC236}">
                <a16:creationId xmlns:a16="http://schemas.microsoft.com/office/drawing/2014/main" id="{1D9A2FED-F650-42BF-AB6B-D280506F1C65}"/>
              </a:ext>
            </a:extLst>
          </p:cNvPr>
          <p:cNvSpPr txBox="1"/>
          <p:nvPr/>
        </p:nvSpPr>
        <p:spPr>
          <a:xfrm>
            <a:off x="4588601" y="6477000"/>
            <a:ext cx="1431674" cy="400110"/>
          </a:xfrm>
          <a:prstGeom prst="rect">
            <a:avLst/>
          </a:prstGeom>
          <a:noFill/>
        </p:spPr>
        <p:txBody>
          <a:bodyPr wrap="none" rtlCol="0">
            <a:spAutoFit/>
          </a:bodyPr>
          <a:lstStyle/>
          <a:p>
            <a:r>
              <a:rPr lang="en-US" sz="2000" b="1"/>
              <a:t>Confirmed</a:t>
            </a:r>
            <a:endParaRPr lang="en-US" b="1"/>
          </a:p>
        </p:txBody>
      </p:sp>
    </p:spTree>
    <p:extLst>
      <p:ext uri="{BB962C8B-B14F-4D97-AF65-F5344CB8AC3E}">
        <p14:creationId xmlns:p14="http://schemas.microsoft.com/office/powerpoint/2010/main" val="1262956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5354"/>
            <a:ext cx="9762898" cy="1219200"/>
          </a:xfrm>
        </p:spPr>
        <p:txBody>
          <a:bodyPr anchor="ctr">
            <a:normAutofit/>
          </a:bodyPr>
          <a:lstStyle/>
          <a:p>
            <a:r>
              <a:rPr lang="en-US" sz="4000" b="1">
                <a:latin typeface="National semibold" panose="02000503000000020004"/>
              </a:rPr>
              <a:t>Who is the winning miner?</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a:latin typeface="National semibold" panose="02000503000000020004"/>
              </a:rPr>
              <a:t>The first miner who finds a hash number for the block that contains only zeros in the first </a:t>
            </a:r>
            <a:r>
              <a:rPr lang="en-US" b="1">
                <a:solidFill>
                  <a:srgbClr val="FF0000"/>
                </a:solidFill>
                <a:latin typeface="National semibold" panose="02000503000000020004"/>
              </a:rPr>
              <a:t>N</a:t>
            </a:r>
            <a:r>
              <a:rPr lang="en-US">
                <a:latin typeface="National semibold" panose="02000503000000020004"/>
              </a:rPr>
              <a:t> digits.</a:t>
            </a:r>
          </a:p>
        </p:txBody>
      </p:sp>
    </p:spTree>
    <p:extLst>
      <p:ext uri="{BB962C8B-B14F-4D97-AF65-F5344CB8AC3E}">
        <p14:creationId xmlns:p14="http://schemas.microsoft.com/office/powerpoint/2010/main" val="2553951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Guessing the Nonce – Hash with one zero</a:t>
            </a:r>
          </a:p>
        </p:txBody>
      </p:sp>
      <p:sp>
        <p:nvSpPr>
          <p:cNvPr id="14" name="TextBox 13">
            <a:extLst>
              <a:ext uri="{FF2B5EF4-FFF2-40B4-BE49-F238E27FC236}">
                <a16:creationId xmlns:a16="http://schemas.microsoft.com/office/drawing/2014/main" id="{0703CE56-C13F-F2D9-6EB5-2F35CE2EE318}"/>
              </a:ext>
            </a:extLst>
          </p:cNvPr>
          <p:cNvSpPr txBox="1"/>
          <p:nvPr/>
        </p:nvSpPr>
        <p:spPr>
          <a:xfrm>
            <a:off x="3376598" y="2784588"/>
            <a:ext cx="1813125" cy="2862322"/>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r>
              <a:rPr lang="en-US" b="1" u="sng"/>
              <a:t>Nonce</a:t>
            </a:r>
            <a:r>
              <a:rPr lang="en-US" b="1"/>
              <a:t>: </a:t>
            </a:r>
            <a:r>
              <a:rPr lang="en-US">
                <a:solidFill>
                  <a:srgbClr val="FF0000"/>
                </a:solidFill>
              </a:rPr>
              <a:t>005315</a:t>
            </a:r>
          </a:p>
        </p:txBody>
      </p:sp>
      <p:cxnSp>
        <p:nvCxnSpPr>
          <p:cNvPr id="3" name="Straight Arrow Connector 2">
            <a:extLst>
              <a:ext uri="{FF2B5EF4-FFF2-40B4-BE49-F238E27FC236}">
                <a16:creationId xmlns:a16="http://schemas.microsoft.com/office/drawing/2014/main" id="{FA1FEB24-4D25-6E7A-94A0-3009A161C185}"/>
              </a:ext>
            </a:extLst>
          </p:cNvPr>
          <p:cNvCxnSpPr>
            <a:cxnSpLocks/>
            <a:stCxn id="14" idx="3"/>
            <a:endCxn id="9" idx="1"/>
          </p:cNvCxnSpPr>
          <p:nvPr/>
        </p:nvCxnSpPr>
        <p:spPr>
          <a:xfrm flipV="1">
            <a:off x="5189723" y="4210415"/>
            <a:ext cx="3029385" cy="53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EE7EF-2A95-6A74-F94F-066BC9F54DF1}"/>
              </a:ext>
            </a:extLst>
          </p:cNvPr>
          <p:cNvSpPr txBox="1"/>
          <p:nvPr/>
        </p:nvSpPr>
        <p:spPr>
          <a:xfrm>
            <a:off x="8219108" y="4025749"/>
            <a:ext cx="822661" cy="369332"/>
          </a:xfrm>
          <a:prstGeom prst="rect">
            <a:avLst/>
          </a:prstGeom>
          <a:noFill/>
          <a:ln w="12700">
            <a:solidFill>
              <a:schemeClr val="tx1"/>
            </a:solidFill>
          </a:ln>
        </p:spPr>
        <p:txBody>
          <a:bodyPr wrap="none" rtlCol="0">
            <a:spAutoFit/>
          </a:bodyPr>
          <a:lstStyle/>
          <a:p>
            <a:r>
              <a:rPr lang="en-US">
                <a:solidFill>
                  <a:srgbClr val="FF0000"/>
                </a:solidFill>
              </a:rPr>
              <a:t>5F7C4</a:t>
            </a:r>
          </a:p>
        </p:txBody>
      </p:sp>
      <p:sp>
        <p:nvSpPr>
          <p:cNvPr id="19" name="TextBox 18">
            <a:extLst>
              <a:ext uri="{FF2B5EF4-FFF2-40B4-BE49-F238E27FC236}">
                <a16:creationId xmlns:a16="http://schemas.microsoft.com/office/drawing/2014/main" id="{39803140-A17C-A45C-55EC-24372937CCDF}"/>
              </a:ext>
            </a:extLst>
          </p:cNvPr>
          <p:cNvSpPr txBox="1"/>
          <p:nvPr/>
        </p:nvSpPr>
        <p:spPr>
          <a:xfrm>
            <a:off x="5698370" y="3592501"/>
            <a:ext cx="2012089" cy="461665"/>
          </a:xfrm>
          <a:prstGeom prst="rect">
            <a:avLst/>
          </a:prstGeom>
          <a:noFill/>
        </p:spPr>
        <p:txBody>
          <a:bodyPr wrap="none" rtlCol="0">
            <a:spAutoFit/>
          </a:bodyPr>
          <a:lstStyle/>
          <a:p>
            <a:r>
              <a:rPr lang="en-US" sz="2400"/>
              <a:t>Hash function</a:t>
            </a:r>
            <a:endParaRPr lang="en-US"/>
          </a:p>
        </p:txBody>
      </p:sp>
    </p:spTree>
    <p:extLst>
      <p:ext uri="{BB962C8B-B14F-4D97-AF65-F5344CB8AC3E}">
        <p14:creationId xmlns:p14="http://schemas.microsoft.com/office/powerpoint/2010/main" val="209954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Guessing the Nonce – Hash with one zero</a:t>
            </a:r>
          </a:p>
        </p:txBody>
      </p:sp>
      <p:sp>
        <p:nvSpPr>
          <p:cNvPr id="14" name="TextBox 13">
            <a:extLst>
              <a:ext uri="{FF2B5EF4-FFF2-40B4-BE49-F238E27FC236}">
                <a16:creationId xmlns:a16="http://schemas.microsoft.com/office/drawing/2014/main" id="{0703CE56-C13F-F2D9-6EB5-2F35CE2EE318}"/>
              </a:ext>
            </a:extLst>
          </p:cNvPr>
          <p:cNvSpPr txBox="1"/>
          <p:nvPr/>
        </p:nvSpPr>
        <p:spPr>
          <a:xfrm>
            <a:off x="3376598" y="2784588"/>
            <a:ext cx="1813125" cy="2862322"/>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r>
              <a:rPr lang="en-US" b="1" u="sng"/>
              <a:t>Nonce</a:t>
            </a:r>
            <a:r>
              <a:rPr lang="en-US" b="1"/>
              <a:t>: </a:t>
            </a:r>
            <a:r>
              <a:rPr lang="en-US">
                <a:solidFill>
                  <a:srgbClr val="FF0000"/>
                </a:solidFill>
              </a:rPr>
              <a:t>005315</a:t>
            </a:r>
          </a:p>
        </p:txBody>
      </p:sp>
    </p:spTree>
    <p:extLst>
      <p:ext uri="{BB962C8B-B14F-4D97-AF65-F5344CB8AC3E}">
        <p14:creationId xmlns:p14="http://schemas.microsoft.com/office/powerpoint/2010/main" val="4189896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Guessing the Nonce – Hash with one zero</a:t>
            </a:r>
          </a:p>
        </p:txBody>
      </p:sp>
      <p:sp>
        <p:nvSpPr>
          <p:cNvPr id="14" name="TextBox 13">
            <a:extLst>
              <a:ext uri="{FF2B5EF4-FFF2-40B4-BE49-F238E27FC236}">
                <a16:creationId xmlns:a16="http://schemas.microsoft.com/office/drawing/2014/main" id="{0703CE56-C13F-F2D9-6EB5-2F35CE2EE318}"/>
              </a:ext>
            </a:extLst>
          </p:cNvPr>
          <p:cNvSpPr txBox="1"/>
          <p:nvPr/>
        </p:nvSpPr>
        <p:spPr>
          <a:xfrm>
            <a:off x="3376601" y="2784588"/>
            <a:ext cx="1813125" cy="2862322"/>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r>
              <a:rPr lang="en-US" b="1" u="sng"/>
              <a:t>Nonce</a:t>
            </a:r>
            <a:r>
              <a:rPr lang="en-US" b="1"/>
              <a:t>: </a:t>
            </a:r>
            <a:r>
              <a:rPr lang="en-US">
                <a:solidFill>
                  <a:srgbClr val="FF0000"/>
                </a:solidFill>
              </a:rPr>
              <a:t>785315</a:t>
            </a:r>
          </a:p>
        </p:txBody>
      </p:sp>
      <p:cxnSp>
        <p:nvCxnSpPr>
          <p:cNvPr id="3" name="Straight Arrow Connector 2">
            <a:extLst>
              <a:ext uri="{FF2B5EF4-FFF2-40B4-BE49-F238E27FC236}">
                <a16:creationId xmlns:a16="http://schemas.microsoft.com/office/drawing/2014/main" id="{FA1FEB24-4D25-6E7A-94A0-3009A161C185}"/>
              </a:ext>
            </a:extLst>
          </p:cNvPr>
          <p:cNvCxnSpPr>
            <a:cxnSpLocks/>
            <a:stCxn id="14" idx="3"/>
            <a:endCxn id="9" idx="1"/>
          </p:cNvCxnSpPr>
          <p:nvPr/>
        </p:nvCxnSpPr>
        <p:spPr>
          <a:xfrm>
            <a:off x="5189726" y="4215749"/>
            <a:ext cx="3029385" cy="35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EE7EF-2A95-6A74-F94F-066BC9F54DF1}"/>
              </a:ext>
            </a:extLst>
          </p:cNvPr>
          <p:cNvSpPr txBox="1"/>
          <p:nvPr/>
        </p:nvSpPr>
        <p:spPr>
          <a:xfrm>
            <a:off x="8219111" y="4034623"/>
            <a:ext cx="837089" cy="369332"/>
          </a:xfrm>
          <a:prstGeom prst="rect">
            <a:avLst/>
          </a:prstGeom>
          <a:noFill/>
          <a:ln w="12700">
            <a:solidFill>
              <a:schemeClr val="tx1"/>
            </a:solidFill>
          </a:ln>
        </p:spPr>
        <p:txBody>
          <a:bodyPr wrap="none" rtlCol="0">
            <a:spAutoFit/>
          </a:bodyPr>
          <a:lstStyle/>
          <a:p>
            <a:r>
              <a:rPr lang="en-US">
                <a:solidFill>
                  <a:srgbClr val="FF0000"/>
                </a:solidFill>
              </a:rPr>
              <a:t>Y59T3</a:t>
            </a:r>
          </a:p>
        </p:txBody>
      </p:sp>
      <p:sp>
        <p:nvSpPr>
          <p:cNvPr id="19" name="TextBox 18">
            <a:extLst>
              <a:ext uri="{FF2B5EF4-FFF2-40B4-BE49-F238E27FC236}">
                <a16:creationId xmlns:a16="http://schemas.microsoft.com/office/drawing/2014/main" id="{39803140-A17C-A45C-55EC-24372937CCDF}"/>
              </a:ext>
            </a:extLst>
          </p:cNvPr>
          <p:cNvSpPr txBox="1"/>
          <p:nvPr/>
        </p:nvSpPr>
        <p:spPr>
          <a:xfrm>
            <a:off x="5698373" y="3592501"/>
            <a:ext cx="2012089" cy="461665"/>
          </a:xfrm>
          <a:prstGeom prst="rect">
            <a:avLst/>
          </a:prstGeom>
          <a:noFill/>
        </p:spPr>
        <p:txBody>
          <a:bodyPr wrap="none" rtlCol="0">
            <a:spAutoFit/>
          </a:bodyPr>
          <a:lstStyle/>
          <a:p>
            <a:r>
              <a:rPr lang="en-US" sz="2400"/>
              <a:t>Hash function</a:t>
            </a:r>
            <a:endParaRPr lang="en-US"/>
          </a:p>
        </p:txBody>
      </p:sp>
    </p:spTree>
    <p:extLst>
      <p:ext uri="{BB962C8B-B14F-4D97-AF65-F5344CB8AC3E}">
        <p14:creationId xmlns:p14="http://schemas.microsoft.com/office/powerpoint/2010/main" val="2004047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Guessing the Nonce – Hash with one zero</a:t>
            </a:r>
          </a:p>
        </p:txBody>
      </p:sp>
      <p:sp>
        <p:nvSpPr>
          <p:cNvPr id="14" name="TextBox 13">
            <a:extLst>
              <a:ext uri="{FF2B5EF4-FFF2-40B4-BE49-F238E27FC236}">
                <a16:creationId xmlns:a16="http://schemas.microsoft.com/office/drawing/2014/main" id="{0703CE56-C13F-F2D9-6EB5-2F35CE2EE318}"/>
              </a:ext>
            </a:extLst>
          </p:cNvPr>
          <p:cNvSpPr txBox="1"/>
          <p:nvPr/>
        </p:nvSpPr>
        <p:spPr>
          <a:xfrm>
            <a:off x="3376601" y="2784588"/>
            <a:ext cx="1813125" cy="2862322"/>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r>
              <a:rPr lang="en-US" b="1" u="sng"/>
              <a:t>Nonce</a:t>
            </a:r>
            <a:r>
              <a:rPr lang="en-US" b="1"/>
              <a:t>: </a:t>
            </a:r>
            <a:r>
              <a:rPr lang="en-US">
                <a:solidFill>
                  <a:srgbClr val="FF0000"/>
                </a:solidFill>
              </a:rPr>
              <a:t>785315</a:t>
            </a:r>
          </a:p>
        </p:txBody>
      </p:sp>
    </p:spTree>
    <p:extLst>
      <p:ext uri="{BB962C8B-B14F-4D97-AF65-F5344CB8AC3E}">
        <p14:creationId xmlns:p14="http://schemas.microsoft.com/office/powerpoint/2010/main" val="894424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Guessing the Nonce – Hash with one zero</a:t>
            </a:r>
          </a:p>
        </p:txBody>
      </p:sp>
      <p:sp>
        <p:nvSpPr>
          <p:cNvPr id="14" name="TextBox 13">
            <a:extLst>
              <a:ext uri="{FF2B5EF4-FFF2-40B4-BE49-F238E27FC236}">
                <a16:creationId xmlns:a16="http://schemas.microsoft.com/office/drawing/2014/main" id="{0703CE56-C13F-F2D9-6EB5-2F35CE2EE318}"/>
              </a:ext>
            </a:extLst>
          </p:cNvPr>
          <p:cNvSpPr txBox="1"/>
          <p:nvPr/>
        </p:nvSpPr>
        <p:spPr>
          <a:xfrm>
            <a:off x="3376601" y="2784588"/>
            <a:ext cx="1813125" cy="2862322"/>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r>
              <a:rPr lang="en-US" b="1" u="sng"/>
              <a:t>Nonce</a:t>
            </a:r>
            <a:r>
              <a:rPr lang="en-US" b="1"/>
              <a:t>: </a:t>
            </a:r>
            <a:r>
              <a:rPr lang="en-US">
                <a:solidFill>
                  <a:srgbClr val="FF0000"/>
                </a:solidFill>
              </a:rPr>
              <a:t>374826</a:t>
            </a:r>
          </a:p>
        </p:txBody>
      </p:sp>
      <p:cxnSp>
        <p:nvCxnSpPr>
          <p:cNvPr id="3" name="Straight Arrow Connector 2">
            <a:extLst>
              <a:ext uri="{FF2B5EF4-FFF2-40B4-BE49-F238E27FC236}">
                <a16:creationId xmlns:a16="http://schemas.microsoft.com/office/drawing/2014/main" id="{FA1FEB24-4D25-6E7A-94A0-3009A161C185}"/>
              </a:ext>
            </a:extLst>
          </p:cNvPr>
          <p:cNvCxnSpPr>
            <a:cxnSpLocks/>
            <a:stCxn id="14" idx="3"/>
            <a:endCxn id="9" idx="1"/>
          </p:cNvCxnSpPr>
          <p:nvPr/>
        </p:nvCxnSpPr>
        <p:spPr>
          <a:xfrm>
            <a:off x="5189726" y="4215749"/>
            <a:ext cx="3029385" cy="35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EE7EF-2A95-6A74-F94F-066BC9F54DF1}"/>
              </a:ext>
            </a:extLst>
          </p:cNvPr>
          <p:cNvSpPr txBox="1"/>
          <p:nvPr/>
        </p:nvSpPr>
        <p:spPr>
          <a:xfrm>
            <a:off x="8219111" y="4034623"/>
            <a:ext cx="869149" cy="369332"/>
          </a:xfrm>
          <a:prstGeom prst="rect">
            <a:avLst/>
          </a:prstGeom>
          <a:noFill/>
          <a:ln w="12700">
            <a:solidFill>
              <a:schemeClr val="tx1"/>
            </a:solidFill>
          </a:ln>
        </p:spPr>
        <p:txBody>
          <a:bodyPr wrap="none" rtlCol="0">
            <a:spAutoFit/>
          </a:bodyPr>
          <a:lstStyle/>
          <a:p>
            <a:r>
              <a:rPr lang="en-US">
                <a:solidFill>
                  <a:srgbClr val="FF0000"/>
                </a:solidFill>
              </a:rPr>
              <a:t>0HK5L</a:t>
            </a:r>
            <a:endParaRPr lang="en-US"/>
          </a:p>
        </p:txBody>
      </p:sp>
      <p:sp>
        <p:nvSpPr>
          <p:cNvPr id="19" name="TextBox 18">
            <a:extLst>
              <a:ext uri="{FF2B5EF4-FFF2-40B4-BE49-F238E27FC236}">
                <a16:creationId xmlns:a16="http://schemas.microsoft.com/office/drawing/2014/main" id="{39803140-A17C-A45C-55EC-24372937CCDF}"/>
              </a:ext>
            </a:extLst>
          </p:cNvPr>
          <p:cNvSpPr txBox="1"/>
          <p:nvPr/>
        </p:nvSpPr>
        <p:spPr>
          <a:xfrm>
            <a:off x="5698373" y="3592501"/>
            <a:ext cx="2012089" cy="461665"/>
          </a:xfrm>
          <a:prstGeom prst="rect">
            <a:avLst/>
          </a:prstGeom>
          <a:noFill/>
        </p:spPr>
        <p:txBody>
          <a:bodyPr wrap="none" rtlCol="0">
            <a:spAutoFit/>
          </a:bodyPr>
          <a:lstStyle/>
          <a:p>
            <a:r>
              <a:rPr lang="en-US" sz="2400"/>
              <a:t>Hash function</a:t>
            </a:r>
            <a:endParaRPr lang="en-US"/>
          </a:p>
        </p:txBody>
      </p:sp>
    </p:spTree>
    <p:extLst>
      <p:ext uri="{BB962C8B-B14F-4D97-AF65-F5344CB8AC3E}">
        <p14:creationId xmlns:p14="http://schemas.microsoft.com/office/powerpoint/2010/main" val="3027999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Winning miner</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lnSpcReduction="10000"/>
          </a:bodyPr>
          <a:lstStyle/>
          <a:p>
            <a:r>
              <a:rPr lang="en-US">
                <a:latin typeface="National semibold" panose="02000503000000020004"/>
              </a:rPr>
              <a:t>The winning miner sends the block with the </a:t>
            </a:r>
            <a:r>
              <a:rPr lang="en-US" b="1">
                <a:solidFill>
                  <a:srgbClr val="FF0000"/>
                </a:solidFill>
                <a:latin typeface="National semibold" panose="02000503000000020004"/>
              </a:rPr>
              <a:t>Nonce</a:t>
            </a:r>
            <a:r>
              <a:rPr lang="en-US">
                <a:latin typeface="National semibold" panose="02000503000000020004"/>
              </a:rPr>
              <a:t> to all nodes. This is the </a:t>
            </a:r>
            <a:r>
              <a:rPr lang="en-US" b="1" u="sng">
                <a:latin typeface="National semibold" panose="02000503000000020004"/>
              </a:rPr>
              <a:t>proof-of-work</a:t>
            </a:r>
            <a:r>
              <a:rPr lang="en-US">
                <a:latin typeface="National semibold" panose="02000503000000020004"/>
              </a:rPr>
              <a:t>.</a:t>
            </a:r>
          </a:p>
          <a:p>
            <a:endParaRPr lang="en-US">
              <a:latin typeface="National semibold" panose="02000503000000020004"/>
            </a:endParaRPr>
          </a:p>
          <a:p>
            <a:r>
              <a:rPr lang="en-US">
                <a:latin typeface="National semibold" panose="02000503000000020004"/>
              </a:rPr>
              <a:t>The nodes check whether the solution is valid. They also verify the validity of all transactions included in the block. </a:t>
            </a:r>
          </a:p>
          <a:p>
            <a:endParaRPr lang="en-US">
              <a:latin typeface="National semibold" panose="02000503000000020004"/>
            </a:endParaRPr>
          </a:p>
          <a:p>
            <a:r>
              <a:rPr lang="en-US">
                <a:latin typeface="National semibold" panose="02000503000000020004"/>
              </a:rPr>
              <a:t>If 50% of the nodes confirm validity, the block is added to the chain. </a:t>
            </a:r>
          </a:p>
          <a:p>
            <a:endParaRPr lang="en-US">
              <a:latin typeface="National semibold" panose="02000503000000020004"/>
            </a:endParaRPr>
          </a:p>
          <a:p>
            <a:r>
              <a:rPr lang="en-US">
                <a:latin typeface="National semibold" panose="02000503000000020004"/>
              </a:rPr>
              <a:t>The digital wallet of the winning miner gets credited with newly minted coins and/or with transaction fees paid by users.  </a:t>
            </a:r>
          </a:p>
        </p:txBody>
      </p:sp>
    </p:spTree>
    <p:extLst>
      <p:ext uri="{BB962C8B-B14F-4D97-AF65-F5344CB8AC3E}">
        <p14:creationId xmlns:p14="http://schemas.microsoft.com/office/powerpoint/2010/main" val="288296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Blockchain</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4261534"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085Y3</a:t>
            </a:r>
          </a:p>
        </p:txBody>
      </p:sp>
      <p:sp>
        <p:nvSpPr>
          <p:cNvPr id="8" name="TextBox 7">
            <a:extLst>
              <a:ext uri="{FF2B5EF4-FFF2-40B4-BE49-F238E27FC236}">
                <a16:creationId xmlns:a16="http://schemas.microsoft.com/office/drawing/2014/main" id="{A3BA41FB-3E6E-4FCD-8A54-1BC9AAF0BA36}"/>
              </a:ext>
            </a:extLst>
          </p:cNvPr>
          <p:cNvSpPr txBox="1"/>
          <p:nvPr/>
        </p:nvSpPr>
        <p:spPr>
          <a:xfrm>
            <a:off x="6819553"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4639746"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7197764" y="2080472"/>
            <a:ext cx="1056701" cy="400110"/>
          </a:xfrm>
          <a:prstGeom prst="rect">
            <a:avLst/>
          </a:prstGeom>
          <a:noFill/>
        </p:spPr>
        <p:txBody>
          <a:bodyPr wrap="none" rtlCol="0">
            <a:spAutoFit/>
          </a:bodyPr>
          <a:lstStyle/>
          <a:p>
            <a:pPr algn="ctr"/>
            <a:r>
              <a:rPr lang="en-US" sz="2000" b="1"/>
              <a:t>Block 3</a:t>
            </a:r>
            <a:endParaRPr lang="en-US" b="1"/>
          </a:p>
        </p:txBody>
      </p:sp>
      <p:cxnSp>
        <p:nvCxnSpPr>
          <p:cNvPr id="12" name="Straight Arrow Connector 11">
            <a:extLst>
              <a:ext uri="{FF2B5EF4-FFF2-40B4-BE49-F238E27FC236}">
                <a16:creationId xmlns:a16="http://schemas.microsoft.com/office/drawing/2014/main" id="{20090ADA-F3A1-4B3D-AC64-7E5BE4D0740B}"/>
              </a:ext>
            </a:extLst>
          </p:cNvPr>
          <p:cNvCxnSpPr>
            <a:cxnSpLocks/>
          </p:cNvCxnSpPr>
          <p:nvPr/>
        </p:nvCxnSpPr>
        <p:spPr>
          <a:xfrm flipV="1">
            <a:off x="3521747" y="3344091"/>
            <a:ext cx="852826"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5954599" y="3429000"/>
            <a:ext cx="1080046" cy="235088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Left Brace 1">
            <a:extLst>
              <a:ext uri="{FF2B5EF4-FFF2-40B4-BE49-F238E27FC236}">
                <a16:creationId xmlns:a16="http://schemas.microsoft.com/office/drawing/2014/main" id="{FA561EC3-C447-4BC9-ACF5-0FC23C10EBD5}"/>
              </a:ext>
            </a:extLst>
          </p:cNvPr>
          <p:cNvSpPr/>
          <p:nvPr/>
        </p:nvSpPr>
        <p:spPr>
          <a:xfrm rot="16200000">
            <a:off x="5155149" y="2860439"/>
            <a:ext cx="296090" cy="7028470"/>
          </a:xfrm>
          <a:prstGeom prst="leftBrace">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ln w="0"/>
              <a:effectLst>
                <a:outerShdw blurRad="38100" dist="19050" dir="2700000" algn="tl" rotWithShape="0">
                  <a:schemeClr val="dk1">
                    <a:alpha val="40000"/>
                  </a:schemeClr>
                </a:outerShdw>
              </a:effectLst>
            </a:endParaRPr>
          </a:p>
        </p:txBody>
      </p:sp>
      <p:sp>
        <p:nvSpPr>
          <p:cNvPr id="3" name="TextBox 2">
            <a:extLst>
              <a:ext uri="{FF2B5EF4-FFF2-40B4-BE49-F238E27FC236}">
                <a16:creationId xmlns:a16="http://schemas.microsoft.com/office/drawing/2014/main" id="{FFA3D3E4-1D63-422C-910D-E33C3039697B}"/>
              </a:ext>
            </a:extLst>
          </p:cNvPr>
          <p:cNvSpPr txBox="1"/>
          <p:nvPr/>
        </p:nvSpPr>
        <p:spPr>
          <a:xfrm>
            <a:off x="4588601" y="6477000"/>
            <a:ext cx="1431674" cy="400110"/>
          </a:xfrm>
          <a:prstGeom prst="rect">
            <a:avLst/>
          </a:prstGeom>
          <a:noFill/>
        </p:spPr>
        <p:txBody>
          <a:bodyPr wrap="none" rtlCol="0">
            <a:spAutoFit/>
          </a:bodyPr>
          <a:lstStyle/>
          <a:p>
            <a:r>
              <a:rPr lang="en-US" sz="2000" b="1"/>
              <a:t>Confirmed</a:t>
            </a:r>
            <a:endParaRPr lang="en-US" b="1"/>
          </a:p>
        </p:txBody>
      </p:sp>
    </p:spTree>
    <p:extLst>
      <p:ext uri="{BB962C8B-B14F-4D97-AF65-F5344CB8AC3E}">
        <p14:creationId xmlns:p14="http://schemas.microsoft.com/office/powerpoint/2010/main" val="2678041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Blockchain after addition of new block</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4261534"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085Y3</a:t>
            </a:r>
          </a:p>
        </p:txBody>
      </p:sp>
      <p:sp>
        <p:nvSpPr>
          <p:cNvPr id="8" name="TextBox 7">
            <a:extLst>
              <a:ext uri="{FF2B5EF4-FFF2-40B4-BE49-F238E27FC236}">
                <a16:creationId xmlns:a16="http://schemas.microsoft.com/office/drawing/2014/main" id="{A3BA41FB-3E6E-4FCD-8A54-1BC9AAF0BA36}"/>
              </a:ext>
            </a:extLst>
          </p:cNvPr>
          <p:cNvSpPr txBox="1"/>
          <p:nvPr/>
        </p:nvSpPr>
        <p:spPr>
          <a:xfrm>
            <a:off x="6819553"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4639746"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7197764" y="2080472"/>
            <a:ext cx="1056701" cy="400110"/>
          </a:xfrm>
          <a:prstGeom prst="rect">
            <a:avLst/>
          </a:prstGeom>
          <a:noFill/>
        </p:spPr>
        <p:txBody>
          <a:bodyPr wrap="none" rtlCol="0">
            <a:spAutoFit/>
          </a:bodyPr>
          <a:lstStyle/>
          <a:p>
            <a:pPr algn="ctr"/>
            <a:r>
              <a:rPr lang="en-US" sz="2000" b="1"/>
              <a:t>Block 3</a:t>
            </a:r>
            <a:endParaRPr lang="en-US" b="1"/>
          </a:p>
        </p:txBody>
      </p:sp>
      <p:cxnSp>
        <p:nvCxnSpPr>
          <p:cNvPr id="12" name="Straight Arrow Connector 11">
            <a:extLst>
              <a:ext uri="{FF2B5EF4-FFF2-40B4-BE49-F238E27FC236}">
                <a16:creationId xmlns:a16="http://schemas.microsoft.com/office/drawing/2014/main" id="{20090ADA-F3A1-4B3D-AC64-7E5BE4D0740B}"/>
              </a:ext>
            </a:extLst>
          </p:cNvPr>
          <p:cNvCxnSpPr>
            <a:cxnSpLocks/>
          </p:cNvCxnSpPr>
          <p:nvPr/>
        </p:nvCxnSpPr>
        <p:spPr>
          <a:xfrm flipV="1">
            <a:off x="3521747" y="3344091"/>
            <a:ext cx="852826"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5954599" y="3429000"/>
            <a:ext cx="1080046" cy="235088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703CE56-C13F-F2D9-6EB5-2F35CE2EE318}"/>
              </a:ext>
            </a:extLst>
          </p:cNvPr>
          <p:cNvSpPr txBox="1"/>
          <p:nvPr/>
        </p:nvSpPr>
        <p:spPr>
          <a:xfrm>
            <a:off x="9330688" y="303397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0HK5L</a:t>
            </a:r>
          </a:p>
        </p:txBody>
      </p:sp>
      <p:sp>
        <p:nvSpPr>
          <p:cNvPr id="15" name="TextBox 14">
            <a:extLst>
              <a:ext uri="{FF2B5EF4-FFF2-40B4-BE49-F238E27FC236}">
                <a16:creationId xmlns:a16="http://schemas.microsoft.com/office/drawing/2014/main" id="{86175B82-509D-3756-C664-AD321FE901E6}"/>
              </a:ext>
            </a:extLst>
          </p:cNvPr>
          <p:cNvSpPr txBox="1"/>
          <p:nvPr/>
        </p:nvSpPr>
        <p:spPr>
          <a:xfrm>
            <a:off x="9708904" y="2066617"/>
            <a:ext cx="1056701" cy="400110"/>
          </a:xfrm>
          <a:prstGeom prst="rect">
            <a:avLst/>
          </a:prstGeom>
          <a:noFill/>
        </p:spPr>
        <p:txBody>
          <a:bodyPr wrap="none" rtlCol="0">
            <a:spAutoFit/>
          </a:bodyPr>
          <a:lstStyle/>
          <a:p>
            <a:pPr algn="ctr"/>
            <a:r>
              <a:rPr lang="en-US" sz="2000" b="1"/>
              <a:t>Block 4</a:t>
            </a:r>
            <a:endParaRPr lang="en-US" b="1"/>
          </a:p>
        </p:txBody>
      </p:sp>
      <p:cxnSp>
        <p:nvCxnSpPr>
          <p:cNvPr id="16" name="Straight Arrow Connector 15">
            <a:extLst>
              <a:ext uri="{FF2B5EF4-FFF2-40B4-BE49-F238E27FC236}">
                <a16:creationId xmlns:a16="http://schemas.microsoft.com/office/drawing/2014/main" id="{0B1E30D2-8C2E-F187-78EC-0D7165CBB3E5}"/>
              </a:ext>
            </a:extLst>
          </p:cNvPr>
          <p:cNvCxnSpPr>
            <a:cxnSpLocks/>
          </p:cNvCxnSpPr>
          <p:nvPr/>
        </p:nvCxnSpPr>
        <p:spPr>
          <a:xfrm flipV="1">
            <a:off x="8434567" y="3442850"/>
            <a:ext cx="1080046" cy="235088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Left Brace 17">
            <a:extLst>
              <a:ext uri="{FF2B5EF4-FFF2-40B4-BE49-F238E27FC236}">
                <a16:creationId xmlns:a16="http://schemas.microsoft.com/office/drawing/2014/main" id="{8309B16B-E0C8-4BA7-92A8-5D1616CA4D88}"/>
              </a:ext>
            </a:extLst>
          </p:cNvPr>
          <p:cNvSpPr/>
          <p:nvPr/>
        </p:nvSpPr>
        <p:spPr>
          <a:xfrm rot="16200000">
            <a:off x="6402420" y="1598022"/>
            <a:ext cx="179223" cy="9436438"/>
          </a:xfrm>
          <a:prstGeom prst="leftBrace">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ln w="0"/>
              <a:effectLst>
                <a:outerShdw blurRad="38100" dist="19050" dir="2700000" algn="tl" rotWithShape="0">
                  <a:schemeClr val="dk1">
                    <a:alpha val="40000"/>
                  </a:schemeClr>
                </a:outerShdw>
              </a:effectLst>
            </a:endParaRPr>
          </a:p>
        </p:txBody>
      </p:sp>
      <p:sp>
        <p:nvSpPr>
          <p:cNvPr id="19" name="TextBox 18">
            <a:extLst>
              <a:ext uri="{FF2B5EF4-FFF2-40B4-BE49-F238E27FC236}">
                <a16:creationId xmlns:a16="http://schemas.microsoft.com/office/drawing/2014/main" id="{0E02A332-E238-4E88-B035-A80DCFCE07C1}"/>
              </a:ext>
            </a:extLst>
          </p:cNvPr>
          <p:cNvSpPr txBox="1"/>
          <p:nvPr/>
        </p:nvSpPr>
        <p:spPr>
          <a:xfrm>
            <a:off x="5785924" y="6477000"/>
            <a:ext cx="1922168" cy="400110"/>
          </a:xfrm>
          <a:prstGeom prst="rect">
            <a:avLst/>
          </a:prstGeom>
          <a:noFill/>
        </p:spPr>
        <p:txBody>
          <a:bodyPr wrap="square" rtlCol="0">
            <a:spAutoFit/>
          </a:bodyPr>
          <a:lstStyle/>
          <a:p>
            <a:r>
              <a:rPr lang="en-US" sz="2000" b="1"/>
              <a:t>Confirmed</a:t>
            </a:r>
            <a:endParaRPr lang="en-US" b="1"/>
          </a:p>
        </p:txBody>
      </p:sp>
    </p:spTree>
    <p:extLst>
      <p:ext uri="{BB962C8B-B14F-4D97-AF65-F5344CB8AC3E}">
        <p14:creationId xmlns:p14="http://schemas.microsoft.com/office/powerpoint/2010/main" val="312471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Interactive example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460267" y="2041865"/>
            <a:ext cx="10197582" cy="4261282"/>
          </a:xfrm>
        </p:spPr>
        <p:txBody>
          <a:bodyPr>
            <a:normAutofit/>
          </a:bodyPr>
          <a:lstStyle/>
          <a:p>
            <a:pPr marL="0" indent="0">
              <a:buNone/>
            </a:pPr>
            <a:endParaRPr lang="en-US">
              <a:latin typeface="National semibold" panose="02000503000000020004"/>
            </a:endParaRPr>
          </a:p>
          <a:p>
            <a:pPr marL="0" indent="0">
              <a:buNone/>
            </a:pPr>
            <a:endParaRPr lang="en-US">
              <a:latin typeface="National semibold" panose="02000503000000020004"/>
              <a:hlinkClick r:id="rId2"/>
            </a:endParaRPr>
          </a:p>
          <a:p>
            <a:pPr marL="0" indent="0">
              <a:buNone/>
            </a:pPr>
            <a:endParaRPr lang="en-US">
              <a:latin typeface="National semibold" panose="02000503000000020004"/>
              <a:hlinkClick r:id="rId2"/>
            </a:endParaRPr>
          </a:p>
          <a:p>
            <a:pPr marL="0" indent="0" algn="ctr">
              <a:buNone/>
            </a:pPr>
            <a:r>
              <a:rPr lang="en-US">
                <a:latin typeface="National semibold" panose="02000503000000020004"/>
                <a:hlinkClick r:id="rId3"/>
              </a:rPr>
              <a:t>Link to blockchain example on google sheets</a:t>
            </a:r>
            <a:endParaRPr lang="en-US">
              <a:latin typeface="National semibold" panose="02000503000000020004"/>
              <a:hlinkClick r:id="rId2"/>
            </a:endParaRPr>
          </a:p>
          <a:p>
            <a:pPr marL="0" indent="0">
              <a:buNone/>
            </a:pPr>
            <a:endParaRPr lang="en-US">
              <a:latin typeface="National semibold" panose="02000503000000020004"/>
              <a:hlinkClick r:id="rId2"/>
            </a:endParaRPr>
          </a:p>
        </p:txBody>
      </p:sp>
    </p:spTree>
    <p:extLst>
      <p:ext uri="{BB962C8B-B14F-4D97-AF65-F5344CB8AC3E}">
        <p14:creationId xmlns:p14="http://schemas.microsoft.com/office/powerpoint/2010/main" val="2189742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5CADF4-82C7-47D7-A942-0D0E0E46CD7E}"/>
              </a:ext>
            </a:extLst>
          </p:cNvPr>
          <p:cNvSpPr>
            <a:spLocks noGrp="1"/>
          </p:cNvSpPr>
          <p:nvPr>
            <p:ph idx="1"/>
          </p:nvPr>
        </p:nvSpPr>
        <p:spPr/>
        <p:txBody>
          <a:bodyPr/>
          <a:lstStyle/>
          <a:p>
            <a:endParaRPr lang="en-US"/>
          </a:p>
          <a:p>
            <a:endParaRPr lang="en-US"/>
          </a:p>
          <a:p>
            <a:endParaRPr lang="en-US"/>
          </a:p>
          <a:p>
            <a:pPr marL="0" indent="0" algn="ctr">
              <a:buNone/>
            </a:pPr>
            <a:r>
              <a:rPr lang="en-US" sz="3200">
                <a:hlinkClick r:id="rId2"/>
              </a:rPr>
              <a:t>Bitcoin blockchain</a:t>
            </a:r>
            <a:endParaRPr lang="en-US"/>
          </a:p>
        </p:txBody>
      </p:sp>
    </p:spTree>
    <p:extLst>
      <p:ext uri="{BB962C8B-B14F-4D97-AF65-F5344CB8AC3E}">
        <p14:creationId xmlns:p14="http://schemas.microsoft.com/office/powerpoint/2010/main" val="1072915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8B944-A6C2-473D-B4C6-B7AB986CD4EF}"/>
              </a:ext>
            </a:extLst>
          </p:cNvPr>
          <p:cNvSpPr>
            <a:spLocks noGrp="1"/>
          </p:cNvSpPr>
          <p:nvPr>
            <p:ph type="title"/>
          </p:nvPr>
        </p:nvSpPr>
        <p:spPr>
          <a:xfrm>
            <a:off x="1276595" y="1930207"/>
            <a:ext cx="9829799" cy="3080657"/>
          </a:xfrm>
        </p:spPr>
        <p:txBody>
          <a:bodyPr anchor="ctr">
            <a:normAutofit/>
          </a:bodyPr>
          <a:lstStyle/>
          <a:p>
            <a:pPr algn="ctr"/>
            <a:r>
              <a:rPr lang="en-US" sz="4800" b="1" dirty="0">
                <a:latin typeface="National semibold"/>
              </a:rPr>
              <a:t>Why do miners </a:t>
            </a:r>
            <a:r>
              <a:rPr lang="en-US" sz="4800" b="1">
                <a:latin typeface="National semibold"/>
              </a:rPr>
              <a:t>need to </a:t>
            </a:r>
            <a:r>
              <a:rPr lang="en-US" sz="4800" b="1" dirty="0">
                <a:latin typeface="National semibold"/>
              </a:rPr>
              <a:t>solve a very expensive mathematical puzzle?</a:t>
            </a:r>
          </a:p>
        </p:txBody>
      </p:sp>
    </p:spTree>
    <p:extLst>
      <p:ext uri="{BB962C8B-B14F-4D97-AF65-F5344CB8AC3E}">
        <p14:creationId xmlns:p14="http://schemas.microsoft.com/office/powerpoint/2010/main" val="3439631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Benefits of blockchain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u="sng">
                <a:latin typeface="National semibold" panose="02000503000000020004"/>
              </a:rPr>
              <a:t>Trustworthy</a:t>
            </a:r>
          </a:p>
          <a:p>
            <a:pPr lvl="1"/>
            <a:r>
              <a:rPr lang="en-US">
                <a:latin typeface="National semibold" panose="02000503000000020004"/>
              </a:rPr>
              <a:t>A network of users provides self-policing over the activities of the blockchain</a:t>
            </a:r>
          </a:p>
          <a:p>
            <a:pPr lvl="1"/>
            <a:r>
              <a:rPr lang="en-US">
                <a:latin typeface="National semibold" panose="02000503000000020004"/>
              </a:rPr>
              <a:t>Coded procedures enable to track and verify all data stored on a chain</a:t>
            </a:r>
          </a:p>
          <a:p>
            <a:r>
              <a:rPr lang="en-US" u="sng">
                <a:latin typeface="National semibold" panose="02000503000000020004"/>
              </a:rPr>
              <a:t>Secure</a:t>
            </a:r>
          </a:p>
          <a:p>
            <a:pPr lvl="1"/>
            <a:r>
              <a:rPr lang="en-US">
                <a:latin typeface="National semibold" panose="02000503000000020004"/>
              </a:rPr>
              <a:t>Key encryption protects the rights of individual users while allowing everyone to view the content of the ledger and its history</a:t>
            </a:r>
          </a:p>
          <a:p>
            <a:pPr lvl="1"/>
            <a:r>
              <a:rPr lang="en-US">
                <a:latin typeface="National semibold" panose="02000503000000020004"/>
              </a:rPr>
              <a:t>Mathematical rules ensure that the records kept on the chain are temper-proof</a:t>
            </a:r>
          </a:p>
          <a:p>
            <a:pPr lvl="1"/>
            <a:r>
              <a:rPr lang="en-US">
                <a:latin typeface="National semibold" panose="02000503000000020004"/>
              </a:rPr>
              <a:t>The decentralized nature of the network prevents any single point of failure. Failure requires the collaboration of many users, which makes blockchain less susceptible to fraud and cybercrime issues.</a:t>
            </a:r>
          </a:p>
        </p:txBody>
      </p:sp>
    </p:spTree>
    <p:extLst>
      <p:ext uri="{BB962C8B-B14F-4D97-AF65-F5344CB8AC3E}">
        <p14:creationId xmlns:p14="http://schemas.microsoft.com/office/powerpoint/2010/main" val="124365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Benefits of blockchain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fontScale="92500" lnSpcReduction="10000"/>
          </a:bodyPr>
          <a:lstStyle/>
          <a:p>
            <a:r>
              <a:rPr lang="en-US" u="sng">
                <a:latin typeface="National semibold" panose="02000503000000020004"/>
              </a:rPr>
              <a:t>Transparent</a:t>
            </a:r>
          </a:p>
          <a:p>
            <a:pPr lvl="1"/>
            <a:r>
              <a:rPr lang="en-US">
                <a:latin typeface="National semibold" panose="02000503000000020004"/>
              </a:rPr>
              <a:t>The system should remain neutral and unbiased because the platform is not centrally controlled.</a:t>
            </a:r>
          </a:p>
          <a:p>
            <a:pPr lvl="1"/>
            <a:r>
              <a:rPr lang="en-US">
                <a:latin typeface="National semibold" panose="02000503000000020004"/>
              </a:rPr>
              <a:t>Transactions are conducted openly on a shared ledger and any message is sent to all peers. No particular entity can stop that from happening.</a:t>
            </a:r>
          </a:p>
          <a:p>
            <a:r>
              <a:rPr lang="en-US" u="sng">
                <a:latin typeface="National semibold" panose="02000503000000020004"/>
              </a:rPr>
              <a:t>Efficient</a:t>
            </a:r>
          </a:p>
          <a:p>
            <a:pPr lvl="1"/>
            <a:r>
              <a:rPr lang="en-US">
                <a:latin typeface="National semibold" panose="02000503000000020004"/>
              </a:rPr>
              <a:t>Digital operation creates opportunities for streamlining processes and automate tasks like auding, reporting, and notarizing. </a:t>
            </a:r>
          </a:p>
          <a:p>
            <a:pPr lvl="1"/>
            <a:r>
              <a:rPr lang="en-US">
                <a:latin typeface="National semibold" panose="02000503000000020004"/>
              </a:rPr>
              <a:t>Cutting the middlemen allows cost reduction and quicker processing</a:t>
            </a:r>
          </a:p>
          <a:p>
            <a:pPr lvl="1"/>
            <a:r>
              <a:rPr lang="en-US">
                <a:latin typeface="National semibold" panose="02000503000000020004"/>
              </a:rPr>
              <a:t>Predefined rules can eliminate disputes between participants</a:t>
            </a:r>
          </a:p>
          <a:p>
            <a:pPr marL="338138" indent="-342900"/>
            <a:r>
              <a:rPr lang="en-US" u="sng">
                <a:latin typeface="National semibold" panose="02000503000000020004"/>
              </a:rPr>
              <a:t>Innovative</a:t>
            </a:r>
          </a:p>
          <a:p>
            <a:pPr lvl="1"/>
            <a:r>
              <a:rPr lang="en-US">
                <a:latin typeface="National semibold" panose="02000503000000020004"/>
              </a:rPr>
              <a:t>The architecture of blockchain enhances the interoperability of existing applications and facilitates coordination. </a:t>
            </a:r>
          </a:p>
          <a:p>
            <a:pPr lvl="1"/>
            <a:r>
              <a:rPr lang="en-US">
                <a:latin typeface="National semibold" panose="02000503000000020004"/>
              </a:rPr>
              <a:t>Blockchain is adaptable: upgrades and other enhancements can be undertaken when needed.    </a:t>
            </a:r>
          </a:p>
        </p:txBody>
      </p:sp>
    </p:spTree>
    <p:extLst>
      <p:ext uri="{BB962C8B-B14F-4D97-AF65-F5344CB8AC3E}">
        <p14:creationId xmlns:p14="http://schemas.microsoft.com/office/powerpoint/2010/main" val="3483222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However</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u="sng">
                <a:latin typeface="National semibold" panose="02000503000000020004"/>
              </a:rPr>
              <a:t>It uses a lot of energy</a:t>
            </a:r>
          </a:p>
          <a:p>
            <a:pPr lvl="1"/>
            <a:r>
              <a:rPr lang="en-US">
                <a:latin typeface="National semibold" panose="02000503000000020004"/>
              </a:rPr>
              <a:t>To win the competition and generate the proof-of-work, miners run many computers that requires a lot of electricity.</a:t>
            </a:r>
          </a:p>
        </p:txBody>
      </p:sp>
    </p:spTree>
    <p:extLst>
      <p:ext uri="{BB962C8B-B14F-4D97-AF65-F5344CB8AC3E}">
        <p14:creationId xmlns:p14="http://schemas.microsoft.com/office/powerpoint/2010/main" val="2576577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238BAD-FF59-4CAB-9883-4714FE3476C3}"/>
              </a:ext>
            </a:extLst>
          </p:cNvPr>
          <p:cNvPicPr>
            <a:picLocks noChangeAspect="1"/>
          </p:cNvPicPr>
          <p:nvPr/>
        </p:nvPicPr>
        <p:blipFill>
          <a:blip r:embed="rId2"/>
          <a:stretch>
            <a:fillRect/>
          </a:stretch>
        </p:blipFill>
        <p:spPr>
          <a:xfrm>
            <a:off x="1660011" y="0"/>
            <a:ext cx="7355800" cy="5688037"/>
          </a:xfrm>
          <a:prstGeom prst="rect">
            <a:avLst/>
          </a:prstGeom>
        </p:spPr>
      </p:pic>
      <p:pic>
        <p:nvPicPr>
          <p:cNvPr id="3" name="Picture 2">
            <a:extLst>
              <a:ext uri="{FF2B5EF4-FFF2-40B4-BE49-F238E27FC236}">
                <a16:creationId xmlns:a16="http://schemas.microsoft.com/office/drawing/2014/main" id="{CBF883AB-5F0A-4F5A-ACD2-00357211D21B}"/>
              </a:ext>
            </a:extLst>
          </p:cNvPr>
          <p:cNvPicPr>
            <a:picLocks noChangeAspect="1"/>
          </p:cNvPicPr>
          <p:nvPr/>
        </p:nvPicPr>
        <p:blipFill rotWithShape="1">
          <a:blip r:embed="rId3"/>
          <a:srcRect l="-558" t="79864" r="558" b="11931"/>
          <a:stretch/>
        </p:blipFill>
        <p:spPr>
          <a:xfrm>
            <a:off x="1585975" y="5852160"/>
            <a:ext cx="7950728" cy="886266"/>
          </a:xfrm>
          <a:prstGeom prst="rect">
            <a:avLst/>
          </a:prstGeom>
        </p:spPr>
      </p:pic>
    </p:spTree>
    <p:extLst>
      <p:ext uri="{BB962C8B-B14F-4D97-AF65-F5344CB8AC3E}">
        <p14:creationId xmlns:p14="http://schemas.microsoft.com/office/powerpoint/2010/main" val="301269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Proof-of-work vs. proof-of-stake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lnSpcReduction="10000"/>
          </a:bodyPr>
          <a:lstStyle/>
          <a:p>
            <a:r>
              <a:rPr lang="en-US">
                <a:latin typeface="National semibold" panose="02000503000000020004"/>
              </a:rPr>
              <a:t>In the proof-of-stake nodes have different weights or voting rights for validating transactions.</a:t>
            </a:r>
          </a:p>
          <a:p>
            <a:r>
              <a:rPr lang="en-US">
                <a:latin typeface="National semibold" panose="02000503000000020004"/>
              </a:rPr>
              <a:t>The voting rights are determined by the number of coins owned and locked by the node in the blockchain (the stake). To gain the voting rights, the coins must be deposited in a special digital wallet, which is temporarily frozen. Higher is the number of coins staked, and higher is the number of voting rights. </a:t>
            </a:r>
          </a:p>
          <a:p>
            <a:r>
              <a:rPr lang="en-US">
                <a:latin typeface="National semibold" panose="02000503000000020004"/>
              </a:rPr>
              <a:t>While in the proof-of-work competition is based on computational power used to solve a mathematical puzzle, in the proof-of-stake the winner is selected randomly based on the amount of staked assets. Higher is the amount of assets staked by a validator, and higher is the probability of being chosen as the winner with the right to add a new block to the chain. </a:t>
            </a:r>
          </a:p>
          <a:p>
            <a:r>
              <a:rPr lang="en-US">
                <a:latin typeface="National semibold" panose="02000503000000020004"/>
              </a:rPr>
              <a:t>Some cryptographic calculations are still required but they are much simpler to execute and require much less electricity. </a:t>
            </a:r>
          </a:p>
        </p:txBody>
      </p:sp>
    </p:spTree>
    <p:extLst>
      <p:ext uri="{BB962C8B-B14F-4D97-AF65-F5344CB8AC3E}">
        <p14:creationId xmlns:p14="http://schemas.microsoft.com/office/powerpoint/2010/main" val="1755066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Proof-of-work vs. proof-of-stake (continue)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a:latin typeface="National semibold" panose="02000503000000020004"/>
              </a:rPr>
              <a:t>The reward for miners (more properly called </a:t>
            </a:r>
            <a:r>
              <a:rPr lang="en-US" i="1">
                <a:latin typeface="National semibold" panose="02000503000000020004"/>
              </a:rPr>
              <a:t>forgers</a:t>
            </a:r>
            <a:r>
              <a:rPr lang="en-US">
                <a:latin typeface="National semibold" panose="02000503000000020004"/>
              </a:rPr>
              <a:t> or </a:t>
            </a:r>
            <a:r>
              <a:rPr lang="en-US" i="1">
                <a:latin typeface="National semibold" panose="02000503000000020004"/>
              </a:rPr>
              <a:t>minters</a:t>
            </a:r>
            <a:r>
              <a:rPr lang="en-US">
                <a:latin typeface="National semibold" panose="02000503000000020004"/>
              </a:rPr>
              <a:t> in the proof-of-stake protocol) has a different structure. User fees tend to be more important than newly created coins.</a:t>
            </a:r>
          </a:p>
          <a:p>
            <a:r>
              <a:rPr lang="en-US">
                <a:latin typeface="National semibold" panose="02000503000000020004"/>
              </a:rPr>
              <a:t>The main idea underlying the proof-of-stake consensus mechanism is that those who place a larger stake, have a higher incentive to keep the network secure: </a:t>
            </a:r>
          </a:p>
          <a:p>
            <a:pPr lvl="1"/>
            <a:r>
              <a:rPr lang="en-US">
                <a:latin typeface="National semibold" panose="02000503000000020004"/>
              </a:rPr>
              <a:t>If the system fails, the value of the staked coins is likely to drop. Thus, validators with large amounts of staked coins have a greater interest to maintain the normal functioning of the system.   </a:t>
            </a:r>
          </a:p>
        </p:txBody>
      </p:sp>
    </p:spTree>
    <p:extLst>
      <p:ext uri="{BB962C8B-B14F-4D97-AF65-F5344CB8AC3E}">
        <p14:creationId xmlns:p14="http://schemas.microsoft.com/office/powerpoint/2010/main" val="1116476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Interactive example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460267" y="2041865"/>
            <a:ext cx="10197582" cy="4261282"/>
          </a:xfrm>
        </p:spPr>
        <p:txBody>
          <a:bodyPr>
            <a:normAutofit/>
          </a:bodyPr>
          <a:lstStyle/>
          <a:p>
            <a:pPr marL="0" indent="0">
              <a:buNone/>
            </a:pPr>
            <a:endParaRPr lang="en-US">
              <a:latin typeface="National semibold" panose="02000503000000020004"/>
            </a:endParaRPr>
          </a:p>
          <a:p>
            <a:pPr marL="0" indent="0">
              <a:buNone/>
            </a:pPr>
            <a:endParaRPr lang="en-US">
              <a:latin typeface="National semibold" panose="02000503000000020004"/>
            </a:endParaRPr>
          </a:p>
          <a:p>
            <a:pPr marL="0" indent="0">
              <a:buNone/>
            </a:pPr>
            <a:endParaRPr lang="en-US">
              <a:latin typeface="National semibold" panose="02000503000000020004"/>
            </a:endParaRPr>
          </a:p>
          <a:p>
            <a:pPr marL="0" indent="0" algn="ctr">
              <a:buNone/>
            </a:pPr>
            <a:r>
              <a:rPr lang="en-US">
                <a:latin typeface="National semibold" panose="02000503000000020004"/>
                <a:hlinkClick r:id="rId2"/>
              </a:rPr>
              <a:t>Link to blockchain example on google sheets</a:t>
            </a:r>
            <a:endParaRPr lang="en-US">
              <a:latin typeface="National semibold" panose="02000503000000020004"/>
              <a:hlinkClick r:id="rId3"/>
            </a:endParaRPr>
          </a:p>
          <a:p>
            <a:pPr marL="0" indent="0">
              <a:buNone/>
            </a:pPr>
            <a:endParaRPr lang="en-US">
              <a:latin typeface="National semibold" panose="02000503000000020004"/>
              <a:hlinkClick r:id="rId3"/>
            </a:endParaRPr>
          </a:p>
        </p:txBody>
      </p:sp>
    </p:spTree>
    <p:extLst>
      <p:ext uri="{BB962C8B-B14F-4D97-AF65-F5344CB8AC3E}">
        <p14:creationId xmlns:p14="http://schemas.microsoft.com/office/powerpoint/2010/main" val="1652216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Staking</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799"/>
            <a:ext cx="9762898" cy="4783015"/>
          </a:xfrm>
        </p:spPr>
        <p:txBody>
          <a:bodyPr>
            <a:normAutofit fontScale="92500" lnSpcReduction="10000"/>
          </a:bodyPr>
          <a:lstStyle/>
          <a:p>
            <a:r>
              <a:rPr lang="en-US">
                <a:latin typeface="National semibold" panose="02000503000000020004"/>
              </a:rPr>
              <a:t>If a cryptocurrency allows staking, holder of the coins can earn a reward on the owned coins.</a:t>
            </a:r>
          </a:p>
          <a:p>
            <a:r>
              <a:rPr lang="en-US">
                <a:latin typeface="National semibold" panose="02000503000000020004"/>
              </a:rPr>
              <a:t>There are two ways to participate:</a:t>
            </a:r>
          </a:p>
          <a:p>
            <a:pPr marL="739775" lvl="1" indent="-457200">
              <a:buFont typeface="+mj-lt"/>
              <a:buAutoNum type="arabicPeriod"/>
            </a:pPr>
            <a:r>
              <a:rPr lang="en-US">
                <a:latin typeface="National semibold" panose="02000503000000020004"/>
              </a:rPr>
              <a:t>Becoming a full validator. This requires  a minimum investment (Ethereum requires a minimum of 32 ETH), technical knowledge, dedicated computer that can perform validations without downtime. It is a full commitment and could be risky because downtime can cause slashing of the committed funds. </a:t>
            </a:r>
          </a:p>
          <a:p>
            <a:pPr marL="739775" lvl="1" indent="-457200">
              <a:buFont typeface="+mj-lt"/>
              <a:buAutoNum type="arabicPeriod"/>
            </a:pPr>
            <a:r>
              <a:rPr lang="en-US">
                <a:latin typeface="National semibold" panose="02000503000000020004"/>
              </a:rPr>
              <a:t>Contributing through an exchange (for example Coinbase). In this case the investor can contribute with any amount and without operating any validator hardware. The supplied cryptocurrencies will be used by the network to increase the stake in the validation process based on the “proof-of-stake” protocol. </a:t>
            </a:r>
          </a:p>
          <a:p>
            <a:r>
              <a:rPr lang="en-US">
                <a:latin typeface="National semibold" panose="02000503000000020004"/>
              </a:rPr>
              <a:t>In the second case, staking is similar to lending coins to validators. Validators are willing to pay a compensation to the owners of the coins because they allow them to validate more transactions and, thus, earn more rewards in the “proof-of-stake” protocol.</a:t>
            </a:r>
          </a:p>
        </p:txBody>
      </p:sp>
    </p:spTree>
    <p:extLst>
      <p:ext uri="{BB962C8B-B14F-4D97-AF65-F5344CB8AC3E}">
        <p14:creationId xmlns:p14="http://schemas.microsoft.com/office/powerpoint/2010/main" val="2913059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Risk of staking</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fontScale="92500" lnSpcReduction="10000"/>
          </a:bodyPr>
          <a:lstStyle/>
          <a:p>
            <a:r>
              <a:rPr lang="en-US">
                <a:latin typeface="National semibold" panose="02000503000000020004"/>
              </a:rPr>
              <a:t>Cryptocurrencies are volatile. Drops in price can easily outweigh the earned rewards. </a:t>
            </a:r>
          </a:p>
          <a:p>
            <a:pPr lvl="1"/>
            <a:r>
              <a:rPr lang="en-US">
                <a:latin typeface="National semibold" panose="02000503000000020004"/>
              </a:rPr>
              <a:t>Staking could be a good option for someone who plans to hold the asset for the long term regardless of the price swings.</a:t>
            </a:r>
          </a:p>
          <a:p>
            <a:r>
              <a:rPr lang="en-US">
                <a:latin typeface="National semibold" panose="02000503000000020004"/>
              </a:rPr>
              <a:t>Some cryptocurrencies require a minimum lock-up period while the asset cannot be withdrawn from staking.</a:t>
            </a:r>
          </a:p>
          <a:p>
            <a:pPr lvl="1"/>
            <a:r>
              <a:rPr lang="en-US">
                <a:latin typeface="National semibold" panose="02000503000000020004"/>
              </a:rPr>
              <a:t>The asset becomes illiquid.</a:t>
            </a:r>
          </a:p>
          <a:p>
            <a:r>
              <a:rPr lang="en-US">
                <a:latin typeface="National semibold" panose="02000503000000020004"/>
              </a:rPr>
              <a:t>Withdrawal from the staking pool could be subject to a waiting period.</a:t>
            </a:r>
          </a:p>
          <a:p>
            <a:pPr lvl="1"/>
            <a:r>
              <a:rPr lang="en-US">
                <a:latin typeface="National semibold" panose="02000503000000020004"/>
              </a:rPr>
              <a:t>Reduces the liquidity of the asset.</a:t>
            </a:r>
          </a:p>
          <a:p>
            <a:r>
              <a:rPr lang="en-US">
                <a:latin typeface="National semibold" panose="02000503000000020004"/>
              </a:rPr>
              <a:t>There is a counterparty risk coming from the staking pool operator. </a:t>
            </a:r>
          </a:p>
          <a:p>
            <a:pPr lvl="1"/>
            <a:r>
              <a:rPr lang="en-US">
                <a:latin typeface="National semibold" panose="02000503000000020004"/>
              </a:rPr>
              <a:t>If the validator doesn’t do the job properly, there are penalties, and the funds can be slashed. </a:t>
            </a:r>
          </a:p>
          <a:p>
            <a:r>
              <a:rPr lang="en-US">
                <a:latin typeface="National semibold" panose="02000503000000020004"/>
              </a:rPr>
              <a:t>Staking pools can be hacked.</a:t>
            </a:r>
          </a:p>
          <a:p>
            <a:pPr lvl="1"/>
            <a:r>
              <a:rPr lang="en-US">
                <a:latin typeface="National semibold" panose="02000503000000020004"/>
              </a:rPr>
              <a:t>It could result in a total loss of staked funds.</a:t>
            </a:r>
          </a:p>
        </p:txBody>
      </p:sp>
    </p:spTree>
    <p:extLst>
      <p:ext uri="{BB962C8B-B14F-4D97-AF65-F5344CB8AC3E}">
        <p14:creationId xmlns:p14="http://schemas.microsoft.com/office/powerpoint/2010/main" val="837736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PRESENTER_VERSION" val="6"/>
  <p:tag name="ARTICULATE_PROJECT_OPEN" val="0"/>
</p:tagLst>
</file>

<file path=ppt/theme/theme1.xml><?xml version="1.0" encoding="utf-8"?>
<a:theme xmlns:a="http://schemas.openxmlformats.org/drawingml/2006/main" name="Currency Symbols 16x9">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rency symbols presentation (widescreen).potx" id="{0BEEB329-2C4D-4D02-9858-CA91ACE92AB1}" vid="{944DA297-E844-470D-A85C-00068074ACC2}"/>
    </a:ext>
  </a:extLst>
</a:theme>
</file>

<file path=ppt/theme/theme2.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Currency symbols presentation (widescreen)</Template>
  <TotalTime>89</TotalTime>
  <Words>4484</Words>
  <Application>Microsoft Office PowerPoint</Application>
  <PresentationFormat>Custom</PresentationFormat>
  <Paragraphs>583</Paragraphs>
  <Slides>61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National semibold</vt:lpstr>
      <vt:lpstr>Arial</vt:lpstr>
      <vt:lpstr>Cambria</vt:lpstr>
      <vt:lpstr>Currency Symbols 16x9</vt:lpstr>
      <vt:lpstr>Introduction to  Decentralized Finance  </vt:lpstr>
      <vt:lpstr>What is Blockchain?</vt:lpstr>
      <vt:lpstr>1. Accounting</vt:lpstr>
      <vt:lpstr>Example of ledger: Balance of poker chips</vt:lpstr>
      <vt:lpstr>1. Accounting (continue)</vt:lpstr>
      <vt:lpstr>2. Computer science</vt:lpstr>
      <vt:lpstr>2. Computer science (continue)</vt:lpstr>
      <vt:lpstr>Example of hashing: SHA-256</vt:lpstr>
      <vt:lpstr>2. Computer science (continue)</vt:lpstr>
      <vt:lpstr>3. Governance</vt:lpstr>
      <vt:lpstr>Distributed ledger technology</vt:lpstr>
      <vt:lpstr>Centralized and distributed ledgers</vt:lpstr>
      <vt:lpstr>PowerPoint Presentation</vt:lpstr>
      <vt:lpstr>Centralized and distributed ledgers</vt:lpstr>
      <vt:lpstr>Blockchain as distributed ledger</vt:lpstr>
      <vt:lpstr>Example of ledger: Balance of poker chips</vt:lpstr>
      <vt:lpstr>Linking transactions</vt:lpstr>
      <vt:lpstr>Linking blocks</vt:lpstr>
      <vt:lpstr>Example of block created at 10:15 on 8/28/2025</vt:lpstr>
      <vt:lpstr>Next block created at 10:30 on 8/28/2025</vt:lpstr>
      <vt:lpstr>Creating a blockchain transaction</vt:lpstr>
      <vt:lpstr>Creating a blockchain transaction (continue)</vt:lpstr>
      <vt:lpstr>PowerPoint Presentation</vt:lpstr>
      <vt:lpstr>Preventing double-spending</vt:lpstr>
      <vt:lpstr>Tampering a transaction in block 2</vt:lpstr>
      <vt:lpstr>Tampering a transaction in block 2</vt:lpstr>
      <vt:lpstr>Verification of sender with  digital signature</vt:lpstr>
      <vt:lpstr>Verifying the identity of the sender</vt:lpstr>
      <vt:lpstr>Example: Alissa transfers 0.1 Bitcoin to Brandon</vt:lpstr>
      <vt:lpstr>Fake transaction: Alissa transfers 0.1 Bitcoin to Brandon. However, the transaction is ordered by Brandon</vt:lpstr>
      <vt:lpstr>Hash Function</vt:lpstr>
      <vt:lpstr>Why are transactions hashed?</vt:lpstr>
      <vt:lpstr>The process of adding  a new block to the blockchain</vt:lpstr>
      <vt:lpstr>Nodes and miners (Bitcoin platform)</vt:lpstr>
      <vt:lpstr>PowerPoint Presentation</vt:lpstr>
      <vt:lpstr>PowerPoint Presentation</vt:lpstr>
      <vt:lpstr>Miners</vt:lpstr>
      <vt:lpstr>Lottery in bitcoin</vt:lpstr>
      <vt:lpstr>Blockchain</vt:lpstr>
      <vt:lpstr>Blockchain</vt:lpstr>
      <vt:lpstr>Who is the winning miner?</vt:lpstr>
      <vt:lpstr>Guessing the Nonce – Hash with one zero</vt:lpstr>
      <vt:lpstr>Guessing the Nonce – Hash with one zero</vt:lpstr>
      <vt:lpstr>Guessing the Nonce – Hash with one zero</vt:lpstr>
      <vt:lpstr>Guessing the Nonce – Hash with one zero</vt:lpstr>
      <vt:lpstr>Guessing the Nonce – Hash with one zero</vt:lpstr>
      <vt:lpstr>Winning miner</vt:lpstr>
      <vt:lpstr>Blockchain</vt:lpstr>
      <vt:lpstr>Blockchain after addition of new block</vt:lpstr>
      <vt:lpstr>Interactive example</vt:lpstr>
      <vt:lpstr>PowerPoint Presentation</vt:lpstr>
      <vt:lpstr>Why do miners need to solve a very expensive mathematical puzzle?</vt:lpstr>
      <vt:lpstr>Benefits of blockchain</vt:lpstr>
      <vt:lpstr>Benefits of blockchain</vt:lpstr>
      <vt:lpstr>However</vt:lpstr>
      <vt:lpstr>PowerPoint Presentation</vt:lpstr>
      <vt:lpstr>Proof-of-work vs. proof-of-stake</vt:lpstr>
      <vt:lpstr>Proof-of-work vs. proof-of-stake (continue)</vt:lpstr>
      <vt:lpstr>Interactive example</vt:lpstr>
      <vt:lpstr>Staking</vt:lpstr>
      <vt:lpstr>Risk of staking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Vincenzo Quadrini</dc:creator>
  <cp:lastModifiedBy>Quadrini, Vincenzo</cp:lastModifiedBy>
  <cp:revision>1</cp:revision>
  <dcterms:created xsi:type="dcterms:W3CDTF">2020-10-28T19:26:18Z</dcterms:created>
  <dcterms:modified xsi:type="dcterms:W3CDTF">2026-05-10T05:45:35Z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